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842641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4 minutos (parte de la apertura de 15 min).
Abra con una pregunta directa: «¿Cuánto tiempo continuo de estudio tiene realmente disponible un participante de RUTA en un día laborable?». Recoja 3 respuestas.
El propósito de esta lámina es instalar la tensión que el taller resuelve: no es que el adulto no quiera aprender, es que el formato que le ofrecemos no cabe en su vida.
Sobre la evidencia: aclare que el estudio se hizo con estudiantes de MBA (no con adultos WIOA). Es un indicio, no una prueba definitiva. Invítelos a probar el efecto en su propio grupo — al final del taller se lleva un plan de 14 días para hacerlo.
NO prometa que el microaprendizaje sustituye toda la instrucción. Ese matiz se trabaja en la lámina 9.</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3 minutos.
Lea los cuatro objetivos y señale que están redactados exactamente como pediremos que ellos redacten los suyos: verbo observable + objeto + criterio. Es coherencia, no casualidad — el taller modela lo que enseña.
Advierta que el objetivo 3 es el producto entregable del día: cada equipo sale con una cápsula diseñada, no con apuntes.
Pregunta guía: «¿Cuál de los cuatro les resulta hoy más lejano?» — anote las respuestas, le sirven para dosificar el énfasis en los módulos 2 y 4.</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3 minutos.
Señale la columna «Producto del bloque»: en un taller sobre microaprendizaje sería incoherente que los participantes salieran solo con información. Cada bloque cierra con algo hecho.
LOGÍSTICA: conforme los equipos AHORA, no después del receso. Agrúpelos por programa (inglés conversacional, tutorías de examen de equivalencia, destrezas digitales) para que la cápsula que diseñen sea utilizable el lunes siguiente.
Anuncie el receso a la hora y 55 minutos de iniciado el taller para que administren su energía.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8 minutos (6 de actividad + 2 de procesamiento).
IMPORTANTE: cronometre en voz alta cada momento. La experiencia es el argumento; si usted se extiende, contradice el mensaje.
Al cerrar, haga una sola pregunta de procesamiento: «Acaban de completar una microunidad. ¿Qué tenía esta experiencia que NO tiene una conferencia de 50 minutos?». Recoja 3 o 4 respuestas y anótelas en la pizarra — las retomará en el módulo 1 al presentar los principios de Knowles.
Guarde las notas adhesivas: se usan como insumo en la Actividad 1 (lámina 14).
La definición de la derecha proviene de Kapp y Defelice (2019); se amplía en la lámina 8.</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DEL MÓDULO: 45 minutos (láminas 7 a 14).
Propósito: que nadie salga pensando que el microaprendizaje es una moda o un atajo. Debe quedar anclado en tres bases: la andragogía de Knowles, la arquitectura cognitiva y la evidencia empírica.
Ritmo sugerido: 7 (5 min) · 8 (6 min) · 9 (5 min) · 10 (7 min) · 11 (6 min) · 12 (4 min) · 13 (5 min) · 14 (7 min de actividad).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5 minutos.
Sea explícito con la nota al pie: este es un retrato cualitativo construido con la experiencia del Proyecto, NO un dato de matrícula. Si alguien pide cifras, comprométase a traerlas de los informes del programa; no las improvise.
Pida a cada equipo que añada en voz alta una quinta condición que ellos observan y que no aparece aquí (transportación, conectividad, dominio del inglés, ansiedad matemática). Escríbala en la pizarra.
Cierre con el enunciado clave: cada condición del participante es una restricción de diseño, y toda restricción bien atendida se convierte en una decisión pedagógica.</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6 minutos.
El punto contraintuitivo es el de la cita: la duración NO es el criterio definitorio. Kapp y Defelice insisten en que microaprendizaje no significa «menos de cinco minutos», sino foco estrecho e integración.
Use la trampa productiva: pregunte «¿Un video de TikTok de 60 segundos sobre ecuaciones es microaprendizaje?». Deje que discutan. Respuesta esperada: solo si atiende un objetivo definido, está integrado a una secuencia y va acompañado de práctica y evidencia. Si no, es contenido breve — que no es lo mismo.
Anticipe la lámina 9: allí se desmontan los cinco mitos más frecuentes.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5 minutos.
Esta lámina previene la implementación superficial. El error más costoso es el primero: partir una presentación de 60 láminas en seis archivos de 10 y llamarlo microaprendizaje. Nómbrelo directamente.
El quinto mito conecta con el marco de andragogía a heutagogía que ya trabajamos en agosto: el docente no desaparece, cambia de función.
Pregunta guía: «¿Cuál de estas cinco creencias ha escuchado en su propio equipo de trabajo?». Si alguien defiende una, no la corrija de frente: pídale un ejemplo concreto y deje que el grupo lo examine.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7 minutos.
Esta es la lámina más importante del módulo: es la que convierte al microaprendizaje en decisión andragógica y no en tendencia tecnológica.
Retome las respuestas que anotó en la pizarra tras la Cápsula Cero (lámina 5) y ubíquelas en la columna izquierda. Casi siempre encajan en «necesidad de saber» y «orientación al problema».
Actividad relámpago de 2 minutos: cada equipo elige UN principio y da un ejemplo de su propio curso. Escúchense tres.
Advertencia honesta: el principio de autodirección es el más difícil de sostener con adultos que llevan años fuera del sistema. Reconózcalo — la autonomía se construye, no se presupone.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6 minutos.
Tres ideas, una por tarjeta, con su decisión de diseño asociada. No se extienda en la teoría: lo que importa es la línea que empieza con «Decisión».
La número 3 suele ser la más reveladora para los docentes: solemos ver el «quiz» como instrumento de medición. Aquí es instrumento de aprendizaje. Ese cambio de función es el que hace posible la microevaluación sin generar ansiedad en el adulto.
Ejemplo útil para la segunda tarjeta: en las tutorías de examen de equivalencia, tres cápsulas de fracciones lunes-miércoles-viernes rinden más que una sesión de una hora el sábado.
Si el grupo pide profundidad teórica, remita a la lámina de referencias y ofrezca los textos por correo.</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4 minutos.
Presente esto como instrumento de análisis, no como contenido a memorizar. Hug (2006) las propone para describir arreglos de microaprendizaje; nosotros las usamos como lista de cotejo de diseño.
Destaque la dimensión «medialidad»: desmonta la idea de que microaprendizaje equivale a tecnología. Una guía visual impresa de media página es una microunidad legítima — dato relevante para participantes con conectividad limitada.
Anuncie que volveremos a estas siete preguntas en la lámina 44.</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5 minutos.
Los seis usos evitan que todo el mundo diseñe la misma cápsula. La mayoría de los docentes produce espontáneamente cápsulas «de práctica» y olvida las «de desempeño» y las «persuasivas», que son justamente las que más impactan la retención de matrícula en programas de adultos.
Instrucción para la Actividad 1: cada equipo debe elegir un uso DISTINTO al de práctica. Eso fuerza variedad en el repertorio del programa.
Los ejemplos están contextualizados al Proyecto RUTA; ajústelos si el grupo trabaja otro programa.</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7 minutos (5 de trabajo + 2 de socialización de dos equipos).
Circule por los equipos. El error frecuente es enunciar un TEMA («fracciones») en lugar de un PROBLEMA («no reconocen cuándo hay que buscar denominador común»). Redirija con la pregunta: «¿qué es exactamente lo que no logran hacer?».
No corrija la redacción todavía — eso es tarea del Módulo 2. Aquí basta con que el problema esté bien identificado.
Cierre el módulo recordando los tres anclajes: andragogía, arquitectura cognitiva y evidencia. Enlace al Módulo 2 con esta frase: «Ya sabemos por qué funciona. Ahora, cómo se construye».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DEL MÓDULO: 55 minutos (láminas 16 a 25).
Este es el corazón técnico del taller. Si el tiempo se aprieta, recorte del Módulo 3 (que es más aplicado), nunca de este.
Ritmo sugerido: 16 (3 min) · 17 (6 min) · 18 (6 min) · 19 (4 min) · 20 (7 min) · 21 (4 min) · 22 (5 min) · 23 (5 min) · 24 (5 min) · 25 (20 min de actividad).</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3 minutos.
Pronuncie la frase central despacio y deje tres segundos de silencio. Es el criterio que ordenará todo el resto del taller.
Las tres pruebas son el filtro que aplicaremos a cada cápsula en las micro-exposiciones. Anúncielo ahora para que diseñen sabiendo cómo serán evaluados — eso es evaluación transparente, principio del DUA.
Si alguien objeta que hay aprendizajes valiosos no observables (actitudes, disposiciones), déle la razón: por eso el microaprendizaje no cubre todo el currículo. Retome el segundo mito de la lámina 9.</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6 minutos.
Modele en la pizarra con un contenido que proponga el propio grupo. No avance hasta que la redacción cumpla los cuatro componentes.
Errores frecuentes que debe cazar:
· Verbos no observables: comprender, conocer, apreciar, internalizar.
· Criterio ausente: «lo hará correctamente» no es criterio; 70 % de exactitud sí lo es.
· Condición ausente: cambia por completo la dificultad si permite o no usar calculadora, diccionario o apuntes.
El 70 % es la puntuación mínima de ejecución que ya usamos en la planilla de especificaciones del Departamento; mantener el mismo umbral da coherencia entre instrumentos.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6 minutos.
Cubra la columna derecha y pida al grupo que la reconstruya para la primera fila antes de revelarla. Es la manera más rápida de que internalicen la fórmula.
Punto clave: la columna izquierda no está «mal» — es un objetivo de curso perfectamente válido. Lo que no es, es una microunidad. La diferencia es de granularidad, no de calidad.
Si el grupo trabaja programas distintos a estos cuatro, sustituya los ejemplos antes del taller. La contextualización es lo que hace creíble el ejercicio.</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4 minutos.
La regla 1-1-1 es mnemotécnica, no dogma. Su función es frenar el impulso natural del docente de aprovechar el espacio para «meter una cosita más».
La tarjeta de la derecha suele generar debate: ¿y si la práctica requiere más tiempo del disponible? Respuesta: entonces la competencia estaba mal dimensionada. Vuelva a la prueba de dosificación de la lámina 16.
Aplique la prueba rápida en voz alta con una cápsula del grupo. Si tarda más de una oración, redirija.</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7 minutos.
Recorra los cinco momentos señalando que ya los vivieron en la Cápsula Cero (lámina 5) — allí faltó el modelado a propósito, para poder nombrarlo ahora.
Insista en la proporción: el 35 % del tiempo es práctica. Es el dato que más cuesta aceptar, porque invierte el hábito de la clase expositiva, donde la práctica es lo que queda «si da tiempo».
Aclare que los porcentajes son referencia, no camisa de fuerza: en una cápsula de desempeño el modelado puede crecer; en una reflexiva, el chequeo.
La regla de oro del pie es el mensaje que deben llevarse. Repítala.</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4 minutos.
Esta tabla resuelve la pregunta más práctica que recibirán: «¿cuánto debe durar?». La respuesta correcta no es un número fijo, sino una proporción sostenida en distintos largos.
Señale la última columna: al crecer la cápsula NO se añaden temas, se añaden ejemplos y práctica. Es la diferencia entre profundizar y acumular.
Recomendación operativa para RUTA: empiecen con cápsulas de 10 minutos. Las de 5 exigen mucha precisión y las de 15 tienden a desbordarse en el primer intento.</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5 minutos.
Mensaje central: una cápsula suelta rinde poco; el efecto está en la SECUENCIA. Es el criterio de «integración a una estructura mayor» de Kapp y Defelice, hecho calendario.
La cápsula del día 3 tiene una regla que suele violarse: NO vuelve a explicar. Si vuelve a explicar, elimina la recuperación, que es justamente lo que consolida.
Los intervalos 1-3-7-14 son un punto de partida razonable, no una prescripción. Ajústense a la periodicidad real de los grupos de RUTA.
Aterrice: pida que cada equipo diga en voz alta en qué días de su semana caerían sus cuatro momentos.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5 minutos.
En una unidad corta no hay margen para «añadir accesibilidad al final»: o está en el diseño, o excluye. Por eso son tres decisiones de un minuto, no un anexo.
El punto de la vía sin conexión es crítico en nuestro contexto: buena parte de la matrícula de educación de adultos tiene acceso intermitente a datos. Una cápsula que solo existe en línea excluye a quien más la necesita.
Pregunta guía: «¿Cuál de estas nueve decisiones NO están tomando hoy en sus materiales?». Suele salir la de declarar el criterio de logro desde el inicio.</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5 minutos de presentación.
Reparta la plantilla impresa antes de esta lámina. La versión en pantalla es solo referencia visual.
Explique el orden: los campos están secuenciados como se toma la decisión real. Muchos docentes empiezan por el formato («voy a hacer un video») y ese es el error: el formato es el cuarto campo, no el primero. Primero la función, después la competencia, y solo entonces el formato.
El último campo —lugar en la ruta— es el que más se olvida y el que más determina el efecto. No lo dejen en blanco.
Anuncie: en la Actividad 2 se completan los primeros seis campos; los restantes se completan en el Módulo 3.</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20 minutos. Cronometre las cuatro fases en voz alta.
La fase de revisión entre pares (minutos 7 a 10) es la más valiosa y la que más tiende a saltarse. Protéjala: no permita que los equipos sigan puliendo su propia redacción en ese tramo.
Insista en que el equipo revisor NO propone soluciones — solo señala qué no puede ver. Devolver el problema, no la respuesta, es lo que desarrolla el criterio.
Circule y recoja dos competencias bien logradas para leerlas en voz alta antes del receso: cerrar el bloque con producto propio del grupo sostiene la energía.
Al minuto 20, anuncie el receso de 10 minutos con hora exacta de regreso.</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10 minutos exactos. Anuncie la hora de regreso y escríbala en la pizarra.
Durante el receso: verifique la conectividad y los dispositivos para el Módulo 4, y organice los materiales de producción (papel, marcadores, celulares con espacio de almacenamiento).
Si detecta equipos rezagados en la Plantilla A, acérquese durante el receso — no los deje entrar al Módulo 3 sin la competencia redactada.</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DEL MÓDULO: 55 minutos (láminas 28 a 36).
Módulo aplicado. La lámina 36 concentra 25 de los 55 minutos: el resto son insumos rápidos para que la producción salga bien.
Ritmo sugerido: 28 (5 min) · 29 (4 min) · 30 (5 min) · 31 (4 min) · 32 (4 min) · 33 (4 min) · 33 (4 min) · 35 (4 min) · 36 (25 min de producción).</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5 minutos.
La columna «Evidencia que produce» es la que más aporta: obliga a pensar el formato en función de lo que quedará registrado. Un formato que no produce evidencia deja al docente sin datos para decidir el próximo paso.
Note que dos de los cinco formatos no requieren conexión (cápsula escrita impresa y práctica guiada presencial). Es una decisión de equidad, no una limitación.
Repita el mensaje del recuadro inferior: es el error de secuencia más común en la implementación.</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4 minutos.
Es el formato más subestimado y el más viable para nuestros grupos: no exige conexión, se reproduce en fotocopia y se puede anotar a mano.
El criterio de la página única no es estético: es el límite físico que impone foco. Si no cabe, la competencia estaba sobredimensionada.
Sobre el segundo error: el ejemplo resuelto COMPLETO, con el razonamiento explícito, es lo que sostiene al adulto que estudia solo, sin nadie a quién preguntarle. Dejarlo incompleto no genera pensamiento: genera abandono.
Si tiene una cápsula escrita propia, muéstrela aquí en físico. Vale más que cualquier explicación.</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5 minutos.
Los tiempos del guion son referencia para un video de menos de tres minutos. El bloque de procedimiento se lleva la mitad: si su video dedica la mitad a la introducción, tiene el guion invertido.
Insista en «pensar en voz alta» durante el procedimiento: no basta con mostrar los pasos, hay que verbalizar por qué se toma cada decisión. Eso es modelado; mostrar sin verbalizar es solo demostración.
Sobre producción: el objetivo NO es calidad de estudio. Un video imperfecto que existe vale más que uno excelente que nunca se grabó. Dígalo así — libera al docente que se paraliza por perfeccionismo.
Los subtítulos ya no requieren edición manual: las herramientas de transcripción automática los generan. Verifíquelos siempre, especialmente con vocabulario técnico en español.</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4 minutos.
La guía visual es el formato de apoyo al desempeño por excelencia: no se estudia, se consulta mientras se hace. Esa distinción cambia el diseño por completo — cero explicación, todo procedimiento.
La prueba del vistazo es el mejor control de calidad. Hágala en vivo: proyecte una guía y pregunte «¿qué hago primero?». Si el grupo duda, ahí está el diagnóstico.
El aviso de error frecuente es lo que distingue una guía útil de una lista de pasos: anticipa dónde se equivoca la gente. Pida que cada equipo identifique el error más común de su destreza.</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4 minutos.
Este es el punto donde la mayoría de las cápsulas fallan: se explica bien y se deja la práctica «para después». Después no llega.
La segunda tarjeta suele generar resistencia: si permitimos el apoyo escrito «para que no se frustren», estamos evaluando otra competencia. Se puede decidir dar el apoyo — pero entonces hay que reescribir la competencia para que lo incluya. Coherencia, no dureza.
La cuarta tarjeta es la que hace posible la autonomía: con respuesta modelo o lista de cotejo, el participante puede validar su ejecución sin depender del docente. Eso es diseño para el adulto autodirigido.
El ejemplo del pie funciona muy bien en vivo: pida a dos voluntarios que lo hagan frente al grupo, en 90 segundos.</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4 minutos.
Seis opciones para que nadie se quede con el «quiz» como única herramienta. Todas caben en tres minutos o menos.
El autochequeo con semáforo tiene una condición que hay que subrayar: exige evidencia que sustente el color. «Me siento verde» no basta; «estoy en verde porque resolví tres de tres» sí. Sin esa exigencia, se convierte en un ejercicio de autoestima, no de metacognición.
El producto a la carpeta conecta con la evaluación acumulativa del programa: si cada cápsula deja una evidencia archivada, al final del ciclo hay un portafolio real sin trabajo adicional.
Pida a cada equipo que elija su formato AHORA, antes de la lámina 34.</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4 minutos.
La columna derecha es la más útil: son las señales de alarma que ellos pueden buscar en sus propios instrumentos esta misma semana.
El criterio de «función formativa» es el giro conceptual del taller: la microevaluación existe para consolidar, no para clasificar. Retome la lámina 11, tercera tarjeta: la recuperación enseña.
La ruta de reenseñanza es lo que más se descuida. Pedir que repita lo mismo sin cambiar nada es garantizar el mismo resultado. Defina una acción distinta: otro formato, otro ejemplo, práctica guiada presencial.
El umbral de 70 % mantiene coherencia con los instrumentos que ya usamos; si su programa usa otro, ajústelo y sea explícito al respecto.</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4 minutos.
Reparta ambas plantillas impresas. Cada equipo usa la B solo si eligió video como formato dominante; la C la usan todos, sin excepción.
En la Plantilla C, el campo más importante es el último: la acción de reenseñanza. Insista en que se escriba ANTES de aplicar el instrumento, no después de ver los resultados. Anticipar el fallo es diseño; reaccionar a él es improvisación.
El campo de respuesta modelo también se completa antes: si no puede escribir la respuesta correcta, el reactivo está mal formulado.
La estructura de la Plantilla C es deliberadamente compatible con la planilla de especificaciones que ya usamos en el Departamento — destrezas, cantidad, valor, puntuación mínima y lista de reenseñanza.</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25 minutos. Anuncie cada corte de fase.
Es el bloque de mayor carga del taller. Circule constantemente y aplique una sola pregunta de intervención: «¿esto sirve directamente a la competencia que escribieron?». Si la respuesta demora, sobra.
Problema previsible: los equipos que eligieron video se van a extender en la producción y descuidarán la Plantilla C. Corte a tiempo — la microevaluación es entregable obligatorio, la calidad del video no.
Otro problema previsible: el núcleo crece. Recuerde la regla de oro de la lámina 20: si falta tiempo, se recorta el núcleo, nunca la práctica.
Reserve los últimos 60 segundos para anunciar que la cápsula ya está lista y que el Módulo 4 no la sustituye: la mejora.</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DEL MÓDULO: 40 minutos (láminas 38 a 43).
Encuadre el módulo desde el principio: la IA no diseña la cápsula. La cápsula ya está diseñada — la hicieron ellos en el Módulo 3. La IA acelera la producción y amplía las variantes; el criterio pedagógico sigue siendo humano.
Ritmo sugerido: 38 (6 min) · 39 (5 min) · 40 (5 min) · 41 (4 min) · 42 (5 min) · 43 (15 min de actividad).</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6 minutos.
Muchos del grupo ya conocen el modelo de talleres anteriores. Para ellos, el ángulo nuevo es el del recuadro inferior: en microaprendizaje, el componente que más rinde es TAREA con límites explícitos (duración, cantidad de pasos, número de reactivos). Sin esos límites, la salida siempre se desborda.
Pida al grupo que identifique cuál de los cinco componentes suelen omitir. Casi siempre es CONTEXTO — y es el que más determina la pertinencia del resultado para nuestro perfil de participante.
Verifique antes del taller que la cita del modelo esté conforme a su publicación más reciente, y ajústela en la lámina de referencias si procede.</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5 minutos.
Proyecte el prompt y, si tiene conexión, ejecútelo en vivo. Ver la salida aparecer y criticarla juntos vale más que explicar la técnica.
El detalle decisivo es pegar la competencia TEXTUALMENTE. Cuando el docente la resume («algo de fracciones»), la salida se vuelve genérica. La calidad de entrada determina la calidad de salida.
La instrucción «no introduzcas contenido fuera de la competencia» es la que evita que la IA devuelva una lección completa. Sin ella, casi siempre añade historia de las fracciones, tipos de fracciones y otros excesos.
Al leer la salida, aplique en voz alta la regla 1-1-1 de la lámina 19.</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4 minutos.
Note que el prompt encadena: «la cápsula que acabas de generar». Trabajar en la misma conversación conserva el contexto y evita repetirlo. Es una eficiencia real.
La exigencia de tres niveles de demanda —reconocimiento, ejecución, aplicación— es la que evita tres reactivos idénticos con números distintos.
La tarjeta inferior derecha es el mensaje que debe quedar: la IA produce el borrador; el juicio sobre pertinencia, nivel y viabilidad es del docente que conoce a su grupo. Nadie más puede tomarlo.
Si su programa usa un umbral distinto al 70 %, cámbielo en el prompt y en la Plantilla C.</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5 minutos.
Este es el prompt que más impacto tendrá en su trabajo diario: convierte materiales existentes en rutas de microunidades sin empezar de cero.
El componente clave es la instrucción sobre recuperación: «indica qué recupera cada una de las anteriores sin volver a explicarlas». Sin esa frase, la IA genera cuatro unidades independientes y se pierde el efecto de la práctica espaciada (lámina 22).
Sugerencia práctica: pida a un equipo que ejecute este prompt en vivo con un módulo real de su programa y proyecte la salida. La discusión sobre el orden propuesto es el mejor cierre posible del módulo.</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5 minutos.
Los cinco controles se aplican SIEMPRE, en ese orden. Sugiera que los impriman y los peguen junto a la computadora — es una guía visual, coherente con lo enseñado en la lámina 31.
El control de exactitud merece énfasis especial en matemáticas: los modelos generan procedimientos plausibles con errores aritméticos. Resuelva usted cada ejercicio antes de entregarlo.
Sobre los límites éticos: la exigencia de verificar códigos y citas en la fuente oficial es política de trabajo, no recomendación. Nunca se publica un código de expectativa que no se haya confirmado en el documento del Programa.
Cierre el módulo con la frase de la tarjeta inferior derecha y pase directamente a la Actividad 4.</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15 minutos.
La instrucción de escribir el prompt ANTES de tocar el teclado no es un capricho: obliga a pensar los cinco componentes en lugar de improvisar en la caja de texto. Hágala cumplir.
El minuto 15 es el más formativo de todo el módulo: exigir una razón PEDAGÓGICA para quedarse con una versión u otra impide que la decisión se tome por comodidad o por deslumbramiento con el resultado de la máquina.
Recoja dos o tres justificaciones en voz alta antes de pasar al cierre. Son excelentes evidencias del criterio profesional que el taller buscaba desarrollar.</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10 minutos. Con más de tres equipos, seleccione tres voluntarios y ofrezca revisar el resto por escrito.
Sostenga estrictamente el protocolo de tres minutos: es coherente con todo lo enseñado y evita que la primera presentación consuma el cierre.
La regla de «pregunta, no consejo» protege el ejercicio: el consejo cierra la reflexión, la pregunta la abre. Corríjalo con amabilidad si alguien empieza a aconsejar.
Use la lista de cotejo en voz alta con la primera presentación para modelar cómo se aplica; después el grupo la usa por su cuenta.</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4 minutos.
La rúbrica se entrega impresa al inicio del cierre y se usa como autoevaluación, no como calificación del facilitador. Es coherente con el criterio de evaluación transparente del DUA.
Señale la nota al pie: el uso correcto es identificar el criterio más bajo y rediseñar SOLO ese componente. Rehacer la cápsula completa desmotiva y rara vez es necesario.
El umbral de 12 puntos mantiene la coherencia con el 70 % que usamos en toda la planilla de especificaciones.
Ofrezca revisar por escrito las cápsulas de los equipos que quieran retroalimentación adicional durante la semana siguiente.</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5 minutos.
El plan de 14 días es el que convierte el taller en práctica. Sin él, el material se guarda y no se usa. Insista: la primera aplicación debe ocurrir dentro de 48 horas, mientras el diseño está fresco.
El ticket de salida es a la vez cierre coherente —el taller termina con la microevaluación que enseñó— y fuente de datos para el Proyecto. Recójalos físicamente.
La tercera pregunta es la más importante desde la dirección del programa: identifica las condiciones que hay que crear para que la implementación no dependa solo de la voluntad del docente. Sistematice las respuestas y llévelas a la reunión de equipo.
Comprométase con una fecha de seguimiento concreta y anúnciela antes de cerrar.</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se lee en voz alta. Se entrega impresa junto con las plantillas.
NOTA PARA EL FACILITADOR: la entrada del modelo RC-TTF está redactada como modelo pedagógico propio. Sustitúyala por la cita formal correspondiente si el modelo ya cuenta con publicación arbitrada.
El estudio de Balasundaram et al. (2024) es de acceso abierto y puede compartirse por correo con quien lo solicite.
Las pautas del DUA 3.0 de CAST están disponibles en español en el mismo portal.</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1 minuto.
Cierre con la frase de la lámina y con el compromiso concreto de seguimiento: fecha, hora y formato de la sesión de catorce días.
Recuerde recoger: tickets de salida, plantillas completadas y la lista de necesidades que surgió de la tercera pregunta.
Envíe dentro de las 48 horas siguientes: el archivo de la presentación, las tres plantillas editables, la rúbrica y las referencias.</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a:effectLst/>
      </p:bgPr>
    </p:bg>
    <p:spTree>
      <p:nvGrpSpPr>
        <p:cNvPr id="1" name=""/>
        <p:cNvGrpSpPr/>
        <p:nvPr/>
      </p:nvGrpSpPr>
      <p:grpSpPr>
        <a:xfrm>
          <a:off x="0" y="0"/>
          <a:ext cx="0" cy="0"/>
          <a:chOff x="0" y="0"/>
          <a:chExt cx="0" cy="0"/>
        </a:xfrm>
      </p:grpSpPr>
      <p:sp>
        <p:nvSpPr>
          <p:cNvPr id="2" name="Text 0"/>
          <p:cNvSpPr txBox="1"/>
          <p:nvPr/>
        </p:nvSpPr>
        <p:spPr>
          <a:xfrm>
            <a:off x="566928" y="1051560"/>
            <a:ext cx="9601200" cy="274320"/>
          </a:xfrm>
          <a:prstGeom prst="rect">
            <a:avLst/>
          </a:prstGeom>
          <a:noFill/>
          <a:ln/>
        </p:spPr>
        <p:txBody>
          <a:bodyPr wrap="square" lIns="0" tIns="0" rIns="0" bIns="0" rtlCol="0" anchor="ctr"/>
          <a:lstStyle/>
          <a:p>
            <a:pPr marL="0" indent="0">
              <a:buNone/>
            </a:pPr>
            <a:r>
              <a:rPr lang="en-US" sz="1200" b="1" kern="0" spc="200" dirty="0">
                <a:solidFill>
                  <a:srgbClr val="C9A84C"/>
                </a:solidFill>
                <a:latin typeface="Calibri" pitchFamily="34" charset="0"/>
                <a:ea typeface="Calibri" pitchFamily="34" charset="-122"/>
                <a:cs typeface="Calibri" pitchFamily="34" charset="-120"/>
              </a:rPr>
              <a:t>TALLER DE DESARROLLO PROFESIONAL  ·  4 HORAS</a:t>
            </a:r>
            <a:endParaRPr lang="en-US" sz="1200" dirty="0"/>
          </a:p>
        </p:txBody>
      </p:sp>
      <p:sp>
        <p:nvSpPr>
          <p:cNvPr id="3" name="Text 1"/>
          <p:cNvSpPr txBox="1"/>
          <p:nvPr/>
        </p:nvSpPr>
        <p:spPr>
          <a:xfrm>
            <a:off x="566928" y="1481328"/>
            <a:ext cx="10241280" cy="914400"/>
          </a:xfrm>
          <a:prstGeom prst="rect">
            <a:avLst/>
          </a:prstGeom>
          <a:noFill/>
          <a:ln/>
        </p:spPr>
        <p:txBody>
          <a:bodyPr wrap="square" lIns="0" tIns="0" rIns="0" bIns="0" rtlCol="0" anchor="ctr"/>
          <a:lstStyle/>
          <a:p>
            <a:pPr marL="0" indent="0">
              <a:buNone/>
            </a:pPr>
            <a:r>
              <a:rPr lang="en-US" sz="4600" b="1" dirty="0">
                <a:solidFill>
                  <a:srgbClr val="FFFFFF"/>
                </a:solidFill>
                <a:latin typeface="Cambria" pitchFamily="34" charset="0"/>
                <a:ea typeface="Cambria" pitchFamily="34" charset="-122"/>
                <a:cs typeface="Cambria" pitchFamily="34" charset="-120"/>
              </a:rPr>
              <a:t>Microaprendizaje para adultos</a:t>
            </a:r>
            <a:endParaRPr lang="en-US" sz="4600" dirty="0"/>
          </a:p>
        </p:txBody>
      </p:sp>
      <p:sp>
        <p:nvSpPr>
          <p:cNvPr id="4" name="Text 2"/>
          <p:cNvSpPr txBox="1"/>
          <p:nvPr/>
        </p:nvSpPr>
        <p:spPr>
          <a:xfrm>
            <a:off x="566928" y="2432304"/>
            <a:ext cx="10241280" cy="548640"/>
          </a:xfrm>
          <a:prstGeom prst="rect">
            <a:avLst/>
          </a:prstGeom>
          <a:noFill/>
          <a:ln/>
        </p:spPr>
        <p:txBody>
          <a:bodyPr wrap="square" lIns="0" tIns="0" rIns="0" bIns="0" rtlCol="0" anchor="ctr"/>
          <a:lstStyle/>
          <a:p>
            <a:pPr marL="0" indent="0">
              <a:buNone/>
            </a:pPr>
            <a:r>
              <a:rPr lang="en-US" sz="2400" i="1" dirty="0">
                <a:solidFill>
                  <a:srgbClr val="C9A227"/>
                </a:solidFill>
                <a:latin typeface="Cambria" pitchFamily="34" charset="0"/>
                <a:ea typeface="Cambria" pitchFamily="34" charset="-122"/>
                <a:cs typeface="Cambria" pitchFamily="34" charset="-120"/>
              </a:rPr>
              <a:t>Contenidos breves, relevantes y aplicables</a:t>
            </a:r>
            <a:endParaRPr lang="en-US" sz="2400" dirty="0"/>
          </a:p>
        </p:txBody>
      </p:sp>
      <p:sp>
        <p:nvSpPr>
          <p:cNvPr id="5" name="Text 3"/>
          <p:cNvSpPr txBox="1"/>
          <p:nvPr/>
        </p:nvSpPr>
        <p:spPr>
          <a:xfrm>
            <a:off x="566928" y="3054096"/>
            <a:ext cx="8778240" cy="457200"/>
          </a:xfrm>
          <a:prstGeom prst="rect">
            <a:avLst/>
          </a:prstGeom>
          <a:noFill/>
          <a:ln/>
        </p:spPr>
        <p:txBody>
          <a:bodyPr wrap="square" lIns="0" tIns="0" rIns="0" bIns="0" rtlCol="0" anchor="t"/>
          <a:lstStyle/>
          <a:p>
            <a:pPr marL="0" indent="0">
              <a:buNone/>
            </a:pPr>
            <a:r>
              <a:rPr lang="en-US" sz="1400" dirty="0">
                <a:solidFill>
                  <a:srgbClr val="C3D0E0"/>
                </a:solidFill>
                <a:latin typeface="Calibri" pitchFamily="34" charset="0"/>
                <a:ea typeface="Calibri" pitchFamily="34" charset="-122"/>
                <a:cs typeface="Calibri" pitchFamily="34" charset="-120"/>
              </a:rPr>
              <a:t>Planificación de unidades cortas y focalizadas que producen una competencia útil y observable</a:t>
            </a:r>
            <a:endParaRPr lang="en-US" sz="1400" dirty="0"/>
          </a:p>
        </p:txBody>
      </p:sp>
      <p:sp>
        <p:nvSpPr>
          <p:cNvPr id="6" name="Shape 4"/>
          <p:cNvSpPr/>
          <p:nvPr/>
        </p:nvSpPr>
        <p:spPr>
          <a:xfrm>
            <a:off x="566928" y="4041648"/>
            <a:ext cx="6858000" cy="1572768"/>
          </a:xfrm>
          <a:prstGeom prst="roundRect">
            <a:avLst>
              <a:gd name="adj" fmla="val 2326"/>
            </a:avLst>
          </a:prstGeom>
          <a:solidFill>
            <a:srgbClr val="24365C"/>
          </a:solidFill>
          <a:ln w="12700">
            <a:solidFill>
              <a:srgbClr val="24365C"/>
            </a:solidFill>
            <a:prstDash val="solid"/>
          </a:ln>
          <a:effectLst>
            <a:outerShdw blurRad="101600" dist="12700" dir="5400000" algn="bl" rotWithShape="0">
              <a:srgbClr val="9AA8B5">
                <a:alpha val="16000"/>
              </a:srgbClr>
            </a:outerShdw>
          </a:effectLst>
        </p:spPr>
      </p:sp>
      <p:sp>
        <p:nvSpPr>
          <p:cNvPr id="7" name="Text 5"/>
          <p:cNvSpPr txBox="1"/>
          <p:nvPr/>
        </p:nvSpPr>
        <p:spPr>
          <a:xfrm>
            <a:off x="804672" y="4261104"/>
            <a:ext cx="6382512" cy="274320"/>
          </a:xfrm>
          <a:prstGeom prst="rect">
            <a:avLst/>
          </a:prstGeom>
          <a:noFill/>
          <a:ln/>
        </p:spPr>
        <p:txBody>
          <a:bodyPr wrap="square" lIns="0" tIns="0" rIns="0" bIns="0" rtlCol="0" anchor="t"/>
          <a:lstStyle/>
          <a:p>
            <a:pPr marL="0" indent="0">
              <a:buNone/>
            </a:pPr>
            <a:r>
              <a:rPr lang="en-US" sz="1400" b="1" dirty="0">
                <a:solidFill>
                  <a:srgbClr val="FFFFFF"/>
                </a:solidFill>
                <a:latin typeface="Calibri" pitchFamily="34" charset="0"/>
                <a:ea typeface="Calibri" pitchFamily="34" charset="-122"/>
                <a:cs typeface="Calibri" pitchFamily="34" charset="-120"/>
              </a:rPr>
              <a:t>Proyecto RUTA  ·  Universidad Interamericana de Puerto Rico, Recinto de Ponce</a:t>
            </a:r>
            <a:endParaRPr lang="en-US" sz="1400" dirty="0"/>
          </a:p>
        </p:txBody>
      </p:sp>
      <p:sp>
        <p:nvSpPr>
          <p:cNvPr id="8" name="Text 6"/>
          <p:cNvSpPr txBox="1"/>
          <p:nvPr/>
        </p:nvSpPr>
        <p:spPr>
          <a:xfrm>
            <a:off x="804672" y="4590288"/>
            <a:ext cx="6382512" cy="841248"/>
          </a:xfrm>
          <a:prstGeom prst="rect">
            <a:avLst/>
          </a:prstGeom>
          <a:noFill/>
          <a:ln/>
        </p:spPr>
        <p:txBody>
          <a:bodyPr wrap="square" lIns="0" tIns="0" rIns="0" bIns="0" rtlCol="0" anchor="t"/>
          <a:lstStyle/>
          <a:p>
            <a:pPr marL="0" indent="0">
              <a:lnSpc>
                <a:spcPct val="106000"/>
              </a:lnSpc>
              <a:buNone/>
            </a:pPr>
            <a:r>
              <a:rPr lang="en-US" sz="1250" dirty="0">
                <a:solidFill>
                  <a:srgbClr val="D6E0EE"/>
                </a:solidFill>
                <a:latin typeface="Calibri" pitchFamily="34" charset="0"/>
                <a:ea typeface="Calibri" pitchFamily="34" charset="-122"/>
                <a:cs typeface="Calibri" pitchFamily="34" charset="-120"/>
              </a:rPr>
              <a:t>Facilitador: Dr. Héctor J. Corraliza Montero, Ed.D. — Director, Proyecto RUTA</a:t>
            </a:r>
            <a:endParaRPr lang="en-US" sz="1250" dirty="0"/>
          </a:p>
          <a:p>
            <a:pPr marL="0" indent="0">
              <a:lnSpc>
                <a:spcPct val="106000"/>
              </a:lnSpc>
              <a:buNone/>
            </a:pPr>
            <a:r>
              <a:rPr lang="en-US" sz="1250" dirty="0">
                <a:solidFill>
                  <a:srgbClr val="D6E0EE"/>
                </a:solidFill>
                <a:latin typeface="Calibri" pitchFamily="34" charset="0"/>
                <a:ea typeface="Calibri" pitchFamily="34" charset="-122"/>
                <a:cs typeface="Calibri" pitchFamily="34" charset="-120"/>
              </a:rPr>
              <a:t>Dirigido a: docentes y facilitadores de educación de adultos</a:t>
            </a:r>
            <a:endParaRPr lang="en-US" sz="1250" dirty="0"/>
          </a:p>
          <a:p>
            <a:pPr marL="0" indent="0">
              <a:lnSpc>
                <a:spcPct val="106000"/>
              </a:lnSpc>
              <a:buNone/>
            </a:pPr>
            <a:r>
              <a:rPr lang="en-US" sz="1250" dirty="0">
                <a:solidFill>
                  <a:srgbClr val="D6E0EE"/>
                </a:solidFill>
                <a:latin typeface="Calibri" pitchFamily="34" charset="0"/>
                <a:ea typeface="Calibri" pitchFamily="34" charset="-122"/>
                <a:cs typeface="Calibri" pitchFamily="34" charset="-120"/>
              </a:rPr>
              <a:t>Septiembre 2026  ·  Programa financiado bajo WIOA</a:t>
            </a:r>
            <a:endParaRPr lang="en-US" sz="1250" dirty="0"/>
          </a:p>
        </p:txBody>
      </p:sp>
      <p:sp>
        <p:nvSpPr>
          <p:cNvPr id="9" name="Shape 7"/>
          <p:cNvSpPr/>
          <p:nvPr/>
        </p:nvSpPr>
        <p:spPr>
          <a:xfrm>
            <a:off x="9189720" y="4224528"/>
            <a:ext cx="548640" cy="548640"/>
          </a:xfrm>
          <a:prstGeom prst="roundRect">
            <a:avLst>
              <a:gd name="adj" fmla="val 8333"/>
            </a:avLst>
          </a:prstGeom>
          <a:solidFill>
            <a:srgbClr val="C9A227"/>
          </a:solidFill>
          <a:ln w="12700">
            <a:solidFill>
              <a:srgbClr val="C9A227"/>
            </a:solidFill>
            <a:prstDash val="solid"/>
          </a:ln>
        </p:spPr>
      </p:sp>
      <p:sp>
        <p:nvSpPr>
          <p:cNvPr id="10" name="Shape 8"/>
          <p:cNvSpPr/>
          <p:nvPr/>
        </p:nvSpPr>
        <p:spPr>
          <a:xfrm>
            <a:off x="9921240" y="4224528"/>
            <a:ext cx="548640" cy="548640"/>
          </a:xfrm>
          <a:prstGeom prst="roundRect">
            <a:avLst>
              <a:gd name="adj" fmla="val 8333"/>
            </a:avLst>
          </a:prstGeom>
          <a:solidFill>
            <a:srgbClr val="2A9D8F"/>
          </a:solidFill>
          <a:ln w="12700">
            <a:solidFill>
              <a:srgbClr val="2A9D8F"/>
            </a:solidFill>
            <a:prstDash val="solid"/>
          </a:ln>
        </p:spPr>
      </p:sp>
      <p:sp>
        <p:nvSpPr>
          <p:cNvPr id="11" name="Shape 9"/>
          <p:cNvSpPr/>
          <p:nvPr/>
        </p:nvSpPr>
        <p:spPr>
          <a:xfrm>
            <a:off x="10652760" y="4224528"/>
            <a:ext cx="548640" cy="548640"/>
          </a:xfrm>
          <a:prstGeom prst="roundRect">
            <a:avLst>
              <a:gd name="adj" fmla="val 8333"/>
            </a:avLst>
          </a:prstGeom>
          <a:solidFill>
            <a:srgbClr val="FFFFFF"/>
          </a:solidFill>
          <a:ln w="12700">
            <a:solidFill>
              <a:srgbClr val="FFFFFF"/>
            </a:solidFill>
            <a:prstDash val="solid"/>
          </a:ln>
        </p:spPr>
      </p:sp>
      <p:sp>
        <p:nvSpPr>
          <p:cNvPr id="12" name="Shape 10"/>
          <p:cNvSpPr/>
          <p:nvPr/>
        </p:nvSpPr>
        <p:spPr>
          <a:xfrm>
            <a:off x="9189720" y="4956048"/>
            <a:ext cx="548640" cy="548640"/>
          </a:xfrm>
          <a:prstGeom prst="roundRect">
            <a:avLst>
              <a:gd name="adj" fmla="val 8333"/>
            </a:avLst>
          </a:prstGeom>
          <a:solidFill>
            <a:srgbClr val="2A9D8F">
              <a:alpha val="55000"/>
            </a:srgbClr>
          </a:solidFill>
          <a:ln w="12700">
            <a:solidFill>
              <a:srgbClr val="2A9D8F"/>
            </a:solidFill>
            <a:prstDash val="solid"/>
          </a:ln>
        </p:spPr>
      </p:sp>
      <p:sp>
        <p:nvSpPr>
          <p:cNvPr id="13" name="Shape 11"/>
          <p:cNvSpPr/>
          <p:nvPr/>
        </p:nvSpPr>
        <p:spPr>
          <a:xfrm>
            <a:off x="9921240" y="4956048"/>
            <a:ext cx="548640" cy="548640"/>
          </a:xfrm>
          <a:prstGeom prst="roundRect">
            <a:avLst>
              <a:gd name="adj" fmla="val 8333"/>
            </a:avLst>
          </a:prstGeom>
          <a:solidFill>
            <a:srgbClr val="FFFFFF">
              <a:alpha val="55000"/>
            </a:srgbClr>
          </a:solidFill>
          <a:ln w="12700">
            <a:solidFill>
              <a:srgbClr val="FFFFFF"/>
            </a:solidFill>
            <a:prstDash val="solid"/>
          </a:ln>
        </p:spPr>
      </p:sp>
      <p:sp>
        <p:nvSpPr>
          <p:cNvPr id="14" name="Shape 12"/>
          <p:cNvSpPr/>
          <p:nvPr/>
        </p:nvSpPr>
        <p:spPr>
          <a:xfrm>
            <a:off x="10652760" y="4956048"/>
            <a:ext cx="548640" cy="548640"/>
          </a:xfrm>
          <a:prstGeom prst="roundRect">
            <a:avLst>
              <a:gd name="adj" fmla="val 8333"/>
            </a:avLst>
          </a:prstGeom>
          <a:solidFill>
            <a:srgbClr val="C9A227">
              <a:alpha val="55000"/>
            </a:srgbClr>
          </a:solidFill>
          <a:ln w="12700">
            <a:solidFill>
              <a:srgbClr val="C9A227"/>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29184"/>
            <a:ext cx="11055096" cy="256032"/>
          </a:xfrm>
          <a:prstGeom prst="rect">
            <a:avLst/>
          </a:prstGeom>
          <a:noFill/>
          <a:ln/>
        </p:spPr>
        <p:txBody>
          <a:bodyPr wrap="square" lIns="0" tIns="0" rIns="0" bIns="0" rtlCol="0" anchor="ctr"/>
          <a:lstStyle/>
          <a:p>
            <a:pPr marL="0" indent="0">
              <a:buNone/>
            </a:pPr>
            <a:r>
              <a:rPr lang="en-US" sz="1100" b="1" kern="0" spc="160" dirty="0">
                <a:solidFill>
                  <a:srgbClr val="2A9D8F"/>
                </a:solidFill>
                <a:latin typeface="Calibri" pitchFamily="34" charset="0"/>
                <a:ea typeface="Calibri" pitchFamily="34" charset="-122"/>
                <a:cs typeface="Calibri" pitchFamily="34" charset="-120"/>
              </a:rPr>
              <a:t>PUNTO DE PARTIDA</a:t>
            </a:r>
            <a:endParaRPr lang="en-US" sz="1100" dirty="0"/>
          </a:p>
        </p:txBody>
      </p:sp>
      <p:sp>
        <p:nvSpPr>
          <p:cNvPr id="3" name="Text 1"/>
          <p:cNvSpPr txBox="1"/>
          <p:nvPr/>
        </p:nvSpPr>
        <p:spPr>
          <a:xfrm>
            <a:off x="566928" y="603504"/>
            <a:ext cx="11055096" cy="749808"/>
          </a:xfrm>
          <a:prstGeom prst="rect">
            <a:avLst/>
          </a:prstGeom>
          <a:noFill/>
          <a:ln/>
        </p:spPr>
        <p:txBody>
          <a:bodyPr wrap="square" lIns="0" tIns="0" rIns="0" bIns="0" rtlCol="0" anchor="t"/>
          <a:lstStyle/>
          <a:p>
            <a:pPr marL="0" indent="0">
              <a:buNone/>
            </a:pPr>
            <a:r>
              <a:rPr lang="en-US" sz="2900" b="1" dirty="0">
                <a:solidFill>
                  <a:srgbClr val="1B2A4A"/>
                </a:solidFill>
                <a:latin typeface="Cambria" pitchFamily="34" charset="0"/>
                <a:ea typeface="Cambria" pitchFamily="34" charset="-122"/>
                <a:cs typeface="Cambria" pitchFamily="34" charset="-120"/>
              </a:rPr>
              <a:t>Nuestro participante no tiene una hora libre: tiene diez minutos</a:t>
            </a:r>
            <a:endParaRPr lang="en-US" sz="2900" dirty="0"/>
          </a:p>
        </p:txBody>
      </p:sp>
      <p:sp>
        <p:nvSpPr>
          <p:cNvPr id="4" name="Text 2"/>
          <p:cNvSpPr txBox="1"/>
          <p:nvPr/>
        </p:nvSpPr>
        <p:spPr>
          <a:xfrm>
            <a:off x="566928" y="6428232"/>
            <a:ext cx="7863840" cy="256032"/>
          </a:xfrm>
          <a:prstGeom prst="rect">
            <a:avLst/>
          </a:prstGeom>
          <a:noFill/>
          <a:ln/>
        </p:spPr>
        <p:txBody>
          <a:bodyPr wrap="square" lIns="0" tIns="0" rIns="0" bIns="0" rtlCol="0" anchor="ctr"/>
          <a:lstStyle/>
          <a:p>
            <a:pPr marL="0" indent="0">
              <a:buNone/>
            </a:pPr>
            <a:r>
              <a:rPr lang="en-US" sz="900" dirty="0">
                <a:solidFill>
                  <a:srgbClr val="5B6B7B"/>
                </a:solidFill>
                <a:latin typeface="Calibri" pitchFamily="34" charset="0"/>
                <a:ea typeface="Calibri" pitchFamily="34" charset="-122"/>
                <a:cs typeface="Calibri" pitchFamily="34" charset="-120"/>
              </a:rPr>
              <a:t>Microaprendizaje para adultos  ·  Proyecto RUTA — Inter Ponce</a:t>
            </a:r>
            <a:endParaRPr lang="en-US" sz="900" dirty="0"/>
          </a:p>
        </p:txBody>
      </p:sp>
      <p:sp>
        <p:nvSpPr>
          <p:cNvPr id="5" name="Text 3"/>
          <p:cNvSpPr txBox="1"/>
          <p:nvPr/>
        </p:nvSpPr>
        <p:spPr>
          <a:xfrm>
            <a:off x="10972800" y="6428232"/>
            <a:ext cx="649224" cy="256032"/>
          </a:xfrm>
          <a:prstGeom prst="rect">
            <a:avLst/>
          </a:prstGeom>
          <a:noFill/>
          <a:ln/>
        </p:spPr>
        <p:txBody>
          <a:bodyPr wrap="square" lIns="0" tIns="0" rIns="0" bIns="0" rtlCol="0" anchor="ctr"/>
          <a:lstStyle/>
          <a:p>
            <a:pPr marL="0" indent="0" algn="r">
              <a:buNone/>
            </a:pPr>
            <a:r>
              <a:rPr lang="en-US" sz="900" dirty="0">
                <a:solidFill>
                  <a:srgbClr val="5B6B7B"/>
                </a:solidFill>
                <a:latin typeface="Calibri" pitchFamily="34" charset="0"/>
                <a:ea typeface="Calibri" pitchFamily="34" charset="-122"/>
                <a:cs typeface="Calibri" pitchFamily="34" charset="-120"/>
              </a:rPr>
              <a:t>2</a:t>
            </a:r>
            <a:endParaRPr lang="en-US" sz="900" dirty="0"/>
          </a:p>
        </p:txBody>
      </p:sp>
      <p:sp>
        <p:nvSpPr>
          <p:cNvPr id="6" name="Shape 4"/>
          <p:cNvSpPr/>
          <p:nvPr/>
        </p:nvSpPr>
        <p:spPr>
          <a:xfrm>
            <a:off x="566928" y="1572768"/>
            <a:ext cx="3502152" cy="3566160"/>
          </a:xfrm>
          <a:prstGeom prst="roundRect">
            <a:avLst>
              <a:gd name="adj" fmla="val 1044"/>
            </a:avLst>
          </a:prstGeom>
          <a:solidFill>
            <a:srgbClr val="F1F4F8"/>
          </a:solidFill>
          <a:ln w="12700">
            <a:solidFill>
              <a:srgbClr val="F1F4F8"/>
            </a:solidFill>
            <a:prstDash val="solid"/>
          </a:ln>
          <a:effectLst>
            <a:outerShdw blurRad="101600" dist="12700" dir="5400000" algn="bl" rotWithShape="0">
              <a:srgbClr val="9AA8B5">
                <a:alpha val="16000"/>
              </a:srgbClr>
            </a:outerShdw>
          </a:effectLst>
        </p:spPr>
      </p:sp>
      <p:sp>
        <p:nvSpPr>
          <p:cNvPr id="7" name="Shape 5"/>
          <p:cNvSpPr/>
          <p:nvPr/>
        </p:nvSpPr>
        <p:spPr>
          <a:xfrm>
            <a:off x="804672" y="1792224"/>
            <a:ext cx="420624" cy="420624"/>
          </a:xfrm>
          <a:prstGeom prst="ellipse">
            <a:avLst/>
          </a:prstGeom>
          <a:solidFill>
            <a:srgbClr val="1B2A4A"/>
          </a:solidFill>
          <a:ln w="12700">
            <a:solidFill>
              <a:srgbClr val="1B2A4A"/>
            </a:solidFill>
            <a:prstDash val="solid"/>
          </a:ln>
        </p:spPr>
      </p:sp>
      <p:sp>
        <p:nvSpPr>
          <p:cNvPr id="8" name="Text 6"/>
          <p:cNvSpPr txBox="1"/>
          <p:nvPr/>
        </p:nvSpPr>
        <p:spPr>
          <a:xfrm>
            <a:off x="804672" y="1792224"/>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7"/>
          <p:cNvSpPr txBox="1"/>
          <p:nvPr/>
        </p:nvSpPr>
        <p:spPr>
          <a:xfrm>
            <a:off x="804672" y="2359152"/>
            <a:ext cx="3026664" cy="310896"/>
          </a:xfrm>
          <a:prstGeom prst="rect">
            <a:avLst/>
          </a:prstGeom>
          <a:noFill/>
          <a:ln/>
        </p:spPr>
        <p:txBody>
          <a:bodyPr wrap="square" lIns="0" tIns="0" rIns="0" bIns="0" rtlCol="0" anchor="t"/>
          <a:lstStyle/>
          <a:p>
            <a:pPr marL="0" indent="0">
              <a:buNone/>
            </a:pPr>
            <a:r>
              <a:rPr lang="en-US" sz="1450" b="1" dirty="0">
                <a:solidFill>
                  <a:srgbClr val="1B2A4A"/>
                </a:solidFill>
                <a:latin typeface="Calibri" pitchFamily="34" charset="0"/>
                <a:ea typeface="Calibri" pitchFamily="34" charset="-122"/>
                <a:cs typeface="Calibri" pitchFamily="34" charset="-120"/>
              </a:rPr>
              <a:t>El reto real</a:t>
            </a:r>
            <a:endParaRPr lang="en-US" sz="1450" dirty="0"/>
          </a:p>
        </p:txBody>
      </p:sp>
      <p:sp>
        <p:nvSpPr>
          <p:cNvPr id="10" name="Text 8"/>
          <p:cNvSpPr txBox="1"/>
          <p:nvPr/>
        </p:nvSpPr>
        <p:spPr>
          <a:xfrm>
            <a:off x="804672" y="2724912"/>
            <a:ext cx="3026664" cy="2231136"/>
          </a:xfrm>
          <a:prstGeom prst="rect">
            <a:avLst/>
          </a:prstGeom>
          <a:noFill/>
          <a:ln/>
        </p:spPr>
        <p:txBody>
          <a:bodyPr wrap="square" lIns="0" tIns="0" rIns="0" bIns="0" rtlCol="0" anchor="t"/>
          <a:lstStyle/>
          <a:p>
            <a:pPr marL="0" indent="0">
              <a:lnSpc>
                <a:spcPct val="106000"/>
              </a:lnSpc>
              <a:buNone/>
            </a:pPr>
            <a:r>
              <a:rPr lang="en-US" sz="1150" dirty="0">
                <a:solidFill>
                  <a:srgbClr val="1F2933"/>
                </a:solidFill>
                <a:latin typeface="Calibri" pitchFamily="34" charset="0"/>
                <a:ea typeface="Calibri" pitchFamily="34" charset="-122"/>
                <a:cs typeface="Calibri" pitchFamily="34" charset="-120"/>
              </a:rPr>
              <a:t>El adulto que atendemos estudia entre turnos de trabajo, responsabilidades de cuido, traslados y una escolaridad interrumpida.</a:t>
            </a:r>
            <a:endParaRPr lang="en-US" sz="1150" dirty="0"/>
          </a:p>
          <a:p>
            <a:pPr marL="0" indent="0">
              <a:lnSpc>
                <a:spcPct val="106000"/>
              </a:lnSpc>
              <a:buNone/>
            </a:pPr>
            <a:endParaRPr lang="en-US" sz="1150" dirty="0"/>
          </a:p>
          <a:p>
            <a:pPr marL="0" indent="0">
              <a:lnSpc>
                <a:spcPct val="106000"/>
              </a:lnSpc>
              <a:buNone/>
            </a:pPr>
            <a:r>
              <a:rPr lang="en-US" sz="1150" dirty="0">
                <a:solidFill>
                  <a:srgbClr val="1F2933"/>
                </a:solidFill>
                <a:latin typeface="Calibri" pitchFamily="34" charset="0"/>
                <a:ea typeface="Calibri" pitchFamily="34" charset="-122"/>
                <a:cs typeface="Calibri" pitchFamily="34" charset="-120"/>
              </a:rPr>
              <a:t>La unidad larga compite con su vida. La unidad corta se acomoda a ella.</a:t>
            </a:r>
            <a:endParaRPr lang="en-US" sz="1150" dirty="0"/>
          </a:p>
        </p:txBody>
      </p:sp>
      <p:sp>
        <p:nvSpPr>
          <p:cNvPr id="11" name="Shape 9"/>
          <p:cNvSpPr/>
          <p:nvPr/>
        </p:nvSpPr>
        <p:spPr>
          <a:xfrm>
            <a:off x="4343400" y="1572768"/>
            <a:ext cx="3502152" cy="3566160"/>
          </a:xfrm>
          <a:prstGeom prst="roundRect">
            <a:avLst>
              <a:gd name="adj" fmla="val 1044"/>
            </a:avLst>
          </a:prstGeom>
          <a:solidFill>
            <a:srgbClr val="E7F2F0"/>
          </a:solidFill>
          <a:ln w="12700">
            <a:solidFill>
              <a:srgbClr val="E7F2F0"/>
            </a:solidFill>
            <a:prstDash val="solid"/>
          </a:ln>
          <a:effectLst>
            <a:outerShdw blurRad="101600" dist="12700" dir="5400000" algn="bl" rotWithShape="0">
              <a:srgbClr val="9AA8B5">
                <a:alpha val="16000"/>
              </a:srgbClr>
            </a:outerShdw>
          </a:effectLst>
        </p:spPr>
      </p:sp>
      <p:sp>
        <p:nvSpPr>
          <p:cNvPr id="12" name="Shape 10"/>
          <p:cNvSpPr/>
          <p:nvPr/>
        </p:nvSpPr>
        <p:spPr>
          <a:xfrm>
            <a:off x="4581144" y="1792224"/>
            <a:ext cx="420624" cy="420624"/>
          </a:xfrm>
          <a:prstGeom prst="ellipse">
            <a:avLst/>
          </a:prstGeom>
          <a:solidFill>
            <a:srgbClr val="2A9D8F"/>
          </a:solidFill>
          <a:ln w="12700">
            <a:solidFill>
              <a:srgbClr val="2A9D8F"/>
            </a:solidFill>
            <a:prstDash val="solid"/>
          </a:ln>
        </p:spPr>
      </p:sp>
      <p:sp>
        <p:nvSpPr>
          <p:cNvPr id="13" name="Text 11"/>
          <p:cNvSpPr txBox="1"/>
          <p:nvPr/>
        </p:nvSpPr>
        <p:spPr>
          <a:xfrm>
            <a:off x="4581144" y="1792224"/>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4" name="Text 12"/>
          <p:cNvSpPr txBox="1"/>
          <p:nvPr/>
        </p:nvSpPr>
        <p:spPr>
          <a:xfrm>
            <a:off x="4581144" y="2359152"/>
            <a:ext cx="3026664" cy="310896"/>
          </a:xfrm>
          <a:prstGeom prst="rect">
            <a:avLst/>
          </a:prstGeom>
          <a:noFill/>
          <a:ln/>
        </p:spPr>
        <p:txBody>
          <a:bodyPr wrap="square" lIns="0" tIns="0" rIns="0" bIns="0" rtlCol="0" anchor="t"/>
          <a:lstStyle/>
          <a:p>
            <a:pPr marL="0" indent="0">
              <a:buNone/>
            </a:pPr>
            <a:r>
              <a:rPr lang="en-US" sz="1450" b="1" dirty="0">
                <a:solidFill>
                  <a:srgbClr val="1B2A4A"/>
                </a:solidFill>
                <a:latin typeface="Calibri" pitchFamily="34" charset="0"/>
                <a:ea typeface="Calibri" pitchFamily="34" charset="-122"/>
                <a:cs typeface="Calibri" pitchFamily="34" charset="-120"/>
              </a:rPr>
              <a:t>Lo que dice la evidencia</a:t>
            </a:r>
            <a:endParaRPr lang="en-US" sz="1450" dirty="0"/>
          </a:p>
        </p:txBody>
      </p:sp>
      <p:sp>
        <p:nvSpPr>
          <p:cNvPr id="15" name="Text 13"/>
          <p:cNvSpPr txBox="1"/>
          <p:nvPr/>
        </p:nvSpPr>
        <p:spPr>
          <a:xfrm>
            <a:off x="4581144" y="2724912"/>
            <a:ext cx="3026664" cy="2231136"/>
          </a:xfrm>
          <a:prstGeom prst="rect">
            <a:avLst/>
          </a:prstGeom>
          <a:noFill/>
          <a:ln/>
        </p:spPr>
        <p:txBody>
          <a:bodyPr wrap="square" lIns="0" tIns="0" rIns="0" bIns="0" rtlCol="0" anchor="t"/>
          <a:lstStyle/>
          <a:p>
            <a:pPr marL="0" indent="0">
              <a:lnSpc>
                <a:spcPct val="106000"/>
              </a:lnSpc>
              <a:buNone/>
            </a:pPr>
            <a:r>
              <a:rPr lang="en-US" sz="1150" dirty="0">
                <a:solidFill>
                  <a:srgbClr val="1F2933"/>
                </a:solidFill>
                <a:latin typeface="Calibri" pitchFamily="34" charset="0"/>
                <a:ea typeface="Calibri" pitchFamily="34" charset="-122"/>
                <a:cs typeface="Calibri" pitchFamily="34" charset="-120"/>
              </a:rPr>
              <a:t>En un estudio con 104 estudiantes universitarios, el grupo que recibió microaprendizaje superó al grupo control en ejecución (M = 6.6 frente a 5.6; p &lt; .001) y reportó mayor disfrute del proceso.</a:t>
            </a:r>
            <a:endParaRPr lang="en-US" sz="1150" dirty="0"/>
          </a:p>
          <a:p>
            <a:pPr marL="0" indent="0">
              <a:lnSpc>
                <a:spcPct val="106000"/>
              </a:lnSpc>
              <a:buNone/>
            </a:pPr>
            <a:endParaRPr lang="en-US" sz="1150" dirty="0"/>
          </a:p>
          <a:p>
            <a:pPr marL="0" indent="0">
              <a:lnSpc>
                <a:spcPct val="106000"/>
              </a:lnSpc>
              <a:buNone/>
            </a:pPr>
            <a:r>
              <a:rPr lang="en-US" sz="1150" dirty="0">
                <a:solidFill>
                  <a:srgbClr val="1F2933"/>
                </a:solidFill>
                <a:latin typeface="Calibri" pitchFamily="34" charset="0"/>
                <a:ea typeface="Calibri" pitchFamily="34" charset="-122"/>
                <a:cs typeface="Calibri" pitchFamily="34" charset="-120"/>
              </a:rPr>
              <a:t>Balasundaram et al. (2024)</a:t>
            </a:r>
            <a:endParaRPr lang="en-US" sz="1150" dirty="0"/>
          </a:p>
        </p:txBody>
      </p:sp>
      <p:sp>
        <p:nvSpPr>
          <p:cNvPr id="16" name="Shape 14"/>
          <p:cNvSpPr/>
          <p:nvPr/>
        </p:nvSpPr>
        <p:spPr>
          <a:xfrm>
            <a:off x="8119872" y="1572768"/>
            <a:ext cx="3502152" cy="3566160"/>
          </a:xfrm>
          <a:prstGeom prst="roundRect">
            <a:avLst>
              <a:gd name="adj" fmla="val 1044"/>
            </a:avLst>
          </a:prstGeom>
          <a:solidFill>
            <a:srgbClr val="FAF3E0"/>
          </a:solidFill>
          <a:ln w="12700">
            <a:solidFill>
              <a:srgbClr val="FAF3E0"/>
            </a:solidFill>
            <a:prstDash val="solid"/>
          </a:ln>
          <a:effectLst>
            <a:outerShdw blurRad="101600" dist="12700" dir="5400000" algn="bl" rotWithShape="0">
              <a:srgbClr val="9AA8B5">
                <a:alpha val="16000"/>
              </a:srgbClr>
            </a:outerShdw>
          </a:effectLst>
        </p:spPr>
      </p:sp>
      <p:sp>
        <p:nvSpPr>
          <p:cNvPr id="17" name="Shape 15"/>
          <p:cNvSpPr/>
          <p:nvPr/>
        </p:nvSpPr>
        <p:spPr>
          <a:xfrm>
            <a:off x="8357616" y="1792224"/>
            <a:ext cx="420624" cy="420624"/>
          </a:xfrm>
          <a:prstGeom prst="ellipse">
            <a:avLst/>
          </a:prstGeom>
          <a:solidFill>
            <a:srgbClr val="C9A227"/>
          </a:solidFill>
          <a:ln w="12700">
            <a:solidFill>
              <a:srgbClr val="C9A227"/>
            </a:solidFill>
            <a:prstDash val="solid"/>
          </a:ln>
        </p:spPr>
      </p:sp>
      <p:sp>
        <p:nvSpPr>
          <p:cNvPr id="18" name="Text 16"/>
          <p:cNvSpPr txBox="1"/>
          <p:nvPr/>
        </p:nvSpPr>
        <p:spPr>
          <a:xfrm>
            <a:off x="8357616" y="1792224"/>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7"/>
          <p:cNvSpPr txBox="1"/>
          <p:nvPr/>
        </p:nvSpPr>
        <p:spPr>
          <a:xfrm>
            <a:off x="8357616" y="2359152"/>
            <a:ext cx="3026664" cy="310896"/>
          </a:xfrm>
          <a:prstGeom prst="rect">
            <a:avLst/>
          </a:prstGeom>
          <a:noFill/>
          <a:ln/>
        </p:spPr>
        <p:txBody>
          <a:bodyPr wrap="square" lIns="0" tIns="0" rIns="0" bIns="0" rtlCol="0" anchor="t"/>
          <a:lstStyle/>
          <a:p>
            <a:pPr marL="0" indent="0">
              <a:buNone/>
            </a:pPr>
            <a:r>
              <a:rPr lang="en-US" sz="1450" b="1" dirty="0">
                <a:solidFill>
                  <a:srgbClr val="1B2A4A"/>
                </a:solidFill>
                <a:latin typeface="Calibri" pitchFamily="34" charset="0"/>
                <a:ea typeface="Calibri" pitchFamily="34" charset="-122"/>
                <a:cs typeface="Calibri" pitchFamily="34" charset="-120"/>
              </a:rPr>
              <a:t>Nuestra apuesta</a:t>
            </a:r>
            <a:endParaRPr lang="en-US" sz="1450" dirty="0"/>
          </a:p>
        </p:txBody>
      </p:sp>
      <p:sp>
        <p:nvSpPr>
          <p:cNvPr id="20" name="Text 18"/>
          <p:cNvSpPr txBox="1"/>
          <p:nvPr/>
        </p:nvSpPr>
        <p:spPr>
          <a:xfrm>
            <a:off x="8357616" y="2724912"/>
            <a:ext cx="3026664" cy="2231136"/>
          </a:xfrm>
          <a:prstGeom prst="rect">
            <a:avLst/>
          </a:prstGeom>
          <a:noFill/>
          <a:ln/>
        </p:spPr>
        <p:txBody>
          <a:bodyPr wrap="square" lIns="0" tIns="0" rIns="0" bIns="0" rtlCol="0" anchor="t"/>
          <a:lstStyle/>
          <a:p>
            <a:pPr marL="0" indent="0">
              <a:lnSpc>
                <a:spcPct val="106000"/>
              </a:lnSpc>
              <a:buNone/>
            </a:pPr>
            <a:r>
              <a:rPr lang="en-US" sz="1150" dirty="0">
                <a:solidFill>
                  <a:srgbClr val="1F2933"/>
                </a:solidFill>
                <a:latin typeface="Calibri" pitchFamily="34" charset="0"/>
                <a:ea typeface="Calibri" pitchFamily="34" charset="-122"/>
                <a:cs typeface="Calibri" pitchFamily="34" charset="-120"/>
              </a:rPr>
              <a:t>Que cada experiencia de 5 a 15 minutos cierre con una competencia útil y observable, no con un tema "cubierto".</a:t>
            </a:r>
            <a:endParaRPr lang="en-US" sz="1150" dirty="0"/>
          </a:p>
          <a:p>
            <a:pPr marL="0" indent="0">
              <a:lnSpc>
                <a:spcPct val="106000"/>
              </a:lnSpc>
              <a:buNone/>
            </a:pPr>
            <a:endParaRPr lang="en-US" sz="1150" dirty="0"/>
          </a:p>
          <a:p>
            <a:pPr marL="0" indent="0">
              <a:lnSpc>
                <a:spcPct val="106000"/>
              </a:lnSpc>
              <a:buNone/>
            </a:pPr>
            <a:r>
              <a:rPr lang="en-US" sz="1150" dirty="0">
                <a:solidFill>
                  <a:srgbClr val="1F2933"/>
                </a:solidFill>
                <a:latin typeface="Calibri" pitchFamily="34" charset="0"/>
                <a:ea typeface="Calibri" pitchFamily="34" charset="-122"/>
                <a:cs typeface="Calibri" pitchFamily="34" charset="-120"/>
              </a:rPr>
              <a:t>El criterio de éxito deja de ser cuánto expuse y pasa a ser qué puede hacer hoy quien aprendió.</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29184"/>
            <a:ext cx="11055096" cy="256032"/>
          </a:xfrm>
          <a:prstGeom prst="rect">
            <a:avLst/>
          </a:prstGeom>
          <a:noFill/>
          <a:ln/>
        </p:spPr>
        <p:txBody>
          <a:bodyPr wrap="square" lIns="0" tIns="0" rIns="0" bIns="0" rtlCol="0" anchor="ctr"/>
          <a:lstStyle/>
          <a:p>
            <a:pPr marL="0" indent="0">
              <a:buNone/>
            </a:pPr>
            <a:r>
              <a:rPr lang="en-US" sz="1100" b="1" kern="0" spc="160" dirty="0">
                <a:solidFill>
                  <a:srgbClr val="2A9D8F"/>
                </a:solidFill>
                <a:latin typeface="Calibri" pitchFamily="34" charset="0"/>
                <a:ea typeface="Calibri" pitchFamily="34" charset="-122"/>
                <a:cs typeface="Calibri" pitchFamily="34" charset="-120"/>
              </a:rPr>
              <a:t>HACIA DÓNDE VAMOS</a:t>
            </a:r>
            <a:endParaRPr lang="en-US" sz="1100" dirty="0"/>
          </a:p>
        </p:txBody>
      </p:sp>
      <p:sp>
        <p:nvSpPr>
          <p:cNvPr id="3" name="Text 1"/>
          <p:cNvSpPr txBox="1"/>
          <p:nvPr/>
        </p:nvSpPr>
        <p:spPr>
          <a:xfrm>
            <a:off x="566928" y="603504"/>
            <a:ext cx="11055096" cy="749808"/>
          </a:xfrm>
          <a:prstGeom prst="rect">
            <a:avLst/>
          </a:prstGeom>
          <a:noFill/>
          <a:ln/>
        </p:spPr>
        <p:txBody>
          <a:bodyPr wrap="square" lIns="0" tIns="0" rIns="0" bIns="0" rtlCol="0" anchor="t"/>
          <a:lstStyle/>
          <a:p>
            <a:pPr marL="0" indent="0">
              <a:buNone/>
            </a:pPr>
            <a:r>
              <a:rPr lang="en-US" sz="2900" b="1" dirty="0">
                <a:solidFill>
                  <a:srgbClr val="1B2A4A"/>
                </a:solidFill>
                <a:latin typeface="Cambria" pitchFamily="34" charset="0"/>
                <a:ea typeface="Cambria" pitchFamily="34" charset="-122"/>
                <a:cs typeface="Cambria" pitchFamily="34" charset="-120"/>
              </a:rPr>
              <a:t>Objetivos del taller</a:t>
            </a:r>
            <a:endParaRPr lang="en-US" sz="2900" dirty="0"/>
          </a:p>
        </p:txBody>
      </p:sp>
      <p:sp>
        <p:nvSpPr>
          <p:cNvPr id="4" name="Text 2"/>
          <p:cNvSpPr txBox="1"/>
          <p:nvPr/>
        </p:nvSpPr>
        <p:spPr>
          <a:xfrm>
            <a:off x="566928" y="6428232"/>
            <a:ext cx="7863840" cy="256032"/>
          </a:xfrm>
          <a:prstGeom prst="rect">
            <a:avLst/>
          </a:prstGeom>
          <a:noFill/>
          <a:ln/>
        </p:spPr>
        <p:txBody>
          <a:bodyPr wrap="square" lIns="0" tIns="0" rIns="0" bIns="0" rtlCol="0" anchor="ctr"/>
          <a:lstStyle/>
          <a:p>
            <a:pPr marL="0" indent="0">
              <a:buNone/>
            </a:pPr>
            <a:r>
              <a:rPr lang="en-US" sz="900" dirty="0">
                <a:solidFill>
                  <a:srgbClr val="5B6B7B"/>
                </a:solidFill>
                <a:latin typeface="Calibri" pitchFamily="34" charset="0"/>
                <a:ea typeface="Calibri" pitchFamily="34" charset="-122"/>
                <a:cs typeface="Calibri" pitchFamily="34" charset="-120"/>
              </a:rPr>
              <a:t>Microaprendizaje para adultos  ·  Proyecto RUTA — Inter Ponce</a:t>
            </a:r>
            <a:endParaRPr lang="en-US" sz="900" dirty="0"/>
          </a:p>
        </p:txBody>
      </p:sp>
      <p:sp>
        <p:nvSpPr>
          <p:cNvPr id="5" name="Text 3"/>
          <p:cNvSpPr txBox="1"/>
          <p:nvPr/>
        </p:nvSpPr>
        <p:spPr>
          <a:xfrm>
            <a:off x="10972800" y="6428232"/>
            <a:ext cx="649224" cy="256032"/>
          </a:xfrm>
          <a:prstGeom prst="rect">
            <a:avLst/>
          </a:prstGeom>
          <a:noFill/>
          <a:ln/>
        </p:spPr>
        <p:txBody>
          <a:bodyPr wrap="square" lIns="0" tIns="0" rIns="0" bIns="0" rtlCol="0" anchor="ctr"/>
          <a:lstStyle/>
          <a:p>
            <a:pPr marL="0" indent="0" algn="r">
              <a:buNone/>
            </a:pPr>
            <a:r>
              <a:rPr lang="en-US" sz="900" dirty="0">
                <a:solidFill>
                  <a:srgbClr val="5B6B7B"/>
                </a:solidFill>
                <a:latin typeface="Calibri" pitchFamily="34" charset="0"/>
                <a:ea typeface="Calibri" pitchFamily="34" charset="-122"/>
                <a:cs typeface="Calibri" pitchFamily="34" charset="-120"/>
              </a:rPr>
              <a:t>3</a:t>
            </a:r>
            <a:endParaRPr lang="en-US" sz="900" dirty="0"/>
          </a:p>
        </p:txBody>
      </p:sp>
      <p:sp>
        <p:nvSpPr>
          <p:cNvPr id="6" name="Text 4"/>
          <p:cNvSpPr txBox="1"/>
          <p:nvPr/>
        </p:nvSpPr>
        <p:spPr>
          <a:xfrm>
            <a:off x="566928" y="1481328"/>
            <a:ext cx="11055096" cy="274320"/>
          </a:xfrm>
          <a:prstGeom prst="rect">
            <a:avLst/>
          </a:prstGeom>
          <a:noFill/>
          <a:ln/>
        </p:spPr>
        <p:txBody>
          <a:bodyPr wrap="square" lIns="0" tIns="0" rIns="0" bIns="0" rtlCol="0" anchor="ctr"/>
          <a:lstStyle/>
          <a:p>
            <a:pPr marL="0" indent="0">
              <a:buNone/>
            </a:pPr>
            <a:r>
              <a:rPr lang="en-US" sz="1350" i="1" dirty="0">
                <a:solidFill>
                  <a:srgbClr val="5B6B7B"/>
                </a:solidFill>
                <a:latin typeface="Calibri" pitchFamily="34" charset="0"/>
                <a:ea typeface="Calibri" pitchFamily="34" charset="-122"/>
                <a:cs typeface="Calibri" pitchFamily="34" charset="-120"/>
              </a:rPr>
              <a:t>Al finalizar las cuatro horas, cada participante será capaz de:</a:t>
            </a:r>
            <a:endParaRPr lang="en-US" sz="1350" dirty="0"/>
          </a:p>
        </p:txBody>
      </p:sp>
      <p:sp>
        <p:nvSpPr>
          <p:cNvPr id="7" name="Shape 5"/>
          <p:cNvSpPr/>
          <p:nvPr/>
        </p:nvSpPr>
        <p:spPr>
          <a:xfrm>
            <a:off x="566928" y="1920240"/>
            <a:ext cx="457200" cy="457200"/>
          </a:xfrm>
          <a:prstGeom prst="ellipse">
            <a:avLst/>
          </a:prstGeom>
          <a:solidFill>
            <a:srgbClr val="1B2A4A"/>
          </a:solidFill>
          <a:ln w="12700">
            <a:solidFill>
              <a:srgbClr val="1B2A4A"/>
            </a:solidFill>
            <a:prstDash val="solid"/>
          </a:ln>
        </p:spPr>
      </p:sp>
      <p:sp>
        <p:nvSpPr>
          <p:cNvPr id="8" name="Text 6"/>
          <p:cNvSpPr txBox="1"/>
          <p:nvPr/>
        </p:nvSpPr>
        <p:spPr>
          <a:xfrm>
            <a:off x="566928" y="192024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7"/>
          <p:cNvSpPr txBox="1"/>
          <p:nvPr/>
        </p:nvSpPr>
        <p:spPr>
          <a:xfrm>
            <a:off x="1225296" y="1883664"/>
            <a:ext cx="10396728" cy="292608"/>
          </a:xfrm>
          <a:prstGeom prst="rect">
            <a:avLst/>
          </a:prstGeom>
          <a:noFill/>
          <a:ln/>
        </p:spPr>
        <p:txBody>
          <a:bodyPr wrap="square" lIns="0" tIns="0" rIns="0" bIns="0" rtlCol="0" anchor="t"/>
          <a:lstStyle/>
          <a:p>
            <a:pPr marL="0" indent="0">
              <a:buNone/>
            </a:pPr>
            <a:r>
              <a:rPr lang="en-US" sz="1500" b="1" dirty="0">
                <a:solidFill>
                  <a:srgbClr val="1B2A4A"/>
                </a:solidFill>
                <a:latin typeface="Calibri" pitchFamily="34" charset="0"/>
                <a:ea typeface="Calibri" pitchFamily="34" charset="-122"/>
                <a:cs typeface="Calibri" pitchFamily="34" charset="-120"/>
              </a:rPr>
              <a:t>Fundamentar el microaprendizaje en la andragogía y la ciencia cognitiva</a:t>
            </a:r>
            <a:endParaRPr lang="en-US" sz="1500" dirty="0"/>
          </a:p>
        </p:txBody>
      </p:sp>
      <p:sp>
        <p:nvSpPr>
          <p:cNvPr id="10" name="Text 8"/>
          <p:cNvSpPr txBox="1"/>
          <p:nvPr/>
        </p:nvSpPr>
        <p:spPr>
          <a:xfrm>
            <a:off x="1225296" y="2176272"/>
            <a:ext cx="10396728" cy="640080"/>
          </a:xfrm>
          <a:prstGeom prst="rect">
            <a:avLst/>
          </a:prstGeom>
          <a:noFill/>
          <a:ln/>
        </p:spPr>
        <p:txBody>
          <a:bodyPr wrap="square" lIns="0" tIns="0" rIns="0" bIns="0" rtlCol="0" anchor="t"/>
          <a:lstStyle/>
          <a:p>
            <a:pPr marL="0" indent="0">
              <a:lnSpc>
                <a:spcPct val="105000"/>
              </a:lnSpc>
              <a:buNone/>
            </a:pPr>
            <a:r>
              <a:rPr lang="en-US" sz="1200" dirty="0">
                <a:solidFill>
                  <a:srgbClr val="1F2933"/>
                </a:solidFill>
                <a:latin typeface="Calibri" pitchFamily="34" charset="0"/>
                <a:ea typeface="Calibri" pitchFamily="34" charset="-122"/>
                <a:cs typeface="Calibri" pitchFamily="34" charset="-120"/>
              </a:rPr>
              <a:t>Explicar, con al menos tres argumentos, por qué una unidad corta y focalizada se ajusta mejor al adulto que una sesión extensa.</a:t>
            </a:r>
            <a:endParaRPr lang="en-US" sz="1200" dirty="0"/>
          </a:p>
        </p:txBody>
      </p:sp>
      <p:sp>
        <p:nvSpPr>
          <p:cNvPr id="11" name="Shape 9"/>
          <p:cNvSpPr/>
          <p:nvPr/>
        </p:nvSpPr>
        <p:spPr>
          <a:xfrm>
            <a:off x="566928" y="2980944"/>
            <a:ext cx="457200" cy="457200"/>
          </a:xfrm>
          <a:prstGeom prst="ellipse">
            <a:avLst/>
          </a:prstGeom>
          <a:solidFill>
            <a:srgbClr val="2A9D8F"/>
          </a:solidFill>
          <a:ln w="12700">
            <a:solidFill>
              <a:srgbClr val="2A9D8F"/>
            </a:solidFill>
            <a:prstDash val="solid"/>
          </a:ln>
        </p:spPr>
      </p:sp>
      <p:sp>
        <p:nvSpPr>
          <p:cNvPr id="12" name="Text 10"/>
          <p:cNvSpPr txBox="1"/>
          <p:nvPr/>
        </p:nvSpPr>
        <p:spPr>
          <a:xfrm>
            <a:off x="566928" y="2980944"/>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txBox="1"/>
          <p:nvPr/>
        </p:nvSpPr>
        <p:spPr>
          <a:xfrm>
            <a:off x="1225296" y="2944368"/>
            <a:ext cx="10396728" cy="292608"/>
          </a:xfrm>
          <a:prstGeom prst="rect">
            <a:avLst/>
          </a:prstGeom>
          <a:noFill/>
          <a:ln/>
        </p:spPr>
        <p:txBody>
          <a:bodyPr wrap="square" lIns="0" tIns="0" rIns="0" bIns="0" rtlCol="0" anchor="t"/>
          <a:lstStyle/>
          <a:p>
            <a:pPr marL="0" indent="0">
              <a:buNone/>
            </a:pPr>
            <a:r>
              <a:rPr lang="en-US" sz="1500" b="1" dirty="0">
                <a:solidFill>
                  <a:srgbClr val="1B2A4A"/>
                </a:solidFill>
                <a:latin typeface="Calibri" pitchFamily="34" charset="0"/>
                <a:ea typeface="Calibri" pitchFamily="34" charset="-122"/>
                <a:cs typeface="Calibri" pitchFamily="34" charset="-120"/>
              </a:rPr>
              <a:t>Formular competencias observables alcanzables en una unidad corta</a:t>
            </a:r>
            <a:endParaRPr lang="en-US" sz="1500" dirty="0"/>
          </a:p>
        </p:txBody>
      </p:sp>
      <p:sp>
        <p:nvSpPr>
          <p:cNvPr id="14" name="Text 12"/>
          <p:cNvSpPr txBox="1"/>
          <p:nvPr/>
        </p:nvSpPr>
        <p:spPr>
          <a:xfrm>
            <a:off x="1225296" y="3236976"/>
            <a:ext cx="10396728" cy="640080"/>
          </a:xfrm>
          <a:prstGeom prst="rect">
            <a:avLst/>
          </a:prstGeom>
          <a:noFill/>
          <a:ln/>
        </p:spPr>
        <p:txBody>
          <a:bodyPr wrap="square" lIns="0" tIns="0" rIns="0" bIns="0" rtlCol="0" anchor="t"/>
          <a:lstStyle/>
          <a:p>
            <a:pPr marL="0" indent="0">
              <a:lnSpc>
                <a:spcPct val="105000"/>
              </a:lnSpc>
              <a:buNone/>
            </a:pPr>
            <a:r>
              <a:rPr lang="en-US" sz="1200" dirty="0">
                <a:solidFill>
                  <a:srgbClr val="1F2933"/>
                </a:solidFill>
                <a:latin typeface="Calibri" pitchFamily="34" charset="0"/>
                <a:ea typeface="Calibri" pitchFamily="34" charset="-122"/>
                <a:cs typeface="Calibri" pitchFamily="34" charset="-120"/>
              </a:rPr>
              <a:t>Redactar la competencia de una microunidad con condición, verbo observable, objeto y criterio de logro.</a:t>
            </a:r>
            <a:endParaRPr lang="en-US" sz="1200" dirty="0"/>
          </a:p>
        </p:txBody>
      </p:sp>
      <p:sp>
        <p:nvSpPr>
          <p:cNvPr id="15" name="Shape 13"/>
          <p:cNvSpPr/>
          <p:nvPr/>
        </p:nvSpPr>
        <p:spPr>
          <a:xfrm>
            <a:off x="566928" y="4041648"/>
            <a:ext cx="457200" cy="457200"/>
          </a:xfrm>
          <a:prstGeom prst="ellipse">
            <a:avLst/>
          </a:prstGeom>
          <a:solidFill>
            <a:srgbClr val="C9A227"/>
          </a:solidFill>
          <a:ln w="12700">
            <a:solidFill>
              <a:srgbClr val="C9A227"/>
            </a:solidFill>
            <a:prstDash val="solid"/>
          </a:ln>
        </p:spPr>
      </p:sp>
      <p:sp>
        <p:nvSpPr>
          <p:cNvPr id="16" name="Text 14"/>
          <p:cNvSpPr txBox="1"/>
          <p:nvPr/>
        </p:nvSpPr>
        <p:spPr>
          <a:xfrm>
            <a:off x="566928" y="4041648"/>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txBox="1"/>
          <p:nvPr/>
        </p:nvSpPr>
        <p:spPr>
          <a:xfrm>
            <a:off x="1225296" y="4005072"/>
            <a:ext cx="10396728" cy="292608"/>
          </a:xfrm>
          <a:prstGeom prst="rect">
            <a:avLst/>
          </a:prstGeom>
          <a:noFill/>
          <a:ln/>
        </p:spPr>
        <p:txBody>
          <a:bodyPr wrap="square" lIns="0" tIns="0" rIns="0" bIns="0" rtlCol="0" anchor="t"/>
          <a:lstStyle/>
          <a:p>
            <a:pPr marL="0" indent="0">
              <a:buNone/>
            </a:pPr>
            <a:r>
              <a:rPr lang="en-US" sz="1500" b="1" dirty="0">
                <a:solidFill>
                  <a:srgbClr val="1B2A4A"/>
                </a:solidFill>
                <a:latin typeface="Calibri" pitchFamily="34" charset="0"/>
                <a:ea typeface="Calibri" pitchFamily="34" charset="-122"/>
                <a:cs typeface="Calibri" pitchFamily="34" charset="-120"/>
              </a:rPr>
              <a:t>Diseñar una cápsula educativa completa</a:t>
            </a:r>
            <a:endParaRPr lang="en-US" sz="1500" dirty="0"/>
          </a:p>
        </p:txBody>
      </p:sp>
      <p:sp>
        <p:nvSpPr>
          <p:cNvPr id="18" name="Text 16"/>
          <p:cNvSpPr txBox="1"/>
          <p:nvPr/>
        </p:nvSpPr>
        <p:spPr>
          <a:xfrm>
            <a:off x="1225296" y="4297680"/>
            <a:ext cx="10396728" cy="640080"/>
          </a:xfrm>
          <a:prstGeom prst="rect">
            <a:avLst/>
          </a:prstGeom>
          <a:noFill/>
          <a:ln/>
        </p:spPr>
        <p:txBody>
          <a:bodyPr wrap="square" lIns="0" tIns="0" rIns="0" bIns="0" rtlCol="0" anchor="t"/>
          <a:lstStyle/>
          <a:p>
            <a:pPr marL="0" indent="0">
              <a:lnSpc>
                <a:spcPct val="105000"/>
              </a:lnSpc>
              <a:buNone/>
            </a:pPr>
            <a:r>
              <a:rPr lang="en-US" sz="1200" dirty="0">
                <a:solidFill>
                  <a:srgbClr val="1F2933"/>
                </a:solidFill>
                <a:latin typeface="Calibri" pitchFamily="34" charset="0"/>
                <a:ea typeface="Calibri" pitchFamily="34" charset="-122"/>
                <a:cs typeface="Calibri" pitchFamily="34" charset="-120"/>
              </a:rPr>
              <a:t>Construir los cinco momentos de la cápsula, su práctica inmediata y su microevaluación, aplicando principios del DUA.</a:t>
            </a:r>
            <a:endParaRPr lang="en-US" sz="1200" dirty="0"/>
          </a:p>
        </p:txBody>
      </p:sp>
      <p:sp>
        <p:nvSpPr>
          <p:cNvPr id="19" name="Shape 17"/>
          <p:cNvSpPr/>
          <p:nvPr/>
        </p:nvSpPr>
        <p:spPr>
          <a:xfrm>
            <a:off x="566928" y="5102352"/>
            <a:ext cx="457200" cy="457200"/>
          </a:xfrm>
          <a:prstGeom prst="ellipse">
            <a:avLst/>
          </a:prstGeom>
          <a:solidFill>
            <a:srgbClr val="1F3864"/>
          </a:solidFill>
          <a:ln w="12700">
            <a:solidFill>
              <a:srgbClr val="1F3864"/>
            </a:solidFill>
            <a:prstDash val="solid"/>
          </a:ln>
        </p:spPr>
      </p:sp>
      <p:sp>
        <p:nvSpPr>
          <p:cNvPr id="20" name="Text 18"/>
          <p:cNvSpPr txBox="1"/>
          <p:nvPr/>
        </p:nvSpPr>
        <p:spPr>
          <a:xfrm>
            <a:off x="566928" y="510235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1" name="Text 19"/>
          <p:cNvSpPr txBox="1"/>
          <p:nvPr/>
        </p:nvSpPr>
        <p:spPr>
          <a:xfrm>
            <a:off x="1225296" y="5065776"/>
            <a:ext cx="10396728" cy="292608"/>
          </a:xfrm>
          <a:prstGeom prst="rect">
            <a:avLst/>
          </a:prstGeom>
          <a:noFill/>
          <a:ln/>
        </p:spPr>
        <p:txBody>
          <a:bodyPr wrap="square" lIns="0" tIns="0" rIns="0" bIns="0" rtlCol="0" anchor="t"/>
          <a:lstStyle/>
          <a:p>
            <a:pPr marL="0" indent="0">
              <a:buNone/>
            </a:pPr>
            <a:r>
              <a:rPr lang="en-US" sz="1500" b="1" dirty="0">
                <a:solidFill>
                  <a:srgbClr val="1B2A4A"/>
                </a:solidFill>
                <a:latin typeface="Calibri" pitchFamily="34" charset="0"/>
                <a:ea typeface="Calibri" pitchFamily="34" charset="-122"/>
                <a:cs typeface="Calibri" pitchFamily="34" charset="-120"/>
              </a:rPr>
              <a:t>Producir y verificar microcontenido con apoyo de inteligencia artificial</a:t>
            </a:r>
            <a:endParaRPr lang="en-US" sz="1500" dirty="0"/>
          </a:p>
        </p:txBody>
      </p:sp>
      <p:sp>
        <p:nvSpPr>
          <p:cNvPr id="22" name="Text 20"/>
          <p:cNvSpPr txBox="1"/>
          <p:nvPr/>
        </p:nvSpPr>
        <p:spPr>
          <a:xfrm>
            <a:off x="1225296" y="5358384"/>
            <a:ext cx="10396728" cy="640080"/>
          </a:xfrm>
          <a:prstGeom prst="rect">
            <a:avLst/>
          </a:prstGeom>
          <a:noFill/>
          <a:ln/>
        </p:spPr>
        <p:txBody>
          <a:bodyPr wrap="square" lIns="0" tIns="0" rIns="0" bIns="0" rtlCol="0" anchor="t"/>
          <a:lstStyle/>
          <a:p>
            <a:pPr marL="0" indent="0">
              <a:lnSpc>
                <a:spcPct val="105000"/>
              </a:lnSpc>
              <a:buNone/>
            </a:pPr>
            <a:r>
              <a:rPr lang="en-US" sz="1200" dirty="0">
                <a:solidFill>
                  <a:srgbClr val="1F2933"/>
                </a:solidFill>
                <a:latin typeface="Calibri" pitchFamily="34" charset="0"/>
                <a:ea typeface="Calibri" pitchFamily="34" charset="-122"/>
                <a:cs typeface="Calibri" pitchFamily="34" charset="-120"/>
              </a:rPr>
              <a:t>Utilizar el modelo RC-TTF para generar guiones, guías visuales e ítems de microevaluación, y aplicar cinco controles de verificación humana.</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29184"/>
            <a:ext cx="11055096" cy="256032"/>
          </a:xfrm>
          <a:prstGeom prst="rect">
            <a:avLst/>
          </a:prstGeom>
          <a:noFill/>
          <a:ln/>
        </p:spPr>
        <p:txBody>
          <a:bodyPr wrap="square" lIns="0" tIns="0" rIns="0" bIns="0" rtlCol="0" anchor="ctr"/>
          <a:lstStyle/>
          <a:p>
            <a:pPr marL="0" indent="0">
              <a:buNone/>
            </a:pPr>
            <a:r>
              <a:rPr lang="en-US" sz="1100" b="1" kern="0" spc="160" dirty="0">
                <a:solidFill>
                  <a:srgbClr val="2A9D8F"/>
                </a:solidFill>
                <a:latin typeface="Calibri" pitchFamily="34" charset="0"/>
                <a:ea typeface="Calibri" pitchFamily="34" charset="-122"/>
                <a:cs typeface="Calibri" pitchFamily="34" charset="-120"/>
              </a:rPr>
              <a:t>RUTA DEL DÍA</a:t>
            </a:r>
            <a:endParaRPr lang="en-US" sz="1100" dirty="0"/>
          </a:p>
        </p:txBody>
      </p:sp>
      <p:sp>
        <p:nvSpPr>
          <p:cNvPr id="3" name="Text 1"/>
          <p:cNvSpPr txBox="1"/>
          <p:nvPr/>
        </p:nvSpPr>
        <p:spPr>
          <a:xfrm>
            <a:off x="566928" y="603504"/>
            <a:ext cx="11055096" cy="749808"/>
          </a:xfrm>
          <a:prstGeom prst="rect">
            <a:avLst/>
          </a:prstGeom>
          <a:noFill/>
          <a:ln/>
        </p:spPr>
        <p:txBody>
          <a:bodyPr wrap="square" lIns="0" tIns="0" rIns="0" bIns="0" rtlCol="0" anchor="t"/>
          <a:lstStyle/>
          <a:p>
            <a:pPr marL="0" indent="0">
              <a:buNone/>
            </a:pPr>
            <a:r>
              <a:rPr lang="en-US" sz="2900" b="1" dirty="0">
                <a:solidFill>
                  <a:srgbClr val="1B2A4A"/>
                </a:solidFill>
                <a:latin typeface="Cambria" pitchFamily="34" charset="0"/>
                <a:ea typeface="Cambria" pitchFamily="34" charset="-122"/>
                <a:cs typeface="Cambria" pitchFamily="34" charset="-120"/>
              </a:rPr>
              <a:t>Agenda de las cuatro horas</a:t>
            </a:r>
            <a:endParaRPr lang="en-US" sz="2900" dirty="0"/>
          </a:p>
        </p:txBody>
      </p:sp>
      <p:sp>
        <p:nvSpPr>
          <p:cNvPr id="4" name="Text 2"/>
          <p:cNvSpPr txBox="1"/>
          <p:nvPr/>
        </p:nvSpPr>
        <p:spPr>
          <a:xfrm>
            <a:off x="566928" y="6428232"/>
            <a:ext cx="7863840" cy="256032"/>
          </a:xfrm>
          <a:prstGeom prst="rect">
            <a:avLst/>
          </a:prstGeom>
          <a:noFill/>
          <a:ln/>
        </p:spPr>
        <p:txBody>
          <a:bodyPr wrap="square" lIns="0" tIns="0" rIns="0" bIns="0" rtlCol="0" anchor="ctr"/>
          <a:lstStyle/>
          <a:p>
            <a:pPr marL="0" indent="0">
              <a:buNone/>
            </a:pPr>
            <a:r>
              <a:rPr lang="en-US" sz="900" dirty="0">
                <a:solidFill>
                  <a:srgbClr val="5B6B7B"/>
                </a:solidFill>
                <a:latin typeface="Calibri" pitchFamily="34" charset="0"/>
                <a:ea typeface="Calibri" pitchFamily="34" charset="-122"/>
                <a:cs typeface="Calibri" pitchFamily="34" charset="-120"/>
              </a:rPr>
              <a:t>Microaprendizaje para adultos  ·  Proyecto RUTA — Inter Ponce</a:t>
            </a:r>
            <a:endParaRPr lang="en-US" sz="900" dirty="0"/>
          </a:p>
        </p:txBody>
      </p:sp>
      <p:sp>
        <p:nvSpPr>
          <p:cNvPr id="5" name="Text 3"/>
          <p:cNvSpPr txBox="1"/>
          <p:nvPr/>
        </p:nvSpPr>
        <p:spPr>
          <a:xfrm>
            <a:off x="10972800" y="6428232"/>
            <a:ext cx="649224" cy="256032"/>
          </a:xfrm>
          <a:prstGeom prst="rect">
            <a:avLst/>
          </a:prstGeom>
          <a:noFill/>
          <a:ln/>
        </p:spPr>
        <p:txBody>
          <a:bodyPr wrap="square" lIns="0" tIns="0" rIns="0" bIns="0" rtlCol="0" anchor="ctr"/>
          <a:lstStyle/>
          <a:p>
            <a:pPr marL="0" indent="0" algn="r">
              <a:buNone/>
            </a:pPr>
            <a:r>
              <a:rPr lang="en-US" sz="900" dirty="0">
                <a:solidFill>
                  <a:srgbClr val="5B6B7B"/>
                </a:solidFill>
                <a:latin typeface="Calibri" pitchFamily="34" charset="0"/>
                <a:ea typeface="Calibri" pitchFamily="34" charset="-122"/>
                <a:cs typeface="Calibri" pitchFamily="34" charset="-120"/>
              </a:rPr>
              <a:t>4</a:t>
            </a:r>
            <a:endParaRPr lang="en-US" sz="9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66928" y="1536192"/>
          <a:ext cx="11055096" cy="914400"/>
        </p:xfrm>
        <a:graphic>
          <a:graphicData uri="http://schemas.openxmlformats.org/drawingml/2006/table">
            <a:tbl>
              <a:tblPr/>
              <a:tblGrid>
                <a:gridCol w="1234440">
                  <a:extLst>
                    <a:ext uri="{9D8B030D-6E8A-4147-A177-3AD203B41FA5}">
                      <a16:colId xmlns:a16="http://schemas.microsoft.com/office/drawing/2014/main" val="20000"/>
                    </a:ext>
                  </a:extLst>
                </a:gridCol>
                <a:gridCol w="5074920">
                  <a:extLst>
                    <a:ext uri="{9D8B030D-6E8A-4147-A177-3AD203B41FA5}">
                      <a16:colId xmlns:a16="http://schemas.microsoft.com/office/drawing/2014/main" val="20001"/>
                    </a:ext>
                  </a:extLst>
                </a:gridCol>
                <a:gridCol w="3008376">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tblGrid>
              <a:tr h="493776">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Bloque</a:t>
                      </a:r>
                      <a:endParaRPr lang="en-US" sz="120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1B2A4A"/>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Contenido</a:t>
                      </a:r>
                      <a:endParaRPr lang="en-US" sz="120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1B2A4A"/>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Producto del bloque</a:t>
                      </a:r>
                      <a:endParaRPr lang="en-US" sz="120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1B2A4A"/>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Tiempo</a:t>
                      </a:r>
                      <a:endParaRPr lang="en-US" sz="120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493776">
                <a:tc>
                  <a:txBody>
                    <a:bodyPr/>
                    <a:lstStyle/>
                    <a:p>
                      <a:pPr marL="0" indent="0">
                        <a:buNone/>
                      </a:pPr>
                      <a:r>
                        <a:rPr lang="en-US" sz="1150" b="1" dirty="0">
                          <a:solidFill>
                            <a:srgbClr val="1F2933"/>
                          </a:solidFill>
                          <a:latin typeface="Calibri" pitchFamily="34" charset="0"/>
                          <a:ea typeface="Calibri" pitchFamily="34" charset="-122"/>
                          <a:cs typeface="Calibri" pitchFamily="34" charset="-120"/>
                        </a:rPr>
                        <a:t>Apertura</a:t>
                      </a:r>
                      <a:endParaRPr lang="en-US" sz="11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150" dirty="0">
                          <a:solidFill>
                            <a:srgbClr val="1F2933"/>
                          </a:solidFill>
                          <a:latin typeface="Calibri" pitchFamily="34" charset="0"/>
                          <a:ea typeface="Calibri" pitchFamily="34" charset="-122"/>
                          <a:cs typeface="Calibri" pitchFamily="34" charset="-120"/>
                        </a:rPr>
                        <a:t>Cápsula cero: vivir el microaprendizaje antes de explicarlo</a:t>
                      </a:r>
                      <a:endParaRPr lang="en-US" sz="11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150" dirty="0">
                          <a:solidFill>
                            <a:srgbClr val="1F2933"/>
                          </a:solidFill>
                          <a:latin typeface="Calibri" pitchFamily="34" charset="0"/>
                          <a:ea typeface="Calibri" pitchFamily="34" charset="-122"/>
                          <a:cs typeface="Calibri" pitchFamily="34" charset="-120"/>
                        </a:rPr>
                        <a:t>Acuerdos de trabajo</a:t>
                      </a:r>
                      <a:endParaRPr lang="en-US" sz="11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150" dirty="0">
                          <a:solidFill>
                            <a:srgbClr val="1F2933"/>
                          </a:solidFill>
                          <a:latin typeface="Calibri" pitchFamily="34" charset="0"/>
                          <a:ea typeface="Calibri" pitchFamily="34" charset="-122"/>
                          <a:cs typeface="Calibri" pitchFamily="34" charset="-120"/>
                        </a:rPr>
                        <a:t>15 min</a:t>
                      </a:r>
                      <a:endParaRPr lang="en-US" sz="11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3776">
                <a:tc>
                  <a:txBody>
                    <a:bodyPr/>
                    <a:lstStyle/>
                    <a:p>
                      <a:pPr marL="0" indent="0">
                        <a:buNone/>
                      </a:pPr>
                      <a:r>
                        <a:rPr lang="en-US" sz="1150" b="1" dirty="0">
                          <a:solidFill>
                            <a:srgbClr val="1F2933"/>
                          </a:solidFill>
                          <a:latin typeface="Calibri" pitchFamily="34" charset="0"/>
                          <a:ea typeface="Calibri" pitchFamily="34" charset="-122"/>
                          <a:cs typeface="Calibri" pitchFamily="34" charset="-120"/>
                        </a:rPr>
                        <a:t>Módulo 1</a:t>
                      </a:r>
                      <a:endParaRPr lang="en-US" sz="11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1F4F8"/>
                    </a:solidFill>
                  </a:tcPr>
                </a:tc>
                <a:tc>
                  <a:txBody>
                    <a:bodyPr/>
                    <a:lstStyle/>
                    <a:p>
                      <a:pPr marL="0" indent="0">
                        <a:buNone/>
                      </a:pPr>
                      <a:r>
                        <a:rPr lang="en-US" sz="1150" dirty="0">
                          <a:solidFill>
                            <a:srgbClr val="1F2933"/>
                          </a:solidFill>
                          <a:latin typeface="Calibri" pitchFamily="34" charset="0"/>
                          <a:ea typeface="Calibri" pitchFamily="34" charset="-122"/>
                          <a:cs typeface="Calibri" pitchFamily="34" charset="-120"/>
                        </a:rPr>
                        <a:t>Fundamentos: por qué el adulto aprende mejor en microunidades</a:t>
                      </a:r>
                      <a:endParaRPr lang="en-US" sz="11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1F4F8"/>
                    </a:solidFill>
                  </a:tcPr>
                </a:tc>
                <a:tc>
                  <a:txBody>
                    <a:bodyPr/>
                    <a:lstStyle/>
                    <a:p>
                      <a:pPr marL="0" indent="0">
                        <a:buNone/>
                      </a:pPr>
                      <a:r>
                        <a:rPr lang="en-US" sz="1150" dirty="0">
                          <a:solidFill>
                            <a:srgbClr val="1F2933"/>
                          </a:solidFill>
                          <a:latin typeface="Calibri" pitchFamily="34" charset="0"/>
                          <a:ea typeface="Calibri" pitchFamily="34" charset="-122"/>
                          <a:cs typeface="Calibri" pitchFamily="34" charset="-120"/>
                        </a:rPr>
                        <a:t>Diagnóstico de mi curso</a:t>
                      </a:r>
                      <a:endParaRPr lang="en-US" sz="11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1F4F8"/>
                    </a:solidFill>
                  </a:tcPr>
                </a:tc>
                <a:tc>
                  <a:txBody>
                    <a:bodyPr/>
                    <a:lstStyle/>
                    <a:p>
                      <a:pPr marL="0" indent="0">
                        <a:buNone/>
                      </a:pPr>
                      <a:r>
                        <a:rPr lang="en-US" sz="1150" dirty="0">
                          <a:solidFill>
                            <a:srgbClr val="1F2933"/>
                          </a:solidFill>
                          <a:latin typeface="Calibri" pitchFamily="34" charset="0"/>
                          <a:ea typeface="Calibri" pitchFamily="34" charset="-122"/>
                          <a:cs typeface="Calibri" pitchFamily="34" charset="-120"/>
                        </a:rPr>
                        <a:t>45 min</a:t>
                      </a:r>
                      <a:endParaRPr lang="en-US" sz="11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1F4F8"/>
                    </a:solidFill>
                  </a:tcPr>
                </a:tc>
                <a:extLst>
                  <a:ext uri="{0D108BD9-81ED-4DB2-BD59-A6C34878D82A}">
                    <a16:rowId xmlns:a16="http://schemas.microsoft.com/office/drawing/2014/main" val="10002"/>
                  </a:ext>
                </a:extLst>
              </a:tr>
              <a:tr h="493776">
                <a:tc>
                  <a:txBody>
                    <a:bodyPr/>
                    <a:lstStyle/>
                    <a:p>
                      <a:pPr marL="0" indent="0">
                        <a:buNone/>
                      </a:pPr>
                      <a:r>
                        <a:rPr lang="en-US" sz="1150" b="1" dirty="0">
                          <a:solidFill>
                            <a:srgbClr val="1F2933"/>
                          </a:solidFill>
                          <a:latin typeface="Calibri" pitchFamily="34" charset="0"/>
                          <a:ea typeface="Calibri" pitchFamily="34" charset="-122"/>
                          <a:cs typeface="Calibri" pitchFamily="34" charset="-120"/>
                        </a:rPr>
                        <a:t>Módulo 2</a:t>
                      </a:r>
                      <a:endParaRPr lang="en-US" sz="11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150" dirty="0">
                          <a:solidFill>
                            <a:srgbClr val="1F2933"/>
                          </a:solidFill>
                          <a:latin typeface="Calibri" pitchFamily="34" charset="0"/>
                          <a:ea typeface="Calibri" pitchFamily="34" charset="-122"/>
                          <a:cs typeface="Calibri" pitchFamily="34" charset="-120"/>
                        </a:rPr>
                        <a:t>Arquitectura de una microunidad: del objetivo a la competencia observable</a:t>
                      </a:r>
                      <a:endParaRPr lang="en-US" sz="11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150" dirty="0">
                          <a:solidFill>
                            <a:srgbClr val="1F2933"/>
                          </a:solidFill>
                          <a:latin typeface="Calibri" pitchFamily="34" charset="0"/>
                          <a:ea typeface="Calibri" pitchFamily="34" charset="-122"/>
                          <a:cs typeface="Calibri" pitchFamily="34" charset="-120"/>
                        </a:rPr>
                        <a:t>Competencia + esqueleto de cápsula</a:t>
                      </a:r>
                      <a:endParaRPr lang="en-US" sz="11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150" dirty="0">
                          <a:solidFill>
                            <a:srgbClr val="1F2933"/>
                          </a:solidFill>
                          <a:latin typeface="Calibri" pitchFamily="34" charset="0"/>
                          <a:ea typeface="Calibri" pitchFamily="34" charset="-122"/>
                          <a:cs typeface="Calibri" pitchFamily="34" charset="-120"/>
                        </a:rPr>
                        <a:t>55 min</a:t>
                      </a:r>
                      <a:endParaRPr lang="en-US" sz="11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3776">
                <a:tc>
                  <a:txBody>
                    <a:bodyPr/>
                    <a:lstStyle/>
                    <a:p>
                      <a:pPr marL="0" indent="0">
                        <a:buNone/>
                      </a:pPr>
                      <a:r>
                        <a:rPr lang="en-US" sz="1150" b="1" dirty="0">
                          <a:solidFill>
                            <a:srgbClr val="1F2933"/>
                          </a:solidFill>
                          <a:latin typeface="Calibri" pitchFamily="34" charset="0"/>
                          <a:ea typeface="Calibri" pitchFamily="34" charset="-122"/>
                          <a:cs typeface="Calibri" pitchFamily="34" charset="-120"/>
                        </a:rPr>
                        <a:t>Receso</a:t>
                      </a:r>
                      <a:endParaRPr lang="en-US" sz="11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1F4F8"/>
                    </a:solidFill>
                  </a:tcPr>
                </a:tc>
                <a:tc>
                  <a:txBody>
                    <a:bodyPr/>
                    <a:lstStyle/>
                    <a:p>
                      <a:pPr marL="0" indent="0">
                        <a:buNone/>
                      </a:pPr>
                      <a:r>
                        <a:rPr lang="en-US" sz="1150" dirty="0">
                          <a:solidFill>
                            <a:srgbClr val="1F2933"/>
                          </a:solidFill>
                          <a:latin typeface="Calibri" pitchFamily="34" charset="0"/>
                          <a:ea typeface="Calibri" pitchFamily="34" charset="-122"/>
                          <a:cs typeface="Calibri" pitchFamily="34" charset="-120"/>
                        </a:rPr>
                        <a:t>Pausa activa</a:t>
                      </a:r>
                      <a:endParaRPr lang="en-US" sz="11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1F4F8"/>
                    </a:solidFill>
                  </a:tcPr>
                </a:tc>
                <a:tc>
                  <a:txBody>
                    <a:bodyPr/>
                    <a:lstStyle/>
                    <a:p>
                      <a:pPr marL="0" indent="0">
                        <a:buNone/>
                      </a:pPr>
                      <a:r>
                        <a:rPr lang="en-US" sz="1150" dirty="0">
                          <a:solidFill>
                            <a:srgbClr val="1F2933"/>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1F4F8"/>
                    </a:solidFill>
                  </a:tcPr>
                </a:tc>
                <a:tc>
                  <a:txBody>
                    <a:bodyPr/>
                    <a:lstStyle/>
                    <a:p>
                      <a:pPr marL="0" indent="0">
                        <a:buNone/>
                      </a:pPr>
                      <a:r>
                        <a:rPr lang="en-US" sz="1150" dirty="0">
                          <a:solidFill>
                            <a:srgbClr val="1F2933"/>
                          </a:solidFill>
                          <a:latin typeface="Calibri" pitchFamily="34" charset="0"/>
                          <a:ea typeface="Calibri" pitchFamily="34" charset="-122"/>
                          <a:cs typeface="Calibri" pitchFamily="34" charset="-120"/>
                        </a:rPr>
                        <a:t>10 min</a:t>
                      </a:r>
                      <a:endParaRPr lang="en-US" sz="11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1F4F8"/>
                    </a:solidFill>
                  </a:tcPr>
                </a:tc>
                <a:extLst>
                  <a:ext uri="{0D108BD9-81ED-4DB2-BD59-A6C34878D82A}">
                    <a16:rowId xmlns:a16="http://schemas.microsoft.com/office/drawing/2014/main" val="10004"/>
                  </a:ext>
                </a:extLst>
              </a:tr>
              <a:tr h="493776">
                <a:tc>
                  <a:txBody>
                    <a:bodyPr/>
                    <a:lstStyle/>
                    <a:p>
                      <a:pPr marL="0" indent="0">
                        <a:buNone/>
                      </a:pPr>
                      <a:r>
                        <a:rPr lang="en-US" sz="1150" b="1" dirty="0">
                          <a:solidFill>
                            <a:srgbClr val="1F2933"/>
                          </a:solidFill>
                          <a:latin typeface="Calibri" pitchFamily="34" charset="0"/>
                          <a:ea typeface="Calibri" pitchFamily="34" charset="-122"/>
                          <a:cs typeface="Calibri" pitchFamily="34" charset="-120"/>
                        </a:rPr>
                        <a:t>Módulo 3</a:t>
                      </a:r>
                      <a:endParaRPr lang="en-US" sz="11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150" dirty="0">
                          <a:solidFill>
                            <a:srgbClr val="1F2933"/>
                          </a:solidFill>
                          <a:latin typeface="Calibri" pitchFamily="34" charset="0"/>
                          <a:ea typeface="Calibri" pitchFamily="34" charset="-122"/>
                          <a:cs typeface="Calibri" pitchFamily="34" charset="-120"/>
                        </a:rPr>
                        <a:t>El repertorio: cápsulas, videos breves, guías visuales, práctica y microevaluación</a:t>
                      </a:r>
                      <a:endParaRPr lang="en-US" sz="11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150" dirty="0">
                          <a:solidFill>
                            <a:srgbClr val="1F2933"/>
                          </a:solidFill>
                          <a:latin typeface="Calibri" pitchFamily="34" charset="0"/>
                          <a:ea typeface="Calibri" pitchFamily="34" charset="-122"/>
                          <a:cs typeface="Calibri" pitchFamily="34" charset="-120"/>
                        </a:rPr>
                        <a:t>Cápsula producida</a:t>
                      </a:r>
                      <a:endParaRPr lang="en-US" sz="11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150" dirty="0">
                          <a:solidFill>
                            <a:srgbClr val="1F2933"/>
                          </a:solidFill>
                          <a:latin typeface="Calibri" pitchFamily="34" charset="0"/>
                          <a:ea typeface="Calibri" pitchFamily="34" charset="-122"/>
                          <a:cs typeface="Calibri" pitchFamily="34" charset="-120"/>
                        </a:rPr>
                        <a:t>55 min</a:t>
                      </a:r>
                      <a:endParaRPr lang="en-US" sz="11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93776">
                <a:tc>
                  <a:txBody>
                    <a:bodyPr/>
                    <a:lstStyle/>
                    <a:p>
                      <a:pPr marL="0" indent="0">
                        <a:buNone/>
                      </a:pPr>
                      <a:r>
                        <a:rPr lang="en-US" sz="1150" b="1" dirty="0">
                          <a:solidFill>
                            <a:srgbClr val="1F2933"/>
                          </a:solidFill>
                          <a:latin typeface="Calibri" pitchFamily="34" charset="0"/>
                          <a:ea typeface="Calibri" pitchFamily="34" charset="-122"/>
                          <a:cs typeface="Calibri" pitchFamily="34" charset="-120"/>
                        </a:rPr>
                        <a:t>Módulo 4</a:t>
                      </a:r>
                      <a:endParaRPr lang="en-US" sz="11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1F4F8"/>
                    </a:solidFill>
                  </a:tcPr>
                </a:tc>
                <a:tc>
                  <a:txBody>
                    <a:bodyPr/>
                    <a:lstStyle/>
                    <a:p>
                      <a:pPr marL="0" indent="0">
                        <a:buNone/>
                      </a:pPr>
                      <a:r>
                        <a:rPr lang="en-US" sz="1150" dirty="0">
                          <a:solidFill>
                            <a:srgbClr val="1F2933"/>
                          </a:solidFill>
                          <a:latin typeface="Calibri" pitchFamily="34" charset="0"/>
                          <a:ea typeface="Calibri" pitchFamily="34" charset="-122"/>
                          <a:cs typeface="Calibri" pitchFamily="34" charset="-120"/>
                        </a:rPr>
                        <a:t>Producción asistida por IA con el modelo RC-TTF</a:t>
                      </a:r>
                      <a:endParaRPr lang="en-US" sz="11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1F4F8"/>
                    </a:solidFill>
                  </a:tcPr>
                </a:tc>
                <a:tc>
                  <a:txBody>
                    <a:bodyPr/>
                    <a:lstStyle/>
                    <a:p>
                      <a:pPr marL="0" indent="0">
                        <a:buNone/>
                      </a:pPr>
                      <a:r>
                        <a:rPr lang="en-US" sz="1150" dirty="0">
                          <a:solidFill>
                            <a:srgbClr val="1F2933"/>
                          </a:solidFill>
                          <a:latin typeface="Calibri" pitchFamily="34" charset="0"/>
                          <a:ea typeface="Calibri" pitchFamily="34" charset="-122"/>
                          <a:cs typeface="Calibri" pitchFamily="34" charset="-120"/>
                        </a:rPr>
                        <a:t>Cápsula refinada y verificada</a:t>
                      </a:r>
                      <a:endParaRPr lang="en-US" sz="11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1F4F8"/>
                    </a:solidFill>
                  </a:tcPr>
                </a:tc>
                <a:tc>
                  <a:txBody>
                    <a:bodyPr/>
                    <a:lstStyle/>
                    <a:p>
                      <a:pPr marL="0" indent="0">
                        <a:buNone/>
                      </a:pPr>
                      <a:r>
                        <a:rPr lang="en-US" sz="1150" dirty="0">
                          <a:solidFill>
                            <a:srgbClr val="1F2933"/>
                          </a:solidFill>
                          <a:latin typeface="Calibri" pitchFamily="34" charset="0"/>
                          <a:ea typeface="Calibri" pitchFamily="34" charset="-122"/>
                          <a:cs typeface="Calibri" pitchFamily="34" charset="-120"/>
                        </a:rPr>
                        <a:t>40 min</a:t>
                      </a:r>
                      <a:endParaRPr lang="en-US" sz="11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1F4F8"/>
                    </a:solidFill>
                  </a:tcPr>
                </a:tc>
                <a:extLst>
                  <a:ext uri="{0D108BD9-81ED-4DB2-BD59-A6C34878D82A}">
                    <a16:rowId xmlns:a16="http://schemas.microsoft.com/office/drawing/2014/main" val="10006"/>
                  </a:ext>
                </a:extLst>
              </a:tr>
              <a:tr h="493776">
                <a:tc>
                  <a:txBody>
                    <a:bodyPr/>
                    <a:lstStyle/>
                    <a:p>
                      <a:pPr marL="0" indent="0">
                        <a:buNone/>
                      </a:pPr>
                      <a:r>
                        <a:rPr lang="en-US" sz="1150" b="1" dirty="0">
                          <a:solidFill>
                            <a:srgbClr val="1F2933"/>
                          </a:solidFill>
                          <a:latin typeface="Calibri" pitchFamily="34" charset="0"/>
                          <a:ea typeface="Calibri" pitchFamily="34" charset="-122"/>
                          <a:cs typeface="Calibri" pitchFamily="34" charset="-120"/>
                        </a:rPr>
                        <a:t>Cierre</a:t>
                      </a:r>
                      <a:endParaRPr lang="en-US" sz="11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150" dirty="0">
                          <a:solidFill>
                            <a:srgbClr val="1F2933"/>
                          </a:solidFill>
                          <a:latin typeface="Calibri" pitchFamily="34" charset="0"/>
                          <a:ea typeface="Calibri" pitchFamily="34" charset="-122"/>
                          <a:cs typeface="Calibri" pitchFamily="34" charset="-120"/>
                        </a:rPr>
                        <a:t>Micro-exposiciones, rúbrica y plan de implementación de 14 días</a:t>
                      </a:r>
                      <a:endParaRPr lang="en-US" sz="11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150" dirty="0">
                          <a:solidFill>
                            <a:srgbClr val="1F2933"/>
                          </a:solidFill>
                          <a:latin typeface="Calibri" pitchFamily="34" charset="0"/>
                          <a:ea typeface="Calibri" pitchFamily="34" charset="-122"/>
                          <a:cs typeface="Calibri" pitchFamily="34" charset="-120"/>
                        </a:rPr>
                        <a:t>Compromiso de implementación</a:t>
                      </a:r>
                      <a:endParaRPr lang="en-US" sz="11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150" dirty="0">
                          <a:solidFill>
                            <a:srgbClr val="1F2933"/>
                          </a:solidFill>
                          <a:latin typeface="Calibri" pitchFamily="34" charset="0"/>
                          <a:ea typeface="Calibri" pitchFamily="34" charset="-122"/>
                          <a:cs typeface="Calibri" pitchFamily="34" charset="-120"/>
                        </a:rPr>
                        <a:t>20 min</a:t>
                      </a:r>
                      <a:endParaRPr lang="en-US" sz="11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7" name="Text 4"/>
          <p:cNvSpPr txBox="1"/>
          <p:nvPr/>
        </p:nvSpPr>
        <p:spPr>
          <a:xfrm>
            <a:off x="566928" y="5806440"/>
            <a:ext cx="11055096" cy="274320"/>
          </a:xfrm>
          <a:prstGeom prst="rect">
            <a:avLst/>
          </a:prstGeom>
          <a:noFill/>
          <a:ln/>
        </p:spPr>
        <p:txBody>
          <a:bodyPr wrap="square" lIns="0" tIns="0" rIns="0" bIns="0" rtlCol="0" anchor="ctr"/>
          <a:lstStyle/>
          <a:p>
            <a:pPr marL="0" indent="0">
              <a:buNone/>
            </a:pPr>
            <a:r>
              <a:rPr lang="en-US" sz="1200" i="1" dirty="0">
                <a:solidFill>
                  <a:srgbClr val="5B6B7B"/>
                </a:solidFill>
                <a:latin typeface="Calibri" pitchFamily="34" charset="0"/>
                <a:ea typeface="Calibri" pitchFamily="34" charset="-122"/>
                <a:cs typeface="Calibri" pitchFamily="34" charset="-120"/>
              </a:rPr>
              <a:t>Total: 240 minutos  ·  Modalidad: presencial con trabajo en equipos de 3 a 4 docentes por programa</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29184"/>
            <a:ext cx="11055096" cy="256032"/>
          </a:xfrm>
          <a:prstGeom prst="rect">
            <a:avLst/>
          </a:prstGeom>
          <a:noFill/>
          <a:ln/>
        </p:spPr>
        <p:txBody>
          <a:bodyPr wrap="square" lIns="0" tIns="0" rIns="0" bIns="0" rtlCol="0" anchor="ctr"/>
          <a:lstStyle/>
          <a:p>
            <a:pPr marL="0" indent="0">
              <a:buNone/>
            </a:pPr>
            <a:r>
              <a:rPr lang="en-US" sz="1100" b="1" kern="0" spc="160" dirty="0">
                <a:solidFill>
                  <a:srgbClr val="2A9D8F"/>
                </a:solidFill>
                <a:latin typeface="Calibri" pitchFamily="34" charset="0"/>
                <a:ea typeface="Calibri" pitchFamily="34" charset="-122"/>
                <a:cs typeface="Calibri" pitchFamily="34" charset="-120"/>
              </a:rPr>
              <a:t>ACTIVACIÓN</a:t>
            </a:r>
            <a:endParaRPr lang="en-US" sz="1100" dirty="0"/>
          </a:p>
        </p:txBody>
      </p:sp>
      <p:sp>
        <p:nvSpPr>
          <p:cNvPr id="3" name="Text 1"/>
          <p:cNvSpPr txBox="1"/>
          <p:nvPr/>
        </p:nvSpPr>
        <p:spPr>
          <a:xfrm>
            <a:off x="566928" y="603504"/>
            <a:ext cx="11055096" cy="749808"/>
          </a:xfrm>
          <a:prstGeom prst="rect">
            <a:avLst/>
          </a:prstGeom>
          <a:noFill/>
          <a:ln/>
        </p:spPr>
        <p:txBody>
          <a:bodyPr wrap="square" lIns="0" tIns="0" rIns="0" bIns="0" rtlCol="0" anchor="t"/>
          <a:lstStyle/>
          <a:p>
            <a:pPr marL="0" indent="0">
              <a:buNone/>
            </a:pPr>
            <a:r>
              <a:rPr lang="en-US" sz="2900" b="1" dirty="0">
                <a:solidFill>
                  <a:srgbClr val="1B2A4A"/>
                </a:solidFill>
                <a:latin typeface="Cambria" pitchFamily="34" charset="0"/>
                <a:ea typeface="Cambria" pitchFamily="34" charset="-122"/>
                <a:cs typeface="Cambria" pitchFamily="34" charset="-120"/>
              </a:rPr>
              <a:t>Cápsula cero: vivamos una microunidad antes de definirla</a:t>
            </a:r>
            <a:endParaRPr lang="en-US" sz="2900" dirty="0"/>
          </a:p>
        </p:txBody>
      </p:sp>
      <p:sp>
        <p:nvSpPr>
          <p:cNvPr id="4" name="Text 2"/>
          <p:cNvSpPr txBox="1"/>
          <p:nvPr/>
        </p:nvSpPr>
        <p:spPr>
          <a:xfrm>
            <a:off x="566928" y="6428232"/>
            <a:ext cx="7863840" cy="256032"/>
          </a:xfrm>
          <a:prstGeom prst="rect">
            <a:avLst/>
          </a:prstGeom>
          <a:noFill/>
          <a:ln/>
        </p:spPr>
        <p:txBody>
          <a:bodyPr wrap="square" lIns="0" tIns="0" rIns="0" bIns="0" rtlCol="0" anchor="ctr"/>
          <a:lstStyle/>
          <a:p>
            <a:pPr marL="0" indent="0">
              <a:buNone/>
            </a:pPr>
            <a:r>
              <a:rPr lang="en-US" sz="900" dirty="0">
                <a:solidFill>
                  <a:srgbClr val="5B6B7B"/>
                </a:solidFill>
                <a:latin typeface="Calibri" pitchFamily="34" charset="0"/>
                <a:ea typeface="Calibri" pitchFamily="34" charset="-122"/>
                <a:cs typeface="Calibri" pitchFamily="34" charset="-120"/>
              </a:rPr>
              <a:t>Microaprendizaje para adultos  ·  Proyecto RUTA — Inter Ponce</a:t>
            </a:r>
            <a:endParaRPr lang="en-US" sz="900" dirty="0"/>
          </a:p>
        </p:txBody>
      </p:sp>
      <p:sp>
        <p:nvSpPr>
          <p:cNvPr id="5" name="Text 3"/>
          <p:cNvSpPr txBox="1"/>
          <p:nvPr/>
        </p:nvSpPr>
        <p:spPr>
          <a:xfrm>
            <a:off x="10972800" y="6428232"/>
            <a:ext cx="649224" cy="256032"/>
          </a:xfrm>
          <a:prstGeom prst="rect">
            <a:avLst/>
          </a:prstGeom>
          <a:noFill/>
          <a:ln/>
        </p:spPr>
        <p:txBody>
          <a:bodyPr wrap="square" lIns="0" tIns="0" rIns="0" bIns="0" rtlCol="0" anchor="ctr"/>
          <a:lstStyle/>
          <a:p>
            <a:pPr marL="0" indent="0" algn="r">
              <a:buNone/>
            </a:pPr>
            <a:r>
              <a:rPr lang="en-US" sz="900" dirty="0">
                <a:solidFill>
                  <a:srgbClr val="5B6B7B"/>
                </a:solidFill>
                <a:latin typeface="Calibri" pitchFamily="34" charset="0"/>
                <a:ea typeface="Calibri" pitchFamily="34" charset="-122"/>
                <a:cs typeface="Calibri" pitchFamily="34" charset="-120"/>
              </a:rPr>
              <a:t>5</a:t>
            </a:r>
            <a:endParaRPr lang="en-US" sz="900" dirty="0"/>
          </a:p>
        </p:txBody>
      </p:sp>
      <p:sp>
        <p:nvSpPr>
          <p:cNvPr id="6" name="Shape 4"/>
          <p:cNvSpPr/>
          <p:nvPr/>
        </p:nvSpPr>
        <p:spPr>
          <a:xfrm>
            <a:off x="566928" y="1572768"/>
            <a:ext cx="6675120" cy="3712464"/>
          </a:xfrm>
          <a:prstGeom prst="roundRect">
            <a:avLst>
              <a:gd name="adj" fmla="val 985"/>
            </a:avLst>
          </a:prstGeom>
          <a:solidFill>
            <a:srgbClr val="F1F4F8"/>
          </a:solidFill>
          <a:ln w="12700">
            <a:solidFill>
              <a:srgbClr val="F1F4F8"/>
            </a:solidFill>
            <a:prstDash val="solid"/>
          </a:ln>
          <a:effectLst>
            <a:outerShdw blurRad="101600" dist="12700" dir="5400000" algn="bl" rotWithShape="0">
              <a:srgbClr val="9AA8B5">
                <a:alpha val="16000"/>
              </a:srgbClr>
            </a:outerShdw>
          </a:effectLst>
        </p:spPr>
      </p:sp>
      <p:sp>
        <p:nvSpPr>
          <p:cNvPr id="7" name="Text 5"/>
          <p:cNvSpPr txBox="1"/>
          <p:nvPr/>
        </p:nvSpPr>
        <p:spPr>
          <a:xfrm>
            <a:off x="804672" y="1792224"/>
            <a:ext cx="6199632" cy="310896"/>
          </a:xfrm>
          <a:prstGeom prst="rect">
            <a:avLst/>
          </a:prstGeom>
          <a:noFill/>
          <a:ln/>
        </p:spPr>
        <p:txBody>
          <a:bodyPr wrap="square" lIns="0" tIns="0" rIns="0" bIns="0" rtlCol="0" anchor="t"/>
          <a:lstStyle/>
          <a:p>
            <a:pPr marL="0" indent="0">
              <a:buNone/>
            </a:pPr>
            <a:r>
              <a:rPr lang="en-US" sz="1450" b="1" dirty="0">
                <a:solidFill>
                  <a:srgbClr val="1B2A4A"/>
                </a:solidFill>
                <a:latin typeface="Calibri" pitchFamily="34" charset="0"/>
                <a:ea typeface="Calibri" pitchFamily="34" charset="-122"/>
                <a:cs typeface="Calibri" pitchFamily="34" charset="-120"/>
              </a:rPr>
              <a:t>Microexperiencia de 6 minutos  —  siga el reloj</a:t>
            </a:r>
            <a:endParaRPr lang="en-US" sz="1450" dirty="0"/>
          </a:p>
        </p:txBody>
      </p:sp>
      <p:sp>
        <p:nvSpPr>
          <p:cNvPr id="8" name="Text 6"/>
          <p:cNvSpPr txBox="1"/>
          <p:nvPr/>
        </p:nvSpPr>
        <p:spPr>
          <a:xfrm>
            <a:off x="841248" y="2157984"/>
            <a:ext cx="6163056" cy="2944368"/>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1F2933"/>
                </a:solidFill>
                <a:latin typeface="Calibri" pitchFamily="34" charset="0"/>
                <a:ea typeface="Calibri" pitchFamily="34" charset="-122"/>
                <a:cs typeface="Calibri" pitchFamily="34" charset="-120"/>
              </a:rPr>
              <a:t>Gancho (1 min): piense en el último contenido que enseñó y que sus participantes olvidaron en una semana. Escríbalo en una nota adhesiva.</a:t>
            </a:r>
            <a:endParaRPr lang="en-US" sz="1250" dirty="0"/>
          </a:p>
          <a:p>
            <a:pPr marL="342900" indent="-342900">
              <a:spcAft>
                <a:spcPts val="500"/>
              </a:spcAft>
              <a:buSzPct val="100000"/>
              <a:buChar char="•"/>
            </a:pPr>
            <a:r>
              <a:rPr lang="en-US" sz="1250" dirty="0">
                <a:solidFill>
                  <a:srgbClr val="1F2933"/>
                </a:solidFill>
                <a:latin typeface="Calibri" pitchFamily="34" charset="0"/>
                <a:ea typeface="Calibri" pitchFamily="34" charset="-122"/>
                <a:cs typeface="Calibri" pitchFamily="34" charset="-120"/>
              </a:rPr>
              <a:t>Núcleo (2 min): lea la definición operacional que aparece a la derecha. Subraye las dos palabras que más le incomoden.</a:t>
            </a:r>
            <a:endParaRPr lang="en-US" sz="1250" dirty="0"/>
          </a:p>
          <a:p>
            <a:pPr marL="342900" indent="-342900">
              <a:spcAft>
                <a:spcPts val="500"/>
              </a:spcAft>
              <a:buSzPct val="100000"/>
              <a:buChar char="•"/>
            </a:pPr>
            <a:r>
              <a:rPr lang="en-US" sz="1250" dirty="0">
                <a:solidFill>
                  <a:srgbClr val="1F2933"/>
                </a:solidFill>
                <a:latin typeface="Calibri" pitchFamily="34" charset="0"/>
                <a:ea typeface="Calibri" pitchFamily="34" charset="-122"/>
                <a:cs typeface="Calibri" pitchFamily="34" charset="-120"/>
              </a:rPr>
              <a:t>Práctica (2 min): reescriba el contenido de su nota adhesiva en una sola oración que empiece con «Al terminar, el participante podrá…».</a:t>
            </a:r>
            <a:endParaRPr lang="en-US" sz="1250" dirty="0"/>
          </a:p>
          <a:p>
            <a:pPr marL="342900" indent="-342900">
              <a:spcAft>
                <a:spcPts val="500"/>
              </a:spcAft>
              <a:buSzPct val="100000"/>
              <a:buChar char="•"/>
            </a:pPr>
            <a:r>
              <a:rPr lang="en-US" sz="1250" dirty="0">
                <a:solidFill>
                  <a:srgbClr val="1F2933"/>
                </a:solidFill>
                <a:latin typeface="Calibri" pitchFamily="34" charset="0"/>
                <a:ea typeface="Calibri" pitchFamily="34" charset="-122"/>
                <a:cs typeface="Calibri" pitchFamily="34" charset="-120"/>
              </a:rPr>
              <a:t>Chequeo (1 min): intercambie su nota con un colega. Él o ella responde únicamente: ¿esto se puede ver? ¿esto se puede hacer en diez minutos?</a:t>
            </a:r>
            <a:endParaRPr lang="en-US" sz="1250" dirty="0"/>
          </a:p>
        </p:txBody>
      </p:sp>
      <p:sp>
        <p:nvSpPr>
          <p:cNvPr id="9" name="Shape 7"/>
          <p:cNvSpPr/>
          <p:nvPr/>
        </p:nvSpPr>
        <p:spPr>
          <a:xfrm>
            <a:off x="7516368" y="1572768"/>
            <a:ext cx="4105656" cy="1755648"/>
          </a:xfrm>
          <a:prstGeom prst="roundRect">
            <a:avLst>
              <a:gd name="adj" fmla="val 2083"/>
            </a:avLst>
          </a:prstGeom>
          <a:solidFill>
            <a:srgbClr val="E7F2F0"/>
          </a:solidFill>
          <a:ln w="12700">
            <a:solidFill>
              <a:srgbClr val="E7F2F0"/>
            </a:solidFill>
            <a:prstDash val="solid"/>
          </a:ln>
          <a:effectLst>
            <a:outerShdw blurRad="101600" dist="12700" dir="5400000" algn="bl" rotWithShape="0">
              <a:srgbClr val="9AA8B5">
                <a:alpha val="16000"/>
              </a:srgbClr>
            </a:outerShdw>
          </a:effectLst>
        </p:spPr>
      </p:sp>
      <p:sp>
        <p:nvSpPr>
          <p:cNvPr id="10" name="Text 8"/>
          <p:cNvSpPr txBox="1"/>
          <p:nvPr/>
        </p:nvSpPr>
        <p:spPr>
          <a:xfrm>
            <a:off x="7754112" y="1792224"/>
            <a:ext cx="3630168" cy="310896"/>
          </a:xfrm>
          <a:prstGeom prst="rect">
            <a:avLst/>
          </a:prstGeom>
          <a:noFill/>
          <a:ln/>
        </p:spPr>
        <p:txBody>
          <a:bodyPr wrap="square" lIns="0" tIns="0" rIns="0" bIns="0" rtlCol="0" anchor="t"/>
          <a:lstStyle/>
          <a:p>
            <a:pPr marL="0" indent="0">
              <a:buNone/>
            </a:pPr>
            <a:r>
              <a:rPr lang="en-US" sz="1450" b="1" dirty="0">
                <a:solidFill>
                  <a:srgbClr val="1B2A4A"/>
                </a:solidFill>
                <a:latin typeface="Calibri" pitchFamily="34" charset="0"/>
                <a:ea typeface="Calibri" pitchFamily="34" charset="-122"/>
                <a:cs typeface="Calibri" pitchFamily="34" charset="-120"/>
              </a:rPr>
              <a:t>Definición operacional de trabajo</a:t>
            </a:r>
            <a:endParaRPr lang="en-US" sz="1450" dirty="0"/>
          </a:p>
        </p:txBody>
      </p:sp>
      <p:sp>
        <p:nvSpPr>
          <p:cNvPr id="11" name="Text 9"/>
          <p:cNvSpPr txBox="1"/>
          <p:nvPr/>
        </p:nvSpPr>
        <p:spPr>
          <a:xfrm>
            <a:off x="7754112" y="2157984"/>
            <a:ext cx="3630168" cy="987552"/>
          </a:xfrm>
          <a:prstGeom prst="rect">
            <a:avLst/>
          </a:prstGeom>
          <a:noFill/>
          <a:ln/>
        </p:spPr>
        <p:txBody>
          <a:bodyPr wrap="square" lIns="0" tIns="0" rIns="0" bIns="0" rtlCol="0" anchor="t"/>
          <a:lstStyle/>
          <a:p>
            <a:pPr marL="0" indent="0">
              <a:lnSpc>
                <a:spcPct val="106000"/>
              </a:lnSpc>
              <a:buNone/>
            </a:pPr>
            <a:r>
              <a:rPr lang="en-US" sz="1250" dirty="0">
                <a:solidFill>
                  <a:srgbClr val="1F2933"/>
                </a:solidFill>
                <a:latin typeface="Calibri" pitchFamily="34" charset="0"/>
                <a:ea typeface="Calibri" pitchFamily="34" charset="-122"/>
                <a:cs typeface="Calibri" pitchFamily="34" charset="-120"/>
              </a:rPr>
              <a:t>Una microunidad es una experiencia breve y focalizada, dirigida a uno o dos objetivos, integrada a una estructura mayor, activa y participativa, que produce evidencia de logro.</a:t>
            </a:r>
            <a:endParaRPr lang="en-US" sz="1250" dirty="0"/>
          </a:p>
        </p:txBody>
      </p:sp>
      <p:sp>
        <p:nvSpPr>
          <p:cNvPr id="12" name="Shape 10"/>
          <p:cNvSpPr/>
          <p:nvPr/>
        </p:nvSpPr>
        <p:spPr>
          <a:xfrm>
            <a:off x="7516368" y="3529584"/>
            <a:ext cx="4105656" cy="1755648"/>
          </a:xfrm>
          <a:prstGeom prst="roundRect">
            <a:avLst>
              <a:gd name="adj" fmla="val 2083"/>
            </a:avLst>
          </a:prstGeom>
          <a:solidFill>
            <a:srgbClr val="FAF3E0"/>
          </a:solidFill>
          <a:ln w="12700">
            <a:solidFill>
              <a:srgbClr val="FAF3E0"/>
            </a:solidFill>
            <a:prstDash val="solid"/>
          </a:ln>
          <a:effectLst>
            <a:outerShdw blurRad="101600" dist="12700" dir="5400000" algn="bl" rotWithShape="0">
              <a:srgbClr val="9AA8B5">
                <a:alpha val="16000"/>
              </a:srgbClr>
            </a:outerShdw>
          </a:effectLst>
        </p:spPr>
      </p:sp>
      <p:sp>
        <p:nvSpPr>
          <p:cNvPr id="13" name="Text 11"/>
          <p:cNvSpPr txBox="1"/>
          <p:nvPr/>
        </p:nvSpPr>
        <p:spPr>
          <a:xfrm>
            <a:off x="7754112" y="3749040"/>
            <a:ext cx="3630168" cy="310896"/>
          </a:xfrm>
          <a:prstGeom prst="rect">
            <a:avLst/>
          </a:prstGeom>
          <a:noFill/>
          <a:ln/>
        </p:spPr>
        <p:txBody>
          <a:bodyPr wrap="square" lIns="0" tIns="0" rIns="0" bIns="0" rtlCol="0" anchor="t"/>
          <a:lstStyle/>
          <a:p>
            <a:pPr marL="0" indent="0">
              <a:buNone/>
            </a:pPr>
            <a:r>
              <a:rPr lang="en-US" sz="1450" b="1" dirty="0">
                <a:solidFill>
                  <a:srgbClr val="1B2A4A"/>
                </a:solidFill>
                <a:latin typeface="Calibri" pitchFamily="34" charset="0"/>
                <a:ea typeface="Calibri" pitchFamily="34" charset="-122"/>
                <a:cs typeface="Calibri" pitchFamily="34" charset="-120"/>
              </a:rPr>
              <a:t>Acuerdos de trabajo</a:t>
            </a:r>
            <a:endParaRPr lang="en-US" sz="1450" dirty="0"/>
          </a:p>
        </p:txBody>
      </p:sp>
      <p:sp>
        <p:nvSpPr>
          <p:cNvPr id="14" name="Text 12"/>
          <p:cNvSpPr txBox="1"/>
          <p:nvPr/>
        </p:nvSpPr>
        <p:spPr>
          <a:xfrm>
            <a:off x="7790688" y="4114800"/>
            <a:ext cx="3593592" cy="987552"/>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1F2933"/>
                </a:solidFill>
                <a:latin typeface="Calibri" pitchFamily="34" charset="0"/>
                <a:ea typeface="Calibri" pitchFamily="34" charset="-122"/>
                <a:cs typeface="Calibri" pitchFamily="34" charset="-120"/>
              </a:rPr>
              <a:t>Se trabaja con el curso real que usted enseña.</a:t>
            </a:r>
            <a:endParaRPr lang="en-US" sz="1150" dirty="0"/>
          </a:p>
          <a:p>
            <a:pPr marL="342900" indent="-342900">
              <a:spcAft>
                <a:spcPts val="500"/>
              </a:spcAft>
              <a:buSzPct val="100000"/>
              <a:buChar char="•"/>
            </a:pPr>
            <a:r>
              <a:rPr lang="en-US" sz="1150" dirty="0">
                <a:solidFill>
                  <a:srgbClr val="1F2933"/>
                </a:solidFill>
                <a:latin typeface="Calibri" pitchFamily="34" charset="0"/>
                <a:ea typeface="Calibri" pitchFamily="34" charset="-122"/>
                <a:cs typeface="Calibri" pitchFamily="34" charset="-120"/>
              </a:rPr>
              <a:t>Todo producto se comparte en tres minutos.</a:t>
            </a:r>
            <a:endParaRPr lang="en-US" sz="1150" dirty="0"/>
          </a:p>
          <a:p>
            <a:pPr marL="342900" indent="-342900">
              <a:spcAft>
                <a:spcPts val="500"/>
              </a:spcAft>
              <a:buSzPct val="100000"/>
              <a:buChar char="•"/>
            </a:pPr>
            <a:r>
              <a:rPr lang="en-US" sz="1150" dirty="0">
                <a:solidFill>
                  <a:srgbClr val="1F2933"/>
                </a:solidFill>
                <a:latin typeface="Calibri" pitchFamily="34" charset="0"/>
                <a:ea typeface="Calibri" pitchFamily="34" charset="-122"/>
                <a:cs typeface="Calibri" pitchFamily="34" charset="-120"/>
              </a:rPr>
              <a:t>El celular es herramienta de producción, no distracción.</a:t>
            </a:r>
            <a:endParaRPr lang="en-US" sz="1150" dirty="0"/>
          </a:p>
          <a:p>
            <a:pPr marL="342900" indent="-342900">
              <a:spcAft>
                <a:spcPts val="500"/>
              </a:spcAft>
              <a:buSzPct val="100000"/>
              <a:buChar char="•"/>
            </a:pPr>
            <a:r>
              <a:rPr lang="en-US" sz="1150" dirty="0">
                <a:solidFill>
                  <a:srgbClr val="1F2933"/>
                </a:solidFill>
                <a:latin typeface="Calibri" pitchFamily="34" charset="0"/>
                <a:ea typeface="Calibri" pitchFamily="34" charset="-122"/>
                <a:cs typeface="Calibri" pitchFamily="34" charset="-120"/>
              </a:rPr>
              <a:t>Se puede discrepar; se sostiene con argumento.</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B2A4A"/>
        </a:solidFill>
        <a:effectLst/>
      </p:bgPr>
    </p:bg>
    <p:spTree>
      <p:nvGrpSpPr>
        <p:cNvPr id="1" name=""/>
        <p:cNvGrpSpPr/>
        <p:nvPr/>
      </p:nvGrpSpPr>
      <p:grpSpPr>
        <a:xfrm>
          <a:off x="0" y="0"/>
          <a:ext cx="0" cy="0"/>
          <a:chOff x="0" y="0"/>
          <a:chExt cx="0" cy="0"/>
        </a:xfrm>
      </p:grpSpPr>
      <p:sp>
        <p:nvSpPr>
          <p:cNvPr id="2" name="Text 0"/>
          <p:cNvSpPr txBox="1"/>
          <p:nvPr/>
        </p:nvSpPr>
        <p:spPr>
          <a:xfrm>
            <a:off x="566928" y="1691640"/>
            <a:ext cx="2011680" cy="1371600"/>
          </a:xfrm>
          <a:prstGeom prst="rect">
            <a:avLst/>
          </a:prstGeom>
          <a:noFill/>
          <a:ln/>
        </p:spPr>
        <p:txBody>
          <a:bodyPr wrap="square" lIns="0" tIns="0" rIns="0" bIns="0" rtlCol="0" anchor="ctr"/>
          <a:lstStyle/>
          <a:p>
            <a:pPr marL="0" indent="0">
              <a:buNone/>
            </a:pPr>
            <a:r>
              <a:rPr lang="en-US" sz="9600" b="1" dirty="0">
                <a:solidFill>
                  <a:srgbClr val="C9A227"/>
                </a:solidFill>
                <a:latin typeface="Cambria" pitchFamily="34" charset="0"/>
                <a:ea typeface="Cambria" pitchFamily="34" charset="-122"/>
                <a:cs typeface="Cambria" pitchFamily="34" charset="-120"/>
              </a:rPr>
              <a:t>01</a:t>
            </a:r>
            <a:endParaRPr lang="en-US" sz="9600" dirty="0"/>
          </a:p>
        </p:txBody>
      </p:sp>
      <p:sp>
        <p:nvSpPr>
          <p:cNvPr id="3" name="Text 1"/>
          <p:cNvSpPr txBox="1"/>
          <p:nvPr/>
        </p:nvSpPr>
        <p:spPr>
          <a:xfrm>
            <a:off x="2331720" y="1783080"/>
            <a:ext cx="8686800" cy="137160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Fundamentos</a:t>
            </a:r>
            <a:endParaRPr lang="en-US" sz="3400" dirty="0"/>
          </a:p>
        </p:txBody>
      </p:sp>
      <p:sp>
        <p:nvSpPr>
          <p:cNvPr id="4" name="Text 2"/>
          <p:cNvSpPr txBox="1"/>
          <p:nvPr/>
        </p:nvSpPr>
        <p:spPr>
          <a:xfrm>
            <a:off x="2331720" y="3200400"/>
            <a:ext cx="8686800" cy="822960"/>
          </a:xfrm>
          <a:prstGeom prst="rect">
            <a:avLst/>
          </a:prstGeom>
          <a:noFill/>
          <a:ln/>
        </p:spPr>
        <p:txBody>
          <a:bodyPr wrap="square" lIns="0" tIns="0" rIns="0" bIns="0" rtlCol="0" anchor="t"/>
          <a:lstStyle/>
          <a:p>
            <a:pPr marL="0" indent="0">
              <a:buNone/>
            </a:pPr>
            <a:r>
              <a:rPr lang="en-US" sz="1500" dirty="0">
                <a:solidFill>
                  <a:srgbClr val="C3D0E0"/>
                </a:solidFill>
                <a:latin typeface="Calibri" pitchFamily="34" charset="0"/>
                <a:ea typeface="Calibri" pitchFamily="34" charset="-122"/>
                <a:cs typeface="Calibri" pitchFamily="34" charset="-120"/>
              </a:rPr>
              <a:t>Por qué el adulto aprende mejor en microunidades: andragogía, arquitectura cognitiva y evidencia empírica.</a:t>
            </a:r>
            <a:endParaRPr lang="en-US" sz="1500" dirty="0"/>
          </a:p>
        </p:txBody>
      </p:sp>
      <p:sp>
        <p:nvSpPr>
          <p:cNvPr id="5" name="Shape 3"/>
          <p:cNvSpPr/>
          <p:nvPr/>
        </p:nvSpPr>
        <p:spPr>
          <a:xfrm>
            <a:off x="2331720" y="4160520"/>
            <a:ext cx="2834640" cy="457200"/>
          </a:xfrm>
          <a:prstGeom prst="roundRect">
            <a:avLst>
              <a:gd name="adj" fmla="val 50000"/>
            </a:avLst>
          </a:prstGeom>
          <a:solidFill>
            <a:srgbClr val="2A9D8F"/>
          </a:solidFill>
          <a:ln w="12700">
            <a:solidFill>
              <a:srgbClr val="2A9D8F"/>
            </a:solidFill>
            <a:prstDash val="solid"/>
          </a:ln>
        </p:spPr>
      </p:sp>
      <p:sp>
        <p:nvSpPr>
          <p:cNvPr id="6" name="Text 4"/>
          <p:cNvSpPr txBox="1"/>
          <p:nvPr/>
        </p:nvSpPr>
        <p:spPr>
          <a:xfrm>
            <a:off x="2331720" y="4160520"/>
            <a:ext cx="283464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45 minutos</a:t>
            </a:r>
            <a:endParaRPr lang="en-US" sz="1300" dirty="0"/>
          </a:p>
        </p:txBody>
      </p:sp>
      <p:sp>
        <p:nvSpPr>
          <p:cNvPr id="7" name="Shape 5"/>
          <p:cNvSpPr/>
          <p:nvPr/>
        </p:nvSpPr>
        <p:spPr>
          <a:xfrm>
            <a:off x="9646920" y="5074920"/>
            <a:ext cx="365760" cy="365760"/>
          </a:xfrm>
          <a:prstGeom prst="roundRect">
            <a:avLst>
              <a:gd name="adj" fmla="val 12500"/>
            </a:avLst>
          </a:prstGeom>
          <a:solidFill>
            <a:srgbClr val="C9A227"/>
          </a:solidFill>
          <a:ln w="12700">
            <a:solidFill>
              <a:srgbClr val="C9A227"/>
            </a:solidFill>
            <a:prstDash val="solid"/>
          </a:ln>
        </p:spPr>
      </p:sp>
      <p:sp>
        <p:nvSpPr>
          <p:cNvPr id="8" name="Shape 6"/>
          <p:cNvSpPr/>
          <p:nvPr/>
        </p:nvSpPr>
        <p:spPr>
          <a:xfrm>
            <a:off x="10140696" y="5074920"/>
            <a:ext cx="365760" cy="365760"/>
          </a:xfrm>
          <a:prstGeom prst="roundRect">
            <a:avLst>
              <a:gd name="adj" fmla="val 12500"/>
            </a:avLst>
          </a:prstGeom>
          <a:solidFill>
            <a:srgbClr val="2A9D8F"/>
          </a:solidFill>
          <a:ln w="12700">
            <a:solidFill>
              <a:srgbClr val="2A9D8F"/>
            </a:solidFill>
            <a:prstDash val="solid"/>
          </a:ln>
        </p:spPr>
      </p:sp>
      <p:sp>
        <p:nvSpPr>
          <p:cNvPr id="9" name="Shape 7"/>
          <p:cNvSpPr/>
          <p:nvPr/>
        </p:nvSpPr>
        <p:spPr>
          <a:xfrm>
            <a:off x="10634472" y="5074920"/>
            <a:ext cx="365760" cy="365760"/>
          </a:xfrm>
          <a:prstGeom prst="roundRect">
            <a:avLst>
              <a:gd name="adj" fmla="val 12500"/>
            </a:avLst>
          </a:prstGeom>
          <a:solidFill>
            <a:srgbClr val="FFFFFF"/>
          </a:solidFill>
          <a:ln w="12700">
            <a:solidFill>
              <a:srgbClr val="FFFFFF"/>
            </a:solidFill>
            <a:prstDash val="solid"/>
          </a:ln>
        </p:spPr>
      </p:sp>
      <p:sp>
        <p:nvSpPr>
          <p:cNvPr id="10" name="Shape 8"/>
          <p:cNvSpPr/>
          <p:nvPr/>
        </p:nvSpPr>
        <p:spPr>
          <a:xfrm>
            <a:off x="9646920" y="5568696"/>
            <a:ext cx="365760" cy="365760"/>
          </a:xfrm>
          <a:prstGeom prst="roundRect">
            <a:avLst>
              <a:gd name="adj" fmla="val 12500"/>
            </a:avLst>
          </a:prstGeom>
          <a:solidFill>
            <a:srgbClr val="2A9D8F">
              <a:alpha val="55000"/>
            </a:srgbClr>
          </a:solidFill>
          <a:ln w="12700">
            <a:solidFill>
              <a:srgbClr val="2A9D8F"/>
            </a:solidFill>
            <a:prstDash val="solid"/>
          </a:ln>
        </p:spPr>
      </p:sp>
      <p:sp>
        <p:nvSpPr>
          <p:cNvPr id="11" name="Shape 9"/>
          <p:cNvSpPr/>
          <p:nvPr/>
        </p:nvSpPr>
        <p:spPr>
          <a:xfrm>
            <a:off x="10140696" y="5568696"/>
            <a:ext cx="365760" cy="365760"/>
          </a:xfrm>
          <a:prstGeom prst="roundRect">
            <a:avLst>
              <a:gd name="adj" fmla="val 12500"/>
            </a:avLst>
          </a:prstGeom>
          <a:solidFill>
            <a:srgbClr val="FFFFFF">
              <a:alpha val="55000"/>
            </a:srgbClr>
          </a:solidFill>
          <a:ln w="12700">
            <a:solidFill>
              <a:srgbClr val="FFFFFF"/>
            </a:solidFill>
            <a:prstDash val="solid"/>
          </a:ln>
        </p:spPr>
      </p:sp>
      <p:sp>
        <p:nvSpPr>
          <p:cNvPr id="12" name="Shape 10"/>
          <p:cNvSpPr/>
          <p:nvPr/>
        </p:nvSpPr>
        <p:spPr>
          <a:xfrm>
            <a:off x="10634472" y="5568696"/>
            <a:ext cx="365760" cy="365760"/>
          </a:xfrm>
          <a:prstGeom prst="roundRect">
            <a:avLst>
              <a:gd name="adj" fmla="val 12500"/>
            </a:avLst>
          </a:prstGeom>
          <a:solidFill>
            <a:srgbClr val="C9A227">
              <a:alpha val="55000"/>
            </a:srgbClr>
          </a:solidFill>
          <a:ln w="12700">
            <a:solidFill>
              <a:srgbClr val="C9A227"/>
            </a:solidFill>
            <a:prstDash val="soli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29184"/>
            <a:ext cx="11055096" cy="256032"/>
          </a:xfrm>
          <a:prstGeom prst="rect">
            <a:avLst/>
          </a:prstGeom>
          <a:noFill/>
          <a:ln/>
        </p:spPr>
        <p:txBody>
          <a:bodyPr wrap="square" lIns="0" tIns="0" rIns="0" bIns="0" rtlCol="0" anchor="ctr"/>
          <a:lstStyle/>
          <a:p>
            <a:pPr marL="0" indent="0">
              <a:buNone/>
            </a:pPr>
            <a:r>
              <a:rPr lang="en-US" sz="1100" b="1" kern="0" spc="160" dirty="0">
                <a:solidFill>
                  <a:srgbClr val="2A9D8F"/>
                </a:solidFill>
                <a:latin typeface="Calibri" pitchFamily="34" charset="0"/>
                <a:ea typeface="Calibri" pitchFamily="34" charset="-122"/>
                <a:cs typeface="Calibri" pitchFamily="34" charset="-120"/>
              </a:rPr>
              <a:t>CONTEXTO</a:t>
            </a:r>
            <a:endParaRPr lang="en-US" sz="1100" dirty="0"/>
          </a:p>
        </p:txBody>
      </p:sp>
      <p:sp>
        <p:nvSpPr>
          <p:cNvPr id="3" name="Text 1"/>
          <p:cNvSpPr txBox="1"/>
          <p:nvPr/>
        </p:nvSpPr>
        <p:spPr>
          <a:xfrm>
            <a:off x="566928" y="603504"/>
            <a:ext cx="11055096" cy="749808"/>
          </a:xfrm>
          <a:prstGeom prst="rect">
            <a:avLst/>
          </a:prstGeom>
          <a:noFill/>
          <a:ln/>
        </p:spPr>
        <p:txBody>
          <a:bodyPr wrap="square" lIns="0" tIns="0" rIns="0" bIns="0" rtlCol="0" anchor="t"/>
          <a:lstStyle/>
          <a:p>
            <a:pPr marL="0" indent="0">
              <a:buNone/>
            </a:pPr>
            <a:r>
              <a:rPr lang="en-US" sz="2900" b="1" dirty="0">
                <a:solidFill>
                  <a:srgbClr val="1B2A4A"/>
                </a:solidFill>
                <a:latin typeface="Cambria" pitchFamily="34" charset="0"/>
                <a:ea typeface="Cambria" pitchFamily="34" charset="-122"/>
                <a:cs typeface="Cambria" pitchFamily="34" charset="-120"/>
              </a:rPr>
              <a:t>El participante que tenemos delante y lo que exige del diseño</a:t>
            </a:r>
            <a:endParaRPr lang="en-US" sz="2900" dirty="0"/>
          </a:p>
        </p:txBody>
      </p:sp>
      <p:sp>
        <p:nvSpPr>
          <p:cNvPr id="4" name="Text 2"/>
          <p:cNvSpPr txBox="1"/>
          <p:nvPr/>
        </p:nvSpPr>
        <p:spPr>
          <a:xfrm>
            <a:off x="566928" y="6428232"/>
            <a:ext cx="7863840" cy="256032"/>
          </a:xfrm>
          <a:prstGeom prst="rect">
            <a:avLst/>
          </a:prstGeom>
          <a:noFill/>
          <a:ln/>
        </p:spPr>
        <p:txBody>
          <a:bodyPr wrap="square" lIns="0" tIns="0" rIns="0" bIns="0" rtlCol="0" anchor="ctr"/>
          <a:lstStyle/>
          <a:p>
            <a:pPr marL="0" indent="0">
              <a:buNone/>
            </a:pPr>
            <a:r>
              <a:rPr lang="en-US" sz="900" dirty="0">
                <a:solidFill>
                  <a:srgbClr val="5B6B7B"/>
                </a:solidFill>
                <a:latin typeface="Calibri" pitchFamily="34" charset="0"/>
                <a:ea typeface="Calibri" pitchFamily="34" charset="-122"/>
                <a:cs typeface="Calibri" pitchFamily="34" charset="-120"/>
              </a:rPr>
              <a:t>Microaprendizaje para adultos  ·  Proyecto RUTA — Inter Ponce</a:t>
            </a:r>
            <a:endParaRPr lang="en-US" sz="900" dirty="0"/>
          </a:p>
        </p:txBody>
      </p:sp>
      <p:sp>
        <p:nvSpPr>
          <p:cNvPr id="5" name="Text 3"/>
          <p:cNvSpPr txBox="1"/>
          <p:nvPr/>
        </p:nvSpPr>
        <p:spPr>
          <a:xfrm>
            <a:off x="10972800" y="6428232"/>
            <a:ext cx="649224" cy="256032"/>
          </a:xfrm>
          <a:prstGeom prst="rect">
            <a:avLst/>
          </a:prstGeom>
          <a:noFill/>
          <a:ln/>
        </p:spPr>
        <p:txBody>
          <a:bodyPr wrap="square" lIns="0" tIns="0" rIns="0" bIns="0" rtlCol="0" anchor="ctr"/>
          <a:lstStyle/>
          <a:p>
            <a:pPr marL="0" indent="0" algn="r">
              <a:buNone/>
            </a:pPr>
            <a:r>
              <a:rPr lang="en-US" sz="900" dirty="0">
                <a:solidFill>
                  <a:srgbClr val="5B6B7B"/>
                </a:solidFill>
                <a:latin typeface="Calibri" pitchFamily="34" charset="0"/>
                <a:ea typeface="Calibri" pitchFamily="34" charset="-122"/>
                <a:cs typeface="Calibri" pitchFamily="34" charset="-120"/>
              </a:rPr>
              <a:t>7</a:t>
            </a:r>
            <a:endParaRPr lang="en-US" sz="900" dirty="0"/>
          </a:p>
        </p:txBody>
      </p:sp>
      <p:sp>
        <p:nvSpPr>
          <p:cNvPr id="6" name="Shape 4"/>
          <p:cNvSpPr/>
          <p:nvPr/>
        </p:nvSpPr>
        <p:spPr>
          <a:xfrm>
            <a:off x="566928" y="1572768"/>
            <a:ext cx="2624328" cy="1737360"/>
          </a:xfrm>
          <a:prstGeom prst="roundRect">
            <a:avLst>
              <a:gd name="adj" fmla="val 2105"/>
            </a:avLst>
          </a:prstGeom>
          <a:solidFill>
            <a:srgbClr val="F1F4F8"/>
          </a:solidFill>
          <a:ln w="12700">
            <a:solidFill>
              <a:srgbClr val="F1F4F8"/>
            </a:solidFill>
            <a:prstDash val="solid"/>
          </a:ln>
          <a:effectLst>
            <a:outerShdw blurRad="101600" dist="12700" dir="5400000" algn="bl" rotWithShape="0">
              <a:srgbClr val="9AA8B5">
                <a:alpha val="16000"/>
              </a:srgbClr>
            </a:outerShdw>
          </a:effectLst>
        </p:spPr>
      </p:sp>
      <p:sp>
        <p:nvSpPr>
          <p:cNvPr id="7" name="Text 5"/>
          <p:cNvSpPr txBox="1"/>
          <p:nvPr/>
        </p:nvSpPr>
        <p:spPr>
          <a:xfrm>
            <a:off x="804672" y="1792224"/>
            <a:ext cx="2148840" cy="310896"/>
          </a:xfrm>
          <a:prstGeom prst="rect">
            <a:avLst/>
          </a:prstGeom>
          <a:noFill/>
          <a:ln/>
        </p:spPr>
        <p:txBody>
          <a:bodyPr wrap="square" lIns="0" tIns="0" rIns="0" bIns="0" rtlCol="0" anchor="t"/>
          <a:lstStyle/>
          <a:p>
            <a:pPr marL="0" indent="0">
              <a:buNone/>
            </a:pPr>
            <a:r>
              <a:rPr lang="en-US" sz="1450" b="1" dirty="0">
                <a:solidFill>
                  <a:srgbClr val="1B2A4A"/>
                </a:solidFill>
                <a:latin typeface="Calibri" pitchFamily="34" charset="0"/>
                <a:ea typeface="Calibri" pitchFamily="34" charset="-122"/>
                <a:cs typeface="Calibri" pitchFamily="34" charset="-120"/>
              </a:rPr>
              <a:t>Jornada laboral</a:t>
            </a:r>
            <a:endParaRPr lang="en-US" sz="1450" dirty="0"/>
          </a:p>
        </p:txBody>
      </p:sp>
      <p:sp>
        <p:nvSpPr>
          <p:cNvPr id="8" name="Text 6"/>
          <p:cNvSpPr txBox="1"/>
          <p:nvPr/>
        </p:nvSpPr>
        <p:spPr>
          <a:xfrm>
            <a:off x="804672" y="2157984"/>
            <a:ext cx="2148840" cy="969264"/>
          </a:xfrm>
          <a:prstGeom prst="rect">
            <a:avLst/>
          </a:prstGeom>
          <a:noFill/>
          <a:ln/>
        </p:spPr>
        <p:txBody>
          <a:bodyPr wrap="square" lIns="0" tIns="0" rIns="0" bIns="0" rtlCol="0" anchor="t"/>
          <a:lstStyle/>
          <a:p>
            <a:pPr marL="0" indent="0">
              <a:lnSpc>
                <a:spcPct val="106000"/>
              </a:lnSpc>
              <a:buNone/>
            </a:pPr>
            <a:r>
              <a:rPr lang="en-US" sz="1150" dirty="0">
                <a:solidFill>
                  <a:srgbClr val="1F2933"/>
                </a:solidFill>
                <a:latin typeface="Calibri" pitchFamily="34" charset="0"/>
                <a:ea typeface="Calibri" pitchFamily="34" charset="-122"/>
                <a:cs typeface="Calibri" pitchFamily="34" charset="-120"/>
              </a:rPr>
              <a:t>Estudia después de una jornada completa o entre turnos.</a:t>
            </a:r>
            <a:endParaRPr lang="en-US" sz="1150" dirty="0"/>
          </a:p>
        </p:txBody>
      </p:sp>
      <p:sp>
        <p:nvSpPr>
          <p:cNvPr id="9" name="Shape 7"/>
          <p:cNvSpPr/>
          <p:nvPr/>
        </p:nvSpPr>
        <p:spPr>
          <a:xfrm>
            <a:off x="566928" y="3529584"/>
            <a:ext cx="2624328" cy="1737360"/>
          </a:xfrm>
          <a:prstGeom prst="roundRect">
            <a:avLst>
              <a:gd name="adj" fmla="val 2105"/>
            </a:avLst>
          </a:prstGeom>
          <a:solidFill>
            <a:srgbClr val="E7F2F0"/>
          </a:solidFill>
          <a:ln w="12700">
            <a:solidFill>
              <a:srgbClr val="E7F2F0"/>
            </a:solidFill>
            <a:prstDash val="solid"/>
          </a:ln>
          <a:effectLst>
            <a:outerShdw blurRad="101600" dist="12700" dir="5400000" algn="bl" rotWithShape="0">
              <a:srgbClr val="9AA8B5">
                <a:alpha val="16000"/>
              </a:srgbClr>
            </a:outerShdw>
          </a:effectLst>
        </p:spPr>
      </p:sp>
      <p:sp>
        <p:nvSpPr>
          <p:cNvPr id="10" name="Text 8"/>
          <p:cNvSpPr txBox="1"/>
          <p:nvPr/>
        </p:nvSpPr>
        <p:spPr>
          <a:xfrm>
            <a:off x="804672" y="3749040"/>
            <a:ext cx="2148840" cy="310896"/>
          </a:xfrm>
          <a:prstGeom prst="rect">
            <a:avLst/>
          </a:prstGeom>
          <a:noFill/>
          <a:ln/>
        </p:spPr>
        <p:txBody>
          <a:bodyPr wrap="square" lIns="0" tIns="0" rIns="0" bIns="0" rtlCol="0" anchor="t"/>
          <a:lstStyle/>
          <a:p>
            <a:pPr marL="0" indent="0">
              <a:buNone/>
            </a:pPr>
            <a:r>
              <a:rPr lang="en-US" sz="1200" b="1" dirty="0">
                <a:solidFill>
                  <a:srgbClr val="1F7A6F"/>
                </a:solidFill>
                <a:latin typeface="Calibri" pitchFamily="34" charset="0"/>
                <a:ea typeface="Calibri" pitchFamily="34" charset="-122"/>
                <a:cs typeface="Calibri" pitchFamily="34" charset="-120"/>
              </a:rPr>
              <a:t>Implicación de diseño</a:t>
            </a:r>
            <a:endParaRPr lang="en-US" sz="1200" dirty="0"/>
          </a:p>
        </p:txBody>
      </p:sp>
      <p:sp>
        <p:nvSpPr>
          <p:cNvPr id="11" name="Text 9"/>
          <p:cNvSpPr txBox="1"/>
          <p:nvPr/>
        </p:nvSpPr>
        <p:spPr>
          <a:xfrm>
            <a:off x="804672" y="4114800"/>
            <a:ext cx="2148840" cy="969264"/>
          </a:xfrm>
          <a:prstGeom prst="rect">
            <a:avLst/>
          </a:prstGeom>
          <a:noFill/>
          <a:ln/>
        </p:spPr>
        <p:txBody>
          <a:bodyPr wrap="square" lIns="0" tIns="0" rIns="0" bIns="0" rtlCol="0" anchor="t"/>
          <a:lstStyle/>
          <a:p>
            <a:pPr marL="0" indent="0">
              <a:lnSpc>
                <a:spcPct val="106000"/>
              </a:lnSpc>
              <a:buNone/>
            </a:pPr>
            <a:r>
              <a:rPr lang="en-US" sz="1150" dirty="0">
                <a:solidFill>
                  <a:srgbClr val="1F2933"/>
                </a:solidFill>
                <a:latin typeface="Calibri" pitchFamily="34" charset="0"/>
                <a:ea typeface="Calibri" pitchFamily="34" charset="-122"/>
                <a:cs typeface="Calibri" pitchFamily="34" charset="-120"/>
              </a:rPr>
              <a:t>Diseñe para el cansancio: una idea por unidad, no seis.</a:t>
            </a:r>
            <a:endParaRPr lang="en-US" sz="1150" dirty="0"/>
          </a:p>
        </p:txBody>
      </p:sp>
      <p:sp>
        <p:nvSpPr>
          <p:cNvPr id="12" name="Shape 10"/>
          <p:cNvSpPr/>
          <p:nvPr/>
        </p:nvSpPr>
        <p:spPr>
          <a:xfrm>
            <a:off x="3383280" y="1572768"/>
            <a:ext cx="2624328" cy="1737360"/>
          </a:xfrm>
          <a:prstGeom prst="roundRect">
            <a:avLst>
              <a:gd name="adj" fmla="val 2105"/>
            </a:avLst>
          </a:prstGeom>
          <a:solidFill>
            <a:srgbClr val="F1F4F8"/>
          </a:solidFill>
          <a:ln w="12700">
            <a:solidFill>
              <a:srgbClr val="F1F4F8"/>
            </a:solidFill>
            <a:prstDash val="solid"/>
          </a:ln>
          <a:effectLst>
            <a:outerShdw blurRad="101600" dist="12700" dir="5400000" algn="bl" rotWithShape="0">
              <a:srgbClr val="9AA8B5">
                <a:alpha val="16000"/>
              </a:srgbClr>
            </a:outerShdw>
          </a:effectLst>
        </p:spPr>
      </p:sp>
      <p:sp>
        <p:nvSpPr>
          <p:cNvPr id="13" name="Text 11"/>
          <p:cNvSpPr txBox="1"/>
          <p:nvPr/>
        </p:nvSpPr>
        <p:spPr>
          <a:xfrm>
            <a:off x="3621024" y="1792224"/>
            <a:ext cx="2148840" cy="310896"/>
          </a:xfrm>
          <a:prstGeom prst="rect">
            <a:avLst/>
          </a:prstGeom>
          <a:noFill/>
          <a:ln/>
        </p:spPr>
        <p:txBody>
          <a:bodyPr wrap="square" lIns="0" tIns="0" rIns="0" bIns="0" rtlCol="0" anchor="t"/>
          <a:lstStyle/>
          <a:p>
            <a:pPr marL="0" indent="0">
              <a:buNone/>
            </a:pPr>
            <a:r>
              <a:rPr lang="en-US" sz="1450" b="1" dirty="0">
                <a:solidFill>
                  <a:srgbClr val="2A9D8F"/>
                </a:solidFill>
                <a:latin typeface="Calibri" pitchFamily="34" charset="0"/>
                <a:ea typeface="Calibri" pitchFamily="34" charset="-122"/>
                <a:cs typeface="Calibri" pitchFamily="34" charset="-120"/>
              </a:rPr>
              <a:t>Responsabilidades de cuido</a:t>
            </a:r>
            <a:endParaRPr lang="en-US" sz="1450" dirty="0"/>
          </a:p>
        </p:txBody>
      </p:sp>
      <p:sp>
        <p:nvSpPr>
          <p:cNvPr id="14" name="Text 12"/>
          <p:cNvSpPr txBox="1"/>
          <p:nvPr/>
        </p:nvSpPr>
        <p:spPr>
          <a:xfrm>
            <a:off x="3621024" y="2157984"/>
            <a:ext cx="2148840" cy="969264"/>
          </a:xfrm>
          <a:prstGeom prst="rect">
            <a:avLst/>
          </a:prstGeom>
          <a:noFill/>
          <a:ln/>
        </p:spPr>
        <p:txBody>
          <a:bodyPr wrap="square" lIns="0" tIns="0" rIns="0" bIns="0" rtlCol="0" anchor="t"/>
          <a:lstStyle/>
          <a:p>
            <a:pPr marL="0" indent="0">
              <a:lnSpc>
                <a:spcPct val="106000"/>
              </a:lnSpc>
              <a:buNone/>
            </a:pPr>
            <a:r>
              <a:rPr lang="en-US" sz="1150" dirty="0">
                <a:solidFill>
                  <a:srgbClr val="1F2933"/>
                </a:solidFill>
                <a:latin typeface="Calibri" pitchFamily="34" charset="0"/>
                <a:ea typeface="Calibri" pitchFamily="34" charset="-122"/>
                <a:cs typeface="Calibri" pitchFamily="34" charset="-120"/>
              </a:rPr>
              <a:t>Atiende hijos, nietos o familiares dependientes.</a:t>
            </a:r>
            <a:endParaRPr lang="en-US" sz="1150" dirty="0"/>
          </a:p>
        </p:txBody>
      </p:sp>
      <p:sp>
        <p:nvSpPr>
          <p:cNvPr id="15" name="Shape 13"/>
          <p:cNvSpPr/>
          <p:nvPr/>
        </p:nvSpPr>
        <p:spPr>
          <a:xfrm>
            <a:off x="3383280" y="3529584"/>
            <a:ext cx="2624328" cy="1737360"/>
          </a:xfrm>
          <a:prstGeom prst="roundRect">
            <a:avLst>
              <a:gd name="adj" fmla="val 2105"/>
            </a:avLst>
          </a:prstGeom>
          <a:solidFill>
            <a:srgbClr val="E7F2F0"/>
          </a:solidFill>
          <a:ln w="12700">
            <a:solidFill>
              <a:srgbClr val="E7F2F0"/>
            </a:solidFill>
            <a:prstDash val="solid"/>
          </a:ln>
          <a:effectLst>
            <a:outerShdw blurRad="101600" dist="12700" dir="5400000" algn="bl" rotWithShape="0">
              <a:srgbClr val="9AA8B5">
                <a:alpha val="16000"/>
              </a:srgbClr>
            </a:outerShdw>
          </a:effectLst>
        </p:spPr>
      </p:sp>
      <p:sp>
        <p:nvSpPr>
          <p:cNvPr id="16" name="Text 14"/>
          <p:cNvSpPr txBox="1"/>
          <p:nvPr/>
        </p:nvSpPr>
        <p:spPr>
          <a:xfrm>
            <a:off x="3621024" y="3749040"/>
            <a:ext cx="2148840" cy="310896"/>
          </a:xfrm>
          <a:prstGeom prst="rect">
            <a:avLst/>
          </a:prstGeom>
          <a:noFill/>
          <a:ln/>
        </p:spPr>
        <p:txBody>
          <a:bodyPr wrap="square" lIns="0" tIns="0" rIns="0" bIns="0" rtlCol="0" anchor="t"/>
          <a:lstStyle/>
          <a:p>
            <a:pPr marL="0" indent="0">
              <a:buNone/>
            </a:pPr>
            <a:r>
              <a:rPr lang="en-US" sz="1200" b="1" dirty="0">
                <a:solidFill>
                  <a:srgbClr val="1F7A6F"/>
                </a:solidFill>
                <a:latin typeface="Calibri" pitchFamily="34" charset="0"/>
                <a:ea typeface="Calibri" pitchFamily="34" charset="-122"/>
                <a:cs typeface="Calibri" pitchFamily="34" charset="-120"/>
              </a:rPr>
              <a:t>Implicación de diseño</a:t>
            </a:r>
            <a:endParaRPr lang="en-US" sz="1200" dirty="0"/>
          </a:p>
        </p:txBody>
      </p:sp>
      <p:sp>
        <p:nvSpPr>
          <p:cNvPr id="17" name="Text 15"/>
          <p:cNvSpPr txBox="1"/>
          <p:nvPr/>
        </p:nvSpPr>
        <p:spPr>
          <a:xfrm>
            <a:off x="3621024" y="4114800"/>
            <a:ext cx="2148840" cy="969264"/>
          </a:xfrm>
          <a:prstGeom prst="rect">
            <a:avLst/>
          </a:prstGeom>
          <a:noFill/>
          <a:ln/>
        </p:spPr>
        <p:txBody>
          <a:bodyPr wrap="square" lIns="0" tIns="0" rIns="0" bIns="0" rtlCol="0" anchor="t"/>
          <a:lstStyle/>
          <a:p>
            <a:pPr marL="0" indent="0">
              <a:lnSpc>
                <a:spcPct val="106000"/>
              </a:lnSpc>
              <a:buNone/>
            </a:pPr>
            <a:r>
              <a:rPr lang="en-US" sz="1150" dirty="0">
                <a:solidFill>
                  <a:srgbClr val="1F2933"/>
                </a:solidFill>
                <a:latin typeface="Calibri" pitchFamily="34" charset="0"/>
                <a:ea typeface="Calibri" pitchFamily="34" charset="-122"/>
                <a:cs typeface="Calibri" pitchFamily="34" charset="-120"/>
              </a:rPr>
              <a:t>Diseñe para la interrupción: la unidad debe poder retomarse sin releerlo todo.</a:t>
            </a:r>
            <a:endParaRPr lang="en-US" sz="1150" dirty="0"/>
          </a:p>
        </p:txBody>
      </p:sp>
      <p:sp>
        <p:nvSpPr>
          <p:cNvPr id="18" name="Shape 16"/>
          <p:cNvSpPr/>
          <p:nvPr/>
        </p:nvSpPr>
        <p:spPr>
          <a:xfrm>
            <a:off x="6199632" y="1572768"/>
            <a:ext cx="2624328" cy="1737360"/>
          </a:xfrm>
          <a:prstGeom prst="roundRect">
            <a:avLst>
              <a:gd name="adj" fmla="val 2105"/>
            </a:avLst>
          </a:prstGeom>
          <a:solidFill>
            <a:srgbClr val="F1F4F8"/>
          </a:solidFill>
          <a:ln w="12700">
            <a:solidFill>
              <a:srgbClr val="F1F4F8"/>
            </a:solidFill>
            <a:prstDash val="solid"/>
          </a:ln>
          <a:effectLst>
            <a:outerShdw blurRad="101600" dist="12700" dir="5400000" algn="bl" rotWithShape="0">
              <a:srgbClr val="9AA8B5">
                <a:alpha val="16000"/>
              </a:srgbClr>
            </a:outerShdw>
          </a:effectLst>
        </p:spPr>
      </p:sp>
      <p:sp>
        <p:nvSpPr>
          <p:cNvPr id="19" name="Text 17"/>
          <p:cNvSpPr txBox="1"/>
          <p:nvPr/>
        </p:nvSpPr>
        <p:spPr>
          <a:xfrm>
            <a:off x="6437376" y="1792224"/>
            <a:ext cx="2148840" cy="310896"/>
          </a:xfrm>
          <a:prstGeom prst="rect">
            <a:avLst/>
          </a:prstGeom>
          <a:noFill/>
          <a:ln/>
        </p:spPr>
        <p:txBody>
          <a:bodyPr wrap="square" lIns="0" tIns="0" rIns="0" bIns="0" rtlCol="0" anchor="t"/>
          <a:lstStyle/>
          <a:p>
            <a:pPr marL="0" indent="0">
              <a:buNone/>
            </a:pPr>
            <a:r>
              <a:rPr lang="en-US" sz="1450" b="1" dirty="0">
                <a:solidFill>
                  <a:srgbClr val="C9A227"/>
                </a:solidFill>
                <a:latin typeface="Calibri" pitchFamily="34" charset="0"/>
                <a:ea typeface="Calibri" pitchFamily="34" charset="-122"/>
                <a:cs typeface="Calibri" pitchFamily="34" charset="-120"/>
              </a:rPr>
              <a:t>Escolaridad interrumpida</a:t>
            </a:r>
            <a:endParaRPr lang="en-US" sz="1450" dirty="0"/>
          </a:p>
        </p:txBody>
      </p:sp>
      <p:sp>
        <p:nvSpPr>
          <p:cNvPr id="20" name="Text 18"/>
          <p:cNvSpPr txBox="1"/>
          <p:nvPr/>
        </p:nvSpPr>
        <p:spPr>
          <a:xfrm>
            <a:off x="6437376" y="2157984"/>
            <a:ext cx="2148840" cy="969264"/>
          </a:xfrm>
          <a:prstGeom prst="rect">
            <a:avLst/>
          </a:prstGeom>
          <a:noFill/>
          <a:ln/>
        </p:spPr>
        <p:txBody>
          <a:bodyPr wrap="square" lIns="0" tIns="0" rIns="0" bIns="0" rtlCol="0" anchor="t"/>
          <a:lstStyle/>
          <a:p>
            <a:pPr marL="0" indent="0">
              <a:lnSpc>
                <a:spcPct val="106000"/>
              </a:lnSpc>
              <a:buNone/>
            </a:pPr>
            <a:r>
              <a:rPr lang="en-US" sz="1150" dirty="0">
                <a:solidFill>
                  <a:srgbClr val="1F2933"/>
                </a:solidFill>
                <a:latin typeface="Calibri" pitchFamily="34" charset="0"/>
                <a:ea typeface="Calibri" pitchFamily="34" charset="-122"/>
                <a:cs typeface="Calibri" pitchFamily="34" charset="-120"/>
              </a:rPr>
              <a:t>Regresa a estudiar tras años fuera del aula.</a:t>
            </a:r>
            <a:endParaRPr lang="en-US" sz="1150" dirty="0"/>
          </a:p>
        </p:txBody>
      </p:sp>
      <p:sp>
        <p:nvSpPr>
          <p:cNvPr id="21" name="Shape 19"/>
          <p:cNvSpPr/>
          <p:nvPr/>
        </p:nvSpPr>
        <p:spPr>
          <a:xfrm>
            <a:off x="6199632" y="3529584"/>
            <a:ext cx="2624328" cy="1737360"/>
          </a:xfrm>
          <a:prstGeom prst="roundRect">
            <a:avLst>
              <a:gd name="adj" fmla="val 2105"/>
            </a:avLst>
          </a:prstGeom>
          <a:solidFill>
            <a:srgbClr val="E7F2F0"/>
          </a:solidFill>
          <a:ln w="12700">
            <a:solidFill>
              <a:srgbClr val="E7F2F0"/>
            </a:solidFill>
            <a:prstDash val="solid"/>
          </a:ln>
          <a:effectLst>
            <a:outerShdw blurRad="101600" dist="12700" dir="5400000" algn="bl" rotWithShape="0">
              <a:srgbClr val="9AA8B5">
                <a:alpha val="16000"/>
              </a:srgbClr>
            </a:outerShdw>
          </a:effectLst>
        </p:spPr>
      </p:sp>
      <p:sp>
        <p:nvSpPr>
          <p:cNvPr id="22" name="Text 20"/>
          <p:cNvSpPr txBox="1"/>
          <p:nvPr/>
        </p:nvSpPr>
        <p:spPr>
          <a:xfrm>
            <a:off x="6437376" y="3749040"/>
            <a:ext cx="2148840" cy="310896"/>
          </a:xfrm>
          <a:prstGeom prst="rect">
            <a:avLst/>
          </a:prstGeom>
          <a:noFill/>
          <a:ln/>
        </p:spPr>
        <p:txBody>
          <a:bodyPr wrap="square" lIns="0" tIns="0" rIns="0" bIns="0" rtlCol="0" anchor="t"/>
          <a:lstStyle/>
          <a:p>
            <a:pPr marL="0" indent="0">
              <a:buNone/>
            </a:pPr>
            <a:r>
              <a:rPr lang="en-US" sz="1200" b="1" dirty="0">
                <a:solidFill>
                  <a:srgbClr val="1F7A6F"/>
                </a:solidFill>
                <a:latin typeface="Calibri" pitchFamily="34" charset="0"/>
                <a:ea typeface="Calibri" pitchFamily="34" charset="-122"/>
                <a:cs typeface="Calibri" pitchFamily="34" charset="-120"/>
              </a:rPr>
              <a:t>Implicación de diseño</a:t>
            </a:r>
            <a:endParaRPr lang="en-US" sz="1200" dirty="0"/>
          </a:p>
        </p:txBody>
      </p:sp>
      <p:sp>
        <p:nvSpPr>
          <p:cNvPr id="23" name="Text 21"/>
          <p:cNvSpPr txBox="1"/>
          <p:nvPr/>
        </p:nvSpPr>
        <p:spPr>
          <a:xfrm>
            <a:off x="6437376" y="4114800"/>
            <a:ext cx="2148840" cy="969264"/>
          </a:xfrm>
          <a:prstGeom prst="rect">
            <a:avLst/>
          </a:prstGeom>
          <a:noFill/>
          <a:ln/>
        </p:spPr>
        <p:txBody>
          <a:bodyPr wrap="square" lIns="0" tIns="0" rIns="0" bIns="0" rtlCol="0" anchor="t"/>
          <a:lstStyle/>
          <a:p>
            <a:pPr marL="0" indent="0">
              <a:lnSpc>
                <a:spcPct val="106000"/>
              </a:lnSpc>
              <a:buNone/>
            </a:pPr>
            <a:r>
              <a:rPr lang="en-US" sz="1150" dirty="0">
                <a:solidFill>
                  <a:srgbClr val="1F2933"/>
                </a:solidFill>
                <a:latin typeface="Calibri" pitchFamily="34" charset="0"/>
                <a:ea typeface="Calibri" pitchFamily="34" charset="-122"/>
                <a:cs typeface="Calibri" pitchFamily="34" charset="-120"/>
              </a:rPr>
              <a:t>Diseñe para la confianza: victorias visibles y tempranas.</a:t>
            </a:r>
            <a:endParaRPr lang="en-US" sz="1150" dirty="0"/>
          </a:p>
        </p:txBody>
      </p:sp>
      <p:sp>
        <p:nvSpPr>
          <p:cNvPr id="24" name="Shape 22"/>
          <p:cNvSpPr/>
          <p:nvPr/>
        </p:nvSpPr>
        <p:spPr>
          <a:xfrm>
            <a:off x="9015984" y="1572768"/>
            <a:ext cx="2624328" cy="1737360"/>
          </a:xfrm>
          <a:prstGeom prst="roundRect">
            <a:avLst>
              <a:gd name="adj" fmla="val 2105"/>
            </a:avLst>
          </a:prstGeom>
          <a:solidFill>
            <a:srgbClr val="F1F4F8"/>
          </a:solidFill>
          <a:ln w="12700">
            <a:solidFill>
              <a:srgbClr val="F1F4F8"/>
            </a:solidFill>
            <a:prstDash val="solid"/>
          </a:ln>
          <a:effectLst>
            <a:outerShdw blurRad="101600" dist="12700" dir="5400000" algn="bl" rotWithShape="0">
              <a:srgbClr val="9AA8B5">
                <a:alpha val="16000"/>
              </a:srgbClr>
            </a:outerShdw>
          </a:effectLst>
        </p:spPr>
      </p:sp>
      <p:sp>
        <p:nvSpPr>
          <p:cNvPr id="25" name="Text 23"/>
          <p:cNvSpPr txBox="1"/>
          <p:nvPr/>
        </p:nvSpPr>
        <p:spPr>
          <a:xfrm>
            <a:off x="9253728" y="1792224"/>
            <a:ext cx="2148840" cy="310896"/>
          </a:xfrm>
          <a:prstGeom prst="rect">
            <a:avLst/>
          </a:prstGeom>
          <a:noFill/>
          <a:ln/>
        </p:spPr>
        <p:txBody>
          <a:bodyPr wrap="square" lIns="0" tIns="0" rIns="0" bIns="0" rtlCol="0" anchor="t"/>
          <a:lstStyle/>
          <a:p>
            <a:pPr marL="0" indent="0">
              <a:buNone/>
            </a:pPr>
            <a:r>
              <a:rPr lang="en-US" sz="1450" b="1" dirty="0">
                <a:solidFill>
                  <a:srgbClr val="1F3864"/>
                </a:solidFill>
                <a:latin typeface="Calibri" pitchFamily="34" charset="0"/>
                <a:ea typeface="Calibri" pitchFamily="34" charset="-122"/>
                <a:cs typeface="Calibri" pitchFamily="34" charset="-120"/>
              </a:rPr>
              <a:t>Necesidad inmediata</a:t>
            </a:r>
            <a:endParaRPr lang="en-US" sz="1450" dirty="0"/>
          </a:p>
        </p:txBody>
      </p:sp>
      <p:sp>
        <p:nvSpPr>
          <p:cNvPr id="26" name="Text 24"/>
          <p:cNvSpPr txBox="1"/>
          <p:nvPr/>
        </p:nvSpPr>
        <p:spPr>
          <a:xfrm>
            <a:off x="9253728" y="2157984"/>
            <a:ext cx="2148840" cy="969264"/>
          </a:xfrm>
          <a:prstGeom prst="rect">
            <a:avLst/>
          </a:prstGeom>
          <a:noFill/>
          <a:ln/>
        </p:spPr>
        <p:txBody>
          <a:bodyPr wrap="square" lIns="0" tIns="0" rIns="0" bIns="0" rtlCol="0" anchor="t"/>
          <a:lstStyle/>
          <a:p>
            <a:pPr marL="0" indent="0">
              <a:lnSpc>
                <a:spcPct val="106000"/>
              </a:lnSpc>
              <a:buNone/>
            </a:pPr>
            <a:r>
              <a:rPr lang="en-US" sz="1150" dirty="0">
                <a:solidFill>
                  <a:srgbClr val="1F2933"/>
                </a:solidFill>
                <a:latin typeface="Calibri" pitchFamily="34" charset="0"/>
                <a:ea typeface="Calibri" pitchFamily="34" charset="-122"/>
                <a:cs typeface="Calibri" pitchFamily="34" charset="-120"/>
              </a:rPr>
              <a:t>Busca un empleo, un diploma o una destreza concreta.</a:t>
            </a:r>
            <a:endParaRPr lang="en-US" sz="1150" dirty="0"/>
          </a:p>
        </p:txBody>
      </p:sp>
      <p:sp>
        <p:nvSpPr>
          <p:cNvPr id="27" name="Shape 25"/>
          <p:cNvSpPr/>
          <p:nvPr/>
        </p:nvSpPr>
        <p:spPr>
          <a:xfrm>
            <a:off x="9015984" y="3529584"/>
            <a:ext cx="2624328" cy="1737360"/>
          </a:xfrm>
          <a:prstGeom prst="roundRect">
            <a:avLst>
              <a:gd name="adj" fmla="val 2105"/>
            </a:avLst>
          </a:prstGeom>
          <a:solidFill>
            <a:srgbClr val="E7F2F0"/>
          </a:solidFill>
          <a:ln w="12700">
            <a:solidFill>
              <a:srgbClr val="E7F2F0"/>
            </a:solidFill>
            <a:prstDash val="solid"/>
          </a:ln>
          <a:effectLst>
            <a:outerShdw blurRad="101600" dist="12700" dir="5400000" algn="bl" rotWithShape="0">
              <a:srgbClr val="9AA8B5">
                <a:alpha val="16000"/>
              </a:srgbClr>
            </a:outerShdw>
          </a:effectLst>
        </p:spPr>
      </p:sp>
      <p:sp>
        <p:nvSpPr>
          <p:cNvPr id="28" name="Text 26"/>
          <p:cNvSpPr txBox="1"/>
          <p:nvPr/>
        </p:nvSpPr>
        <p:spPr>
          <a:xfrm>
            <a:off x="9253728" y="3749040"/>
            <a:ext cx="2148840" cy="310896"/>
          </a:xfrm>
          <a:prstGeom prst="rect">
            <a:avLst/>
          </a:prstGeom>
          <a:noFill/>
          <a:ln/>
        </p:spPr>
        <p:txBody>
          <a:bodyPr wrap="square" lIns="0" tIns="0" rIns="0" bIns="0" rtlCol="0" anchor="t"/>
          <a:lstStyle/>
          <a:p>
            <a:pPr marL="0" indent="0">
              <a:buNone/>
            </a:pPr>
            <a:r>
              <a:rPr lang="en-US" sz="1200" b="1" dirty="0">
                <a:solidFill>
                  <a:srgbClr val="1F7A6F"/>
                </a:solidFill>
                <a:latin typeface="Calibri" pitchFamily="34" charset="0"/>
                <a:ea typeface="Calibri" pitchFamily="34" charset="-122"/>
                <a:cs typeface="Calibri" pitchFamily="34" charset="-120"/>
              </a:rPr>
              <a:t>Implicación de diseño</a:t>
            </a:r>
            <a:endParaRPr lang="en-US" sz="1200" dirty="0"/>
          </a:p>
        </p:txBody>
      </p:sp>
      <p:sp>
        <p:nvSpPr>
          <p:cNvPr id="29" name="Text 27"/>
          <p:cNvSpPr txBox="1"/>
          <p:nvPr/>
        </p:nvSpPr>
        <p:spPr>
          <a:xfrm>
            <a:off x="9253728" y="4114800"/>
            <a:ext cx="2148840" cy="969264"/>
          </a:xfrm>
          <a:prstGeom prst="rect">
            <a:avLst/>
          </a:prstGeom>
          <a:noFill/>
          <a:ln/>
        </p:spPr>
        <p:txBody>
          <a:bodyPr wrap="square" lIns="0" tIns="0" rIns="0" bIns="0" rtlCol="0" anchor="t"/>
          <a:lstStyle/>
          <a:p>
            <a:pPr marL="0" indent="0">
              <a:lnSpc>
                <a:spcPct val="106000"/>
              </a:lnSpc>
              <a:buNone/>
            </a:pPr>
            <a:r>
              <a:rPr lang="en-US" sz="1150" dirty="0">
                <a:solidFill>
                  <a:srgbClr val="1F2933"/>
                </a:solidFill>
                <a:latin typeface="Calibri" pitchFamily="34" charset="0"/>
                <a:ea typeface="Calibri" pitchFamily="34" charset="-122"/>
                <a:cs typeface="Calibri" pitchFamily="34" charset="-120"/>
              </a:rPr>
              <a:t>Diseñe para el uso: la utilidad debe verse en la primera pantalla.</a:t>
            </a:r>
            <a:endParaRPr lang="en-US" sz="1150" dirty="0"/>
          </a:p>
        </p:txBody>
      </p:sp>
      <p:sp>
        <p:nvSpPr>
          <p:cNvPr id="30" name="Text 28"/>
          <p:cNvSpPr txBox="1"/>
          <p:nvPr/>
        </p:nvSpPr>
        <p:spPr>
          <a:xfrm>
            <a:off x="566928" y="5468112"/>
            <a:ext cx="11055096" cy="274320"/>
          </a:xfrm>
          <a:prstGeom prst="rect">
            <a:avLst/>
          </a:prstGeom>
          <a:noFill/>
          <a:ln/>
        </p:spPr>
        <p:txBody>
          <a:bodyPr wrap="square" lIns="0" tIns="0" rIns="0" bIns="0" rtlCol="0" anchor="ctr"/>
          <a:lstStyle/>
          <a:p>
            <a:pPr marL="0" indent="0">
              <a:buNone/>
            </a:pPr>
            <a:r>
              <a:rPr lang="en-US" sz="1150" i="1" dirty="0">
                <a:solidFill>
                  <a:srgbClr val="5B6B7B"/>
                </a:solidFill>
                <a:latin typeface="Calibri" pitchFamily="34" charset="0"/>
                <a:ea typeface="Calibri" pitchFamily="34" charset="-122"/>
                <a:cs typeface="Calibri" pitchFamily="34" charset="-120"/>
              </a:rPr>
              <a:t>Retrato de trabajo, no dato estadístico: contrástelo con la matrícula real de su grupo antes de usarlo para tomar decisiones.</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29184"/>
            <a:ext cx="11055096" cy="256032"/>
          </a:xfrm>
          <a:prstGeom prst="rect">
            <a:avLst/>
          </a:prstGeom>
          <a:noFill/>
          <a:ln/>
        </p:spPr>
        <p:txBody>
          <a:bodyPr wrap="square" lIns="0" tIns="0" rIns="0" bIns="0" rtlCol="0" anchor="ctr"/>
          <a:lstStyle/>
          <a:p>
            <a:pPr marL="0" indent="0">
              <a:buNone/>
            </a:pPr>
            <a:r>
              <a:rPr lang="en-US" sz="1100" b="1" kern="0" spc="160" dirty="0">
                <a:solidFill>
                  <a:srgbClr val="2A9D8F"/>
                </a:solidFill>
                <a:latin typeface="Calibri" pitchFamily="34" charset="0"/>
                <a:ea typeface="Calibri" pitchFamily="34" charset="-122"/>
                <a:cs typeface="Calibri" pitchFamily="34" charset="-120"/>
              </a:rPr>
              <a:t>DEFINICIÓN</a:t>
            </a:r>
            <a:endParaRPr lang="en-US" sz="1100" dirty="0"/>
          </a:p>
        </p:txBody>
      </p:sp>
      <p:sp>
        <p:nvSpPr>
          <p:cNvPr id="3" name="Text 1"/>
          <p:cNvSpPr txBox="1"/>
          <p:nvPr/>
        </p:nvSpPr>
        <p:spPr>
          <a:xfrm>
            <a:off x="566928" y="603504"/>
            <a:ext cx="11055096" cy="749808"/>
          </a:xfrm>
          <a:prstGeom prst="rect">
            <a:avLst/>
          </a:prstGeom>
          <a:noFill/>
          <a:ln/>
        </p:spPr>
        <p:txBody>
          <a:bodyPr wrap="square" lIns="0" tIns="0" rIns="0" bIns="0" rtlCol="0" anchor="t"/>
          <a:lstStyle/>
          <a:p>
            <a:pPr marL="0" indent="0">
              <a:buNone/>
            </a:pPr>
            <a:r>
              <a:rPr lang="en-US" sz="2900" b="1" dirty="0">
                <a:solidFill>
                  <a:srgbClr val="1B2A4A"/>
                </a:solidFill>
                <a:latin typeface="Cambria" pitchFamily="34" charset="0"/>
                <a:ea typeface="Cambria" pitchFamily="34" charset="-122"/>
                <a:cs typeface="Cambria" pitchFamily="34" charset="-120"/>
              </a:rPr>
              <a:t>Qué es el microaprendizaje (y qué no depende del reloj)</a:t>
            </a:r>
            <a:endParaRPr lang="en-US" sz="2900" dirty="0"/>
          </a:p>
        </p:txBody>
      </p:sp>
      <p:sp>
        <p:nvSpPr>
          <p:cNvPr id="4" name="Text 2"/>
          <p:cNvSpPr txBox="1"/>
          <p:nvPr/>
        </p:nvSpPr>
        <p:spPr>
          <a:xfrm>
            <a:off x="566928" y="6428232"/>
            <a:ext cx="7863840" cy="256032"/>
          </a:xfrm>
          <a:prstGeom prst="rect">
            <a:avLst/>
          </a:prstGeom>
          <a:noFill/>
          <a:ln/>
        </p:spPr>
        <p:txBody>
          <a:bodyPr wrap="square" lIns="0" tIns="0" rIns="0" bIns="0" rtlCol="0" anchor="ctr"/>
          <a:lstStyle/>
          <a:p>
            <a:pPr marL="0" indent="0">
              <a:buNone/>
            </a:pPr>
            <a:r>
              <a:rPr lang="en-US" sz="900" dirty="0">
                <a:solidFill>
                  <a:srgbClr val="5B6B7B"/>
                </a:solidFill>
                <a:latin typeface="Calibri" pitchFamily="34" charset="0"/>
                <a:ea typeface="Calibri" pitchFamily="34" charset="-122"/>
                <a:cs typeface="Calibri" pitchFamily="34" charset="-120"/>
              </a:rPr>
              <a:t>Microaprendizaje para adultos  ·  Proyecto RUTA — Inter Ponce</a:t>
            </a:r>
            <a:endParaRPr lang="en-US" sz="900" dirty="0"/>
          </a:p>
        </p:txBody>
      </p:sp>
      <p:sp>
        <p:nvSpPr>
          <p:cNvPr id="5" name="Text 3"/>
          <p:cNvSpPr txBox="1"/>
          <p:nvPr/>
        </p:nvSpPr>
        <p:spPr>
          <a:xfrm>
            <a:off x="10972800" y="6428232"/>
            <a:ext cx="649224" cy="256032"/>
          </a:xfrm>
          <a:prstGeom prst="rect">
            <a:avLst/>
          </a:prstGeom>
          <a:noFill/>
          <a:ln/>
        </p:spPr>
        <p:txBody>
          <a:bodyPr wrap="square" lIns="0" tIns="0" rIns="0" bIns="0" rtlCol="0" anchor="ctr"/>
          <a:lstStyle/>
          <a:p>
            <a:pPr marL="0" indent="0" algn="r">
              <a:buNone/>
            </a:pPr>
            <a:r>
              <a:rPr lang="en-US" sz="900" dirty="0">
                <a:solidFill>
                  <a:srgbClr val="5B6B7B"/>
                </a:solidFill>
                <a:latin typeface="Calibri" pitchFamily="34" charset="0"/>
                <a:ea typeface="Calibri" pitchFamily="34" charset="-122"/>
                <a:cs typeface="Calibri" pitchFamily="34" charset="-120"/>
              </a:rPr>
              <a:t>8</a:t>
            </a:r>
            <a:endParaRPr lang="en-US" sz="900" dirty="0"/>
          </a:p>
        </p:txBody>
      </p:sp>
      <p:sp>
        <p:nvSpPr>
          <p:cNvPr id="6" name="Shape 4"/>
          <p:cNvSpPr/>
          <p:nvPr/>
        </p:nvSpPr>
        <p:spPr>
          <a:xfrm>
            <a:off x="566928" y="1536192"/>
            <a:ext cx="11055096" cy="713232"/>
          </a:xfrm>
          <a:prstGeom prst="roundRect">
            <a:avLst>
              <a:gd name="adj" fmla="val 6410"/>
            </a:avLst>
          </a:prstGeom>
          <a:solidFill>
            <a:srgbClr val="1B2A4A"/>
          </a:solidFill>
          <a:ln w="12700">
            <a:solidFill>
              <a:srgbClr val="1B2A4A"/>
            </a:solidFill>
            <a:prstDash val="solid"/>
          </a:ln>
        </p:spPr>
      </p:sp>
      <p:sp>
        <p:nvSpPr>
          <p:cNvPr id="7" name="Text 5"/>
          <p:cNvSpPr txBox="1"/>
          <p:nvPr/>
        </p:nvSpPr>
        <p:spPr>
          <a:xfrm>
            <a:off x="932688" y="1645920"/>
            <a:ext cx="10323576" cy="493776"/>
          </a:xfrm>
          <a:prstGeom prst="rect">
            <a:avLst/>
          </a:prstGeom>
          <a:noFill/>
          <a:ln/>
        </p:spPr>
        <p:txBody>
          <a:bodyPr wrap="square" lIns="0" tIns="0" rIns="0" bIns="0"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«Un evento de aprendizaje corto y focalizado, que no se define por un límite de tiempo arbitrario» (Kapp y Defelice, 2019)</a:t>
            </a:r>
            <a:endParaRPr lang="en-US" sz="1700" dirty="0"/>
          </a:p>
        </p:txBody>
      </p:sp>
      <p:sp>
        <p:nvSpPr>
          <p:cNvPr id="8" name="Shape 6"/>
          <p:cNvSpPr/>
          <p:nvPr/>
        </p:nvSpPr>
        <p:spPr>
          <a:xfrm>
            <a:off x="566928" y="2487168"/>
            <a:ext cx="3502152" cy="3017520"/>
          </a:xfrm>
          <a:prstGeom prst="roundRect">
            <a:avLst>
              <a:gd name="adj" fmla="val 1212"/>
            </a:avLst>
          </a:prstGeom>
          <a:solidFill>
            <a:srgbClr val="F1F4F8"/>
          </a:solidFill>
          <a:ln w="12700">
            <a:solidFill>
              <a:srgbClr val="F1F4F8"/>
            </a:solidFill>
            <a:prstDash val="solid"/>
          </a:ln>
          <a:effectLst>
            <a:outerShdw blurRad="101600" dist="12700" dir="5400000" algn="bl" rotWithShape="0">
              <a:srgbClr val="9AA8B5">
                <a:alpha val="16000"/>
              </a:srgbClr>
            </a:outerShdw>
          </a:effectLst>
        </p:spPr>
      </p:sp>
      <p:sp>
        <p:nvSpPr>
          <p:cNvPr id="9" name="Shape 7"/>
          <p:cNvSpPr/>
          <p:nvPr/>
        </p:nvSpPr>
        <p:spPr>
          <a:xfrm>
            <a:off x="804672" y="2706624"/>
            <a:ext cx="420624" cy="420624"/>
          </a:xfrm>
          <a:prstGeom prst="ellipse">
            <a:avLst/>
          </a:prstGeom>
          <a:solidFill>
            <a:srgbClr val="1B2A4A"/>
          </a:solidFill>
          <a:ln w="12700">
            <a:solidFill>
              <a:srgbClr val="1B2A4A"/>
            </a:solidFill>
            <a:prstDash val="solid"/>
          </a:ln>
        </p:spPr>
      </p:sp>
      <p:sp>
        <p:nvSpPr>
          <p:cNvPr id="10" name="Text 8"/>
          <p:cNvSpPr txBox="1"/>
          <p:nvPr/>
        </p:nvSpPr>
        <p:spPr>
          <a:xfrm>
            <a:off x="804672" y="2706624"/>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A</a:t>
            </a:r>
            <a:endParaRPr lang="en-US" sz="1500" dirty="0"/>
          </a:p>
        </p:txBody>
      </p:sp>
      <p:sp>
        <p:nvSpPr>
          <p:cNvPr id="11" name="Text 9"/>
          <p:cNvSpPr txBox="1"/>
          <p:nvPr/>
        </p:nvSpPr>
        <p:spPr>
          <a:xfrm>
            <a:off x="804672" y="3273552"/>
            <a:ext cx="3026664" cy="310896"/>
          </a:xfrm>
          <a:prstGeom prst="rect">
            <a:avLst/>
          </a:prstGeom>
          <a:noFill/>
          <a:ln/>
        </p:spPr>
        <p:txBody>
          <a:bodyPr wrap="square" lIns="0" tIns="0" rIns="0" bIns="0" rtlCol="0" anchor="t"/>
          <a:lstStyle/>
          <a:p>
            <a:pPr marL="0" indent="0">
              <a:buNone/>
            </a:pPr>
            <a:r>
              <a:rPr lang="en-US" sz="1450" b="1" dirty="0">
                <a:solidFill>
                  <a:srgbClr val="1B2A4A"/>
                </a:solidFill>
                <a:latin typeface="Calibri" pitchFamily="34" charset="0"/>
                <a:ea typeface="Calibri" pitchFamily="34" charset="-122"/>
                <a:cs typeface="Calibri" pitchFamily="34" charset="-120"/>
              </a:rPr>
              <a:t>Foco estrecho</a:t>
            </a:r>
            <a:endParaRPr lang="en-US" sz="1450" dirty="0"/>
          </a:p>
        </p:txBody>
      </p:sp>
      <p:sp>
        <p:nvSpPr>
          <p:cNvPr id="12" name="Text 10"/>
          <p:cNvSpPr txBox="1"/>
          <p:nvPr/>
        </p:nvSpPr>
        <p:spPr>
          <a:xfrm>
            <a:off x="804672" y="3639312"/>
            <a:ext cx="3026664" cy="1682496"/>
          </a:xfrm>
          <a:prstGeom prst="rect">
            <a:avLst/>
          </a:prstGeom>
          <a:noFill/>
          <a:ln/>
        </p:spPr>
        <p:txBody>
          <a:bodyPr wrap="square" lIns="0" tIns="0" rIns="0" bIns="0" rtlCol="0" anchor="t"/>
          <a:lstStyle/>
          <a:p>
            <a:pPr marL="0" indent="0">
              <a:lnSpc>
                <a:spcPct val="106000"/>
              </a:lnSpc>
              <a:buNone/>
            </a:pPr>
            <a:r>
              <a:rPr lang="en-US" sz="1150" dirty="0">
                <a:solidFill>
                  <a:srgbClr val="1F2933"/>
                </a:solidFill>
                <a:latin typeface="Calibri" pitchFamily="34" charset="0"/>
                <a:ea typeface="Calibri" pitchFamily="34" charset="-122"/>
                <a:cs typeface="Calibri" pitchFamily="34" charset="-120"/>
              </a:rPr>
              <a:t>Atiende uno o dos objetivos de aprendizaje. Si necesita tres, no es una microunidad: son dos microunidades mal unidas.</a:t>
            </a:r>
            <a:endParaRPr lang="en-US" sz="1150" dirty="0"/>
          </a:p>
        </p:txBody>
      </p:sp>
      <p:sp>
        <p:nvSpPr>
          <p:cNvPr id="13" name="Shape 11"/>
          <p:cNvSpPr/>
          <p:nvPr/>
        </p:nvSpPr>
        <p:spPr>
          <a:xfrm>
            <a:off x="4343400" y="2487168"/>
            <a:ext cx="3502152" cy="3017520"/>
          </a:xfrm>
          <a:prstGeom prst="roundRect">
            <a:avLst>
              <a:gd name="adj" fmla="val 1212"/>
            </a:avLst>
          </a:prstGeom>
          <a:solidFill>
            <a:srgbClr val="E7F2F0"/>
          </a:solidFill>
          <a:ln w="12700">
            <a:solidFill>
              <a:srgbClr val="E7F2F0"/>
            </a:solidFill>
            <a:prstDash val="solid"/>
          </a:ln>
          <a:effectLst>
            <a:outerShdw blurRad="101600" dist="12700" dir="5400000" algn="bl" rotWithShape="0">
              <a:srgbClr val="9AA8B5">
                <a:alpha val="16000"/>
              </a:srgbClr>
            </a:outerShdw>
          </a:effectLst>
        </p:spPr>
      </p:sp>
      <p:sp>
        <p:nvSpPr>
          <p:cNvPr id="14" name="Shape 12"/>
          <p:cNvSpPr/>
          <p:nvPr/>
        </p:nvSpPr>
        <p:spPr>
          <a:xfrm>
            <a:off x="4581144" y="2706624"/>
            <a:ext cx="420624" cy="420624"/>
          </a:xfrm>
          <a:prstGeom prst="ellipse">
            <a:avLst/>
          </a:prstGeom>
          <a:solidFill>
            <a:srgbClr val="2A9D8F"/>
          </a:solidFill>
          <a:ln w="12700">
            <a:solidFill>
              <a:srgbClr val="2A9D8F"/>
            </a:solidFill>
            <a:prstDash val="solid"/>
          </a:ln>
        </p:spPr>
      </p:sp>
      <p:sp>
        <p:nvSpPr>
          <p:cNvPr id="15" name="Text 13"/>
          <p:cNvSpPr txBox="1"/>
          <p:nvPr/>
        </p:nvSpPr>
        <p:spPr>
          <a:xfrm>
            <a:off x="4581144" y="2706624"/>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B</a:t>
            </a:r>
            <a:endParaRPr lang="en-US" sz="1500" dirty="0"/>
          </a:p>
        </p:txBody>
      </p:sp>
      <p:sp>
        <p:nvSpPr>
          <p:cNvPr id="16" name="Text 14"/>
          <p:cNvSpPr txBox="1"/>
          <p:nvPr/>
        </p:nvSpPr>
        <p:spPr>
          <a:xfrm>
            <a:off x="4581144" y="3273552"/>
            <a:ext cx="3026664" cy="310896"/>
          </a:xfrm>
          <a:prstGeom prst="rect">
            <a:avLst/>
          </a:prstGeom>
          <a:noFill/>
          <a:ln/>
        </p:spPr>
        <p:txBody>
          <a:bodyPr wrap="square" lIns="0" tIns="0" rIns="0" bIns="0" rtlCol="0" anchor="t"/>
          <a:lstStyle/>
          <a:p>
            <a:pPr marL="0" indent="0">
              <a:buNone/>
            </a:pPr>
            <a:r>
              <a:rPr lang="en-US" sz="1450" b="1" dirty="0">
                <a:solidFill>
                  <a:srgbClr val="1B2A4A"/>
                </a:solidFill>
                <a:latin typeface="Calibri" pitchFamily="34" charset="0"/>
                <a:ea typeface="Calibri" pitchFamily="34" charset="-122"/>
                <a:cs typeface="Calibri" pitchFamily="34" charset="-120"/>
              </a:rPr>
              <a:t>Integración a una estructura mayor</a:t>
            </a:r>
            <a:endParaRPr lang="en-US" sz="1450" dirty="0"/>
          </a:p>
        </p:txBody>
      </p:sp>
      <p:sp>
        <p:nvSpPr>
          <p:cNvPr id="17" name="Text 15"/>
          <p:cNvSpPr txBox="1"/>
          <p:nvPr/>
        </p:nvSpPr>
        <p:spPr>
          <a:xfrm>
            <a:off x="4581144" y="3639312"/>
            <a:ext cx="3026664" cy="1682496"/>
          </a:xfrm>
          <a:prstGeom prst="rect">
            <a:avLst/>
          </a:prstGeom>
          <a:noFill/>
          <a:ln/>
        </p:spPr>
        <p:txBody>
          <a:bodyPr wrap="square" lIns="0" tIns="0" rIns="0" bIns="0" rtlCol="0" anchor="t"/>
          <a:lstStyle/>
          <a:p>
            <a:pPr marL="0" indent="0">
              <a:lnSpc>
                <a:spcPct val="106000"/>
              </a:lnSpc>
              <a:buNone/>
            </a:pPr>
            <a:r>
              <a:rPr lang="en-US" sz="1150" dirty="0">
                <a:solidFill>
                  <a:srgbClr val="1F2933"/>
                </a:solidFill>
                <a:latin typeface="Calibri" pitchFamily="34" charset="0"/>
                <a:ea typeface="Calibri" pitchFamily="34" charset="-122"/>
                <a:cs typeface="Calibri" pitchFamily="34" charset="-120"/>
              </a:rPr>
              <a:t>No vive suelta. Pertenece a una ruta, un módulo o una secuencia. Una cápsula aislada es un dato; una cápsula secuenciada es aprendizaje.</a:t>
            </a:r>
            <a:endParaRPr lang="en-US" sz="1150" dirty="0"/>
          </a:p>
        </p:txBody>
      </p:sp>
      <p:sp>
        <p:nvSpPr>
          <p:cNvPr id="18" name="Shape 16"/>
          <p:cNvSpPr/>
          <p:nvPr/>
        </p:nvSpPr>
        <p:spPr>
          <a:xfrm>
            <a:off x="8119872" y="2487168"/>
            <a:ext cx="3502152" cy="3017520"/>
          </a:xfrm>
          <a:prstGeom prst="roundRect">
            <a:avLst>
              <a:gd name="adj" fmla="val 1212"/>
            </a:avLst>
          </a:prstGeom>
          <a:solidFill>
            <a:srgbClr val="FAF3E0"/>
          </a:solidFill>
          <a:ln w="12700">
            <a:solidFill>
              <a:srgbClr val="FAF3E0"/>
            </a:solidFill>
            <a:prstDash val="solid"/>
          </a:ln>
          <a:effectLst>
            <a:outerShdw blurRad="101600" dist="12700" dir="5400000" algn="bl" rotWithShape="0">
              <a:srgbClr val="9AA8B5">
                <a:alpha val="16000"/>
              </a:srgbClr>
            </a:outerShdw>
          </a:effectLst>
        </p:spPr>
      </p:sp>
      <p:sp>
        <p:nvSpPr>
          <p:cNvPr id="19" name="Shape 17"/>
          <p:cNvSpPr/>
          <p:nvPr/>
        </p:nvSpPr>
        <p:spPr>
          <a:xfrm>
            <a:off x="8357616" y="2706624"/>
            <a:ext cx="420624" cy="420624"/>
          </a:xfrm>
          <a:prstGeom prst="ellipse">
            <a:avLst/>
          </a:prstGeom>
          <a:solidFill>
            <a:srgbClr val="C9A227"/>
          </a:solidFill>
          <a:ln w="12700">
            <a:solidFill>
              <a:srgbClr val="C9A227"/>
            </a:solidFill>
            <a:prstDash val="solid"/>
          </a:ln>
        </p:spPr>
      </p:sp>
      <p:sp>
        <p:nvSpPr>
          <p:cNvPr id="20" name="Text 18"/>
          <p:cNvSpPr txBox="1"/>
          <p:nvPr/>
        </p:nvSpPr>
        <p:spPr>
          <a:xfrm>
            <a:off x="8357616" y="2706624"/>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C</a:t>
            </a:r>
            <a:endParaRPr lang="en-US" sz="1500" dirty="0"/>
          </a:p>
        </p:txBody>
      </p:sp>
      <p:sp>
        <p:nvSpPr>
          <p:cNvPr id="21" name="Text 19"/>
          <p:cNvSpPr txBox="1"/>
          <p:nvPr/>
        </p:nvSpPr>
        <p:spPr>
          <a:xfrm>
            <a:off x="8357616" y="3273552"/>
            <a:ext cx="3026664" cy="310896"/>
          </a:xfrm>
          <a:prstGeom prst="rect">
            <a:avLst/>
          </a:prstGeom>
          <a:noFill/>
          <a:ln/>
        </p:spPr>
        <p:txBody>
          <a:bodyPr wrap="square" lIns="0" tIns="0" rIns="0" bIns="0" rtlCol="0" anchor="t"/>
          <a:lstStyle/>
          <a:p>
            <a:pPr marL="0" indent="0">
              <a:buNone/>
            </a:pPr>
            <a:r>
              <a:rPr lang="en-US" sz="1450" b="1" dirty="0">
                <a:solidFill>
                  <a:srgbClr val="1B2A4A"/>
                </a:solidFill>
                <a:latin typeface="Calibri" pitchFamily="34" charset="0"/>
                <a:ea typeface="Calibri" pitchFamily="34" charset="-122"/>
                <a:cs typeface="Calibri" pitchFamily="34" charset="-120"/>
              </a:rPr>
              <a:t>Actividad y participación</a:t>
            </a:r>
            <a:endParaRPr lang="en-US" sz="1450" dirty="0"/>
          </a:p>
        </p:txBody>
      </p:sp>
      <p:sp>
        <p:nvSpPr>
          <p:cNvPr id="22" name="Text 20"/>
          <p:cNvSpPr txBox="1"/>
          <p:nvPr/>
        </p:nvSpPr>
        <p:spPr>
          <a:xfrm>
            <a:off x="8357616" y="3639312"/>
            <a:ext cx="3026664" cy="1682496"/>
          </a:xfrm>
          <a:prstGeom prst="rect">
            <a:avLst/>
          </a:prstGeom>
          <a:noFill/>
          <a:ln/>
        </p:spPr>
        <p:txBody>
          <a:bodyPr wrap="square" lIns="0" tIns="0" rIns="0" bIns="0" rtlCol="0" anchor="t"/>
          <a:lstStyle/>
          <a:p>
            <a:pPr marL="0" indent="0">
              <a:lnSpc>
                <a:spcPct val="106000"/>
              </a:lnSpc>
              <a:buNone/>
            </a:pPr>
            <a:r>
              <a:rPr lang="en-US" sz="1150" dirty="0">
                <a:solidFill>
                  <a:srgbClr val="1F2933"/>
                </a:solidFill>
                <a:latin typeface="Calibri" pitchFamily="34" charset="0"/>
                <a:ea typeface="Calibri" pitchFamily="34" charset="-122"/>
                <a:cs typeface="Calibri" pitchFamily="34" charset="-120"/>
              </a:rPr>
              <a:t>Exige hacer algo, no solo mirar. Un video de tres minutos sin práctica es un video corto, no microaprendizaje.</a:t>
            </a:r>
            <a:endParaRPr lang="en-US" sz="1150" dirty="0"/>
          </a:p>
          <a:p>
            <a:pPr marL="0" indent="0">
              <a:lnSpc>
                <a:spcPct val="106000"/>
              </a:lnSpc>
              <a:buNone/>
            </a:pPr>
            <a:endParaRPr lang="en-US" sz="1150" dirty="0"/>
          </a:p>
          <a:p>
            <a:pPr marL="0" indent="0">
              <a:lnSpc>
                <a:spcPct val="106000"/>
              </a:lnSpc>
              <a:buNone/>
            </a:pPr>
            <a:r>
              <a:rPr lang="en-US" sz="1150" dirty="0">
                <a:solidFill>
                  <a:srgbClr val="1F2933"/>
                </a:solidFill>
                <a:latin typeface="Calibri" pitchFamily="34" charset="0"/>
                <a:ea typeface="Calibri" pitchFamily="34" charset="-122"/>
                <a:cs typeface="Calibri" pitchFamily="34" charset="-120"/>
              </a:rPr>
              <a:t>Y produce evidencia: lo que el participante hace queda registrado.</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29184"/>
            <a:ext cx="11055096" cy="256032"/>
          </a:xfrm>
          <a:prstGeom prst="rect">
            <a:avLst/>
          </a:prstGeom>
          <a:noFill/>
          <a:ln/>
        </p:spPr>
        <p:txBody>
          <a:bodyPr wrap="square" lIns="0" tIns="0" rIns="0" bIns="0" rtlCol="0" anchor="ctr"/>
          <a:lstStyle/>
          <a:p>
            <a:pPr marL="0" indent="0">
              <a:buNone/>
            </a:pPr>
            <a:r>
              <a:rPr lang="en-US" sz="1100" b="1" kern="0" spc="160" dirty="0">
                <a:solidFill>
                  <a:srgbClr val="2A9D8F"/>
                </a:solidFill>
                <a:latin typeface="Calibri" pitchFamily="34" charset="0"/>
                <a:ea typeface="Calibri" pitchFamily="34" charset="-122"/>
                <a:cs typeface="Calibri" pitchFamily="34" charset="-120"/>
              </a:rPr>
              <a:t>PRECISIÓN CONCEPTUAL</a:t>
            </a:r>
            <a:endParaRPr lang="en-US" sz="1100" dirty="0"/>
          </a:p>
        </p:txBody>
      </p:sp>
      <p:sp>
        <p:nvSpPr>
          <p:cNvPr id="3" name="Text 1"/>
          <p:cNvSpPr txBox="1"/>
          <p:nvPr/>
        </p:nvSpPr>
        <p:spPr>
          <a:xfrm>
            <a:off x="566928" y="603504"/>
            <a:ext cx="11055096" cy="749808"/>
          </a:xfrm>
          <a:prstGeom prst="rect">
            <a:avLst/>
          </a:prstGeom>
          <a:noFill/>
          <a:ln/>
        </p:spPr>
        <p:txBody>
          <a:bodyPr wrap="square" lIns="0" tIns="0" rIns="0" bIns="0" rtlCol="0" anchor="t"/>
          <a:lstStyle/>
          <a:p>
            <a:pPr marL="0" indent="0">
              <a:buNone/>
            </a:pPr>
            <a:r>
              <a:rPr lang="en-US" sz="2900" b="1" dirty="0">
                <a:solidFill>
                  <a:srgbClr val="1B2A4A"/>
                </a:solidFill>
                <a:latin typeface="Cambria" pitchFamily="34" charset="0"/>
                <a:ea typeface="Cambria" pitchFamily="34" charset="-122"/>
                <a:cs typeface="Cambria" pitchFamily="34" charset="-120"/>
              </a:rPr>
              <a:t>Cinco confusiones que conviene resolver hoy</a:t>
            </a:r>
            <a:endParaRPr lang="en-US" sz="2900" dirty="0"/>
          </a:p>
        </p:txBody>
      </p:sp>
      <p:sp>
        <p:nvSpPr>
          <p:cNvPr id="4" name="Text 2"/>
          <p:cNvSpPr txBox="1"/>
          <p:nvPr/>
        </p:nvSpPr>
        <p:spPr>
          <a:xfrm>
            <a:off x="566928" y="6428232"/>
            <a:ext cx="7863840" cy="256032"/>
          </a:xfrm>
          <a:prstGeom prst="rect">
            <a:avLst/>
          </a:prstGeom>
          <a:noFill/>
          <a:ln/>
        </p:spPr>
        <p:txBody>
          <a:bodyPr wrap="square" lIns="0" tIns="0" rIns="0" bIns="0" rtlCol="0" anchor="ctr"/>
          <a:lstStyle/>
          <a:p>
            <a:pPr marL="0" indent="0">
              <a:buNone/>
            </a:pPr>
            <a:r>
              <a:rPr lang="en-US" sz="900" dirty="0">
                <a:solidFill>
                  <a:srgbClr val="5B6B7B"/>
                </a:solidFill>
                <a:latin typeface="Calibri" pitchFamily="34" charset="0"/>
                <a:ea typeface="Calibri" pitchFamily="34" charset="-122"/>
                <a:cs typeface="Calibri" pitchFamily="34" charset="-120"/>
              </a:rPr>
              <a:t>Microaprendizaje para adultos  ·  Proyecto RUTA — Inter Ponce</a:t>
            </a:r>
            <a:endParaRPr lang="en-US" sz="900" dirty="0"/>
          </a:p>
        </p:txBody>
      </p:sp>
      <p:sp>
        <p:nvSpPr>
          <p:cNvPr id="5" name="Text 3"/>
          <p:cNvSpPr txBox="1"/>
          <p:nvPr/>
        </p:nvSpPr>
        <p:spPr>
          <a:xfrm>
            <a:off x="10972800" y="6428232"/>
            <a:ext cx="649224" cy="256032"/>
          </a:xfrm>
          <a:prstGeom prst="rect">
            <a:avLst/>
          </a:prstGeom>
          <a:noFill/>
          <a:ln/>
        </p:spPr>
        <p:txBody>
          <a:bodyPr wrap="square" lIns="0" tIns="0" rIns="0" bIns="0" rtlCol="0" anchor="ctr"/>
          <a:lstStyle/>
          <a:p>
            <a:pPr marL="0" indent="0" algn="r">
              <a:buNone/>
            </a:pPr>
            <a:r>
              <a:rPr lang="en-US" sz="900" dirty="0">
                <a:solidFill>
                  <a:srgbClr val="5B6B7B"/>
                </a:solidFill>
                <a:latin typeface="Calibri" pitchFamily="34" charset="0"/>
                <a:ea typeface="Calibri" pitchFamily="34" charset="-122"/>
                <a:cs typeface="Calibri" pitchFamily="34" charset="-120"/>
              </a:rPr>
              <a:t>9</a:t>
            </a:r>
            <a:endParaRPr lang="en-US" sz="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66928" y="1572768"/>
          <a:ext cx="11055096" cy="914400"/>
        </p:xfrm>
        <a:graphic>
          <a:graphicData uri="http://schemas.openxmlformats.org/drawingml/2006/table">
            <a:tbl>
              <a:tblPr/>
              <a:tblGrid>
                <a:gridCol w="3337560">
                  <a:extLst>
                    <a:ext uri="{9D8B030D-6E8A-4147-A177-3AD203B41FA5}">
                      <a16:colId xmlns:a16="http://schemas.microsoft.com/office/drawing/2014/main" val="20000"/>
                    </a:ext>
                  </a:extLst>
                </a:gridCol>
                <a:gridCol w="4700016">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tblGrid>
              <a:tr h="777240">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Lo que se suele creer</a:t>
                      </a:r>
                      <a:endParaRPr lang="en-US" sz="120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1B2A4A"/>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Lo que sostiene la literatura</a:t>
                      </a:r>
                      <a:endParaRPr lang="en-US" sz="120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1B2A4A"/>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Consecuencia para el diseño</a:t>
                      </a:r>
                      <a:endParaRPr lang="en-US" sz="120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777240">
                <a:tc>
                  <a:txBody>
                    <a:bodyPr/>
                    <a:lstStyle/>
                    <a:p>
                      <a:pPr marL="0" indent="0">
                        <a:buNone/>
                      </a:pPr>
                      <a:r>
                        <a:rPr lang="en-US" sz="1150" dirty="0">
                          <a:solidFill>
                            <a:srgbClr val="1F2933"/>
                          </a:solidFill>
                          <a:latin typeface="Calibri" pitchFamily="34" charset="0"/>
                          <a:ea typeface="Calibri" pitchFamily="34" charset="-122"/>
                          <a:cs typeface="Calibri" pitchFamily="34" charset="-120"/>
                        </a:rPr>
                        <a:t>«Es cortar la clase en pedazos»</a:t>
                      </a:r>
                      <a:endParaRPr lang="en-US" sz="11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150" dirty="0">
                          <a:solidFill>
                            <a:srgbClr val="1F2933"/>
                          </a:solidFill>
                          <a:latin typeface="Calibri" pitchFamily="34" charset="0"/>
                          <a:ea typeface="Calibri" pitchFamily="34" charset="-122"/>
                          <a:cs typeface="Calibri" pitchFamily="34" charset="-120"/>
                        </a:rPr>
                        <a:t>Fragmentar no es focalizar: cada unidad necesita objetivo, práctica y cierre propios.</a:t>
                      </a:r>
                      <a:endParaRPr lang="en-US" sz="11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150" dirty="0">
                          <a:solidFill>
                            <a:srgbClr val="1F2933"/>
                          </a:solidFill>
                          <a:latin typeface="Calibri" pitchFamily="34" charset="0"/>
                          <a:ea typeface="Calibri" pitchFamily="34" charset="-122"/>
                          <a:cs typeface="Calibri" pitchFamily="34" charset="-120"/>
                        </a:rPr>
                        <a:t>Rediseñe, no recorte.</a:t>
                      </a:r>
                      <a:endParaRPr lang="en-US" sz="11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77240">
                <a:tc>
                  <a:txBody>
                    <a:bodyPr/>
                    <a:lstStyle/>
                    <a:p>
                      <a:pPr marL="0" indent="0">
                        <a:buNone/>
                      </a:pPr>
                      <a:r>
                        <a:rPr lang="en-US" sz="1150" dirty="0">
                          <a:solidFill>
                            <a:srgbClr val="1F2933"/>
                          </a:solidFill>
                          <a:latin typeface="Calibri" pitchFamily="34" charset="0"/>
                          <a:ea typeface="Calibri" pitchFamily="34" charset="-122"/>
                          <a:cs typeface="Calibri" pitchFamily="34" charset="-120"/>
                        </a:rPr>
                        <a:t>«Sirve para cualquier contenido»</a:t>
                      </a:r>
                      <a:endParaRPr lang="en-US" sz="11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1F4F8"/>
                    </a:solidFill>
                  </a:tcPr>
                </a:tc>
                <a:tc>
                  <a:txBody>
                    <a:bodyPr/>
                    <a:lstStyle/>
                    <a:p>
                      <a:pPr marL="0" indent="0">
                        <a:buNone/>
                      </a:pPr>
                      <a:r>
                        <a:rPr lang="en-US" sz="1150" dirty="0">
                          <a:solidFill>
                            <a:srgbClr val="1F2933"/>
                          </a:solidFill>
                          <a:latin typeface="Calibri" pitchFamily="34" charset="0"/>
                          <a:ea typeface="Calibri" pitchFamily="34" charset="-122"/>
                          <a:cs typeface="Calibri" pitchFamily="34" charset="-120"/>
                        </a:rPr>
                        <a:t>No todo lo que hay que saber puede enseñarse en microformato (Kapp y Defelice, 2019).</a:t>
                      </a:r>
                      <a:endParaRPr lang="en-US" sz="11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1F4F8"/>
                    </a:solidFill>
                  </a:tcPr>
                </a:tc>
                <a:tc>
                  <a:txBody>
                    <a:bodyPr/>
                    <a:lstStyle/>
                    <a:p>
                      <a:pPr marL="0" indent="0">
                        <a:buNone/>
                      </a:pPr>
                      <a:r>
                        <a:rPr lang="en-US" sz="1150" dirty="0">
                          <a:solidFill>
                            <a:srgbClr val="1F2933"/>
                          </a:solidFill>
                          <a:latin typeface="Calibri" pitchFamily="34" charset="0"/>
                          <a:ea typeface="Calibri" pitchFamily="34" charset="-122"/>
                          <a:cs typeface="Calibri" pitchFamily="34" charset="-120"/>
                        </a:rPr>
                        <a:t>Reserve la unidad larga para lo complejo e integrador.</a:t>
                      </a:r>
                      <a:endParaRPr lang="en-US" sz="11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1F4F8"/>
                    </a:solidFill>
                  </a:tcPr>
                </a:tc>
                <a:extLst>
                  <a:ext uri="{0D108BD9-81ED-4DB2-BD59-A6C34878D82A}">
                    <a16:rowId xmlns:a16="http://schemas.microsoft.com/office/drawing/2014/main" val="10002"/>
                  </a:ext>
                </a:extLst>
              </a:tr>
              <a:tr h="777240">
                <a:tc>
                  <a:txBody>
                    <a:bodyPr/>
                    <a:lstStyle/>
                    <a:p>
                      <a:pPr marL="0" indent="0">
                        <a:buNone/>
                      </a:pPr>
                      <a:r>
                        <a:rPr lang="en-US" sz="1150" dirty="0">
                          <a:solidFill>
                            <a:srgbClr val="1F2933"/>
                          </a:solidFill>
                          <a:latin typeface="Calibri" pitchFamily="34" charset="0"/>
                          <a:ea typeface="Calibri" pitchFamily="34" charset="-122"/>
                          <a:cs typeface="Calibri" pitchFamily="34" charset="-120"/>
                        </a:rPr>
                        <a:t>«Mientras más breve, mejor»</a:t>
                      </a:r>
                      <a:endParaRPr lang="en-US" sz="11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150" dirty="0">
                          <a:solidFill>
                            <a:srgbClr val="1F2933"/>
                          </a:solidFill>
                          <a:latin typeface="Calibri" pitchFamily="34" charset="0"/>
                          <a:ea typeface="Calibri" pitchFamily="34" charset="-122"/>
                          <a:cs typeface="Calibri" pitchFamily="34" charset="-120"/>
                        </a:rPr>
                        <a:t>La brevedad sin foco produce olvido; el criterio es la unidad de sentido, no el cronómetro.</a:t>
                      </a:r>
                      <a:endParaRPr lang="en-US" sz="11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150" dirty="0">
                          <a:solidFill>
                            <a:srgbClr val="1F2933"/>
                          </a:solidFill>
                          <a:latin typeface="Calibri" pitchFamily="34" charset="0"/>
                          <a:ea typeface="Calibri" pitchFamily="34" charset="-122"/>
                          <a:cs typeface="Calibri" pitchFamily="34" charset="-120"/>
                        </a:rPr>
                        <a:t>Dure lo que la competencia exija: 5, 10 o 15 minutos.</a:t>
                      </a:r>
                      <a:endParaRPr lang="en-US" sz="11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77240">
                <a:tc>
                  <a:txBody>
                    <a:bodyPr/>
                    <a:lstStyle/>
                    <a:p>
                      <a:pPr marL="0" indent="0">
                        <a:buNone/>
                      </a:pPr>
                      <a:r>
                        <a:rPr lang="en-US" sz="1150" dirty="0">
                          <a:solidFill>
                            <a:srgbClr val="1F2933"/>
                          </a:solidFill>
                          <a:latin typeface="Calibri" pitchFamily="34" charset="0"/>
                          <a:ea typeface="Calibri" pitchFamily="34" charset="-122"/>
                          <a:cs typeface="Calibri" pitchFamily="34" charset="-120"/>
                        </a:rPr>
                        <a:t>«Es solo contenido digital»</a:t>
                      </a:r>
                      <a:endParaRPr lang="en-US" sz="11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1F4F8"/>
                    </a:solidFill>
                  </a:tcPr>
                </a:tc>
                <a:tc>
                  <a:txBody>
                    <a:bodyPr/>
                    <a:lstStyle/>
                    <a:p>
                      <a:pPr marL="0" indent="0">
                        <a:buNone/>
                      </a:pPr>
                      <a:r>
                        <a:rPr lang="en-US" sz="1150" dirty="0">
                          <a:solidFill>
                            <a:srgbClr val="1F2933"/>
                          </a:solidFill>
                          <a:latin typeface="Calibri" pitchFamily="34" charset="0"/>
                          <a:ea typeface="Calibri" pitchFamily="34" charset="-122"/>
                          <a:cs typeface="Calibri" pitchFamily="34" charset="-120"/>
                        </a:rPr>
                        <a:t>Hug (2006) incluye lo presencial y lo monomedial entre las formas de microaprendizaje.</a:t>
                      </a:r>
                      <a:endParaRPr lang="en-US" sz="11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1F4F8"/>
                    </a:solidFill>
                  </a:tcPr>
                </a:tc>
                <a:tc>
                  <a:txBody>
                    <a:bodyPr/>
                    <a:lstStyle/>
                    <a:p>
                      <a:pPr marL="0" indent="0">
                        <a:buNone/>
                      </a:pPr>
                      <a:r>
                        <a:rPr lang="en-US" sz="1150" dirty="0">
                          <a:solidFill>
                            <a:srgbClr val="1F2933"/>
                          </a:solidFill>
                          <a:latin typeface="Calibri" pitchFamily="34" charset="0"/>
                          <a:ea typeface="Calibri" pitchFamily="34" charset="-122"/>
                          <a:cs typeface="Calibri" pitchFamily="34" charset="-120"/>
                        </a:rPr>
                        <a:t>Una microunidad puede ser una hoja impresa bien diseñada.</a:t>
                      </a:r>
                      <a:endParaRPr lang="en-US" sz="11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1F4F8"/>
                    </a:solidFill>
                  </a:tcPr>
                </a:tc>
                <a:extLst>
                  <a:ext uri="{0D108BD9-81ED-4DB2-BD59-A6C34878D82A}">
                    <a16:rowId xmlns:a16="http://schemas.microsoft.com/office/drawing/2014/main" val="10004"/>
                  </a:ext>
                </a:extLst>
              </a:tr>
              <a:tr h="777240">
                <a:tc>
                  <a:txBody>
                    <a:bodyPr/>
                    <a:lstStyle/>
                    <a:p>
                      <a:pPr marL="0" indent="0">
                        <a:buNone/>
                      </a:pPr>
                      <a:r>
                        <a:rPr lang="en-US" sz="1150" dirty="0">
                          <a:solidFill>
                            <a:srgbClr val="1F2933"/>
                          </a:solidFill>
                          <a:latin typeface="Calibri" pitchFamily="34" charset="0"/>
                          <a:ea typeface="Calibri" pitchFamily="34" charset="-122"/>
                          <a:cs typeface="Calibri" pitchFamily="34" charset="-120"/>
                        </a:rPr>
                        <a:t>«Sustituye al docente»</a:t>
                      </a:r>
                      <a:endParaRPr lang="en-US" sz="11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150" dirty="0">
                          <a:solidFill>
                            <a:srgbClr val="1F2933"/>
                          </a:solidFill>
                          <a:latin typeface="Calibri" pitchFamily="34" charset="0"/>
                          <a:ea typeface="Calibri" pitchFamily="34" charset="-122"/>
                          <a:cs typeface="Calibri" pitchFamily="34" charset="-120"/>
                        </a:rPr>
                        <a:t>Sin secuenciación, retroalimentación y acompañamiento, la cápsula se vuelve un archivo más.</a:t>
                      </a:r>
                      <a:endParaRPr lang="en-US" sz="11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150" dirty="0">
                          <a:solidFill>
                            <a:srgbClr val="1F2933"/>
                          </a:solidFill>
                          <a:latin typeface="Calibri" pitchFamily="34" charset="0"/>
                          <a:ea typeface="Calibri" pitchFamily="34" charset="-122"/>
                          <a:cs typeface="Calibri" pitchFamily="34" charset="-120"/>
                        </a:rPr>
                        <a:t>El docente pasa de transmisor a arquitecto de la ruta.</a:t>
                      </a:r>
                      <a:endParaRPr lang="en-US" sz="11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29184"/>
            <a:ext cx="11055096" cy="256032"/>
          </a:xfrm>
          <a:prstGeom prst="rect">
            <a:avLst/>
          </a:prstGeom>
          <a:noFill/>
          <a:ln/>
        </p:spPr>
        <p:txBody>
          <a:bodyPr wrap="square" lIns="0" tIns="0" rIns="0" bIns="0" rtlCol="0" anchor="ctr"/>
          <a:lstStyle/>
          <a:p>
            <a:pPr marL="0" indent="0">
              <a:buNone/>
            </a:pPr>
            <a:r>
              <a:rPr lang="en-US" sz="1100" b="1" kern="0" spc="160" dirty="0">
                <a:solidFill>
                  <a:srgbClr val="2A9D8F"/>
                </a:solidFill>
                <a:latin typeface="Calibri" pitchFamily="34" charset="0"/>
                <a:ea typeface="Calibri" pitchFamily="34" charset="-122"/>
                <a:cs typeface="Calibri" pitchFamily="34" charset="-120"/>
              </a:rPr>
              <a:t>ANCLAJE ANDRAGÓGICO</a:t>
            </a:r>
            <a:endParaRPr lang="en-US" sz="1100" dirty="0"/>
          </a:p>
        </p:txBody>
      </p:sp>
      <p:sp>
        <p:nvSpPr>
          <p:cNvPr id="3" name="Text 1"/>
          <p:cNvSpPr txBox="1"/>
          <p:nvPr/>
        </p:nvSpPr>
        <p:spPr>
          <a:xfrm>
            <a:off x="566928" y="603504"/>
            <a:ext cx="11055096" cy="749808"/>
          </a:xfrm>
          <a:prstGeom prst="rect">
            <a:avLst/>
          </a:prstGeom>
          <a:noFill/>
          <a:ln/>
        </p:spPr>
        <p:txBody>
          <a:bodyPr wrap="square" lIns="0" tIns="0" rIns="0" bIns="0" rtlCol="0" anchor="t"/>
          <a:lstStyle/>
          <a:p>
            <a:pPr marL="0" indent="0">
              <a:buNone/>
            </a:pPr>
            <a:r>
              <a:rPr lang="en-US" sz="2900" b="1" dirty="0">
                <a:solidFill>
                  <a:srgbClr val="1B2A4A"/>
                </a:solidFill>
                <a:latin typeface="Cambria" pitchFamily="34" charset="0"/>
                <a:ea typeface="Cambria" pitchFamily="34" charset="-122"/>
                <a:cs typeface="Cambria" pitchFamily="34" charset="-120"/>
              </a:rPr>
              <a:t>Los seis principios de Knowles traducidos a microunidades</a:t>
            </a:r>
            <a:endParaRPr lang="en-US" sz="2900" dirty="0"/>
          </a:p>
        </p:txBody>
      </p:sp>
      <p:sp>
        <p:nvSpPr>
          <p:cNvPr id="4" name="Text 2"/>
          <p:cNvSpPr txBox="1"/>
          <p:nvPr/>
        </p:nvSpPr>
        <p:spPr>
          <a:xfrm>
            <a:off x="566928" y="6428232"/>
            <a:ext cx="7863840" cy="256032"/>
          </a:xfrm>
          <a:prstGeom prst="rect">
            <a:avLst/>
          </a:prstGeom>
          <a:noFill/>
          <a:ln/>
        </p:spPr>
        <p:txBody>
          <a:bodyPr wrap="square" lIns="0" tIns="0" rIns="0" bIns="0" rtlCol="0" anchor="ctr"/>
          <a:lstStyle/>
          <a:p>
            <a:pPr marL="0" indent="0">
              <a:buNone/>
            </a:pPr>
            <a:r>
              <a:rPr lang="en-US" sz="900" dirty="0">
                <a:solidFill>
                  <a:srgbClr val="5B6B7B"/>
                </a:solidFill>
                <a:latin typeface="Calibri" pitchFamily="34" charset="0"/>
                <a:ea typeface="Calibri" pitchFamily="34" charset="-122"/>
                <a:cs typeface="Calibri" pitchFamily="34" charset="-120"/>
              </a:rPr>
              <a:t>Microaprendizaje para adultos  ·  Proyecto RUTA — Inter Ponce</a:t>
            </a:r>
            <a:endParaRPr lang="en-US" sz="900" dirty="0"/>
          </a:p>
        </p:txBody>
      </p:sp>
      <p:sp>
        <p:nvSpPr>
          <p:cNvPr id="5" name="Text 3"/>
          <p:cNvSpPr txBox="1"/>
          <p:nvPr/>
        </p:nvSpPr>
        <p:spPr>
          <a:xfrm>
            <a:off x="10972800" y="6428232"/>
            <a:ext cx="649224" cy="256032"/>
          </a:xfrm>
          <a:prstGeom prst="rect">
            <a:avLst/>
          </a:prstGeom>
          <a:noFill/>
          <a:ln/>
        </p:spPr>
        <p:txBody>
          <a:bodyPr wrap="square" lIns="0" tIns="0" rIns="0" bIns="0" rtlCol="0" anchor="ctr"/>
          <a:lstStyle/>
          <a:p>
            <a:pPr marL="0" indent="0" algn="r">
              <a:buNone/>
            </a:pPr>
            <a:r>
              <a:rPr lang="en-US" sz="900" dirty="0">
                <a:solidFill>
                  <a:srgbClr val="5B6B7B"/>
                </a:solidFill>
                <a:latin typeface="Calibri" pitchFamily="34" charset="0"/>
                <a:ea typeface="Calibri" pitchFamily="34" charset="-122"/>
                <a:cs typeface="Calibri" pitchFamily="34" charset="-120"/>
              </a:rPr>
              <a:t>10</a:t>
            </a:r>
            <a:endParaRPr lang="en-US" sz="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66928" y="1572768"/>
          <a:ext cx="11055096" cy="914400"/>
        </p:xfrm>
        <a:graphic>
          <a:graphicData uri="http://schemas.openxmlformats.org/drawingml/2006/table">
            <a:tbl>
              <a:tblPr/>
              <a:tblGrid>
                <a:gridCol w="4023360">
                  <a:extLst>
                    <a:ext uri="{9D8B030D-6E8A-4147-A177-3AD203B41FA5}">
                      <a16:colId xmlns:a16="http://schemas.microsoft.com/office/drawing/2014/main" val="20000"/>
                    </a:ext>
                  </a:extLst>
                </a:gridCol>
                <a:gridCol w="7031736">
                  <a:extLst>
                    <a:ext uri="{9D8B030D-6E8A-4147-A177-3AD203B41FA5}">
                      <a16:colId xmlns:a16="http://schemas.microsoft.com/office/drawing/2014/main" val="20001"/>
                    </a:ext>
                  </a:extLst>
                </a:gridCol>
              </a:tblGrid>
              <a:tr h="621792">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Principio del aprendizaje adulto</a:t>
                      </a:r>
                      <a:endParaRPr lang="en-US" sz="12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1B2A4A"/>
                    </a:solidFill>
                  </a:tcPr>
                </a:tc>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Cómo se materializa en la microunidad</a:t>
                      </a:r>
                      <a:endParaRPr lang="en-US" sz="12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621792">
                <a:tc>
                  <a:txBody>
                    <a:bodyPr/>
                    <a:lstStyle/>
                    <a:p>
                      <a:pPr marL="0" indent="0">
                        <a:buNone/>
                      </a:pPr>
                      <a:r>
                        <a:rPr lang="en-US" sz="1200" b="1" dirty="0">
                          <a:solidFill>
                            <a:srgbClr val="1F2933"/>
                          </a:solidFill>
                          <a:latin typeface="Calibri" pitchFamily="34" charset="0"/>
                          <a:ea typeface="Calibri" pitchFamily="34" charset="-122"/>
                          <a:cs typeface="Calibri" pitchFamily="34" charset="-120"/>
                        </a:rPr>
                        <a:t>Necesidad de saber</a:t>
                      </a:r>
                      <a:endParaRPr lang="en-US" sz="120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200" dirty="0">
                          <a:solidFill>
                            <a:srgbClr val="1F2933"/>
                          </a:solidFill>
                          <a:latin typeface="Calibri" pitchFamily="34" charset="0"/>
                          <a:ea typeface="Calibri" pitchFamily="34" charset="-122"/>
                          <a:cs typeface="Calibri" pitchFamily="34" charset="-120"/>
                        </a:rPr>
                        <a:t>La cápsula abre declarando para qué sirve hoy: «Al terminar podrá pedir una cita médica por teléfono».</a:t>
                      </a:r>
                      <a:endParaRPr lang="en-US" sz="120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21792">
                <a:tc>
                  <a:txBody>
                    <a:bodyPr/>
                    <a:lstStyle/>
                    <a:p>
                      <a:pPr marL="0" indent="0">
                        <a:buNone/>
                      </a:pPr>
                      <a:r>
                        <a:rPr lang="en-US" sz="1200" b="1" dirty="0">
                          <a:solidFill>
                            <a:srgbClr val="1F2933"/>
                          </a:solidFill>
                          <a:latin typeface="Calibri" pitchFamily="34" charset="0"/>
                          <a:ea typeface="Calibri" pitchFamily="34" charset="-122"/>
                          <a:cs typeface="Calibri" pitchFamily="34" charset="-120"/>
                        </a:rPr>
                        <a:t>Autoconcepto de persona autodirigida</a:t>
                      </a:r>
                      <a:endParaRPr lang="en-US" sz="120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1F4F8"/>
                    </a:solidFill>
                  </a:tcPr>
                </a:tc>
                <a:tc>
                  <a:txBody>
                    <a:bodyPr/>
                    <a:lstStyle/>
                    <a:p>
                      <a:pPr marL="0" indent="0">
                        <a:buNone/>
                      </a:pPr>
                      <a:r>
                        <a:rPr lang="en-US" sz="1200" dirty="0">
                          <a:solidFill>
                            <a:srgbClr val="1F2933"/>
                          </a:solidFill>
                          <a:latin typeface="Calibri" pitchFamily="34" charset="0"/>
                          <a:ea typeface="Calibri" pitchFamily="34" charset="-122"/>
                          <a:cs typeface="Calibri" pitchFamily="34" charset="-120"/>
                        </a:rPr>
                        <a:t>El participante decide cuándo y en qué orden completa las cápsulas de la ruta.</a:t>
                      </a:r>
                      <a:endParaRPr lang="en-US" sz="120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1F4F8"/>
                    </a:solidFill>
                  </a:tcPr>
                </a:tc>
                <a:extLst>
                  <a:ext uri="{0D108BD9-81ED-4DB2-BD59-A6C34878D82A}">
                    <a16:rowId xmlns:a16="http://schemas.microsoft.com/office/drawing/2014/main" val="10002"/>
                  </a:ext>
                </a:extLst>
              </a:tr>
              <a:tr h="621792">
                <a:tc>
                  <a:txBody>
                    <a:bodyPr/>
                    <a:lstStyle/>
                    <a:p>
                      <a:pPr marL="0" indent="0">
                        <a:buNone/>
                      </a:pPr>
                      <a:r>
                        <a:rPr lang="en-US" sz="1200" b="1" dirty="0">
                          <a:solidFill>
                            <a:srgbClr val="1F2933"/>
                          </a:solidFill>
                          <a:latin typeface="Calibri" pitchFamily="34" charset="0"/>
                          <a:ea typeface="Calibri" pitchFamily="34" charset="-122"/>
                          <a:cs typeface="Calibri" pitchFamily="34" charset="-120"/>
                        </a:rPr>
                        <a:t>Papel de la experiencia previa</a:t>
                      </a:r>
                      <a:endParaRPr lang="en-US" sz="120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200" dirty="0">
                          <a:solidFill>
                            <a:srgbClr val="1F2933"/>
                          </a:solidFill>
                          <a:latin typeface="Calibri" pitchFamily="34" charset="0"/>
                          <a:ea typeface="Calibri" pitchFamily="34" charset="-122"/>
                          <a:cs typeface="Calibri" pitchFamily="34" charset="-120"/>
                        </a:rPr>
                        <a:t>El gancho parte de una situación que la persona ya vivió, no de una definición.</a:t>
                      </a:r>
                      <a:endParaRPr lang="en-US" sz="120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21792">
                <a:tc>
                  <a:txBody>
                    <a:bodyPr/>
                    <a:lstStyle/>
                    <a:p>
                      <a:pPr marL="0" indent="0">
                        <a:buNone/>
                      </a:pPr>
                      <a:r>
                        <a:rPr lang="en-US" sz="1200" b="1" dirty="0">
                          <a:solidFill>
                            <a:srgbClr val="1F2933"/>
                          </a:solidFill>
                          <a:latin typeface="Calibri" pitchFamily="34" charset="0"/>
                          <a:ea typeface="Calibri" pitchFamily="34" charset="-122"/>
                          <a:cs typeface="Calibri" pitchFamily="34" charset="-120"/>
                        </a:rPr>
                        <a:t>Disposición a aprender</a:t>
                      </a:r>
                      <a:endParaRPr lang="en-US" sz="120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1F4F8"/>
                    </a:solidFill>
                  </a:tcPr>
                </a:tc>
                <a:tc>
                  <a:txBody>
                    <a:bodyPr/>
                    <a:lstStyle/>
                    <a:p>
                      <a:pPr marL="0" indent="0">
                        <a:buNone/>
                      </a:pPr>
                      <a:r>
                        <a:rPr lang="en-US" sz="1200" dirty="0">
                          <a:solidFill>
                            <a:srgbClr val="1F2933"/>
                          </a:solidFill>
                          <a:latin typeface="Calibri" pitchFamily="34" charset="0"/>
                          <a:ea typeface="Calibri" pitchFamily="34" charset="-122"/>
                          <a:cs typeface="Calibri" pitchFamily="34" charset="-120"/>
                        </a:rPr>
                        <a:t>El contenido responde a una tarea real de esta semana: una entrevista, un examen, un formulario.</a:t>
                      </a:r>
                      <a:endParaRPr lang="en-US" sz="120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1F4F8"/>
                    </a:solidFill>
                  </a:tcPr>
                </a:tc>
                <a:extLst>
                  <a:ext uri="{0D108BD9-81ED-4DB2-BD59-A6C34878D82A}">
                    <a16:rowId xmlns:a16="http://schemas.microsoft.com/office/drawing/2014/main" val="10004"/>
                  </a:ext>
                </a:extLst>
              </a:tr>
              <a:tr h="621792">
                <a:tc>
                  <a:txBody>
                    <a:bodyPr/>
                    <a:lstStyle/>
                    <a:p>
                      <a:pPr marL="0" indent="0">
                        <a:buNone/>
                      </a:pPr>
                      <a:r>
                        <a:rPr lang="en-US" sz="1200" b="1" dirty="0">
                          <a:solidFill>
                            <a:srgbClr val="1F2933"/>
                          </a:solidFill>
                          <a:latin typeface="Calibri" pitchFamily="34" charset="0"/>
                          <a:ea typeface="Calibri" pitchFamily="34" charset="-122"/>
                          <a:cs typeface="Calibri" pitchFamily="34" charset="-120"/>
                        </a:rPr>
                        <a:t>Orientación al problema</a:t>
                      </a:r>
                      <a:endParaRPr lang="en-US" sz="120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200" dirty="0">
                          <a:solidFill>
                            <a:srgbClr val="1F2933"/>
                          </a:solidFill>
                          <a:latin typeface="Calibri" pitchFamily="34" charset="0"/>
                          <a:ea typeface="Calibri" pitchFamily="34" charset="-122"/>
                          <a:cs typeface="Calibri" pitchFamily="34" charset="-120"/>
                        </a:rPr>
                        <a:t>La destreza se enseña dentro del problema, no como paso previo abstracto.</a:t>
                      </a:r>
                      <a:endParaRPr lang="en-US" sz="120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621792">
                <a:tc>
                  <a:txBody>
                    <a:bodyPr/>
                    <a:lstStyle/>
                    <a:p>
                      <a:pPr marL="0" indent="0">
                        <a:buNone/>
                      </a:pPr>
                      <a:r>
                        <a:rPr lang="en-US" sz="1200" b="1" dirty="0">
                          <a:solidFill>
                            <a:srgbClr val="1F2933"/>
                          </a:solidFill>
                          <a:latin typeface="Calibri" pitchFamily="34" charset="0"/>
                          <a:ea typeface="Calibri" pitchFamily="34" charset="-122"/>
                          <a:cs typeface="Calibri" pitchFamily="34" charset="-120"/>
                        </a:rPr>
                        <a:t>Motivación interna</a:t>
                      </a:r>
                      <a:endParaRPr lang="en-US" sz="120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1F4F8"/>
                    </a:solidFill>
                  </a:tcPr>
                </a:tc>
                <a:tc>
                  <a:txBody>
                    <a:bodyPr/>
                    <a:lstStyle/>
                    <a:p>
                      <a:pPr marL="0" indent="0">
                        <a:buNone/>
                      </a:pPr>
                      <a:r>
                        <a:rPr lang="en-US" sz="1200" dirty="0">
                          <a:solidFill>
                            <a:srgbClr val="1F2933"/>
                          </a:solidFill>
                          <a:latin typeface="Calibri" pitchFamily="34" charset="0"/>
                          <a:ea typeface="Calibri" pitchFamily="34" charset="-122"/>
                          <a:cs typeface="Calibri" pitchFamily="34" charset="-120"/>
                        </a:rPr>
                        <a:t>El cierre evidencia una competencia lograda —algo que antes no podía hacer—, no una calificación.</a:t>
                      </a:r>
                      <a:endParaRPr lang="en-US" sz="120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1F4F8"/>
                    </a:solidFill>
                  </a:tcPr>
                </a:tc>
                <a:extLst>
                  <a:ext uri="{0D108BD9-81ED-4DB2-BD59-A6C34878D82A}">
                    <a16:rowId xmlns:a16="http://schemas.microsoft.com/office/drawing/2014/main" val="10006"/>
                  </a:ext>
                </a:extLst>
              </a:tr>
            </a:tbl>
          </a:graphicData>
        </a:graphic>
      </p:graphicFrame>
      <p:sp>
        <p:nvSpPr>
          <p:cNvPr id="7" name="Text 4"/>
          <p:cNvSpPr txBox="1"/>
          <p:nvPr/>
        </p:nvSpPr>
        <p:spPr>
          <a:xfrm>
            <a:off x="566928" y="5943600"/>
            <a:ext cx="11055096" cy="256032"/>
          </a:xfrm>
          <a:prstGeom prst="rect">
            <a:avLst/>
          </a:prstGeom>
          <a:noFill/>
          <a:ln/>
        </p:spPr>
        <p:txBody>
          <a:bodyPr wrap="square" lIns="0" tIns="0" rIns="0" bIns="0" rtlCol="0" anchor="ctr"/>
          <a:lstStyle/>
          <a:p>
            <a:pPr marL="0" indent="0">
              <a:buNone/>
            </a:pPr>
            <a:r>
              <a:rPr lang="en-US" sz="1100" i="1" dirty="0">
                <a:solidFill>
                  <a:srgbClr val="5B6B7B"/>
                </a:solidFill>
                <a:latin typeface="Calibri" pitchFamily="34" charset="0"/>
                <a:ea typeface="Calibri" pitchFamily="34" charset="-122"/>
                <a:cs typeface="Calibri" pitchFamily="34" charset="-120"/>
              </a:rPr>
              <a:t>Knowles, Holton y Swanson (2020)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29184"/>
            <a:ext cx="11055096" cy="256032"/>
          </a:xfrm>
          <a:prstGeom prst="rect">
            <a:avLst/>
          </a:prstGeom>
          <a:noFill/>
          <a:ln/>
        </p:spPr>
        <p:txBody>
          <a:bodyPr wrap="square" lIns="0" tIns="0" rIns="0" bIns="0" rtlCol="0" anchor="ctr"/>
          <a:lstStyle/>
          <a:p>
            <a:pPr marL="0" indent="0">
              <a:buNone/>
            </a:pPr>
            <a:r>
              <a:rPr lang="en-US" sz="1100" b="1" kern="0" spc="160" dirty="0">
                <a:solidFill>
                  <a:srgbClr val="2A9D8F"/>
                </a:solidFill>
                <a:latin typeface="Calibri" pitchFamily="34" charset="0"/>
                <a:ea typeface="Calibri" pitchFamily="34" charset="-122"/>
                <a:cs typeface="Calibri" pitchFamily="34" charset="-120"/>
              </a:rPr>
              <a:t>ARQUITECTURA COGNITIVA</a:t>
            </a:r>
            <a:endParaRPr lang="en-US" sz="1100" dirty="0"/>
          </a:p>
        </p:txBody>
      </p:sp>
      <p:sp>
        <p:nvSpPr>
          <p:cNvPr id="3" name="Text 1"/>
          <p:cNvSpPr txBox="1"/>
          <p:nvPr/>
        </p:nvSpPr>
        <p:spPr>
          <a:xfrm>
            <a:off x="566928" y="603504"/>
            <a:ext cx="11055096" cy="749808"/>
          </a:xfrm>
          <a:prstGeom prst="rect">
            <a:avLst/>
          </a:prstGeom>
          <a:noFill/>
          <a:ln/>
        </p:spPr>
        <p:txBody>
          <a:bodyPr wrap="square" lIns="0" tIns="0" rIns="0" bIns="0" rtlCol="0" anchor="t"/>
          <a:lstStyle/>
          <a:p>
            <a:pPr marL="0" indent="0">
              <a:buNone/>
            </a:pPr>
            <a:r>
              <a:rPr lang="en-US" sz="2900" b="1" dirty="0">
                <a:solidFill>
                  <a:srgbClr val="1B2A4A"/>
                </a:solidFill>
                <a:latin typeface="Cambria" pitchFamily="34" charset="0"/>
                <a:ea typeface="Cambria" pitchFamily="34" charset="-122"/>
                <a:cs typeface="Cambria" pitchFamily="34" charset="-120"/>
              </a:rPr>
              <a:t>Tres leyes que explican por qué la unidad corta funciona</a:t>
            </a:r>
            <a:endParaRPr lang="en-US" sz="2900" dirty="0"/>
          </a:p>
        </p:txBody>
      </p:sp>
      <p:sp>
        <p:nvSpPr>
          <p:cNvPr id="4" name="Text 2"/>
          <p:cNvSpPr txBox="1"/>
          <p:nvPr/>
        </p:nvSpPr>
        <p:spPr>
          <a:xfrm>
            <a:off x="566928" y="6428232"/>
            <a:ext cx="7863840" cy="256032"/>
          </a:xfrm>
          <a:prstGeom prst="rect">
            <a:avLst/>
          </a:prstGeom>
          <a:noFill/>
          <a:ln/>
        </p:spPr>
        <p:txBody>
          <a:bodyPr wrap="square" lIns="0" tIns="0" rIns="0" bIns="0" rtlCol="0" anchor="ctr"/>
          <a:lstStyle/>
          <a:p>
            <a:pPr marL="0" indent="0">
              <a:buNone/>
            </a:pPr>
            <a:r>
              <a:rPr lang="en-US" sz="900" dirty="0">
                <a:solidFill>
                  <a:srgbClr val="5B6B7B"/>
                </a:solidFill>
                <a:latin typeface="Calibri" pitchFamily="34" charset="0"/>
                <a:ea typeface="Calibri" pitchFamily="34" charset="-122"/>
                <a:cs typeface="Calibri" pitchFamily="34" charset="-120"/>
              </a:rPr>
              <a:t>Microaprendizaje para adultos  ·  Proyecto RUTA — Inter Ponce</a:t>
            </a:r>
            <a:endParaRPr lang="en-US" sz="900" dirty="0"/>
          </a:p>
        </p:txBody>
      </p:sp>
      <p:sp>
        <p:nvSpPr>
          <p:cNvPr id="5" name="Text 3"/>
          <p:cNvSpPr txBox="1"/>
          <p:nvPr/>
        </p:nvSpPr>
        <p:spPr>
          <a:xfrm>
            <a:off x="10972800" y="6428232"/>
            <a:ext cx="649224" cy="256032"/>
          </a:xfrm>
          <a:prstGeom prst="rect">
            <a:avLst/>
          </a:prstGeom>
          <a:noFill/>
          <a:ln/>
        </p:spPr>
        <p:txBody>
          <a:bodyPr wrap="square" lIns="0" tIns="0" rIns="0" bIns="0" rtlCol="0" anchor="ctr"/>
          <a:lstStyle/>
          <a:p>
            <a:pPr marL="0" indent="0" algn="r">
              <a:buNone/>
            </a:pPr>
            <a:r>
              <a:rPr lang="en-US" sz="900" dirty="0">
                <a:solidFill>
                  <a:srgbClr val="5B6B7B"/>
                </a:solidFill>
                <a:latin typeface="Calibri" pitchFamily="34" charset="0"/>
                <a:ea typeface="Calibri" pitchFamily="34" charset="-122"/>
                <a:cs typeface="Calibri" pitchFamily="34" charset="-120"/>
              </a:rPr>
              <a:t>11</a:t>
            </a:r>
            <a:endParaRPr lang="en-US" sz="900" dirty="0"/>
          </a:p>
        </p:txBody>
      </p:sp>
      <p:sp>
        <p:nvSpPr>
          <p:cNvPr id="6" name="Shape 4"/>
          <p:cNvSpPr/>
          <p:nvPr/>
        </p:nvSpPr>
        <p:spPr>
          <a:xfrm>
            <a:off x="566928" y="1572768"/>
            <a:ext cx="3502152" cy="3749040"/>
          </a:xfrm>
          <a:prstGeom prst="roundRect">
            <a:avLst>
              <a:gd name="adj" fmla="val 1044"/>
            </a:avLst>
          </a:prstGeom>
          <a:solidFill>
            <a:srgbClr val="F1F4F8"/>
          </a:solidFill>
          <a:ln w="12700">
            <a:solidFill>
              <a:srgbClr val="F1F4F8"/>
            </a:solidFill>
            <a:prstDash val="solid"/>
          </a:ln>
          <a:effectLst>
            <a:outerShdw blurRad="101600" dist="12700" dir="5400000" algn="bl" rotWithShape="0">
              <a:srgbClr val="9AA8B5">
                <a:alpha val="16000"/>
              </a:srgbClr>
            </a:outerShdw>
          </a:effectLst>
        </p:spPr>
      </p:sp>
      <p:sp>
        <p:nvSpPr>
          <p:cNvPr id="7" name="Shape 5"/>
          <p:cNvSpPr/>
          <p:nvPr/>
        </p:nvSpPr>
        <p:spPr>
          <a:xfrm>
            <a:off x="804672" y="1792224"/>
            <a:ext cx="420624" cy="420624"/>
          </a:xfrm>
          <a:prstGeom prst="ellipse">
            <a:avLst/>
          </a:prstGeom>
          <a:solidFill>
            <a:srgbClr val="1B2A4A"/>
          </a:solidFill>
          <a:ln w="12700">
            <a:solidFill>
              <a:srgbClr val="1B2A4A"/>
            </a:solidFill>
            <a:prstDash val="solid"/>
          </a:ln>
        </p:spPr>
      </p:sp>
      <p:sp>
        <p:nvSpPr>
          <p:cNvPr id="8" name="Text 6"/>
          <p:cNvSpPr txBox="1"/>
          <p:nvPr/>
        </p:nvSpPr>
        <p:spPr>
          <a:xfrm>
            <a:off x="804672" y="1792224"/>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7"/>
          <p:cNvSpPr txBox="1"/>
          <p:nvPr/>
        </p:nvSpPr>
        <p:spPr>
          <a:xfrm>
            <a:off x="804672" y="2359152"/>
            <a:ext cx="3026664" cy="310896"/>
          </a:xfrm>
          <a:prstGeom prst="rect">
            <a:avLst/>
          </a:prstGeom>
          <a:noFill/>
          <a:ln/>
        </p:spPr>
        <p:txBody>
          <a:bodyPr wrap="square" lIns="0" tIns="0" rIns="0" bIns="0" rtlCol="0" anchor="t"/>
          <a:lstStyle/>
          <a:p>
            <a:pPr marL="0" indent="0">
              <a:buNone/>
            </a:pPr>
            <a:r>
              <a:rPr lang="en-US" sz="1450" b="1" dirty="0">
                <a:solidFill>
                  <a:srgbClr val="1B2A4A"/>
                </a:solidFill>
                <a:latin typeface="Calibri" pitchFamily="34" charset="0"/>
                <a:ea typeface="Calibri" pitchFamily="34" charset="-122"/>
                <a:cs typeface="Calibri" pitchFamily="34" charset="-120"/>
              </a:rPr>
              <a:t>Carga cognitiva</a:t>
            </a:r>
            <a:endParaRPr lang="en-US" sz="1450" dirty="0"/>
          </a:p>
        </p:txBody>
      </p:sp>
      <p:sp>
        <p:nvSpPr>
          <p:cNvPr id="10" name="Text 8"/>
          <p:cNvSpPr txBox="1"/>
          <p:nvPr/>
        </p:nvSpPr>
        <p:spPr>
          <a:xfrm>
            <a:off x="804672" y="2724912"/>
            <a:ext cx="3026664" cy="2414016"/>
          </a:xfrm>
          <a:prstGeom prst="rect">
            <a:avLst/>
          </a:prstGeom>
          <a:noFill/>
          <a:ln/>
        </p:spPr>
        <p:txBody>
          <a:bodyPr wrap="square" lIns="0" tIns="0" rIns="0" bIns="0" rtlCol="0" anchor="t"/>
          <a:lstStyle/>
          <a:p>
            <a:pPr marL="0" indent="0">
              <a:lnSpc>
                <a:spcPct val="106000"/>
              </a:lnSpc>
              <a:buNone/>
            </a:pPr>
            <a:r>
              <a:rPr lang="en-US" sz="1150" dirty="0">
                <a:solidFill>
                  <a:srgbClr val="1F2933"/>
                </a:solidFill>
                <a:latin typeface="Calibri" pitchFamily="34" charset="0"/>
                <a:ea typeface="Calibri" pitchFamily="34" charset="-122"/>
                <a:cs typeface="Calibri" pitchFamily="34" charset="-120"/>
              </a:rPr>
              <a:t>La memoria de trabajo sostiene pocos elementos a la vez. Una unidad con un solo objetivo reduce la carga ajena a la tarea y libera capacidad para el aprendizaje.</a:t>
            </a:r>
            <a:endParaRPr lang="en-US" sz="1150" dirty="0"/>
          </a:p>
          <a:p>
            <a:pPr marL="0" indent="0">
              <a:lnSpc>
                <a:spcPct val="106000"/>
              </a:lnSpc>
              <a:buNone/>
            </a:pPr>
            <a:endParaRPr lang="en-US" sz="1150" dirty="0"/>
          </a:p>
          <a:p>
            <a:pPr marL="0" indent="0">
              <a:lnSpc>
                <a:spcPct val="106000"/>
              </a:lnSpc>
              <a:buNone/>
            </a:pPr>
            <a:r>
              <a:rPr lang="en-US" sz="1150" dirty="0">
                <a:solidFill>
                  <a:srgbClr val="1F2933"/>
                </a:solidFill>
                <a:latin typeface="Calibri" pitchFamily="34" charset="0"/>
                <a:ea typeface="Calibri" pitchFamily="34" charset="-122"/>
                <a:cs typeface="Calibri" pitchFamily="34" charset="-120"/>
              </a:rPr>
              <a:t>Decisión: elimine todo lo que no sirva al objetivo, por interesante que sea.</a:t>
            </a:r>
            <a:endParaRPr lang="en-US" sz="1150" dirty="0"/>
          </a:p>
          <a:p>
            <a:pPr marL="0" indent="0">
              <a:lnSpc>
                <a:spcPct val="106000"/>
              </a:lnSpc>
              <a:buNone/>
            </a:pPr>
            <a:endParaRPr lang="en-US" sz="1150" dirty="0"/>
          </a:p>
          <a:p>
            <a:pPr marL="0" indent="0">
              <a:lnSpc>
                <a:spcPct val="106000"/>
              </a:lnSpc>
              <a:buNone/>
            </a:pPr>
            <a:r>
              <a:rPr lang="en-US" sz="1150" dirty="0">
                <a:solidFill>
                  <a:srgbClr val="1F2933"/>
                </a:solidFill>
                <a:latin typeface="Calibri" pitchFamily="34" charset="0"/>
                <a:ea typeface="Calibri" pitchFamily="34" charset="-122"/>
                <a:cs typeface="Calibri" pitchFamily="34" charset="-120"/>
              </a:rPr>
              <a:t>Sweller, van Merriënboer y Paas (2019)</a:t>
            </a:r>
            <a:endParaRPr lang="en-US" sz="1150" dirty="0"/>
          </a:p>
        </p:txBody>
      </p:sp>
      <p:sp>
        <p:nvSpPr>
          <p:cNvPr id="11" name="Shape 9"/>
          <p:cNvSpPr/>
          <p:nvPr/>
        </p:nvSpPr>
        <p:spPr>
          <a:xfrm>
            <a:off x="4343400" y="1572768"/>
            <a:ext cx="3502152" cy="3749040"/>
          </a:xfrm>
          <a:prstGeom prst="roundRect">
            <a:avLst>
              <a:gd name="adj" fmla="val 1044"/>
            </a:avLst>
          </a:prstGeom>
          <a:solidFill>
            <a:srgbClr val="E7F2F0"/>
          </a:solidFill>
          <a:ln w="12700">
            <a:solidFill>
              <a:srgbClr val="E7F2F0"/>
            </a:solidFill>
            <a:prstDash val="solid"/>
          </a:ln>
          <a:effectLst>
            <a:outerShdw blurRad="101600" dist="12700" dir="5400000" algn="bl" rotWithShape="0">
              <a:srgbClr val="9AA8B5">
                <a:alpha val="16000"/>
              </a:srgbClr>
            </a:outerShdw>
          </a:effectLst>
        </p:spPr>
      </p:sp>
      <p:sp>
        <p:nvSpPr>
          <p:cNvPr id="12" name="Shape 10"/>
          <p:cNvSpPr/>
          <p:nvPr/>
        </p:nvSpPr>
        <p:spPr>
          <a:xfrm>
            <a:off x="4581144" y="1792224"/>
            <a:ext cx="420624" cy="420624"/>
          </a:xfrm>
          <a:prstGeom prst="ellipse">
            <a:avLst/>
          </a:prstGeom>
          <a:solidFill>
            <a:srgbClr val="2A9D8F"/>
          </a:solidFill>
          <a:ln w="12700">
            <a:solidFill>
              <a:srgbClr val="2A9D8F"/>
            </a:solidFill>
            <a:prstDash val="solid"/>
          </a:ln>
        </p:spPr>
      </p:sp>
      <p:sp>
        <p:nvSpPr>
          <p:cNvPr id="13" name="Text 11"/>
          <p:cNvSpPr txBox="1"/>
          <p:nvPr/>
        </p:nvSpPr>
        <p:spPr>
          <a:xfrm>
            <a:off x="4581144" y="1792224"/>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4" name="Text 12"/>
          <p:cNvSpPr txBox="1"/>
          <p:nvPr/>
        </p:nvSpPr>
        <p:spPr>
          <a:xfrm>
            <a:off x="4581144" y="2359152"/>
            <a:ext cx="3026664" cy="310896"/>
          </a:xfrm>
          <a:prstGeom prst="rect">
            <a:avLst/>
          </a:prstGeom>
          <a:noFill/>
          <a:ln/>
        </p:spPr>
        <p:txBody>
          <a:bodyPr wrap="square" lIns="0" tIns="0" rIns="0" bIns="0" rtlCol="0" anchor="t"/>
          <a:lstStyle/>
          <a:p>
            <a:pPr marL="0" indent="0">
              <a:buNone/>
            </a:pPr>
            <a:r>
              <a:rPr lang="en-US" sz="1450" b="1" dirty="0">
                <a:solidFill>
                  <a:srgbClr val="1B2A4A"/>
                </a:solidFill>
                <a:latin typeface="Calibri" pitchFamily="34" charset="0"/>
                <a:ea typeface="Calibri" pitchFamily="34" charset="-122"/>
                <a:cs typeface="Calibri" pitchFamily="34" charset="-120"/>
              </a:rPr>
              <a:t>Práctica espaciada</a:t>
            </a:r>
            <a:endParaRPr lang="en-US" sz="1450" dirty="0"/>
          </a:p>
        </p:txBody>
      </p:sp>
      <p:sp>
        <p:nvSpPr>
          <p:cNvPr id="15" name="Text 13"/>
          <p:cNvSpPr txBox="1"/>
          <p:nvPr/>
        </p:nvSpPr>
        <p:spPr>
          <a:xfrm>
            <a:off x="4581144" y="2724912"/>
            <a:ext cx="3026664" cy="2414016"/>
          </a:xfrm>
          <a:prstGeom prst="rect">
            <a:avLst/>
          </a:prstGeom>
          <a:noFill/>
          <a:ln/>
        </p:spPr>
        <p:txBody>
          <a:bodyPr wrap="square" lIns="0" tIns="0" rIns="0" bIns="0" rtlCol="0" anchor="t"/>
          <a:lstStyle/>
          <a:p>
            <a:pPr marL="0" indent="0">
              <a:lnSpc>
                <a:spcPct val="106000"/>
              </a:lnSpc>
              <a:buNone/>
            </a:pPr>
            <a:r>
              <a:rPr lang="en-US" sz="1150" dirty="0">
                <a:solidFill>
                  <a:srgbClr val="1F2933"/>
                </a:solidFill>
                <a:latin typeface="Calibri" pitchFamily="34" charset="0"/>
                <a:ea typeface="Calibri" pitchFamily="34" charset="-122"/>
                <a:cs typeface="Calibri" pitchFamily="34" charset="-120"/>
              </a:rPr>
              <a:t>Distribuir tres cápsulas de ocho minutos en tres días distintos produce más retención que una sesión continua de veinticuatro minutos.</a:t>
            </a:r>
            <a:endParaRPr lang="en-US" sz="1150" dirty="0"/>
          </a:p>
          <a:p>
            <a:pPr marL="0" indent="0">
              <a:lnSpc>
                <a:spcPct val="106000"/>
              </a:lnSpc>
              <a:buNone/>
            </a:pPr>
            <a:endParaRPr lang="en-US" sz="1150" dirty="0"/>
          </a:p>
          <a:p>
            <a:pPr marL="0" indent="0">
              <a:lnSpc>
                <a:spcPct val="106000"/>
              </a:lnSpc>
              <a:buNone/>
            </a:pPr>
            <a:r>
              <a:rPr lang="en-US" sz="1150" dirty="0">
                <a:solidFill>
                  <a:srgbClr val="1F2933"/>
                </a:solidFill>
                <a:latin typeface="Calibri" pitchFamily="34" charset="0"/>
                <a:ea typeface="Calibri" pitchFamily="34" charset="-122"/>
                <a:cs typeface="Calibri" pitchFamily="34" charset="-120"/>
              </a:rPr>
              <a:t>Decisión: planifique el calendario de la ruta, no solo el contenido de la cápsula.</a:t>
            </a:r>
            <a:endParaRPr lang="en-US" sz="1150" dirty="0"/>
          </a:p>
          <a:p>
            <a:pPr marL="0" indent="0">
              <a:lnSpc>
                <a:spcPct val="106000"/>
              </a:lnSpc>
              <a:buNone/>
            </a:pPr>
            <a:endParaRPr lang="en-US" sz="1150" dirty="0"/>
          </a:p>
          <a:p>
            <a:pPr marL="0" indent="0">
              <a:lnSpc>
                <a:spcPct val="106000"/>
              </a:lnSpc>
              <a:buNone/>
            </a:pPr>
            <a:r>
              <a:rPr lang="en-US" sz="1150" dirty="0">
                <a:solidFill>
                  <a:srgbClr val="1F2933"/>
                </a:solidFill>
                <a:latin typeface="Calibri" pitchFamily="34" charset="0"/>
                <a:ea typeface="Calibri" pitchFamily="34" charset="-122"/>
                <a:cs typeface="Calibri" pitchFamily="34" charset="-120"/>
              </a:rPr>
              <a:t>El olvido no es fallo del participante: es la condición que el diseño debe anticipar.</a:t>
            </a:r>
            <a:endParaRPr lang="en-US" sz="1150" dirty="0"/>
          </a:p>
        </p:txBody>
      </p:sp>
      <p:sp>
        <p:nvSpPr>
          <p:cNvPr id="16" name="Shape 14"/>
          <p:cNvSpPr/>
          <p:nvPr/>
        </p:nvSpPr>
        <p:spPr>
          <a:xfrm>
            <a:off x="8119872" y="1572768"/>
            <a:ext cx="3502152" cy="3749040"/>
          </a:xfrm>
          <a:prstGeom prst="roundRect">
            <a:avLst>
              <a:gd name="adj" fmla="val 1044"/>
            </a:avLst>
          </a:prstGeom>
          <a:solidFill>
            <a:srgbClr val="FAF3E0"/>
          </a:solidFill>
          <a:ln w="12700">
            <a:solidFill>
              <a:srgbClr val="FAF3E0"/>
            </a:solidFill>
            <a:prstDash val="solid"/>
          </a:ln>
          <a:effectLst>
            <a:outerShdw blurRad="101600" dist="12700" dir="5400000" algn="bl" rotWithShape="0">
              <a:srgbClr val="9AA8B5">
                <a:alpha val="16000"/>
              </a:srgbClr>
            </a:outerShdw>
          </a:effectLst>
        </p:spPr>
      </p:sp>
      <p:sp>
        <p:nvSpPr>
          <p:cNvPr id="17" name="Shape 15"/>
          <p:cNvSpPr/>
          <p:nvPr/>
        </p:nvSpPr>
        <p:spPr>
          <a:xfrm>
            <a:off x="8357616" y="1792224"/>
            <a:ext cx="420624" cy="420624"/>
          </a:xfrm>
          <a:prstGeom prst="ellipse">
            <a:avLst/>
          </a:prstGeom>
          <a:solidFill>
            <a:srgbClr val="C9A227"/>
          </a:solidFill>
          <a:ln w="12700">
            <a:solidFill>
              <a:srgbClr val="C9A227"/>
            </a:solidFill>
            <a:prstDash val="solid"/>
          </a:ln>
        </p:spPr>
      </p:sp>
      <p:sp>
        <p:nvSpPr>
          <p:cNvPr id="18" name="Text 16"/>
          <p:cNvSpPr txBox="1"/>
          <p:nvPr/>
        </p:nvSpPr>
        <p:spPr>
          <a:xfrm>
            <a:off x="8357616" y="1792224"/>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7"/>
          <p:cNvSpPr txBox="1"/>
          <p:nvPr/>
        </p:nvSpPr>
        <p:spPr>
          <a:xfrm>
            <a:off x="8357616" y="2359152"/>
            <a:ext cx="3026664" cy="310896"/>
          </a:xfrm>
          <a:prstGeom prst="rect">
            <a:avLst/>
          </a:prstGeom>
          <a:noFill/>
          <a:ln/>
        </p:spPr>
        <p:txBody>
          <a:bodyPr wrap="square" lIns="0" tIns="0" rIns="0" bIns="0" rtlCol="0" anchor="t"/>
          <a:lstStyle/>
          <a:p>
            <a:pPr marL="0" indent="0">
              <a:buNone/>
            </a:pPr>
            <a:r>
              <a:rPr lang="en-US" sz="1450" b="1" dirty="0">
                <a:solidFill>
                  <a:srgbClr val="1B2A4A"/>
                </a:solidFill>
                <a:latin typeface="Calibri" pitchFamily="34" charset="0"/>
                <a:ea typeface="Calibri" pitchFamily="34" charset="-122"/>
                <a:cs typeface="Calibri" pitchFamily="34" charset="-120"/>
              </a:rPr>
              <a:t>Práctica de recuperación</a:t>
            </a:r>
            <a:endParaRPr lang="en-US" sz="1450" dirty="0"/>
          </a:p>
        </p:txBody>
      </p:sp>
      <p:sp>
        <p:nvSpPr>
          <p:cNvPr id="20" name="Text 18"/>
          <p:cNvSpPr txBox="1"/>
          <p:nvPr/>
        </p:nvSpPr>
        <p:spPr>
          <a:xfrm>
            <a:off x="8357616" y="2724912"/>
            <a:ext cx="3026664" cy="2414016"/>
          </a:xfrm>
          <a:prstGeom prst="rect">
            <a:avLst/>
          </a:prstGeom>
          <a:noFill/>
          <a:ln/>
        </p:spPr>
        <p:txBody>
          <a:bodyPr wrap="square" lIns="0" tIns="0" rIns="0" bIns="0" rtlCol="0" anchor="t"/>
          <a:lstStyle/>
          <a:p>
            <a:pPr marL="0" indent="0">
              <a:lnSpc>
                <a:spcPct val="106000"/>
              </a:lnSpc>
              <a:buNone/>
            </a:pPr>
            <a:r>
              <a:rPr lang="en-US" sz="1150" dirty="0">
                <a:solidFill>
                  <a:srgbClr val="1F2933"/>
                </a:solidFill>
                <a:latin typeface="Calibri" pitchFamily="34" charset="0"/>
                <a:ea typeface="Calibri" pitchFamily="34" charset="-122"/>
                <a:cs typeface="Calibri" pitchFamily="34" charset="-120"/>
              </a:rPr>
              <a:t>Recuperar información de la memoria consolida más que volver a leerla. El chequeo final de la cápsula no mide: enseña.</a:t>
            </a:r>
            <a:endParaRPr lang="en-US" sz="1150" dirty="0"/>
          </a:p>
          <a:p>
            <a:pPr marL="0" indent="0">
              <a:lnSpc>
                <a:spcPct val="106000"/>
              </a:lnSpc>
              <a:buNone/>
            </a:pPr>
            <a:endParaRPr lang="en-US" sz="1150" dirty="0"/>
          </a:p>
          <a:p>
            <a:pPr marL="0" indent="0">
              <a:lnSpc>
                <a:spcPct val="106000"/>
              </a:lnSpc>
              <a:buNone/>
            </a:pPr>
            <a:r>
              <a:rPr lang="en-US" sz="1150" dirty="0">
                <a:solidFill>
                  <a:srgbClr val="1F2933"/>
                </a:solidFill>
                <a:latin typeface="Calibri" pitchFamily="34" charset="0"/>
                <a:ea typeface="Calibri" pitchFamily="34" charset="-122"/>
                <a:cs typeface="Calibri" pitchFamily="34" charset="-120"/>
              </a:rPr>
              <a:t>Decisión: cierre siempre con una pregunta o tarea que obligue a recuperar, aunque no lleve nota.</a:t>
            </a:r>
            <a:endParaRPr lang="en-US" sz="1150" dirty="0"/>
          </a:p>
          <a:p>
            <a:pPr marL="0" indent="0">
              <a:lnSpc>
                <a:spcPct val="106000"/>
              </a:lnSpc>
              <a:buNone/>
            </a:pPr>
            <a:endParaRPr lang="en-US" sz="1150" dirty="0"/>
          </a:p>
          <a:p>
            <a:pPr marL="0" indent="0">
              <a:lnSpc>
                <a:spcPct val="106000"/>
              </a:lnSpc>
              <a:buNone/>
            </a:pPr>
            <a:r>
              <a:rPr lang="en-US" sz="1150" dirty="0">
                <a:solidFill>
                  <a:srgbClr val="1F2933"/>
                </a:solidFill>
                <a:latin typeface="Calibri" pitchFamily="34" charset="0"/>
                <a:ea typeface="Calibri" pitchFamily="34" charset="-122"/>
                <a:cs typeface="Calibri" pitchFamily="34" charset="-120"/>
              </a:rPr>
              <a:t>Roediger y Karpicke (2006)</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29184"/>
            <a:ext cx="11055096" cy="256032"/>
          </a:xfrm>
          <a:prstGeom prst="rect">
            <a:avLst/>
          </a:prstGeom>
          <a:noFill/>
          <a:ln/>
        </p:spPr>
        <p:txBody>
          <a:bodyPr wrap="square" lIns="0" tIns="0" rIns="0" bIns="0" rtlCol="0" anchor="ctr"/>
          <a:lstStyle/>
          <a:p>
            <a:pPr marL="0" indent="0">
              <a:buNone/>
            </a:pPr>
            <a:r>
              <a:rPr lang="en-US" sz="1100" b="1" kern="0" spc="160" dirty="0">
                <a:solidFill>
                  <a:srgbClr val="2A9D8F"/>
                </a:solidFill>
                <a:latin typeface="Calibri" pitchFamily="34" charset="0"/>
                <a:ea typeface="Calibri" pitchFamily="34" charset="-122"/>
                <a:cs typeface="Calibri" pitchFamily="34" charset="-120"/>
              </a:rPr>
              <a:t>MARCO DE ANÁLISIS</a:t>
            </a:r>
            <a:endParaRPr lang="en-US" sz="1100" dirty="0"/>
          </a:p>
        </p:txBody>
      </p:sp>
      <p:sp>
        <p:nvSpPr>
          <p:cNvPr id="3" name="Text 1"/>
          <p:cNvSpPr txBox="1"/>
          <p:nvPr/>
        </p:nvSpPr>
        <p:spPr>
          <a:xfrm>
            <a:off x="566928" y="603504"/>
            <a:ext cx="11055096" cy="749808"/>
          </a:xfrm>
          <a:prstGeom prst="rect">
            <a:avLst/>
          </a:prstGeom>
          <a:noFill/>
          <a:ln/>
        </p:spPr>
        <p:txBody>
          <a:bodyPr wrap="square" lIns="0" tIns="0" rIns="0" bIns="0" rtlCol="0" anchor="t"/>
          <a:lstStyle/>
          <a:p>
            <a:pPr marL="0" indent="0">
              <a:buNone/>
            </a:pPr>
            <a:r>
              <a:rPr lang="en-US" sz="2900" b="1" dirty="0">
                <a:solidFill>
                  <a:srgbClr val="1B2A4A"/>
                </a:solidFill>
                <a:latin typeface="Cambria" pitchFamily="34" charset="0"/>
                <a:ea typeface="Cambria" pitchFamily="34" charset="-122"/>
                <a:cs typeface="Cambria" pitchFamily="34" charset="-120"/>
              </a:rPr>
              <a:t>Las siete dimensiones de una microunidad (Hug, 2006)</a:t>
            </a:r>
            <a:endParaRPr lang="en-US" sz="2900" dirty="0"/>
          </a:p>
        </p:txBody>
      </p:sp>
      <p:sp>
        <p:nvSpPr>
          <p:cNvPr id="4" name="Text 2"/>
          <p:cNvSpPr txBox="1"/>
          <p:nvPr/>
        </p:nvSpPr>
        <p:spPr>
          <a:xfrm>
            <a:off x="566928" y="6428232"/>
            <a:ext cx="7863840" cy="256032"/>
          </a:xfrm>
          <a:prstGeom prst="rect">
            <a:avLst/>
          </a:prstGeom>
          <a:noFill/>
          <a:ln/>
        </p:spPr>
        <p:txBody>
          <a:bodyPr wrap="square" lIns="0" tIns="0" rIns="0" bIns="0" rtlCol="0" anchor="ctr"/>
          <a:lstStyle/>
          <a:p>
            <a:pPr marL="0" indent="0">
              <a:buNone/>
            </a:pPr>
            <a:r>
              <a:rPr lang="en-US" sz="900" dirty="0">
                <a:solidFill>
                  <a:srgbClr val="5B6B7B"/>
                </a:solidFill>
                <a:latin typeface="Calibri" pitchFamily="34" charset="0"/>
                <a:ea typeface="Calibri" pitchFamily="34" charset="-122"/>
                <a:cs typeface="Calibri" pitchFamily="34" charset="-120"/>
              </a:rPr>
              <a:t>Microaprendizaje para adultos  ·  Proyecto RUTA — Inter Ponce</a:t>
            </a:r>
            <a:endParaRPr lang="en-US" sz="900" dirty="0"/>
          </a:p>
        </p:txBody>
      </p:sp>
      <p:sp>
        <p:nvSpPr>
          <p:cNvPr id="5" name="Text 3"/>
          <p:cNvSpPr txBox="1"/>
          <p:nvPr/>
        </p:nvSpPr>
        <p:spPr>
          <a:xfrm>
            <a:off x="10972800" y="6428232"/>
            <a:ext cx="649224" cy="256032"/>
          </a:xfrm>
          <a:prstGeom prst="rect">
            <a:avLst/>
          </a:prstGeom>
          <a:noFill/>
          <a:ln/>
        </p:spPr>
        <p:txBody>
          <a:bodyPr wrap="square" lIns="0" tIns="0" rIns="0" bIns="0" rtlCol="0" anchor="ctr"/>
          <a:lstStyle/>
          <a:p>
            <a:pPr marL="0" indent="0" algn="r">
              <a:buNone/>
            </a:pPr>
            <a:r>
              <a:rPr lang="en-US" sz="900" dirty="0">
                <a:solidFill>
                  <a:srgbClr val="5B6B7B"/>
                </a:solidFill>
                <a:latin typeface="Calibri" pitchFamily="34" charset="0"/>
                <a:ea typeface="Calibri" pitchFamily="34" charset="-122"/>
                <a:cs typeface="Calibri" pitchFamily="34" charset="-120"/>
              </a:rPr>
              <a:t>12</a:t>
            </a:r>
            <a:endParaRPr lang="en-US" sz="900" dirty="0"/>
          </a:p>
        </p:txBody>
      </p:sp>
      <p:sp>
        <p:nvSpPr>
          <p:cNvPr id="6" name="Shape 4"/>
          <p:cNvSpPr/>
          <p:nvPr/>
        </p:nvSpPr>
        <p:spPr>
          <a:xfrm>
            <a:off x="566928" y="1572768"/>
            <a:ext cx="3502152" cy="1170432"/>
          </a:xfrm>
          <a:prstGeom prst="roundRect">
            <a:avLst>
              <a:gd name="adj" fmla="val 3125"/>
            </a:avLst>
          </a:prstGeom>
          <a:solidFill>
            <a:srgbClr val="F1F4F8"/>
          </a:solidFill>
          <a:ln w="12700">
            <a:solidFill>
              <a:srgbClr val="F1F4F8"/>
            </a:solidFill>
            <a:prstDash val="solid"/>
          </a:ln>
          <a:effectLst>
            <a:outerShdw blurRad="101600" dist="12700" dir="5400000" algn="bl" rotWithShape="0">
              <a:srgbClr val="9AA8B5">
                <a:alpha val="16000"/>
              </a:srgbClr>
            </a:outerShdw>
          </a:effectLst>
        </p:spPr>
      </p:sp>
      <p:sp>
        <p:nvSpPr>
          <p:cNvPr id="7" name="Text 5"/>
          <p:cNvSpPr txBox="1"/>
          <p:nvPr/>
        </p:nvSpPr>
        <p:spPr>
          <a:xfrm>
            <a:off x="804672" y="1792224"/>
            <a:ext cx="3026664" cy="310896"/>
          </a:xfrm>
          <a:prstGeom prst="rect">
            <a:avLst/>
          </a:prstGeom>
          <a:noFill/>
          <a:ln/>
        </p:spPr>
        <p:txBody>
          <a:bodyPr wrap="square" lIns="0" tIns="0" rIns="0" bIns="0" rtlCol="0" anchor="t"/>
          <a:lstStyle/>
          <a:p>
            <a:pPr marL="0" indent="0">
              <a:buNone/>
            </a:pPr>
            <a:r>
              <a:rPr lang="en-US" sz="1400" b="1" dirty="0">
                <a:solidFill>
                  <a:srgbClr val="1B2A4A"/>
                </a:solidFill>
                <a:latin typeface="Calibri" pitchFamily="34" charset="0"/>
                <a:ea typeface="Calibri" pitchFamily="34" charset="-122"/>
                <a:cs typeface="Calibri" pitchFamily="34" charset="-120"/>
              </a:rPr>
              <a:t>Tiempo</a:t>
            </a:r>
            <a:endParaRPr lang="en-US" sz="1400" dirty="0"/>
          </a:p>
        </p:txBody>
      </p:sp>
      <p:sp>
        <p:nvSpPr>
          <p:cNvPr id="8" name="Text 6"/>
          <p:cNvSpPr txBox="1"/>
          <p:nvPr/>
        </p:nvSpPr>
        <p:spPr>
          <a:xfrm>
            <a:off x="804672" y="2157984"/>
            <a:ext cx="3026664" cy="402336"/>
          </a:xfrm>
          <a:prstGeom prst="rect">
            <a:avLst/>
          </a:prstGeom>
          <a:noFill/>
          <a:ln/>
        </p:spPr>
        <p:txBody>
          <a:bodyPr wrap="square" lIns="0" tIns="0" rIns="0" bIns="0" rtlCol="0" anchor="t"/>
          <a:lstStyle/>
          <a:p>
            <a:pPr marL="0" indent="0">
              <a:lnSpc>
                <a:spcPct val="106000"/>
              </a:lnSpc>
              <a:buNone/>
            </a:pPr>
            <a:r>
              <a:rPr lang="en-US" sz="1150" dirty="0">
                <a:solidFill>
                  <a:srgbClr val="1F2933"/>
                </a:solidFill>
                <a:latin typeface="Calibri" pitchFamily="34" charset="0"/>
                <a:ea typeface="Calibri" pitchFamily="34" charset="-122"/>
                <a:cs typeface="Calibri" pitchFamily="34" charset="-120"/>
              </a:rPr>
              <a:t>¿Cuánto esfuerzo real exige?</a:t>
            </a:r>
            <a:endParaRPr lang="en-US" sz="1150" dirty="0"/>
          </a:p>
        </p:txBody>
      </p:sp>
      <p:sp>
        <p:nvSpPr>
          <p:cNvPr id="9" name="Shape 7"/>
          <p:cNvSpPr/>
          <p:nvPr/>
        </p:nvSpPr>
        <p:spPr>
          <a:xfrm>
            <a:off x="4343400" y="1572768"/>
            <a:ext cx="3502152" cy="1170432"/>
          </a:xfrm>
          <a:prstGeom prst="roundRect">
            <a:avLst>
              <a:gd name="adj" fmla="val 3125"/>
            </a:avLst>
          </a:prstGeom>
          <a:solidFill>
            <a:srgbClr val="E7F2F0"/>
          </a:solidFill>
          <a:ln w="12700">
            <a:solidFill>
              <a:srgbClr val="E7F2F0"/>
            </a:solidFill>
            <a:prstDash val="solid"/>
          </a:ln>
          <a:effectLst>
            <a:outerShdw blurRad="101600" dist="12700" dir="5400000" algn="bl" rotWithShape="0">
              <a:srgbClr val="9AA8B5">
                <a:alpha val="16000"/>
              </a:srgbClr>
            </a:outerShdw>
          </a:effectLst>
        </p:spPr>
      </p:sp>
      <p:sp>
        <p:nvSpPr>
          <p:cNvPr id="10" name="Text 8"/>
          <p:cNvSpPr txBox="1"/>
          <p:nvPr/>
        </p:nvSpPr>
        <p:spPr>
          <a:xfrm>
            <a:off x="4581144" y="1792224"/>
            <a:ext cx="3026664" cy="310896"/>
          </a:xfrm>
          <a:prstGeom prst="rect">
            <a:avLst/>
          </a:prstGeom>
          <a:noFill/>
          <a:ln/>
        </p:spPr>
        <p:txBody>
          <a:bodyPr wrap="square" lIns="0" tIns="0" rIns="0" bIns="0" rtlCol="0" anchor="t"/>
          <a:lstStyle/>
          <a:p>
            <a:pPr marL="0" indent="0">
              <a:buNone/>
            </a:pPr>
            <a:r>
              <a:rPr lang="en-US" sz="1400" b="1" dirty="0">
                <a:solidFill>
                  <a:srgbClr val="1B2A4A"/>
                </a:solidFill>
                <a:latin typeface="Calibri" pitchFamily="34" charset="0"/>
                <a:ea typeface="Calibri" pitchFamily="34" charset="-122"/>
                <a:cs typeface="Calibri" pitchFamily="34" charset="-120"/>
              </a:rPr>
              <a:t>Contenido</a:t>
            </a:r>
            <a:endParaRPr lang="en-US" sz="1400" dirty="0"/>
          </a:p>
        </p:txBody>
      </p:sp>
      <p:sp>
        <p:nvSpPr>
          <p:cNvPr id="11" name="Text 9"/>
          <p:cNvSpPr txBox="1"/>
          <p:nvPr/>
        </p:nvSpPr>
        <p:spPr>
          <a:xfrm>
            <a:off x="4581144" y="2157984"/>
            <a:ext cx="3026664" cy="402336"/>
          </a:xfrm>
          <a:prstGeom prst="rect">
            <a:avLst/>
          </a:prstGeom>
          <a:noFill/>
          <a:ln/>
        </p:spPr>
        <p:txBody>
          <a:bodyPr wrap="square" lIns="0" tIns="0" rIns="0" bIns="0" rtlCol="0" anchor="t"/>
          <a:lstStyle/>
          <a:p>
            <a:pPr marL="0" indent="0">
              <a:lnSpc>
                <a:spcPct val="106000"/>
              </a:lnSpc>
              <a:buNone/>
            </a:pPr>
            <a:r>
              <a:rPr lang="en-US" sz="1150" dirty="0">
                <a:solidFill>
                  <a:srgbClr val="1F2933"/>
                </a:solidFill>
                <a:latin typeface="Calibri" pitchFamily="34" charset="0"/>
                <a:ea typeface="Calibri" pitchFamily="34" charset="-122"/>
                <a:cs typeface="Calibri" pitchFamily="34" charset="-120"/>
              </a:rPr>
              <a:t>¿Es un asunto acotado o encubre varios?</a:t>
            </a:r>
            <a:endParaRPr lang="en-US" sz="1150" dirty="0"/>
          </a:p>
        </p:txBody>
      </p:sp>
      <p:sp>
        <p:nvSpPr>
          <p:cNvPr id="12" name="Shape 10"/>
          <p:cNvSpPr/>
          <p:nvPr/>
        </p:nvSpPr>
        <p:spPr>
          <a:xfrm>
            <a:off x="8119872" y="1572768"/>
            <a:ext cx="3502152" cy="1170432"/>
          </a:xfrm>
          <a:prstGeom prst="roundRect">
            <a:avLst>
              <a:gd name="adj" fmla="val 3125"/>
            </a:avLst>
          </a:prstGeom>
          <a:solidFill>
            <a:srgbClr val="FAF3E0"/>
          </a:solidFill>
          <a:ln w="12700">
            <a:solidFill>
              <a:srgbClr val="FAF3E0"/>
            </a:solidFill>
            <a:prstDash val="solid"/>
          </a:ln>
          <a:effectLst>
            <a:outerShdw blurRad="101600" dist="12700" dir="5400000" algn="bl" rotWithShape="0">
              <a:srgbClr val="9AA8B5">
                <a:alpha val="16000"/>
              </a:srgbClr>
            </a:outerShdw>
          </a:effectLst>
        </p:spPr>
      </p:sp>
      <p:sp>
        <p:nvSpPr>
          <p:cNvPr id="13" name="Text 11"/>
          <p:cNvSpPr txBox="1"/>
          <p:nvPr/>
        </p:nvSpPr>
        <p:spPr>
          <a:xfrm>
            <a:off x="8357616" y="1792224"/>
            <a:ext cx="3026664" cy="310896"/>
          </a:xfrm>
          <a:prstGeom prst="rect">
            <a:avLst/>
          </a:prstGeom>
          <a:noFill/>
          <a:ln/>
        </p:spPr>
        <p:txBody>
          <a:bodyPr wrap="square" lIns="0" tIns="0" rIns="0" bIns="0" rtlCol="0" anchor="t"/>
          <a:lstStyle/>
          <a:p>
            <a:pPr marL="0" indent="0">
              <a:buNone/>
            </a:pPr>
            <a:r>
              <a:rPr lang="en-US" sz="1400" b="1" dirty="0">
                <a:solidFill>
                  <a:srgbClr val="1B2A4A"/>
                </a:solidFill>
                <a:latin typeface="Calibri" pitchFamily="34" charset="0"/>
                <a:ea typeface="Calibri" pitchFamily="34" charset="-122"/>
                <a:cs typeface="Calibri" pitchFamily="34" charset="-120"/>
              </a:rPr>
              <a:t>Currículo</a:t>
            </a:r>
            <a:endParaRPr lang="en-US" sz="1400" dirty="0"/>
          </a:p>
        </p:txBody>
      </p:sp>
      <p:sp>
        <p:nvSpPr>
          <p:cNvPr id="14" name="Text 12"/>
          <p:cNvSpPr txBox="1"/>
          <p:nvPr/>
        </p:nvSpPr>
        <p:spPr>
          <a:xfrm>
            <a:off x="8357616" y="2157984"/>
            <a:ext cx="3026664" cy="402336"/>
          </a:xfrm>
          <a:prstGeom prst="rect">
            <a:avLst/>
          </a:prstGeom>
          <a:noFill/>
          <a:ln/>
        </p:spPr>
        <p:txBody>
          <a:bodyPr wrap="square" lIns="0" tIns="0" rIns="0" bIns="0" rtlCol="0" anchor="t"/>
          <a:lstStyle/>
          <a:p>
            <a:pPr marL="0" indent="0">
              <a:lnSpc>
                <a:spcPct val="106000"/>
              </a:lnSpc>
              <a:buNone/>
            </a:pPr>
            <a:r>
              <a:rPr lang="en-US" sz="1150" dirty="0">
                <a:solidFill>
                  <a:srgbClr val="1F2933"/>
                </a:solidFill>
                <a:latin typeface="Calibri" pitchFamily="34" charset="0"/>
                <a:ea typeface="Calibri" pitchFamily="34" charset="-122"/>
                <a:cs typeface="Calibri" pitchFamily="34" charset="-120"/>
              </a:rPr>
              <a:t>¿Dónde encaja en el módulo o la ruta?</a:t>
            </a:r>
            <a:endParaRPr lang="en-US" sz="1150" dirty="0"/>
          </a:p>
        </p:txBody>
      </p:sp>
      <p:sp>
        <p:nvSpPr>
          <p:cNvPr id="15" name="Shape 13"/>
          <p:cNvSpPr/>
          <p:nvPr/>
        </p:nvSpPr>
        <p:spPr>
          <a:xfrm>
            <a:off x="566928" y="2944368"/>
            <a:ext cx="3502152" cy="1170432"/>
          </a:xfrm>
          <a:prstGeom prst="roundRect">
            <a:avLst>
              <a:gd name="adj" fmla="val 3125"/>
            </a:avLst>
          </a:prstGeom>
          <a:solidFill>
            <a:srgbClr val="F1F4F8"/>
          </a:solidFill>
          <a:ln w="12700">
            <a:solidFill>
              <a:srgbClr val="F1F4F8"/>
            </a:solidFill>
            <a:prstDash val="solid"/>
          </a:ln>
          <a:effectLst>
            <a:outerShdw blurRad="101600" dist="12700" dir="5400000" algn="bl" rotWithShape="0">
              <a:srgbClr val="9AA8B5">
                <a:alpha val="16000"/>
              </a:srgbClr>
            </a:outerShdw>
          </a:effectLst>
        </p:spPr>
      </p:sp>
      <p:sp>
        <p:nvSpPr>
          <p:cNvPr id="16" name="Text 14"/>
          <p:cNvSpPr txBox="1"/>
          <p:nvPr/>
        </p:nvSpPr>
        <p:spPr>
          <a:xfrm>
            <a:off x="804672" y="3163824"/>
            <a:ext cx="3026664" cy="310896"/>
          </a:xfrm>
          <a:prstGeom prst="rect">
            <a:avLst/>
          </a:prstGeom>
          <a:noFill/>
          <a:ln/>
        </p:spPr>
        <p:txBody>
          <a:bodyPr wrap="square" lIns="0" tIns="0" rIns="0" bIns="0" rtlCol="0" anchor="t"/>
          <a:lstStyle/>
          <a:p>
            <a:pPr marL="0" indent="0">
              <a:buNone/>
            </a:pPr>
            <a:r>
              <a:rPr lang="en-US" sz="1400" b="1" dirty="0">
                <a:solidFill>
                  <a:srgbClr val="1B2A4A"/>
                </a:solidFill>
                <a:latin typeface="Calibri" pitchFamily="34" charset="0"/>
                <a:ea typeface="Calibri" pitchFamily="34" charset="-122"/>
                <a:cs typeface="Calibri" pitchFamily="34" charset="-120"/>
              </a:rPr>
              <a:t>Forma</a:t>
            </a:r>
            <a:endParaRPr lang="en-US" sz="1400" dirty="0"/>
          </a:p>
        </p:txBody>
      </p:sp>
      <p:sp>
        <p:nvSpPr>
          <p:cNvPr id="17" name="Text 15"/>
          <p:cNvSpPr txBox="1"/>
          <p:nvPr/>
        </p:nvSpPr>
        <p:spPr>
          <a:xfrm>
            <a:off x="804672" y="3529584"/>
            <a:ext cx="3026664" cy="402336"/>
          </a:xfrm>
          <a:prstGeom prst="rect">
            <a:avLst/>
          </a:prstGeom>
          <a:noFill/>
          <a:ln/>
        </p:spPr>
        <p:txBody>
          <a:bodyPr wrap="square" lIns="0" tIns="0" rIns="0" bIns="0" rtlCol="0" anchor="t"/>
          <a:lstStyle/>
          <a:p>
            <a:pPr marL="0" indent="0">
              <a:lnSpc>
                <a:spcPct val="106000"/>
              </a:lnSpc>
              <a:buNone/>
            </a:pPr>
            <a:r>
              <a:rPr lang="en-US" sz="1150" dirty="0">
                <a:solidFill>
                  <a:srgbClr val="1F2933"/>
                </a:solidFill>
                <a:latin typeface="Calibri" pitchFamily="34" charset="0"/>
                <a:ea typeface="Calibri" pitchFamily="34" charset="-122"/>
                <a:cs typeface="Calibri" pitchFamily="34" charset="-120"/>
              </a:rPr>
              <a:t>¿Fragmento, episodio, elemento de destreza?</a:t>
            </a:r>
            <a:endParaRPr lang="en-US" sz="1150" dirty="0"/>
          </a:p>
        </p:txBody>
      </p:sp>
      <p:sp>
        <p:nvSpPr>
          <p:cNvPr id="18" name="Shape 16"/>
          <p:cNvSpPr/>
          <p:nvPr/>
        </p:nvSpPr>
        <p:spPr>
          <a:xfrm>
            <a:off x="4343400" y="2944368"/>
            <a:ext cx="3502152" cy="1170432"/>
          </a:xfrm>
          <a:prstGeom prst="roundRect">
            <a:avLst>
              <a:gd name="adj" fmla="val 3125"/>
            </a:avLst>
          </a:prstGeom>
          <a:solidFill>
            <a:srgbClr val="E7F2F0"/>
          </a:solidFill>
          <a:ln w="12700">
            <a:solidFill>
              <a:srgbClr val="E7F2F0"/>
            </a:solidFill>
            <a:prstDash val="solid"/>
          </a:ln>
          <a:effectLst>
            <a:outerShdw blurRad="101600" dist="12700" dir="5400000" algn="bl" rotWithShape="0">
              <a:srgbClr val="9AA8B5">
                <a:alpha val="16000"/>
              </a:srgbClr>
            </a:outerShdw>
          </a:effectLst>
        </p:spPr>
      </p:sp>
      <p:sp>
        <p:nvSpPr>
          <p:cNvPr id="19" name="Text 17"/>
          <p:cNvSpPr txBox="1"/>
          <p:nvPr/>
        </p:nvSpPr>
        <p:spPr>
          <a:xfrm>
            <a:off x="4581144" y="3163824"/>
            <a:ext cx="3026664" cy="310896"/>
          </a:xfrm>
          <a:prstGeom prst="rect">
            <a:avLst/>
          </a:prstGeom>
          <a:noFill/>
          <a:ln/>
        </p:spPr>
        <p:txBody>
          <a:bodyPr wrap="square" lIns="0" tIns="0" rIns="0" bIns="0" rtlCol="0" anchor="t"/>
          <a:lstStyle/>
          <a:p>
            <a:pPr marL="0" indent="0">
              <a:buNone/>
            </a:pPr>
            <a:r>
              <a:rPr lang="en-US" sz="1400" b="1" dirty="0">
                <a:solidFill>
                  <a:srgbClr val="1B2A4A"/>
                </a:solidFill>
                <a:latin typeface="Calibri" pitchFamily="34" charset="0"/>
                <a:ea typeface="Calibri" pitchFamily="34" charset="-122"/>
                <a:cs typeface="Calibri" pitchFamily="34" charset="-120"/>
              </a:rPr>
              <a:t>Proceso</a:t>
            </a:r>
            <a:endParaRPr lang="en-US" sz="1400" dirty="0"/>
          </a:p>
        </p:txBody>
      </p:sp>
      <p:sp>
        <p:nvSpPr>
          <p:cNvPr id="20" name="Text 18"/>
          <p:cNvSpPr txBox="1"/>
          <p:nvPr/>
        </p:nvSpPr>
        <p:spPr>
          <a:xfrm>
            <a:off x="4581144" y="3529584"/>
            <a:ext cx="3026664" cy="402336"/>
          </a:xfrm>
          <a:prstGeom prst="rect">
            <a:avLst/>
          </a:prstGeom>
          <a:noFill/>
          <a:ln/>
        </p:spPr>
        <p:txBody>
          <a:bodyPr wrap="square" lIns="0" tIns="0" rIns="0" bIns="0" rtlCol="0" anchor="t"/>
          <a:lstStyle/>
          <a:p>
            <a:pPr marL="0" indent="0">
              <a:lnSpc>
                <a:spcPct val="106000"/>
              </a:lnSpc>
              <a:buNone/>
            </a:pPr>
            <a:r>
              <a:rPr lang="en-US" sz="1150" dirty="0">
                <a:solidFill>
                  <a:srgbClr val="1F2933"/>
                </a:solidFill>
                <a:latin typeface="Calibri" pitchFamily="34" charset="0"/>
                <a:ea typeface="Calibri" pitchFamily="34" charset="-122"/>
                <a:cs typeface="Calibri" pitchFamily="34" charset="-120"/>
              </a:rPr>
              <a:t>¿Actividad aislada o integrada al flujo?</a:t>
            </a:r>
            <a:endParaRPr lang="en-US" sz="1150" dirty="0"/>
          </a:p>
        </p:txBody>
      </p:sp>
      <p:sp>
        <p:nvSpPr>
          <p:cNvPr id="21" name="Shape 19"/>
          <p:cNvSpPr/>
          <p:nvPr/>
        </p:nvSpPr>
        <p:spPr>
          <a:xfrm>
            <a:off x="8119872" y="2944368"/>
            <a:ext cx="3502152" cy="1170432"/>
          </a:xfrm>
          <a:prstGeom prst="roundRect">
            <a:avLst>
              <a:gd name="adj" fmla="val 3125"/>
            </a:avLst>
          </a:prstGeom>
          <a:solidFill>
            <a:srgbClr val="FAF3E0"/>
          </a:solidFill>
          <a:ln w="12700">
            <a:solidFill>
              <a:srgbClr val="FAF3E0"/>
            </a:solidFill>
            <a:prstDash val="solid"/>
          </a:ln>
          <a:effectLst>
            <a:outerShdw blurRad="101600" dist="12700" dir="5400000" algn="bl" rotWithShape="0">
              <a:srgbClr val="9AA8B5">
                <a:alpha val="16000"/>
              </a:srgbClr>
            </a:outerShdw>
          </a:effectLst>
        </p:spPr>
      </p:sp>
      <p:sp>
        <p:nvSpPr>
          <p:cNvPr id="22" name="Text 20"/>
          <p:cNvSpPr txBox="1"/>
          <p:nvPr/>
        </p:nvSpPr>
        <p:spPr>
          <a:xfrm>
            <a:off x="8357616" y="3163824"/>
            <a:ext cx="3026664" cy="310896"/>
          </a:xfrm>
          <a:prstGeom prst="rect">
            <a:avLst/>
          </a:prstGeom>
          <a:noFill/>
          <a:ln/>
        </p:spPr>
        <p:txBody>
          <a:bodyPr wrap="square" lIns="0" tIns="0" rIns="0" bIns="0" rtlCol="0" anchor="t"/>
          <a:lstStyle/>
          <a:p>
            <a:pPr marL="0" indent="0">
              <a:buNone/>
            </a:pPr>
            <a:r>
              <a:rPr lang="en-US" sz="1400" b="1" dirty="0">
                <a:solidFill>
                  <a:srgbClr val="1B2A4A"/>
                </a:solidFill>
                <a:latin typeface="Calibri" pitchFamily="34" charset="0"/>
                <a:ea typeface="Calibri" pitchFamily="34" charset="-122"/>
                <a:cs typeface="Calibri" pitchFamily="34" charset="-120"/>
              </a:rPr>
              <a:t>Medialidad</a:t>
            </a:r>
            <a:endParaRPr lang="en-US" sz="1400" dirty="0"/>
          </a:p>
        </p:txBody>
      </p:sp>
      <p:sp>
        <p:nvSpPr>
          <p:cNvPr id="23" name="Text 21"/>
          <p:cNvSpPr txBox="1"/>
          <p:nvPr/>
        </p:nvSpPr>
        <p:spPr>
          <a:xfrm>
            <a:off x="8357616" y="3529584"/>
            <a:ext cx="3026664" cy="402336"/>
          </a:xfrm>
          <a:prstGeom prst="rect">
            <a:avLst/>
          </a:prstGeom>
          <a:noFill/>
          <a:ln/>
        </p:spPr>
        <p:txBody>
          <a:bodyPr wrap="square" lIns="0" tIns="0" rIns="0" bIns="0" rtlCol="0" anchor="t"/>
          <a:lstStyle/>
          <a:p>
            <a:pPr marL="0" indent="0">
              <a:lnSpc>
                <a:spcPct val="106000"/>
              </a:lnSpc>
              <a:buNone/>
            </a:pPr>
            <a:r>
              <a:rPr lang="en-US" sz="1150" dirty="0">
                <a:solidFill>
                  <a:srgbClr val="1F2933"/>
                </a:solidFill>
                <a:latin typeface="Calibri" pitchFamily="34" charset="0"/>
                <a:ea typeface="Calibri" pitchFamily="34" charset="-122"/>
                <a:cs typeface="Calibri" pitchFamily="34" charset="-120"/>
              </a:rPr>
              <a:t>¿Presencial, impresa, multimedia?</a:t>
            </a:r>
            <a:endParaRPr lang="en-US" sz="1150" dirty="0"/>
          </a:p>
        </p:txBody>
      </p:sp>
      <p:sp>
        <p:nvSpPr>
          <p:cNvPr id="24" name="Shape 22"/>
          <p:cNvSpPr/>
          <p:nvPr/>
        </p:nvSpPr>
        <p:spPr>
          <a:xfrm>
            <a:off x="566928" y="4315968"/>
            <a:ext cx="3502152" cy="1170432"/>
          </a:xfrm>
          <a:prstGeom prst="roundRect">
            <a:avLst>
              <a:gd name="adj" fmla="val 3125"/>
            </a:avLst>
          </a:prstGeom>
          <a:solidFill>
            <a:srgbClr val="F1F4F8"/>
          </a:solidFill>
          <a:ln w="12700">
            <a:solidFill>
              <a:srgbClr val="F1F4F8"/>
            </a:solidFill>
            <a:prstDash val="solid"/>
          </a:ln>
          <a:effectLst>
            <a:outerShdw blurRad="101600" dist="12700" dir="5400000" algn="bl" rotWithShape="0">
              <a:srgbClr val="9AA8B5">
                <a:alpha val="16000"/>
              </a:srgbClr>
            </a:outerShdw>
          </a:effectLst>
        </p:spPr>
      </p:sp>
      <p:sp>
        <p:nvSpPr>
          <p:cNvPr id="25" name="Text 23"/>
          <p:cNvSpPr txBox="1"/>
          <p:nvPr/>
        </p:nvSpPr>
        <p:spPr>
          <a:xfrm>
            <a:off x="804672" y="4535424"/>
            <a:ext cx="3026664" cy="310896"/>
          </a:xfrm>
          <a:prstGeom prst="rect">
            <a:avLst/>
          </a:prstGeom>
          <a:noFill/>
          <a:ln/>
        </p:spPr>
        <p:txBody>
          <a:bodyPr wrap="square" lIns="0" tIns="0" rIns="0" bIns="0" rtlCol="0" anchor="t"/>
          <a:lstStyle/>
          <a:p>
            <a:pPr marL="0" indent="0">
              <a:buNone/>
            </a:pPr>
            <a:r>
              <a:rPr lang="en-US" sz="1400" b="1" dirty="0">
                <a:solidFill>
                  <a:srgbClr val="1B2A4A"/>
                </a:solidFill>
                <a:latin typeface="Calibri" pitchFamily="34" charset="0"/>
                <a:ea typeface="Calibri" pitchFamily="34" charset="-122"/>
                <a:cs typeface="Calibri" pitchFamily="34" charset="-120"/>
              </a:rPr>
              <a:t>Tipo de aprendizaje</a:t>
            </a:r>
            <a:endParaRPr lang="en-US" sz="1400" dirty="0"/>
          </a:p>
        </p:txBody>
      </p:sp>
      <p:sp>
        <p:nvSpPr>
          <p:cNvPr id="26" name="Text 24"/>
          <p:cNvSpPr txBox="1"/>
          <p:nvPr/>
        </p:nvSpPr>
        <p:spPr>
          <a:xfrm>
            <a:off x="804672" y="4901184"/>
            <a:ext cx="3026664" cy="402336"/>
          </a:xfrm>
          <a:prstGeom prst="rect">
            <a:avLst/>
          </a:prstGeom>
          <a:noFill/>
          <a:ln/>
        </p:spPr>
        <p:txBody>
          <a:bodyPr wrap="square" lIns="0" tIns="0" rIns="0" bIns="0" rtlCol="0" anchor="t"/>
          <a:lstStyle/>
          <a:p>
            <a:pPr marL="0" indent="0">
              <a:lnSpc>
                <a:spcPct val="106000"/>
              </a:lnSpc>
              <a:buNone/>
            </a:pPr>
            <a:r>
              <a:rPr lang="en-US" sz="1150" dirty="0">
                <a:solidFill>
                  <a:srgbClr val="1F2933"/>
                </a:solidFill>
                <a:latin typeface="Calibri" pitchFamily="34" charset="0"/>
                <a:ea typeface="Calibri" pitchFamily="34" charset="-122"/>
                <a:cs typeface="Calibri" pitchFamily="34" charset="-120"/>
              </a:rPr>
              <a:t>¿Repetitivo, reflexivo, orientado a problema?</a:t>
            </a:r>
            <a:endParaRPr lang="en-US" sz="1150" dirty="0"/>
          </a:p>
        </p:txBody>
      </p:sp>
      <p:sp>
        <p:nvSpPr>
          <p:cNvPr id="27" name="Shape 25"/>
          <p:cNvSpPr/>
          <p:nvPr/>
        </p:nvSpPr>
        <p:spPr>
          <a:xfrm>
            <a:off x="4343400" y="4315968"/>
            <a:ext cx="7278624" cy="1170432"/>
          </a:xfrm>
          <a:prstGeom prst="roundRect">
            <a:avLst>
              <a:gd name="adj" fmla="val 3125"/>
            </a:avLst>
          </a:prstGeom>
          <a:solidFill>
            <a:srgbClr val="1B2A4A"/>
          </a:solidFill>
          <a:ln w="12700">
            <a:solidFill>
              <a:srgbClr val="1B2A4A"/>
            </a:solidFill>
            <a:prstDash val="solid"/>
          </a:ln>
          <a:effectLst>
            <a:outerShdw blurRad="101600" dist="12700" dir="5400000" algn="bl" rotWithShape="0">
              <a:srgbClr val="9AA8B5">
                <a:alpha val="16000"/>
              </a:srgbClr>
            </a:outerShdw>
          </a:effectLst>
        </p:spPr>
      </p:sp>
      <p:sp>
        <p:nvSpPr>
          <p:cNvPr id="28" name="Text 26"/>
          <p:cNvSpPr txBox="1"/>
          <p:nvPr/>
        </p:nvSpPr>
        <p:spPr>
          <a:xfrm>
            <a:off x="4581144" y="4535424"/>
            <a:ext cx="6803136" cy="310896"/>
          </a:xfrm>
          <a:prstGeom prst="rect">
            <a:avLst/>
          </a:prstGeom>
          <a:noFill/>
          <a:ln/>
        </p:spPr>
        <p:txBody>
          <a:bodyPr wrap="square" lIns="0" tIns="0" rIns="0" bIns="0" rtlCol="0" anchor="t"/>
          <a:lstStyle/>
          <a:p>
            <a:pPr marL="0" indent="0">
              <a:buNone/>
            </a:pPr>
            <a:r>
              <a:rPr lang="en-US" sz="1400" b="1" dirty="0">
                <a:solidFill>
                  <a:srgbClr val="C9A227"/>
                </a:solidFill>
                <a:latin typeface="Calibri" pitchFamily="34" charset="0"/>
                <a:ea typeface="Calibri" pitchFamily="34" charset="-122"/>
                <a:cs typeface="Calibri" pitchFamily="34" charset="-120"/>
              </a:rPr>
              <a:t>Uso en el taller</a:t>
            </a:r>
            <a:endParaRPr lang="en-US" sz="1400" dirty="0"/>
          </a:p>
        </p:txBody>
      </p:sp>
      <p:sp>
        <p:nvSpPr>
          <p:cNvPr id="29" name="Text 27"/>
          <p:cNvSpPr txBox="1"/>
          <p:nvPr/>
        </p:nvSpPr>
        <p:spPr>
          <a:xfrm>
            <a:off x="4581144" y="4901184"/>
            <a:ext cx="6803136" cy="402336"/>
          </a:xfrm>
          <a:prstGeom prst="rect">
            <a:avLst/>
          </a:prstGeom>
          <a:noFill/>
          <a:ln/>
        </p:spPr>
        <p:txBody>
          <a:bodyPr wrap="square" lIns="0" tIns="0" rIns="0" bIns="0" rtlCol="0" anchor="t"/>
          <a:lstStyle/>
          <a:p>
            <a:pPr marL="0" indent="0">
              <a:lnSpc>
                <a:spcPct val="106000"/>
              </a:lnSpc>
              <a:buNone/>
            </a:pPr>
            <a:r>
              <a:rPr lang="en-US" sz="1200" dirty="0">
                <a:solidFill>
                  <a:srgbClr val="D6E0EE"/>
                </a:solidFill>
                <a:latin typeface="Calibri" pitchFamily="34" charset="0"/>
                <a:ea typeface="Calibri" pitchFamily="34" charset="-122"/>
                <a:cs typeface="Calibri" pitchFamily="34" charset="-120"/>
              </a:rPr>
              <a:t>Estas siete preguntas son la lista de cotejo con la que revisaremos cada cápsula en las micro-exposiciones del cierre.</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29184"/>
            <a:ext cx="11055096" cy="256032"/>
          </a:xfrm>
          <a:prstGeom prst="rect">
            <a:avLst/>
          </a:prstGeom>
          <a:noFill/>
          <a:ln/>
        </p:spPr>
        <p:txBody>
          <a:bodyPr wrap="square" lIns="0" tIns="0" rIns="0" bIns="0" rtlCol="0" anchor="ctr"/>
          <a:lstStyle/>
          <a:p>
            <a:pPr marL="0" indent="0">
              <a:buNone/>
            </a:pPr>
            <a:r>
              <a:rPr lang="en-US" sz="1100" b="1" kern="0" spc="160" dirty="0">
                <a:solidFill>
                  <a:srgbClr val="2A9D8F"/>
                </a:solidFill>
                <a:latin typeface="Calibri" pitchFamily="34" charset="0"/>
                <a:ea typeface="Calibri" pitchFamily="34" charset="-122"/>
                <a:cs typeface="Calibri" pitchFamily="34" charset="-120"/>
              </a:rPr>
              <a:t>TIPOLOGÍA DE USO</a:t>
            </a:r>
            <a:endParaRPr lang="en-US" sz="1100" dirty="0"/>
          </a:p>
        </p:txBody>
      </p:sp>
      <p:sp>
        <p:nvSpPr>
          <p:cNvPr id="3" name="Text 1"/>
          <p:cNvSpPr txBox="1"/>
          <p:nvPr/>
        </p:nvSpPr>
        <p:spPr>
          <a:xfrm>
            <a:off x="566928" y="603504"/>
            <a:ext cx="11055096" cy="749808"/>
          </a:xfrm>
          <a:prstGeom prst="rect">
            <a:avLst/>
          </a:prstGeom>
          <a:noFill/>
          <a:ln/>
        </p:spPr>
        <p:txBody>
          <a:bodyPr wrap="square" lIns="0" tIns="0" rIns="0" bIns="0" rtlCol="0" anchor="t"/>
          <a:lstStyle/>
          <a:p>
            <a:pPr marL="0" indent="0">
              <a:buNone/>
            </a:pPr>
            <a:r>
              <a:rPr lang="en-US" sz="2900" b="1" dirty="0">
                <a:solidFill>
                  <a:srgbClr val="1B2A4A"/>
                </a:solidFill>
                <a:latin typeface="Cambria" pitchFamily="34" charset="0"/>
                <a:ea typeface="Cambria" pitchFamily="34" charset="-122"/>
                <a:cs typeface="Cambria" pitchFamily="34" charset="-120"/>
              </a:rPr>
              <a:t>Seis funciones de una microunidad (Kapp y Defelice, 2019)</a:t>
            </a:r>
            <a:endParaRPr lang="en-US" sz="2900" dirty="0"/>
          </a:p>
        </p:txBody>
      </p:sp>
      <p:sp>
        <p:nvSpPr>
          <p:cNvPr id="4" name="Text 2"/>
          <p:cNvSpPr txBox="1"/>
          <p:nvPr/>
        </p:nvSpPr>
        <p:spPr>
          <a:xfrm>
            <a:off x="566928" y="6428232"/>
            <a:ext cx="7863840" cy="256032"/>
          </a:xfrm>
          <a:prstGeom prst="rect">
            <a:avLst/>
          </a:prstGeom>
          <a:noFill/>
          <a:ln/>
        </p:spPr>
        <p:txBody>
          <a:bodyPr wrap="square" lIns="0" tIns="0" rIns="0" bIns="0" rtlCol="0" anchor="ctr"/>
          <a:lstStyle/>
          <a:p>
            <a:pPr marL="0" indent="0">
              <a:buNone/>
            </a:pPr>
            <a:r>
              <a:rPr lang="en-US" sz="900" dirty="0">
                <a:solidFill>
                  <a:srgbClr val="5B6B7B"/>
                </a:solidFill>
                <a:latin typeface="Calibri" pitchFamily="34" charset="0"/>
                <a:ea typeface="Calibri" pitchFamily="34" charset="-122"/>
                <a:cs typeface="Calibri" pitchFamily="34" charset="-120"/>
              </a:rPr>
              <a:t>Microaprendizaje para adultos  ·  Proyecto RUTA — Inter Ponce</a:t>
            </a:r>
            <a:endParaRPr lang="en-US" sz="900" dirty="0"/>
          </a:p>
        </p:txBody>
      </p:sp>
      <p:sp>
        <p:nvSpPr>
          <p:cNvPr id="5" name="Text 3"/>
          <p:cNvSpPr txBox="1"/>
          <p:nvPr/>
        </p:nvSpPr>
        <p:spPr>
          <a:xfrm>
            <a:off x="10972800" y="6428232"/>
            <a:ext cx="649224" cy="256032"/>
          </a:xfrm>
          <a:prstGeom prst="rect">
            <a:avLst/>
          </a:prstGeom>
          <a:noFill/>
          <a:ln/>
        </p:spPr>
        <p:txBody>
          <a:bodyPr wrap="square" lIns="0" tIns="0" rIns="0" bIns="0" rtlCol="0" anchor="ctr"/>
          <a:lstStyle/>
          <a:p>
            <a:pPr marL="0" indent="0" algn="r">
              <a:buNone/>
            </a:pPr>
            <a:r>
              <a:rPr lang="en-US" sz="900" dirty="0">
                <a:solidFill>
                  <a:srgbClr val="5B6B7B"/>
                </a:solidFill>
                <a:latin typeface="Calibri" pitchFamily="34" charset="0"/>
                <a:ea typeface="Calibri" pitchFamily="34" charset="-122"/>
                <a:cs typeface="Calibri" pitchFamily="34" charset="-120"/>
              </a:rPr>
              <a:t>13</a:t>
            </a:r>
            <a:endParaRPr lang="en-US" sz="900" dirty="0"/>
          </a:p>
        </p:txBody>
      </p:sp>
      <p:sp>
        <p:nvSpPr>
          <p:cNvPr id="6" name="Shape 4"/>
          <p:cNvSpPr/>
          <p:nvPr/>
        </p:nvSpPr>
        <p:spPr>
          <a:xfrm>
            <a:off x="566928" y="1572768"/>
            <a:ext cx="3502152" cy="2011680"/>
          </a:xfrm>
          <a:prstGeom prst="roundRect">
            <a:avLst>
              <a:gd name="adj" fmla="val 1818"/>
            </a:avLst>
          </a:prstGeom>
          <a:solidFill>
            <a:srgbClr val="F1F4F8"/>
          </a:solidFill>
          <a:ln w="12700">
            <a:solidFill>
              <a:srgbClr val="F1F4F8"/>
            </a:solidFill>
            <a:prstDash val="solid"/>
          </a:ln>
          <a:effectLst>
            <a:outerShdw blurRad="101600" dist="12700" dir="5400000" algn="bl" rotWithShape="0">
              <a:srgbClr val="9AA8B5">
                <a:alpha val="16000"/>
              </a:srgbClr>
            </a:outerShdw>
          </a:effectLst>
        </p:spPr>
      </p:sp>
      <p:sp>
        <p:nvSpPr>
          <p:cNvPr id="7" name="Text 5"/>
          <p:cNvSpPr txBox="1"/>
          <p:nvPr/>
        </p:nvSpPr>
        <p:spPr>
          <a:xfrm>
            <a:off x="804672" y="1792224"/>
            <a:ext cx="3026664" cy="310896"/>
          </a:xfrm>
          <a:prstGeom prst="rect">
            <a:avLst/>
          </a:prstGeom>
          <a:noFill/>
          <a:ln/>
        </p:spPr>
        <p:txBody>
          <a:bodyPr wrap="square" lIns="0" tIns="0" rIns="0" bIns="0" rtlCol="0" anchor="t"/>
          <a:lstStyle/>
          <a:p>
            <a:pPr marL="0" indent="0">
              <a:buNone/>
            </a:pPr>
            <a:r>
              <a:rPr lang="en-US" sz="1450" b="1" dirty="0">
                <a:solidFill>
                  <a:srgbClr val="1B2A4A"/>
                </a:solidFill>
                <a:latin typeface="Calibri" pitchFamily="34" charset="0"/>
                <a:ea typeface="Calibri" pitchFamily="34" charset="-122"/>
                <a:cs typeface="Calibri" pitchFamily="34" charset="-120"/>
              </a:rPr>
              <a:t>Preparatoria</a:t>
            </a:r>
            <a:endParaRPr lang="en-US" sz="1450" dirty="0"/>
          </a:p>
        </p:txBody>
      </p:sp>
      <p:sp>
        <p:nvSpPr>
          <p:cNvPr id="8" name="Text 6"/>
          <p:cNvSpPr txBox="1"/>
          <p:nvPr/>
        </p:nvSpPr>
        <p:spPr>
          <a:xfrm>
            <a:off x="804672" y="2157984"/>
            <a:ext cx="3026664" cy="1243584"/>
          </a:xfrm>
          <a:prstGeom prst="rect">
            <a:avLst/>
          </a:prstGeom>
          <a:noFill/>
          <a:ln/>
        </p:spPr>
        <p:txBody>
          <a:bodyPr wrap="square" lIns="0" tIns="0" rIns="0" bIns="0" rtlCol="0" anchor="t"/>
          <a:lstStyle/>
          <a:p>
            <a:pPr marL="0" indent="0">
              <a:lnSpc>
                <a:spcPct val="106000"/>
              </a:lnSpc>
              <a:buNone/>
            </a:pPr>
            <a:r>
              <a:rPr lang="en-US" sz="1150" dirty="0">
                <a:solidFill>
                  <a:srgbClr val="1F2933"/>
                </a:solidFill>
                <a:latin typeface="Calibri" pitchFamily="34" charset="0"/>
                <a:ea typeface="Calibri" pitchFamily="34" charset="-122"/>
                <a:cs typeface="Calibri" pitchFamily="34" charset="-120"/>
              </a:rPr>
              <a:t>Prepara el terreno antes de una sesión mayor.</a:t>
            </a:r>
            <a:endParaRPr lang="en-US" sz="1150" dirty="0"/>
          </a:p>
          <a:p>
            <a:pPr marL="0" indent="0">
              <a:lnSpc>
                <a:spcPct val="106000"/>
              </a:lnSpc>
              <a:buNone/>
            </a:pPr>
            <a:endParaRPr lang="en-US" sz="1150" dirty="0"/>
          </a:p>
          <a:p>
            <a:pPr marL="0" indent="0">
              <a:lnSpc>
                <a:spcPct val="106000"/>
              </a:lnSpc>
              <a:buNone/>
            </a:pPr>
            <a:r>
              <a:rPr lang="en-US" sz="1150" dirty="0">
                <a:solidFill>
                  <a:srgbClr val="1F2933"/>
                </a:solidFill>
                <a:latin typeface="Calibri" pitchFamily="34" charset="0"/>
                <a:ea typeface="Calibri" pitchFamily="34" charset="-122"/>
                <a:cs typeface="Calibri" pitchFamily="34" charset="-120"/>
              </a:rPr>
              <a:t>Ejemplo RUTA: Cápsula sobre vocabulario de entrevista, la víspera del taller de empleabilidad.</a:t>
            </a:r>
            <a:endParaRPr lang="en-US" sz="1150" dirty="0"/>
          </a:p>
        </p:txBody>
      </p:sp>
      <p:sp>
        <p:nvSpPr>
          <p:cNvPr id="9" name="Shape 7"/>
          <p:cNvSpPr/>
          <p:nvPr/>
        </p:nvSpPr>
        <p:spPr>
          <a:xfrm>
            <a:off x="4343400" y="1572768"/>
            <a:ext cx="3502152" cy="2011680"/>
          </a:xfrm>
          <a:prstGeom prst="roundRect">
            <a:avLst>
              <a:gd name="adj" fmla="val 1818"/>
            </a:avLst>
          </a:prstGeom>
          <a:solidFill>
            <a:srgbClr val="F1F4F8"/>
          </a:solidFill>
          <a:ln w="12700">
            <a:solidFill>
              <a:srgbClr val="F1F4F8"/>
            </a:solidFill>
            <a:prstDash val="solid"/>
          </a:ln>
          <a:effectLst>
            <a:outerShdw blurRad="101600" dist="12700" dir="5400000" algn="bl" rotWithShape="0">
              <a:srgbClr val="9AA8B5">
                <a:alpha val="16000"/>
              </a:srgbClr>
            </a:outerShdw>
          </a:effectLst>
        </p:spPr>
      </p:sp>
      <p:sp>
        <p:nvSpPr>
          <p:cNvPr id="10" name="Text 8"/>
          <p:cNvSpPr txBox="1"/>
          <p:nvPr/>
        </p:nvSpPr>
        <p:spPr>
          <a:xfrm>
            <a:off x="4581144" y="1792224"/>
            <a:ext cx="3026664" cy="310896"/>
          </a:xfrm>
          <a:prstGeom prst="rect">
            <a:avLst/>
          </a:prstGeom>
          <a:noFill/>
          <a:ln/>
        </p:spPr>
        <p:txBody>
          <a:bodyPr wrap="square" lIns="0" tIns="0" rIns="0" bIns="0" rtlCol="0" anchor="t"/>
          <a:lstStyle/>
          <a:p>
            <a:pPr marL="0" indent="0">
              <a:buNone/>
            </a:pPr>
            <a:r>
              <a:rPr lang="en-US" sz="1450" b="1" dirty="0">
                <a:solidFill>
                  <a:srgbClr val="2A9D8F"/>
                </a:solidFill>
                <a:latin typeface="Calibri" pitchFamily="34" charset="0"/>
                <a:ea typeface="Calibri" pitchFamily="34" charset="-122"/>
                <a:cs typeface="Calibri" pitchFamily="34" charset="-120"/>
              </a:rPr>
              <a:t>De práctica</a:t>
            </a:r>
            <a:endParaRPr lang="en-US" sz="1450" dirty="0"/>
          </a:p>
        </p:txBody>
      </p:sp>
      <p:sp>
        <p:nvSpPr>
          <p:cNvPr id="11" name="Text 9"/>
          <p:cNvSpPr txBox="1"/>
          <p:nvPr/>
        </p:nvSpPr>
        <p:spPr>
          <a:xfrm>
            <a:off x="4581144" y="2157984"/>
            <a:ext cx="3026664" cy="1243584"/>
          </a:xfrm>
          <a:prstGeom prst="rect">
            <a:avLst/>
          </a:prstGeom>
          <a:noFill/>
          <a:ln/>
        </p:spPr>
        <p:txBody>
          <a:bodyPr wrap="square" lIns="0" tIns="0" rIns="0" bIns="0" rtlCol="0" anchor="t"/>
          <a:lstStyle/>
          <a:p>
            <a:pPr marL="0" indent="0">
              <a:lnSpc>
                <a:spcPct val="106000"/>
              </a:lnSpc>
              <a:buNone/>
            </a:pPr>
            <a:r>
              <a:rPr lang="en-US" sz="1150" dirty="0">
                <a:solidFill>
                  <a:srgbClr val="1F2933"/>
                </a:solidFill>
                <a:latin typeface="Calibri" pitchFamily="34" charset="0"/>
                <a:ea typeface="Calibri" pitchFamily="34" charset="-122"/>
                <a:cs typeface="Calibri" pitchFamily="34" charset="-120"/>
              </a:rPr>
              <a:t>Ejercita una destreza ya enseñada.</a:t>
            </a:r>
            <a:endParaRPr lang="en-US" sz="1150" dirty="0"/>
          </a:p>
          <a:p>
            <a:pPr marL="0" indent="0">
              <a:lnSpc>
                <a:spcPct val="106000"/>
              </a:lnSpc>
              <a:buNone/>
            </a:pPr>
            <a:endParaRPr lang="en-US" sz="1150" dirty="0"/>
          </a:p>
          <a:p>
            <a:pPr marL="0" indent="0">
              <a:lnSpc>
                <a:spcPct val="106000"/>
              </a:lnSpc>
              <a:buNone/>
            </a:pPr>
            <a:r>
              <a:rPr lang="en-US" sz="1150" dirty="0">
                <a:solidFill>
                  <a:srgbClr val="1F2933"/>
                </a:solidFill>
                <a:latin typeface="Calibri" pitchFamily="34" charset="0"/>
                <a:ea typeface="Calibri" pitchFamily="34" charset="-122"/>
                <a:cs typeface="Calibri" pitchFamily="34" charset="-120"/>
              </a:rPr>
              <a:t>Ejemplo RUTA: Tres problemas de porcentaje con retroalimentación inmediata.</a:t>
            </a:r>
            <a:endParaRPr lang="en-US" sz="1150" dirty="0"/>
          </a:p>
        </p:txBody>
      </p:sp>
      <p:sp>
        <p:nvSpPr>
          <p:cNvPr id="12" name="Shape 10"/>
          <p:cNvSpPr/>
          <p:nvPr/>
        </p:nvSpPr>
        <p:spPr>
          <a:xfrm>
            <a:off x="8119872" y="1572768"/>
            <a:ext cx="3502152" cy="2011680"/>
          </a:xfrm>
          <a:prstGeom prst="roundRect">
            <a:avLst>
              <a:gd name="adj" fmla="val 1818"/>
            </a:avLst>
          </a:prstGeom>
          <a:solidFill>
            <a:srgbClr val="F1F4F8"/>
          </a:solidFill>
          <a:ln w="12700">
            <a:solidFill>
              <a:srgbClr val="F1F4F8"/>
            </a:solidFill>
            <a:prstDash val="solid"/>
          </a:ln>
          <a:effectLst>
            <a:outerShdw blurRad="101600" dist="12700" dir="5400000" algn="bl" rotWithShape="0">
              <a:srgbClr val="9AA8B5">
                <a:alpha val="16000"/>
              </a:srgbClr>
            </a:outerShdw>
          </a:effectLst>
        </p:spPr>
      </p:sp>
      <p:sp>
        <p:nvSpPr>
          <p:cNvPr id="13" name="Text 11"/>
          <p:cNvSpPr txBox="1"/>
          <p:nvPr/>
        </p:nvSpPr>
        <p:spPr>
          <a:xfrm>
            <a:off x="8357616" y="1792224"/>
            <a:ext cx="3026664" cy="310896"/>
          </a:xfrm>
          <a:prstGeom prst="rect">
            <a:avLst/>
          </a:prstGeom>
          <a:noFill/>
          <a:ln/>
        </p:spPr>
        <p:txBody>
          <a:bodyPr wrap="square" lIns="0" tIns="0" rIns="0" bIns="0" rtlCol="0" anchor="t"/>
          <a:lstStyle/>
          <a:p>
            <a:pPr marL="0" indent="0">
              <a:buNone/>
            </a:pPr>
            <a:r>
              <a:rPr lang="en-US" sz="1450" b="1" dirty="0">
                <a:solidFill>
                  <a:srgbClr val="C9A227"/>
                </a:solidFill>
                <a:latin typeface="Calibri" pitchFamily="34" charset="0"/>
                <a:ea typeface="Calibri" pitchFamily="34" charset="-122"/>
                <a:cs typeface="Calibri" pitchFamily="34" charset="-120"/>
              </a:rPr>
              <a:t>Posinstruccional</a:t>
            </a:r>
            <a:endParaRPr lang="en-US" sz="1450" dirty="0"/>
          </a:p>
        </p:txBody>
      </p:sp>
      <p:sp>
        <p:nvSpPr>
          <p:cNvPr id="14" name="Text 12"/>
          <p:cNvSpPr txBox="1"/>
          <p:nvPr/>
        </p:nvSpPr>
        <p:spPr>
          <a:xfrm>
            <a:off x="8357616" y="2157984"/>
            <a:ext cx="3026664" cy="1243584"/>
          </a:xfrm>
          <a:prstGeom prst="rect">
            <a:avLst/>
          </a:prstGeom>
          <a:noFill/>
          <a:ln/>
        </p:spPr>
        <p:txBody>
          <a:bodyPr wrap="square" lIns="0" tIns="0" rIns="0" bIns="0" rtlCol="0" anchor="t"/>
          <a:lstStyle/>
          <a:p>
            <a:pPr marL="0" indent="0">
              <a:lnSpc>
                <a:spcPct val="106000"/>
              </a:lnSpc>
              <a:buNone/>
            </a:pPr>
            <a:r>
              <a:rPr lang="en-US" sz="1150" dirty="0">
                <a:solidFill>
                  <a:srgbClr val="1F2933"/>
                </a:solidFill>
                <a:latin typeface="Calibri" pitchFamily="34" charset="0"/>
                <a:ea typeface="Calibri" pitchFamily="34" charset="-122"/>
                <a:cs typeface="Calibri" pitchFamily="34" charset="-120"/>
              </a:rPr>
              <a:t>Refuerza y espacia lo aprendido.</a:t>
            </a:r>
            <a:endParaRPr lang="en-US" sz="1150" dirty="0"/>
          </a:p>
          <a:p>
            <a:pPr marL="0" indent="0">
              <a:lnSpc>
                <a:spcPct val="106000"/>
              </a:lnSpc>
              <a:buNone/>
            </a:pPr>
            <a:endParaRPr lang="en-US" sz="1150" dirty="0"/>
          </a:p>
          <a:p>
            <a:pPr marL="0" indent="0">
              <a:lnSpc>
                <a:spcPct val="106000"/>
              </a:lnSpc>
              <a:buNone/>
            </a:pPr>
            <a:r>
              <a:rPr lang="en-US" sz="1150" dirty="0">
                <a:solidFill>
                  <a:srgbClr val="1F2933"/>
                </a:solidFill>
                <a:latin typeface="Calibri" pitchFamily="34" charset="0"/>
                <a:ea typeface="Calibri" pitchFamily="34" charset="-122"/>
                <a:cs typeface="Calibri" pitchFamily="34" charset="-120"/>
              </a:rPr>
              <a:t>Ejemplo RUTA: Recordatorio de fórmulas al tercer y séptimo día.</a:t>
            </a:r>
            <a:endParaRPr lang="en-US" sz="1150" dirty="0"/>
          </a:p>
        </p:txBody>
      </p:sp>
      <p:sp>
        <p:nvSpPr>
          <p:cNvPr id="15" name="Shape 13"/>
          <p:cNvSpPr/>
          <p:nvPr/>
        </p:nvSpPr>
        <p:spPr>
          <a:xfrm>
            <a:off x="566928" y="3822192"/>
            <a:ext cx="3502152" cy="2011680"/>
          </a:xfrm>
          <a:prstGeom prst="roundRect">
            <a:avLst>
              <a:gd name="adj" fmla="val 1818"/>
            </a:avLst>
          </a:prstGeom>
          <a:solidFill>
            <a:srgbClr val="E7F2F0"/>
          </a:solidFill>
          <a:ln w="12700">
            <a:solidFill>
              <a:srgbClr val="E7F2F0"/>
            </a:solidFill>
            <a:prstDash val="solid"/>
          </a:ln>
          <a:effectLst>
            <a:outerShdw blurRad="101600" dist="12700" dir="5400000" algn="bl" rotWithShape="0">
              <a:srgbClr val="9AA8B5">
                <a:alpha val="16000"/>
              </a:srgbClr>
            </a:outerShdw>
          </a:effectLst>
        </p:spPr>
      </p:sp>
      <p:sp>
        <p:nvSpPr>
          <p:cNvPr id="16" name="Text 14"/>
          <p:cNvSpPr txBox="1"/>
          <p:nvPr/>
        </p:nvSpPr>
        <p:spPr>
          <a:xfrm>
            <a:off x="804672" y="4041648"/>
            <a:ext cx="3026664" cy="310896"/>
          </a:xfrm>
          <a:prstGeom prst="rect">
            <a:avLst/>
          </a:prstGeom>
          <a:noFill/>
          <a:ln/>
        </p:spPr>
        <p:txBody>
          <a:bodyPr wrap="square" lIns="0" tIns="0" rIns="0" bIns="0" rtlCol="0" anchor="t"/>
          <a:lstStyle/>
          <a:p>
            <a:pPr marL="0" indent="0">
              <a:buNone/>
            </a:pPr>
            <a:r>
              <a:rPr lang="en-US" sz="1450" b="1" dirty="0">
                <a:solidFill>
                  <a:srgbClr val="1F3864"/>
                </a:solidFill>
                <a:latin typeface="Calibri" pitchFamily="34" charset="0"/>
                <a:ea typeface="Calibri" pitchFamily="34" charset="-122"/>
                <a:cs typeface="Calibri" pitchFamily="34" charset="-120"/>
              </a:rPr>
              <a:t>De desempeño</a:t>
            </a:r>
            <a:endParaRPr lang="en-US" sz="1450" dirty="0"/>
          </a:p>
        </p:txBody>
      </p:sp>
      <p:sp>
        <p:nvSpPr>
          <p:cNvPr id="17" name="Text 15"/>
          <p:cNvSpPr txBox="1"/>
          <p:nvPr/>
        </p:nvSpPr>
        <p:spPr>
          <a:xfrm>
            <a:off x="804672" y="4407408"/>
            <a:ext cx="3026664" cy="1243584"/>
          </a:xfrm>
          <a:prstGeom prst="rect">
            <a:avLst/>
          </a:prstGeom>
          <a:noFill/>
          <a:ln/>
        </p:spPr>
        <p:txBody>
          <a:bodyPr wrap="square" lIns="0" tIns="0" rIns="0" bIns="0" rtlCol="0" anchor="t"/>
          <a:lstStyle/>
          <a:p>
            <a:pPr marL="0" indent="0">
              <a:lnSpc>
                <a:spcPct val="106000"/>
              </a:lnSpc>
              <a:buNone/>
            </a:pPr>
            <a:r>
              <a:rPr lang="en-US" sz="1150" dirty="0">
                <a:solidFill>
                  <a:srgbClr val="1F2933"/>
                </a:solidFill>
                <a:latin typeface="Calibri" pitchFamily="34" charset="0"/>
                <a:ea typeface="Calibri" pitchFamily="34" charset="-122"/>
                <a:cs typeface="Calibri" pitchFamily="34" charset="-120"/>
              </a:rPr>
              <a:t>Apoya en el momento exacto de la tarea.</a:t>
            </a:r>
            <a:endParaRPr lang="en-US" sz="1150" dirty="0"/>
          </a:p>
          <a:p>
            <a:pPr marL="0" indent="0">
              <a:lnSpc>
                <a:spcPct val="106000"/>
              </a:lnSpc>
              <a:buNone/>
            </a:pPr>
            <a:endParaRPr lang="en-US" sz="1150" dirty="0"/>
          </a:p>
          <a:p>
            <a:pPr marL="0" indent="0">
              <a:lnSpc>
                <a:spcPct val="106000"/>
              </a:lnSpc>
              <a:buNone/>
            </a:pPr>
            <a:r>
              <a:rPr lang="en-US" sz="1150" dirty="0">
                <a:solidFill>
                  <a:srgbClr val="1F2933"/>
                </a:solidFill>
                <a:latin typeface="Calibri" pitchFamily="34" charset="0"/>
                <a:ea typeface="Calibri" pitchFamily="34" charset="-122"/>
                <a:cs typeface="Calibri" pitchFamily="34" charset="-120"/>
              </a:rPr>
              <a:t>Ejemplo RUTA: Guía visual junto a la computadora para completar el formulario en línea.</a:t>
            </a:r>
            <a:endParaRPr lang="en-US" sz="1150" dirty="0"/>
          </a:p>
        </p:txBody>
      </p:sp>
      <p:sp>
        <p:nvSpPr>
          <p:cNvPr id="18" name="Shape 16"/>
          <p:cNvSpPr/>
          <p:nvPr/>
        </p:nvSpPr>
        <p:spPr>
          <a:xfrm>
            <a:off x="4343400" y="3822192"/>
            <a:ext cx="3502152" cy="2011680"/>
          </a:xfrm>
          <a:prstGeom prst="roundRect">
            <a:avLst>
              <a:gd name="adj" fmla="val 1818"/>
            </a:avLst>
          </a:prstGeom>
          <a:solidFill>
            <a:srgbClr val="E7F2F0"/>
          </a:solidFill>
          <a:ln w="12700">
            <a:solidFill>
              <a:srgbClr val="E7F2F0"/>
            </a:solidFill>
            <a:prstDash val="solid"/>
          </a:ln>
          <a:effectLst>
            <a:outerShdw blurRad="101600" dist="12700" dir="5400000" algn="bl" rotWithShape="0">
              <a:srgbClr val="9AA8B5">
                <a:alpha val="16000"/>
              </a:srgbClr>
            </a:outerShdw>
          </a:effectLst>
        </p:spPr>
      </p:sp>
      <p:sp>
        <p:nvSpPr>
          <p:cNvPr id="19" name="Text 17"/>
          <p:cNvSpPr txBox="1"/>
          <p:nvPr/>
        </p:nvSpPr>
        <p:spPr>
          <a:xfrm>
            <a:off x="4581144" y="4041648"/>
            <a:ext cx="3026664" cy="310896"/>
          </a:xfrm>
          <a:prstGeom prst="rect">
            <a:avLst/>
          </a:prstGeom>
          <a:noFill/>
          <a:ln/>
        </p:spPr>
        <p:txBody>
          <a:bodyPr wrap="square" lIns="0" tIns="0" rIns="0" bIns="0" rtlCol="0" anchor="t"/>
          <a:lstStyle/>
          <a:p>
            <a:pPr marL="0" indent="0">
              <a:buNone/>
            </a:pPr>
            <a:r>
              <a:rPr lang="en-US" sz="1450" b="1" dirty="0">
                <a:solidFill>
                  <a:srgbClr val="1F7A6F"/>
                </a:solidFill>
                <a:latin typeface="Calibri" pitchFamily="34" charset="0"/>
                <a:ea typeface="Calibri" pitchFamily="34" charset="-122"/>
                <a:cs typeface="Calibri" pitchFamily="34" charset="-120"/>
              </a:rPr>
              <a:t>Reflexiva</a:t>
            </a:r>
            <a:endParaRPr lang="en-US" sz="1450" dirty="0"/>
          </a:p>
        </p:txBody>
      </p:sp>
      <p:sp>
        <p:nvSpPr>
          <p:cNvPr id="20" name="Text 18"/>
          <p:cNvSpPr txBox="1"/>
          <p:nvPr/>
        </p:nvSpPr>
        <p:spPr>
          <a:xfrm>
            <a:off x="4581144" y="4407408"/>
            <a:ext cx="3026664" cy="1243584"/>
          </a:xfrm>
          <a:prstGeom prst="rect">
            <a:avLst/>
          </a:prstGeom>
          <a:noFill/>
          <a:ln/>
        </p:spPr>
        <p:txBody>
          <a:bodyPr wrap="square" lIns="0" tIns="0" rIns="0" bIns="0" rtlCol="0" anchor="t"/>
          <a:lstStyle/>
          <a:p>
            <a:pPr marL="0" indent="0">
              <a:lnSpc>
                <a:spcPct val="106000"/>
              </a:lnSpc>
              <a:buNone/>
            </a:pPr>
            <a:r>
              <a:rPr lang="en-US" sz="1150" dirty="0">
                <a:solidFill>
                  <a:srgbClr val="1F2933"/>
                </a:solidFill>
                <a:latin typeface="Calibri" pitchFamily="34" charset="0"/>
                <a:ea typeface="Calibri" pitchFamily="34" charset="-122"/>
                <a:cs typeface="Calibri" pitchFamily="34" charset="-120"/>
              </a:rPr>
              <a:t>Provoca pensamiento sobre la propia práctica.</a:t>
            </a:r>
            <a:endParaRPr lang="en-US" sz="1150" dirty="0"/>
          </a:p>
          <a:p>
            <a:pPr marL="0" indent="0">
              <a:lnSpc>
                <a:spcPct val="106000"/>
              </a:lnSpc>
              <a:buNone/>
            </a:pPr>
            <a:endParaRPr lang="en-US" sz="1150" dirty="0"/>
          </a:p>
          <a:p>
            <a:pPr marL="0" indent="0">
              <a:lnSpc>
                <a:spcPct val="106000"/>
              </a:lnSpc>
              <a:buNone/>
            </a:pPr>
            <a:r>
              <a:rPr lang="en-US" sz="1150" dirty="0">
                <a:solidFill>
                  <a:srgbClr val="1F2933"/>
                </a:solidFill>
                <a:latin typeface="Calibri" pitchFamily="34" charset="0"/>
                <a:ea typeface="Calibri" pitchFamily="34" charset="-122"/>
                <a:cs typeface="Calibri" pitchFamily="34" charset="-120"/>
              </a:rPr>
              <a:t>Ejemplo RUTA: Una pregunta al final de la semana: ¿dónde usé el inglés fuera del salón?</a:t>
            </a:r>
            <a:endParaRPr lang="en-US" sz="1150" dirty="0"/>
          </a:p>
        </p:txBody>
      </p:sp>
      <p:sp>
        <p:nvSpPr>
          <p:cNvPr id="21" name="Shape 19"/>
          <p:cNvSpPr/>
          <p:nvPr/>
        </p:nvSpPr>
        <p:spPr>
          <a:xfrm>
            <a:off x="8119872" y="3822192"/>
            <a:ext cx="3502152" cy="2011680"/>
          </a:xfrm>
          <a:prstGeom prst="roundRect">
            <a:avLst>
              <a:gd name="adj" fmla="val 1818"/>
            </a:avLst>
          </a:prstGeom>
          <a:solidFill>
            <a:srgbClr val="E7F2F0"/>
          </a:solidFill>
          <a:ln w="12700">
            <a:solidFill>
              <a:srgbClr val="E7F2F0"/>
            </a:solidFill>
            <a:prstDash val="solid"/>
          </a:ln>
          <a:effectLst>
            <a:outerShdw blurRad="101600" dist="12700" dir="5400000" algn="bl" rotWithShape="0">
              <a:srgbClr val="9AA8B5">
                <a:alpha val="16000"/>
              </a:srgbClr>
            </a:outerShdw>
          </a:effectLst>
        </p:spPr>
      </p:sp>
      <p:sp>
        <p:nvSpPr>
          <p:cNvPr id="22" name="Text 20"/>
          <p:cNvSpPr txBox="1"/>
          <p:nvPr/>
        </p:nvSpPr>
        <p:spPr>
          <a:xfrm>
            <a:off x="8357616" y="4041648"/>
            <a:ext cx="3026664" cy="310896"/>
          </a:xfrm>
          <a:prstGeom prst="rect">
            <a:avLst/>
          </a:prstGeom>
          <a:noFill/>
          <a:ln/>
        </p:spPr>
        <p:txBody>
          <a:bodyPr wrap="square" lIns="0" tIns="0" rIns="0" bIns="0" rtlCol="0" anchor="t"/>
          <a:lstStyle/>
          <a:p>
            <a:pPr marL="0" indent="0">
              <a:buNone/>
            </a:pPr>
            <a:r>
              <a:rPr lang="en-US" sz="1450" b="1" dirty="0">
                <a:solidFill>
                  <a:srgbClr val="C9A227"/>
                </a:solidFill>
                <a:latin typeface="Calibri" pitchFamily="34" charset="0"/>
                <a:ea typeface="Calibri" pitchFamily="34" charset="-122"/>
                <a:cs typeface="Calibri" pitchFamily="34" charset="-120"/>
              </a:rPr>
              <a:t>Persuasiva</a:t>
            </a:r>
            <a:endParaRPr lang="en-US" sz="1450" dirty="0"/>
          </a:p>
        </p:txBody>
      </p:sp>
      <p:sp>
        <p:nvSpPr>
          <p:cNvPr id="23" name="Text 21"/>
          <p:cNvSpPr txBox="1"/>
          <p:nvPr/>
        </p:nvSpPr>
        <p:spPr>
          <a:xfrm>
            <a:off x="8357616" y="4407408"/>
            <a:ext cx="3026664" cy="1243584"/>
          </a:xfrm>
          <a:prstGeom prst="rect">
            <a:avLst/>
          </a:prstGeom>
          <a:noFill/>
          <a:ln/>
        </p:spPr>
        <p:txBody>
          <a:bodyPr wrap="square" lIns="0" tIns="0" rIns="0" bIns="0" rtlCol="0" anchor="t"/>
          <a:lstStyle/>
          <a:p>
            <a:pPr marL="0" indent="0">
              <a:lnSpc>
                <a:spcPct val="106000"/>
              </a:lnSpc>
              <a:buNone/>
            </a:pPr>
            <a:r>
              <a:rPr lang="en-US" sz="1150" dirty="0">
                <a:solidFill>
                  <a:srgbClr val="1F2933"/>
                </a:solidFill>
                <a:latin typeface="Calibri" pitchFamily="34" charset="0"/>
                <a:ea typeface="Calibri" pitchFamily="34" charset="-122"/>
                <a:cs typeface="Calibri" pitchFamily="34" charset="-120"/>
              </a:rPr>
              <a:t>Mueve actitudes y sostiene la permanencia.</a:t>
            </a:r>
            <a:endParaRPr lang="en-US" sz="1150" dirty="0"/>
          </a:p>
          <a:p>
            <a:pPr marL="0" indent="0">
              <a:lnSpc>
                <a:spcPct val="106000"/>
              </a:lnSpc>
              <a:buNone/>
            </a:pPr>
            <a:endParaRPr lang="en-US" sz="1150" dirty="0"/>
          </a:p>
          <a:p>
            <a:pPr marL="0" indent="0">
              <a:lnSpc>
                <a:spcPct val="106000"/>
              </a:lnSpc>
              <a:buNone/>
            </a:pPr>
            <a:r>
              <a:rPr lang="en-US" sz="1150" dirty="0">
                <a:solidFill>
                  <a:srgbClr val="1F2933"/>
                </a:solidFill>
                <a:latin typeface="Calibri" pitchFamily="34" charset="0"/>
                <a:ea typeface="Calibri" pitchFamily="34" charset="-122"/>
                <a:cs typeface="Calibri" pitchFamily="34" charset="-120"/>
              </a:rPr>
              <a:t>Ejemplo RUTA: Testimonio de 90 segundos de un egresado del programa.</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29184"/>
            <a:ext cx="11055096" cy="256032"/>
          </a:xfrm>
          <a:prstGeom prst="rect">
            <a:avLst/>
          </a:prstGeom>
          <a:noFill/>
          <a:ln/>
        </p:spPr>
        <p:txBody>
          <a:bodyPr wrap="square" lIns="0" tIns="0" rIns="0" bIns="0" rtlCol="0" anchor="ctr"/>
          <a:lstStyle/>
          <a:p>
            <a:pPr marL="0" indent="0">
              <a:buNone/>
            </a:pPr>
            <a:r>
              <a:rPr lang="en-US" sz="1100" b="1" kern="0" spc="160" dirty="0">
                <a:solidFill>
                  <a:srgbClr val="2A9D8F"/>
                </a:solidFill>
                <a:latin typeface="Calibri" pitchFamily="34" charset="0"/>
                <a:ea typeface="Calibri" pitchFamily="34" charset="-122"/>
                <a:cs typeface="Calibri" pitchFamily="34" charset="-120"/>
              </a:rPr>
              <a:t>ACTIVIDAD 1  ·  7 MINUTOS</a:t>
            </a:r>
            <a:endParaRPr lang="en-US" sz="1100" dirty="0"/>
          </a:p>
        </p:txBody>
      </p:sp>
      <p:sp>
        <p:nvSpPr>
          <p:cNvPr id="3" name="Text 1"/>
          <p:cNvSpPr txBox="1"/>
          <p:nvPr/>
        </p:nvSpPr>
        <p:spPr>
          <a:xfrm>
            <a:off x="566928" y="603504"/>
            <a:ext cx="11055096" cy="749808"/>
          </a:xfrm>
          <a:prstGeom prst="rect">
            <a:avLst/>
          </a:prstGeom>
          <a:noFill/>
          <a:ln/>
        </p:spPr>
        <p:txBody>
          <a:bodyPr wrap="square" lIns="0" tIns="0" rIns="0" bIns="0" rtlCol="0" anchor="t"/>
          <a:lstStyle/>
          <a:p>
            <a:pPr marL="0" indent="0">
              <a:buNone/>
            </a:pPr>
            <a:r>
              <a:rPr lang="en-US" sz="2900" b="1" dirty="0">
                <a:solidFill>
                  <a:srgbClr val="1B2A4A"/>
                </a:solidFill>
                <a:latin typeface="Cambria" pitchFamily="34" charset="0"/>
                <a:ea typeface="Cambria" pitchFamily="34" charset="-122"/>
                <a:cs typeface="Cambria" pitchFamily="34" charset="-120"/>
              </a:rPr>
              <a:t>Diagnóstico: ¿dónde cabe una microunidad en mi curso?</a:t>
            </a:r>
            <a:endParaRPr lang="en-US" sz="2900" dirty="0"/>
          </a:p>
        </p:txBody>
      </p:sp>
      <p:sp>
        <p:nvSpPr>
          <p:cNvPr id="4" name="Text 2"/>
          <p:cNvSpPr txBox="1"/>
          <p:nvPr/>
        </p:nvSpPr>
        <p:spPr>
          <a:xfrm>
            <a:off x="566928" y="6428232"/>
            <a:ext cx="7863840" cy="256032"/>
          </a:xfrm>
          <a:prstGeom prst="rect">
            <a:avLst/>
          </a:prstGeom>
          <a:noFill/>
          <a:ln/>
        </p:spPr>
        <p:txBody>
          <a:bodyPr wrap="square" lIns="0" tIns="0" rIns="0" bIns="0" rtlCol="0" anchor="ctr"/>
          <a:lstStyle/>
          <a:p>
            <a:pPr marL="0" indent="0">
              <a:buNone/>
            </a:pPr>
            <a:r>
              <a:rPr lang="en-US" sz="900" dirty="0">
                <a:solidFill>
                  <a:srgbClr val="5B6B7B"/>
                </a:solidFill>
                <a:latin typeface="Calibri" pitchFamily="34" charset="0"/>
                <a:ea typeface="Calibri" pitchFamily="34" charset="-122"/>
                <a:cs typeface="Calibri" pitchFamily="34" charset="-120"/>
              </a:rPr>
              <a:t>Microaprendizaje para adultos  ·  Proyecto RUTA — Inter Ponce</a:t>
            </a:r>
            <a:endParaRPr lang="en-US" sz="900" dirty="0"/>
          </a:p>
        </p:txBody>
      </p:sp>
      <p:sp>
        <p:nvSpPr>
          <p:cNvPr id="5" name="Text 3"/>
          <p:cNvSpPr txBox="1"/>
          <p:nvPr/>
        </p:nvSpPr>
        <p:spPr>
          <a:xfrm>
            <a:off x="10972800" y="6428232"/>
            <a:ext cx="649224" cy="256032"/>
          </a:xfrm>
          <a:prstGeom prst="rect">
            <a:avLst/>
          </a:prstGeom>
          <a:noFill/>
          <a:ln/>
        </p:spPr>
        <p:txBody>
          <a:bodyPr wrap="square" lIns="0" tIns="0" rIns="0" bIns="0" rtlCol="0" anchor="ctr"/>
          <a:lstStyle/>
          <a:p>
            <a:pPr marL="0" indent="0" algn="r">
              <a:buNone/>
            </a:pPr>
            <a:r>
              <a:rPr lang="en-US" sz="900" dirty="0">
                <a:solidFill>
                  <a:srgbClr val="5B6B7B"/>
                </a:solidFill>
                <a:latin typeface="Calibri" pitchFamily="34" charset="0"/>
                <a:ea typeface="Calibri" pitchFamily="34" charset="-122"/>
                <a:cs typeface="Calibri" pitchFamily="34" charset="-120"/>
              </a:rPr>
              <a:t>14</a:t>
            </a:r>
            <a:endParaRPr lang="en-US" sz="900" dirty="0"/>
          </a:p>
        </p:txBody>
      </p:sp>
      <p:sp>
        <p:nvSpPr>
          <p:cNvPr id="6" name="Shape 4"/>
          <p:cNvSpPr/>
          <p:nvPr/>
        </p:nvSpPr>
        <p:spPr>
          <a:xfrm>
            <a:off x="566928" y="1572768"/>
            <a:ext cx="6675120" cy="3566160"/>
          </a:xfrm>
          <a:prstGeom prst="roundRect">
            <a:avLst>
              <a:gd name="adj" fmla="val 1026"/>
            </a:avLst>
          </a:prstGeom>
          <a:solidFill>
            <a:srgbClr val="F1F4F8"/>
          </a:solidFill>
          <a:ln w="12700">
            <a:solidFill>
              <a:srgbClr val="F1F4F8"/>
            </a:solidFill>
            <a:prstDash val="solid"/>
          </a:ln>
          <a:effectLst>
            <a:outerShdw blurRad="101600" dist="12700" dir="5400000" algn="bl" rotWithShape="0">
              <a:srgbClr val="9AA8B5">
                <a:alpha val="16000"/>
              </a:srgbClr>
            </a:outerShdw>
          </a:effectLst>
        </p:spPr>
      </p:sp>
      <p:sp>
        <p:nvSpPr>
          <p:cNvPr id="7" name="Text 5"/>
          <p:cNvSpPr txBox="1"/>
          <p:nvPr/>
        </p:nvSpPr>
        <p:spPr>
          <a:xfrm>
            <a:off x="804672" y="1792224"/>
            <a:ext cx="6199632" cy="310896"/>
          </a:xfrm>
          <a:prstGeom prst="rect">
            <a:avLst/>
          </a:prstGeom>
          <a:noFill/>
          <a:ln/>
        </p:spPr>
        <p:txBody>
          <a:bodyPr wrap="square" lIns="0" tIns="0" rIns="0" bIns="0" rtlCol="0" anchor="t"/>
          <a:lstStyle/>
          <a:p>
            <a:pPr marL="0" indent="0">
              <a:buNone/>
            </a:pPr>
            <a:r>
              <a:rPr lang="en-US" sz="1450" b="1" dirty="0">
                <a:solidFill>
                  <a:srgbClr val="1B2A4A"/>
                </a:solidFill>
                <a:latin typeface="Calibri" pitchFamily="34" charset="0"/>
                <a:ea typeface="Calibri" pitchFamily="34" charset="-122"/>
                <a:cs typeface="Calibri" pitchFamily="34" charset="-120"/>
              </a:rPr>
              <a:t>En equipo, respondan en la hoja de trabajo</a:t>
            </a:r>
            <a:endParaRPr lang="en-US" sz="1450" dirty="0"/>
          </a:p>
        </p:txBody>
      </p:sp>
      <p:sp>
        <p:nvSpPr>
          <p:cNvPr id="8" name="Text 6"/>
          <p:cNvSpPr txBox="1"/>
          <p:nvPr/>
        </p:nvSpPr>
        <p:spPr>
          <a:xfrm>
            <a:off x="841248" y="2157984"/>
            <a:ext cx="6163056" cy="2798064"/>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1F2933"/>
                </a:solidFill>
                <a:latin typeface="Calibri" pitchFamily="34" charset="0"/>
                <a:ea typeface="Calibri" pitchFamily="34" charset="-122"/>
                <a:cs typeface="Calibri" pitchFamily="34" charset="-120"/>
              </a:rPr>
              <a:t>Nombren un contenido de su curso que los participantes olvidan, evaden o repiten sin dominar. Usen la nota adhesiva de la Cápsula Cero.</a:t>
            </a:r>
            <a:endParaRPr lang="en-US" sz="1250" dirty="0"/>
          </a:p>
          <a:p>
            <a:pPr marL="342900" indent="-342900">
              <a:spcAft>
                <a:spcPts val="500"/>
              </a:spcAft>
              <a:buSzPct val="100000"/>
              <a:buChar char="•"/>
            </a:pPr>
            <a:r>
              <a:rPr lang="en-US" sz="1250" dirty="0">
                <a:solidFill>
                  <a:srgbClr val="1F2933"/>
                </a:solidFill>
                <a:latin typeface="Calibri" pitchFamily="34" charset="0"/>
                <a:ea typeface="Calibri" pitchFamily="34" charset="-122"/>
                <a:cs typeface="Calibri" pitchFamily="34" charset="-120"/>
              </a:rPr>
              <a:t>Ubiquen ese contenido en una de las siete dimensiones de Hug que más lo explique: ¿es problema de tiempo, de contenido, de forma o de medialidad?</a:t>
            </a:r>
            <a:endParaRPr lang="en-US" sz="1250" dirty="0"/>
          </a:p>
          <a:p>
            <a:pPr marL="342900" indent="-342900">
              <a:spcAft>
                <a:spcPts val="500"/>
              </a:spcAft>
              <a:buSzPct val="100000"/>
              <a:buChar char="•"/>
            </a:pPr>
            <a:r>
              <a:rPr lang="en-US" sz="1250" dirty="0">
                <a:solidFill>
                  <a:srgbClr val="1F2933"/>
                </a:solidFill>
                <a:latin typeface="Calibri" pitchFamily="34" charset="0"/>
                <a:ea typeface="Calibri" pitchFamily="34" charset="-122"/>
                <a:cs typeface="Calibri" pitchFamily="34" charset="-120"/>
              </a:rPr>
              <a:t>Elijan una de las seis funciones —distinta a «de práctica»— para atacarlo.</a:t>
            </a:r>
            <a:endParaRPr lang="en-US" sz="1250" dirty="0"/>
          </a:p>
          <a:p>
            <a:pPr marL="342900" indent="-342900">
              <a:spcAft>
                <a:spcPts val="500"/>
              </a:spcAft>
              <a:buSzPct val="100000"/>
              <a:buChar char="•"/>
            </a:pPr>
            <a:r>
              <a:rPr lang="en-US" sz="1250" dirty="0">
                <a:solidFill>
                  <a:srgbClr val="1F2933"/>
                </a:solidFill>
                <a:latin typeface="Calibri" pitchFamily="34" charset="0"/>
                <a:ea typeface="Calibri" pitchFamily="34" charset="-122"/>
                <a:cs typeface="Calibri" pitchFamily="34" charset="-120"/>
              </a:rPr>
              <a:t>Escriban en una oración: «Una microunidad de tipo ____ podría resolver que ____».</a:t>
            </a:r>
            <a:endParaRPr lang="en-US" sz="1250" dirty="0"/>
          </a:p>
        </p:txBody>
      </p:sp>
      <p:sp>
        <p:nvSpPr>
          <p:cNvPr id="9" name="Shape 7"/>
          <p:cNvSpPr/>
          <p:nvPr/>
        </p:nvSpPr>
        <p:spPr>
          <a:xfrm>
            <a:off x="7516368" y="1572768"/>
            <a:ext cx="4105656" cy="1691640"/>
          </a:xfrm>
          <a:prstGeom prst="roundRect">
            <a:avLst>
              <a:gd name="adj" fmla="val 2162"/>
            </a:avLst>
          </a:prstGeom>
          <a:solidFill>
            <a:srgbClr val="FAF3E0"/>
          </a:solidFill>
          <a:ln w="12700">
            <a:solidFill>
              <a:srgbClr val="FAF3E0"/>
            </a:solidFill>
            <a:prstDash val="solid"/>
          </a:ln>
          <a:effectLst>
            <a:outerShdw blurRad="101600" dist="12700" dir="5400000" algn="bl" rotWithShape="0">
              <a:srgbClr val="9AA8B5">
                <a:alpha val="16000"/>
              </a:srgbClr>
            </a:outerShdw>
          </a:effectLst>
        </p:spPr>
      </p:sp>
      <p:sp>
        <p:nvSpPr>
          <p:cNvPr id="10" name="Text 8"/>
          <p:cNvSpPr txBox="1"/>
          <p:nvPr/>
        </p:nvSpPr>
        <p:spPr>
          <a:xfrm>
            <a:off x="7754112" y="1792224"/>
            <a:ext cx="3630168" cy="310896"/>
          </a:xfrm>
          <a:prstGeom prst="rect">
            <a:avLst/>
          </a:prstGeom>
          <a:noFill/>
          <a:ln/>
        </p:spPr>
        <p:txBody>
          <a:bodyPr wrap="square" lIns="0" tIns="0" rIns="0" bIns="0" rtlCol="0" anchor="t"/>
          <a:lstStyle/>
          <a:p>
            <a:pPr marL="0" indent="0">
              <a:buNone/>
            </a:pPr>
            <a:r>
              <a:rPr lang="en-US" sz="1450" b="1" dirty="0">
                <a:solidFill>
                  <a:srgbClr val="1B2A4A"/>
                </a:solidFill>
                <a:latin typeface="Calibri" pitchFamily="34" charset="0"/>
                <a:ea typeface="Calibri" pitchFamily="34" charset="-122"/>
                <a:cs typeface="Calibri" pitchFamily="34" charset="-120"/>
              </a:rPr>
              <a:t>Ejemplo modelado</a:t>
            </a:r>
            <a:endParaRPr lang="en-US" sz="1450" dirty="0"/>
          </a:p>
        </p:txBody>
      </p:sp>
      <p:sp>
        <p:nvSpPr>
          <p:cNvPr id="11" name="Text 9"/>
          <p:cNvSpPr txBox="1"/>
          <p:nvPr/>
        </p:nvSpPr>
        <p:spPr>
          <a:xfrm>
            <a:off x="7754112" y="2157984"/>
            <a:ext cx="3630168" cy="923544"/>
          </a:xfrm>
          <a:prstGeom prst="rect">
            <a:avLst/>
          </a:prstGeom>
          <a:noFill/>
          <a:ln/>
        </p:spPr>
        <p:txBody>
          <a:bodyPr wrap="square" lIns="0" tIns="0" rIns="0" bIns="0" rtlCol="0" anchor="t"/>
          <a:lstStyle/>
          <a:p>
            <a:pPr marL="0" indent="0">
              <a:lnSpc>
                <a:spcPct val="106000"/>
              </a:lnSpc>
              <a:buNone/>
            </a:pPr>
            <a:r>
              <a:rPr lang="en-US" sz="1250" dirty="0">
                <a:solidFill>
                  <a:srgbClr val="1F2933"/>
                </a:solidFill>
                <a:latin typeface="Calibri" pitchFamily="34" charset="0"/>
                <a:ea typeface="Calibri" pitchFamily="34" charset="-122"/>
                <a:cs typeface="Calibri" pitchFamily="34" charset="-120"/>
              </a:rPr>
              <a:t>«Una microunidad de tipo DESEMPEÑO podría resolver que los participantes no completen su solicitud en línea sin ayuda presencial».</a:t>
            </a:r>
            <a:endParaRPr lang="en-US" sz="1250" dirty="0"/>
          </a:p>
        </p:txBody>
      </p:sp>
      <p:sp>
        <p:nvSpPr>
          <p:cNvPr id="12" name="Shape 10"/>
          <p:cNvSpPr/>
          <p:nvPr/>
        </p:nvSpPr>
        <p:spPr>
          <a:xfrm>
            <a:off x="7516368" y="3447288"/>
            <a:ext cx="4105656" cy="1691640"/>
          </a:xfrm>
          <a:prstGeom prst="roundRect">
            <a:avLst>
              <a:gd name="adj" fmla="val 2162"/>
            </a:avLst>
          </a:prstGeom>
          <a:solidFill>
            <a:srgbClr val="1B2A4A"/>
          </a:solidFill>
          <a:ln w="12700">
            <a:solidFill>
              <a:srgbClr val="1B2A4A"/>
            </a:solidFill>
            <a:prstDash val="solid"/>
          </a:ln>
          <a:effectLst>
            <a:outerShdw blurRad="101600" dist="12700" dir="5400000" algn="bl" rotWithShape="0">
              <a:srgbClr val="9AA8B5">
                <a:alpha val="16000"/>
              </a:srgbClr>
            </a:outerShdw>
          </a:effectLst>
        </p:spPr>
      </p:sp>
      <p:sp>
        <p:nvSpPr>
          <p:cNvPr id="13" name="Text 11"/>
          <p:cNvSpPr txBox="1"/>
          <p:nvPr/>
        </p:nvSpPr>
        <p:spPr>
          <a:xfrm>
            <a:off x="7754112" y="3666744"/>
            <a:ext cx="3630168" cy="310896"/>
          </a:xfrm>
          <a:prstGeom prst="rect">
            <a:avLst/>
          </a:prstGeom>
          <a:noFill/>
          <a:ln/>
        </p:spPr>
        <p:txBody>
          <a:bodyPr wrap="square" lIns="0" tIns="0" rIns="0" bIns="0" rtlCol="0" anchor="t"/>
          <a:lstStyle/>
          <a:p>
            <a:pPr marL="0" indent="0">
              <a:buNone/>
            </a:pPr>
            <a:r>
              <a:rPr lang="en-US" sz="1450" b="1" dirty="0">
                <a:solidFill>
                  <a:srgbClr val="C9A227"/>
                </a:solidFill>
                <a:latin typeface="Calibri" pitchFamily="34" charset="0"/>
                <a:ea typeface="Calibri" pitchFamily="34" charset="-122"/>
                <a:cs typeface="Calibri" pitchFamily="34" charset="-120"/>
              </a:rPr>
              <a:t>Producto que se conserva</a:t>
            </a:r>
            <a:endParaRPr lang="en-US" sz="1450" dirty="0"/>
          </a:p>
        </p:txBody>
      </p:sp>
      <p:sp>
        <p:nvSpPr>
          <p:cNvPr id="14" name="Text 12"/>
          <p:cNvSpPr txBox="1"/>
          <p:nvPr/>
        </p:nvSpPr>
        <p:spPr>
          <a:xfrm>
            <a:off x="7754112" y="4032504"/>
            <a:ext cx="3630168" cy="923544"/>
          </a:xfrm>
          <a:prstGeom prst="rect">
            <a:avLst/>
          </a:prstGeom>
          <a:noFill/>
          <a:ln/>
        </p:spPr>
        <p:txBody>
          <a:bodyPr wrap="square" lIns="0" tIns="0" rIns="0" bIns="0" rtlCol="0" anchor="t"/>
          <a:lstStyle/>
          <a:p>
            <a:pPr marL="0" indent="0">
              <a:lnSpc>
                <a:spcPct val="106000"/>
              </a:lnSpc>
              <a:buNone/>
            </a:pPr>
            <a:r>
              <a:rPr lang="en-US" sz="1250" dirty="0">
                <a:solidFill>
                  <a:srgbClr val="D6E0EE"/>
                </a:solidFill>
                <a:latin typeface="Calibri" pitchFamily="34" charset="0"/>
                <a:ea typeface="Calibri" pitchFamily="34" charset="-122"/>
                <a:cs typeface="Calibri" pitchFamily="34" charset="-120"/>
              </a:rPr>
              <a:t>Esa oración es el insumo del Módulo 2. Consérvenla: allí se convertirá en una competencia observable con criterio de logro.</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B2A4A"/>
        </a:solidFill>
        <a:effectLst/>
      </p:bgPr>
    </p:bg>
    <p:spTree>
      <p:nvGrpSpPr>
        <p:cNvPr id="1" name=""/>
        <p:cNvGrpSpPr/>
        <p:nvPr/>
      </p:nvGrpSpPr>
      <p:grpSpPr>
        <a:xfrm>
          <a:off x="0" y="0"/>
          <a:ext cx="0" cy="0"/>
          <a:chOff x="0" y="0"/>
          <a:chExt cx="0" cy="0"/>
        </a:xfrm>
      </p:grpSpPr>
      <p:sp>
        <p:nvSpPr>
          <p:cNvPr id="2" name="Text 0"/>
          <p:cNvSpPr txBox="1"/>
          <p:nvPr/>
        </p:nvSpPr>
        <p:spPr>
          <a:xfrm>
            <a:off x="566928" y="1691640"/>
            <a:ext cx="2011680" cy="1371600"/>
          </a:xfrm>
          <a:prstGeom prst="rect">
            <a:avLst/>
          </a:prstGeom>
          <a:noFill/>
          <a:ln/>
        </p:spPr>
        <p:txBody>
          <a:bodyPr wrap="square" lIns="0" tIns="0" rIns="0" bIns="0" rtlCol="0" anchor="ctr"/>
          <a:lstStyle/>
          <a:p>
            <a:pPr marL="0" indent="0">
              <a:buNone/>
            </a:pPr>
            <a:r>
              <a:rPr lang="en-US" sz="9600" b="1" dirty="0">
                <a:solidFill>
                  <a:srgbClr val="C9A227"/>
                </a:solidFill>
                <a:latin typeface="Cambria" pitchFamily="34" charset="0"/>
                <a:ea typeface="Cambria" pitchFamily="34" charset="-122"/>
                <a:cs typeface="Cambria" pitchFamily="34" charset="-120"/>
              </a:rPr>
              <a:t>02</a:t>
            </a:r>
            <a:endParaRPr lang="en-US" sz="9600" dirty="0"/>
          </a:p>
        </p:txBody>
      </p:sp>
      <p:sp>
        <p:nvSpPr>
          <p:cNvPr id="3" name="Text 1"/>
          <p:cNvSpPr txBox="1"/>
          <p:nvPr/>
        </p:nvSpPr>
        <p:spPr>
          <a:xfrm>
            <a:off x="2331720" y="1783080"/>
            <a:ext cx="8686800" cy="137160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Arquitectura de una microunidad</a:t>
            </a:r>
            <a:endParaRPr lang="en-US" sz="3400" dirty="0"/>
          </a:p>
        </p:txBody>
      </p:sp>
      <p:sp>
        <p:nvSpPr>
          <p:cNvPr id="4" name="Text 2"/>
          <p:cNvSpPr txBox="1"/>
          <p:nvPr/>
        </p:nvSpPr>
        <p:spPr>
          <a:xfrm>
            <a:off x="2331720" y="3200400"/>
            <a:ext cx="8686800" cy="822960"/>
          </a:xfrm>
          <a:prstGeom prst="rect">
            <a:avLst/>
          </a:prstGeom>
          <a:noFill/>
          <a:ln/>
        </p:spPr>
        <p:txBody>
          <a:bodyPr wrap="square" lIns="0" tIns="0" rIns="0" bIns="0" rtlCol="0" anchor="t"/>
          <a:lstStyle/>
          <a:p>
            <a:pPr marL="0" indent="0">
              <a:buNone/>
            </a:pPr>
            <a:r>
              <a:rPr lang="en-US" sz="1500" dirty="0">
                <a:solidFill>
                  <a:srgbClr val="C3D0E0"/>
                </a:solidFill>
                <a:latin typeface="Calibri" pitchFamily="34" charset="0"/>
                <a:ea typeface="Calibri" pitchFamily="34" charset="-122"/>
                <a:cs typeface="Calibri" pitchFamily="34" charset="-120"/>
              </a:rPr>
              <a:t>Del objetivo amplio a la competencia observable: los cinco momentos, la dosificación y la secuenciación de la ruta.</a:t>
            </a:r>
            <a:endParaRPr lang="en-US" sz="1500" dirty="0"/>
          </a:p>
        </p:txBody>
      </p:sp>
      <p:sp>
        <p:nvSpPr>
          <p:cNvPr id="5" name="Shape 3"/>
          <p:cNvSpPr/>
          <p:nvPr/>
        </p:nvSpPr>
        <p:spPr>
          <a:xfrm>
            <a:off x="2331720" y="4160520"/>
            <a:ext cx="2834640" cy="457200"/>
          </a:xfrm>
          <a:prstGeom prst="roundRect">
            <a:avLst>
              <a:gd name="adj" fmla="val 50000"/>
            </a:avLst>
          </a:prstGeom>
          <a:solidFill>
            <a:srgbClr val="2A9D8F"/>
          </a:solidFill>
          <a:ln w="12700">
            <a:solidFill>
              <a:srgbClr val="2A9D8F"/>
            </a:solidFill>
            <a:prstDash val="solid"/>
          </a:ln>
        </p:spPr>
      </p:sp>
      <p:sp>
        <p:nvSpPr>
          <p:cNvPr id="6" name="Text 4"/>
          <p:cNvSpPr txBox="1"/>
          <p:nvPr/>
        </p:nvSpPr>
        <p:spPr>
          <a:xfrm>
            <a:off x="2331720" y="4160520"/>
            <a:ext cx="283464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55 minutos</a:t>
            </a:r>
            <a:endParaRPr lang="en-US" sz="1300" dirty="0"/>
          </a:p>
        </p:txBody>
      </p:sp>
      <p:sp>
        <p:nvSpPr>
          <p:cNvPr id="7" name="Shape 5"/>
          <p:cNvSpPr/>
          <p:nvPr/>
        </p:nvSpPr>
        <p:spPr>
          <a:xfrm>
            <a:off x="9646920" y="5074920"/>
            <a:ext cx="365760" cy="365760"/>
          </a:xfrm>
          <a:prstGeom prst="roundRect">
            <a:avLst>
              <a:gd name="adj" fmla="val 12500"/>
            </a:avLst>
          </a:prstGeom>
          <a:solidFill>
            <a:srgbClr val="C9A227"/>
          </a:solidFill>
          <a:ln w="12700">
            <a:solidFill>
              <a:srgbClr val="C9A227"/>
            </a:solidFill>
            <a:prstDash val="solid"/>
          </a:ln>
        </p:spPr>
      </p:sp>
      <p:sp>
        <p:nvSpPr>
          <p:cNvPr id="8" name="Shape 6"/>
          <p:cNvSpPr/>
          <p:nvPr/>
        </p:nvSpPr>
        <p:spPr>
          <a:xfrm>
            <a:off x="10140696" y="5074920"/>
            <a:ext cx="365760" cy="365760"/>
          </a:xfrm>
          <a:prstGeom prst="roundRect">
            <a:avLst>
              <a:gd name="adj" fmla="val 12500"/>
            </a:avLst>
          </a:prstGeom>
          <a:solidFill>
            <a:srgbClr val="2A9D8F"/>
          </a:solidFill>
          <a:ln w="12700">
            <a:solidFill>
              <a:srgbClr val="2A9D8F"/>
            </a:solidFill>
            <a:prstDash val="solid"/>
          </a:ln>
        </p:spPr>
      </p:sp>
      <p:sp>
        <p:nvSpPr>
          <p:cNvPr id="9" name="Shape 7"/>
          <p:cNvSpPr/>
          <p:nvPr/>
        </p:nvSpPr>
        <p:spPr>
          <a:xfrm>
            <a:off x="10634472" y="5074920"/>
            <a:ext cx="365760" cy="365760"/>
          </a:xfrm>
          <a:prstGeom prst="roundRect">
            <a:avLst>
              <a:gd name="adj" fmla="val 12500"/>
            </a:avLst>
          </a:prstGeom>
          <a:solidFill>
            <a:srgbClr val="FFFFFF"/>
          </a:solidFill>
          <a:ln w="12700">
            <a:solidFill>
              <a:srgbClr val="FFFFFF"/>
            </a:solidFill>
            <a:prstDash val="solid"/>
          </a:ln>
        </p:spPr>
      </p:sp>
      <p:sp>
        <p:nvSpPr>
          <p:cNvPr id="10" name="Shape 8"/>
          <p:cNvSpPr/>
          <p:nvPr/>
        </p:nvSpPr>
        <p:spPr>
          <a:xfrm>
            <a:off x="9646920" y="5568696"/>
            <a:ext cx="365760" cy="365760"/>
          </a:xfrm>
          <a:prstGeom prst="roundRect">
            <a:avLst>
              <a:gd name="adj" fmla="val 12500"/>
            </a:avLst>
          </a:prstGeom>
          <a:solidFill>
            <a:srgbClr val="2A9D8F">
              <a:alpha val="55000"/>
            </a:srgbClr>
          </a:solidFill>
          <a:ln w="12700">
            <a:solidFill>
              <a:srgbClr val="2A9D8F"/>
            </a:solidFill>
            <a:prstDash val="solid"/>
          </a:ln>
        </p:spPr>
      </p:sp>
      <p:sp>
        <p:nvSpPr>
          <p:cNvPr id="11" name="Shape 9"/>
          <p:cNvSpPr/>
          <p:nvPr/>
        </p:nvSpPr>
        <p:spPr>
          <a:xfrm>
            <a:off x="10140696" y="5568696"/>
            <a:ext cx="365760" cy="365760"/>
          </a:xfrm>
          <a:prstGeom prst="roundRect">
            <a:avLst>
              <a:gd name="adj" fmla="val 12500"/>
            </a:avLst>
          </a:prstGeom>
          <a:solidFill>
            <a:srgbClr val="FFFFFF">
              <a:alpha val="55000"/>
            </a:srgbClr>
          </a:solidFill>
          <a:ln w="12700">
            <a:solidFill>
              <a:srgbClr val="FFFFFF"/>
            </a:solidFill>
            <a:prstDash val="solid"/>
          </a:ln>
        </p:spPr>
      </p:sp>
      <p:sp>
        <p:nvSpPr>
          <p:cNvPr id="12" name="Shape 10"/>
          <p:cNvSpPr/>
          <p:nvPr/>
        </p:nvSpPr>
        <p:spPr>
          <a:xfrm>
            <a:off x="10634472" y="5568696"/>
            <a:ext cx="365760" cy="365760"/>
          </a:xfrm>
          <a:prstGeom prst="roundRect">
            <a:avLst>
              <a:gd name="adj" fmla="val 12500"/>
            </a:avLst>
          </a:prstGeom>
          <a:solidFill>
            <a:srgbClr val="C9A227">
              <a:alpha val="55000"/>
            </a:srgbClr>
          </a:solidFill>
          <a:ln w="12700">
            <a:solidFill>
              <a:srgbClr val="C9A227"/>
            </a:solidFill>
            <a:prstDash val="solid"/>
          </a:ln>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29184"/>
            <a:ext cx="11055096" cy="256032"/>
          </a:xfrm>
          <a:prstGeom prst="rect">
            <a:avLst/>
          </a:prstGeom>
          <a:noFill/>
          <a:ln/>
        </p:spPr>
        <p:txBody>
          <a:bodyPr wrap="square" lIns="0" tIns="0" rIns="0" bIns="0" rtlCol="0" anchor="ctr"/>
          <a:lstStyle/>
          <a:p>
            <a:pPr marL="0" indent="0">
              <a:buNone/>
            </a:pPr>
            <a:r>
              <a:rPr lang="en-US" sz="1100" b="1" kern="0" spc="160" dirty="0">
                <a:solidFill>
                  <a:srgbClr val="2A9D8F"/>
                </a:solidFill>
                <a:latin typeface="Calibri" pitchFamily="34" charset="0"/>
                <a:ea typeface="Calibri" pitchFamily="34" charset="-122"/>
                <a:cs typeface="Calibri" pitchFamily="34" charset="-120"/>
              </a:rPr>
              <a:t>PRINCIPIO RECTOR</a:t>
            </a:r>
            <a:endParaRPr lang="en-US" sz="1100" dirty="0"/>
          </a:p>
        </p:txBody>
      </p:sp>
      <p:sp>
        <p:nvSpPr>
          <p:cNvPr id="3" name="Text 1"/>
          <p:cNvSpPr txBox="1"/>
          <p:nvPr/>
        </p:nvSpPr>
        <p:spPr>
          <a:xfrm>
            <a:off x="566928" y="603504"/>
            <a:ext cx="11055096" cy="749808"/>
          </a:xfrm>
          <a:prstGeom prst="rect">
            <a:avLst/>
          </a:prstGeom>
          <a:noFill/>
          <a:ln/>
        </p:spPr>
        <p:txBody>
          <a:bodyPr wrap="square" lIns="0" tIns="0" rIns="0" bIns="0" rtlCol="0" anchor="t"/>
          <a:lstStyle/>
          <a:p>
            <a:pPr marL="0" indent="0">
              <a:buNone/>
            </a:pPr>
            <a:r>
              <a:rPr lang="en-US" sz="2900" b="1" dirty="0">
                <a:solidFill>
                  <a:srgbClr val="1B2A4A"/>
                </a:solidFill>
                <a:latin typeface="Cambria" pitchFamily="34" charset="0"/>
                <a:ea typeface="Cambria" pitchFamily="34" charset="-122"/>
                <a:cs typeface="Cambria" pitchFamily="34" charset="-120"/>
              </a:rPr>
              <a:t>Una microunidad, una competencia observable</a:t>
            </a:r>
            <a:endParaRPr lang="en-US" sz="2900" dirty="0"/>
          </a:p>
        </p:txBody>
      </p:sp>
      <p:sp>
        <p:nvSpPr>
          <p:cNvPr id="4" name="Text 2"/>
          <p:cNvSpPr txBox="1"/>
          <p:nvPr/>
        </p:nvSpPr>
        <p:spPr>
          <a:xfrm>
            <a:off x="566928" y="6428232"/>
            <a:ext cx="7863840" cy="256032"/>
          </a:xfrm>
          <a:prstGeom prst="rect">
            <a:avLst/>
          </a:prstGeom>
          <a:noFill/>
          <a:ln/>
        </p:spPr>
        <p:txBody>
          <a:bodyPr wrap="square" lIns="0" tIns="0" rIns="0" bIns="0" rtlCol="0" anchor="ctr"/>
          <a:lstStyle/>
          <a:p>
            <a:pPr marL="0" indent="0">
              <a:buNone/>
            </a:pPr>
            <a:r>
              <a:rPr lang="en-US" sz="900" dirty="0">
                <a:solidFill>
                  <a:srgbClr val="5B6B7B"/>
                </a:solidFill>
                <a:latin typeface="Calibri" pitchFamily="34" charset="0"/>
                <a:ea typeface="Calibri" pitchFamily="34" charset="-122"/>
                <a:cs typeface="Calibri" pitchFamily="34" charset="-120"/>
              </a:rPr>
              <a:t>Microaprendizaje para adultos  ·  Proyecto RUTA — Inter Ponce</a:t>
            </a:r>
            <a:endParaRPr lang="en-US" sz="900" dirty="0"/>
          </a:p>
        </p:txBody>
      </p:sp>
      <p:sp>
        <p:nvSpPr>
          <p:cNvPr id="5" name="Text 3"/>
          <p:cNvSpPr txBox="1"/>
          <p:nvPr/>
        </p:nvSpPr>
        <p:spPr>
          <a:xfrm>
            <a:off x="10972800" y="6428232"/>
            <a:ext cx="649224" cy="256032"/>
          </a:xfrm>
          <a:prstGeom prst="rect">
            <a:avLst/>
          </a:prstGeom>
          <a:noFill/>
          <a:ln/>
        </p:spPr>
        <p:txBody>
          <a:bodyPr wrap="square" lIns="0" tIns="0" rIns="0" bIns="0" rtlCol="0" anchor="ctr"/>
          <a:lstStyle/>
          <a:p>
            <a:pPr marL="0" indent="0" algn="r">
              <a:buNone/>
            </a:pPr>
            <a:r>
              <a:rPr lang="en-US" sz="900" dirty="0">
                <a:solidFill>
                  <a:srgbClr val="5B6B7B"/>
                </a:solidFill>
                <a:latin typeface="Calibri" pitchFamily="34" charset="0"/>
                <a:ea typeface="Calibri" pitchFamily="34" charset="-122"/>
                <a:cs typeface="Calibri" pitchFamily="34" charset="-120"/>
              </a:rPr>
              <a:t>16</a:t>
            </a:r>
            <a:endParaRPr lang="en-US" sz="900" dirty="0"/>
          </a:p>
        </p:txBody>
      </p:sp>
      <p:sp>
        <p:nvSpPr>
          <p:cNvPr id="6" name="Shape 4"/>
          <p:cNvSpPr/>
          <p:nvPr/>
        </p:nvSpPr>
        <p:spPr>
          <a:xfrm>
            <a:off x="566928" y="1627632"/>
            <a:ext cx="11055096" cy="1051560"/>
          </a:xfrm>
          <a:prstGeom prst="roundRect">
            <a:avLst>
              <a:gd name="adj" fmla="val 4348"/>
            </a:avLst>
          </a:prstGeom>
          <a:solidFill>
            <a:srgbClr val="1B2A4A"/>
          </a:solidFill>
          <a:ln w="12700">
            <a:solidFill>
              <a:srgbClr val="1B2A4A"/>
            </a:solidFill>
            <a:prstDash val="solid"/>
          </a:ln>
        </p:spPr>
      </p:sp>
      <p:sp>
        <p:nvSpPr>
          <p:cNvPr id="7" name="Text 5"/>
          <p:cNvSpPr txBox="1"/>
          <p:nvPr/>
        </p:nvSpPr>
        <p:spPr>
          <a:xfrm>
            <a:off x="932688" y="1737360"/>
            <a:ext cx="10323576" cy="832104"/>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Si no puedo ver lo que la persona hace distinto al terminar,</a:t>
            </a:r>
            <a:endParaRPr lang="en-US" sz="2400" dirty="0"/>
          </a:p>
          <a:p>
            <a:pPr marL="0" indent="0" algn="ctr">
              <a:buNone/>
            </a:pPr>
            <a:r>
              <a:rPr lang="en-US" sz="2400" b="1" dirty="0">
                <a:solidFill>
                  <a:srgbClr val="FFFFFF"/>
                </a:solidFill>
                <a:latin typeface="Cambria" pitchFamily="34" charset="0"/>
                <a:ea typeface="Cambria" pitchFamily="34" charset="-122"/>
                <a:cs typeface="Cambria" pitchFamily="34" charset="-120"/>
              </a:rPr>
              <a:t>no diseñé una microunidad: diseñé un contenido corto.</a:t>
            </a:r>
            <a:endParaRPr lang="en-US" sz="2400" dirty="0"/>
          </a:p>
        </p:txBody>
      </p:sp>
      <p:sp>
        <p:nvSpPr>
          <p:cNvPr id="8" name="Shape 6"/>
          <p:cNvSpPr/>
          <p:nvPr/>
        </p:nvSpPr>
        <p:spPr>
          <a:xfrm>
            <a:off x="566928" y="3035808"/>
            <a:ext cx="3502152" cy="2194560"/>
          </a:xfrm>
          <a:prstGeom prst="roundRect">
            <a:avLst>
              <a:gd name="adj" fmla="val 1667"/>
            </a:avLst>
          </a:prstGeom>
          <a:solidFill>
            <a:srgbClr val="F1F4F8"/>
          </a:solidFill>
          <a:ln w="12700">
            <a:solidFill>
              <a:srgbClr val="F1F4F8"/>
            </a:solidFill>
            <a:prstDash val="solid"/>
          </a:ln>
          <a:effectLst>
            <a:outerShdw blurRad="101600" dist="12700" dir="5400000" algn="bl" rotWithShape="0">
              <a:srgbClr val="9AA8B5">
                <a:alpha val="16000"/>
              </a:srgbClr>
            </a:outerShdw>
          </a:effectLst>
        </p:spPr>
      </p:sp>
      <p:sp>
        <p:nvSpPr>
          <p:cNvPr id="9" name="Shape 7"/>
          <p:cNvSpPr/>
          <p:nvPr/>
        </p:nvSpPr>
        <p:spPr>
          <a:xfrm>
            <a:off x="804672" y="3255264"/>
            <a:ext cx="420624" cy="420624"/>
          </a:xfrm>
          <a:prstGeom prst="ellipse">
            <a:avLst/>
          </a:prstGeom>
          <a:solidFill>
            <a:srgbClr val="1B2A4A"/>
          </a:solidFill>
          <a:ln w="12700">
            <a:solidFill>
              <a:srgbClr val="1B2A4A"/>
            </a:solidFill>
            <a:prstDash val="solid"/>
          </a:ln>
        </p:spPr>
      </p:sp>
      <p:sp>
        <p:nvSpPr>
          <p:cNvPr id="10" name="Text 8"/>
          <p:cNvSpPr txBox="1"/>
          <p:nvPr/>
        </p:nvSpPr>
        <p:spPr>
          <a:xfrm>
            <a:off x="804672" y="3255264"/>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1" name="Text 9"/>
          <p:cNvSpPr txBox="1"/>
          <p:nvPr/>
        </p:nvSpPr>
        <p:spPr>
          <a:xfrm>
            <a:off x="804672" y="3822192"/>
            <a:ext cx="3026664" cy="310896"/>
          </a:xfrm>
          <a:prstGeom prst="rect">
            <a:avLst/>
          </a:prstGeom>
          <a:noFill/>
          <a:ln/>
        </p:spPr>
        <p:txBody>
          <a:bodyPr wrap="square" lIns="0" tIns="0" rIns="0" bIns="0" rtlCol="0" anchor="t"/>
          <a:lstStyle/>
          <a:p>
            <a:pPr marL="0" indent="0">
              <a:buNone/>
            </a:pPr>
            <a:r>
              <a:rPr lang="en-US" sz="1450" b="1" dirty="0">
                <a:solidFill>
                  <a:srgbClr val="1B2A4A"/>
                </a:solidFill>
                <a:latin typeface="Calibri" pitchFamily="34" charset="0"/>
                <a:ea typeface="Calibri" pitchFamily="34" charset="-122"/>
                <a:cs typeface="Calibri" pitchFamily="34" charset="-120"/>
              </a:rPr>
              <a:t>Prueba de observabilidad</a:t>
            </a:r>
            <a:endParaRPr lang="en-US" sz="1450" dirty="0"/>
          </a:p>
        </p:txBody>
      </p:sp>
      <p:sp>
        <p:nvSpPr>
          <p:cNvPr id="12" name="Text 10"/>
          <p:cNvSpPr txBox="1"/>
          <p:nvPr/>
        </p:nvSpPr>
        <p:spPr>
          <a:xfrm>
            <a:off x="804672" y="4187952"/>
            <a:ext cx="3026664" cy="859536"/>
          </a:xfrm>
          <a:prstGeom prst="rect">
            <a:avLst/>
          </a:prstGeom>
          <a:noFill/>
          <a:ln/>
        </p:spPr>
        <p:txBody>
          <a:bodyPr wrap="square" lIns="0" tIns="0" rIns="0" bIns="0" rtlCol="0" anchor="t"/>
          <a:lstStyle/>
          <a:p>
            <a:pPr marL="0" indent="0">
              <a:lnSpc>
                <a:spcPct val="106000"/>
              </a:lnSpc>
              <a:buNone/>
            </a:pPr>
            <a:r>
              <a:rPr lang="en-US" sz="1150" dirty="0">
                <a:solidFill>
                  <a:srgbClr val="1F2933"/>
                </a:solidFill>
                <a:latin typeface="Calibri" pitchFamily="34" charset="0"/>
                <a:ea typeface="Calibri" pitchFamily="34" charset="-122"/>
                <a:cs typeface="Calibri" pitchFamily="34" charset="-120"/>
              </a:rPr>
              <a:t>¿Puedo describir, sin ambigüedad, la conducta que veré? «Comprender» y «conocer» no pasan la prueba; «clasificar», «calcular», «redactar» y «demostrar» sí.</a:t>
            </a:r>
            <a:endParaRPr lang="en-US" sz="1150" dirty="0"/>
          </a:p>
        </p:txBody>
      </p:sp>
      <p:sp>
        <p:nvSpPr>
          <p:cNvPr id="13" name="Shape 11"/>
          <p:cNvSpPr/>
          <p:nvPr/>
        </p:nvSpPr>
        <p:spPr>
          <a:xfrm>
            <a:off x="4343400" y="3035808"/>
            <a:ext cx="3502152" cy="2194560"/>
          </a:xfrm>
          <a:prstGeom prst="roundRect">
            <a:avLst>
              <a:gd name="adj" fmla="val 1667"/>
            </a:avLst>
          </a:prstGeom>
          <a:solidFill>
            <a:srgbClr val="E7F2F0"/>
          </a:solidFill>
          <a:ln w="12700">
            <a:solidFill>
              <a:srgbClr val="E7F2F0"/>
            </a:solidFill>
            <a:prstDash val="solid"/>
          </a:ln>
          <a:effectLst>
            <a:outerShdw blurRad="101600" dist="12700" dir="5400000" algn="bl" rotWithShape="0">
              <a:srgbClr val="9AA8B5">
                <a:alpha val="16000"/>
              </a:srgbClr>
            </a:outerShdw>
          </a:effectLst>
        </p:spPr>
      </p:sp>
      <p:sp>
        <p:nvSpPr>
          <p:cNvPr id="14" name="Shape 12"/>
          <p:cNvSpPr/>
          <p:nvPr/>
        </p:nvSpPr>
        <p:spPr>
          <a:xfrm>
            <a:off x="4581144" y="3255264"/>
            <a:ext cx="420624" cy="420624"/>
          </a:xfrm>
          <a:prstGeom prst="ellipse">
            <a:avLst/>
          </a:prstGeom>
          <a:solidFill>
            <a:srgbClr val="2A9D8F"/>
          </a:solidFill>
          <a:ln w="12700">
            <a:solidFill>
              <a:srgbClr val="2A9D8F"/>
            </a:solidFill>
            <a:prstDash val="solid"/>
          </a:ln>
        </p:spPr>
      </p:sp>
      <p:sp>
        <p:nvSpPr>
          <p:cNvPr id="15" name="Text 13"/>
          <p:cNvSpPr txBox="1"/>
          <p:nvPr/>
        </p:nvSpPr>
        <p:spPr>
          <a:xfrm>
            <a:off x="4581144" y="3255264"/>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6" name="Text 14"/>
          <p:cNvSpPr txBox="1"/>
          <p:nvPr/>
        </p:nvSpPr>
        <p:spPr>
          <a:xfrm>
            <a:off x="4581144" y="3822192"/>
            <a:ext cx="3026664" cy="310896"/>
          </a:xfrm>
          <a:prstGeom prst="rect">
            <a:avLst/>
          </a:prstGeom>
          <a:noFill/>
          <a:ln/>
        </p:spPr>
        <p:txBody>
          <a:bodyPr wrap="square" lIns="0" tIns="0" rIns="0" bIns="0" rtlCol="0" anchor="t"/>
          <a:lstStyle/>
          <a:p>
            <a:pPr marL="0" indent="0">
              <a:buNone/>
            </a:pPr>
            <a:r>
              <a:rPr lang="en-US" sz="1450" b="1" dirty="0">
                <a:solidFill>
                  <a:srgbClr val="1B2A4A"/>
                </a:solidFill>
                <a:latin typeface="Calibri" pitchFamily="34" charset="0"/>
                <a:ea typeface="Calibri" pitchFamily="34" charset="-122"/>
                <a:cs typeface="Calibri" pitchFamily="34" charset="-120"/>
              </a:rPr>
              <a:t>Prueba de dosificación</a:t>
            </a:r>
            <a:endParaRPr lang="en-US" sz="1450" dirty="0"/>
          </a:p>
        </p:txBody>
      </p:sp>
      <p:sp>
        <p:nvSpPr>
          <p:cNvPr id="17" name="Text 15"/>
          <p:cNvSpPr txBox="1"/>
          <p:nvPr/>
        </p:nvSpPr>
        <p:spPr>
          <a:xfrm>
            <a:off x="4581144" y="4187952"/>
            <a:ext cx="3026664" cy="859536"/>
          </a:xfrm>
          <a:prstGeom prst="rect">
            <a:avLst/>
          </a:prstGeom>
          <a:noFill/>
          <a:ln/>
        </p:spPr>
        <p:txBody>
          <a:bodyPr wrap="square" lIns="0" tIns="0" rIns="0" bIns="0" rtlCol="0" anchor="t"/>
          <a:lstStyle/>
          <a:p>
            <a:pPr marL="0" indent="0">
              <a:lnSpc>
                <a:spcPct val="106000"/>
              </a:lnSpc>
              <a:buNone/>
            </a:pPr>
            <a:r>
              <a:rPr lang="en-US" sz="1150" dirty="0">
                <a:solidFill>
                  <a:srgbClr val="1F2933"/>
                </a:solidFill>
                <a:latin typeface="Calibri" pitchFamily="34" charset="0"/>
                <a:ea typeface="Calibri" pitchFamily="34" charset="-122"/>
                <a:cs typeface="Calibri" pitchFamily="34" charset="-120"/>
              </a:rPr>
              <a:t>¿Puede lograrse en el tiempo disponible del participante —entre 5 y 15 minutos— sin recortar la práctica? Si la respuesta es no, divida en dos unidades.</a:t>
            </a:r>
            <a:endParaRPr lang="en-US" sz="1150" dirty="0"/>
          </a:p>
        </p:txBody>
      </p:sp>
      <p:sp>
        <p:nvSpPr>
          <p:cNvPr id="18" name="Shape 16"/>
          <p:cNvSpPr/>
          <p:nvPr/>
        </p:nvSpPr>
        <p:spPr>
          <a:xfrm>
            <a:off x="8119872" y="3035808"/>
            <a:ext cx="3502152" cy="2194560"/>
          </a:xfrm>
          <a:prstGeom prst="roundRect">
            <a:avLst>
              <a:gd name="adj" fmla="val 1667"/>
            </a:avLst>
          </a:prstGeom>
          <a:solidFill>
            <a:srgbClr val="FAF3E0"/>
          </a:solidFill>
          <a:ln w="12700">
            <a:solidFill>
              <a:srgbClr val="FAF3E0"/>
            </a:solidFill>
            <a:prstDash val="solid"/>
          </a:ln>
          <a:effectLst>
            <a:outerShdw blurRad="101600" dist="12700" dir="5400000" algn="bl" rotWithShape="0">
              <a:srgbClr val="9AA8B5">
                <a:alpha val="16000"/>
              </a:srgbClr>
            </a:outerShdw>
          </a:effectLst>
        </p:spPr>
      </p:sp>
      <p:sp>
        <p:nvSpPr>
          <p:cNvPr id="19" name="Shape 17"/>
          <p:cNvSpPr/>
          <p:nvPr/>
        </p:nvSpPr>
        <p:spPr>
          <a:xfrm>
            <a:off x="8357616" y="3255264"/>
            <a:ext cx="420624" cy="420624"/>
          </a:xfrm>
          <a:prstGeom prst="ellipse">
            <a:avLst/>
          </a:prstGeom>
          <a:solidFill>
            <a:srgbClr val="C9A227"/>
          </a:solidFill>
          <a:ln w="12700">
            <a:solidFill>
              <a:srgbClr val="C9A227"/>
            </a:solidFill>
            <a:prstDash val="solid"/>
          </a:ln>
        </p:spPr>
      </p:sp>
      <p:sp>
        <p:nvSpPr>
          <p:cNvPr id="20" name="Text 18"/>
          <p:cNvSpPr txBox="1"/>
          <p:nvPr/>
        </p:nvSpPr>
        <p:spPr>
          <a:xfrm>
            <a:off x="8357616" y="3255264"/>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21" name="Text 19"/>
          <p:cNvSpPr txBox="1"/>
          <p:nvPr/>
        </p:nvSpPr>
        <p:spPr>
          <a:xfrm>
            <a:off x="8357616" y="3822192"/>
            <a:ext cx="3026664" cy="310896"/>
          </a:xfrm>
          <a:prstGeom prst="rect">
            <a:avLst/>
          </a:prstGeom>
          <a:noFill/>
          <a:ln/>
        </p:spPr>
        <p:txBody>
          <a:bodyPr wrap="square" lIns="0" tIns="0" rIns="0" bIns="0" rtlCol="0" anchor="t"/>
          <a:lstStyle/>
          <a:p>
            <a:pPr marL="0" indent="0">
              <a:buNone/>
            </a:pPr>
            <a:r>
              <a:rPr lang="en-US" sz="1450" b="1" dirty="0">
                <a:solidFill>
                  <a:srgbClr val="1B2A4A"/>
                </a:solidFill>
                <a:latin typeface="Calibri" pitchFamily="34" charset="0"/>
                <a:ea typeface="Calibri" pitchFamily="34" charset="-122"/>
                <a:cs typeface="Calibri" pitchFamily="34" charset="-120"/>
              </a:rPr>
              <a:t>Prueba de utilidad</a:t>
            </a:r>
            <a:endParaRPr lang="en-US" sz="1450" dirty="0"/>
          </a:p>
        </p:txBody>
      </p:sp>
      <p:sp>
        <p:nvSpPr>
          <p:cNvPr id="22" name="Text 20"/>
          <p:cNvSpPr txBox="1"/>
          <p:nvPr/>
        </p:nvSpPr>
        <p:spPr>
          <a:xfrm>
            <a:off x="8357616" y="4187952"/>
            <a:ext cx="3026664" cy="859536"/>
          </a:xfrm>
          <a:prstGeom prst="rect">
            <a:avLst/>
          </a:prstGeom>
          <a:noFill/>
          <a:ln/>
        </p:spPr>
        <p:txBody>
          <a:bodyPr wrap="square" lIns="0" tIns="0" rIns="0" bIns="0" rtlCol="0" anchor="t"/>
          <a:lstStyle/>
          <a:p>
            <a:pPr marL="0" indent="0">
              <a:lnSpc>
                <a:spcPct val="106000"/>
              </a:lnSpc>
              <a:buNone/>
            </a:pPr>
            <a:r>
              <a:rPr lang="en-US" sz="1150" dirty="0">
                <a:solidFill>
                  <a:srgbClr val="1F2933"/>
                </a:solidFill>
                <a:latin typeface="Calibri" pitchFamily="34" charset="0"/>
                <a:ea typeface="Calibri" pitchFamily="34" charset="-122"/>
                <a:cs typeface="Calibri" pitchFamily="34" charset="-120"/>
              </a:rPr>
              <a:t>¿La persona puede usar esto en su vida o su trabajo dentro de las próximas 72 horas? Si no, la unidad quizás pertenezca a otro momento de la ruta.</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29184"/>
            <a:ext cx="11055096" cy="256032"/>
          </a:xfrm>
          <a:prstGeom prst="rect">
            <a:avLst/>
          </a:prstGeom>
          <a:noFill/>
          <a:ln/>
        </p:spPr>
        <p:txBody>
          <a:bodyPr wrap="square" lIns="0" tIns="0" rIns="0" bIns="0" rtlCol="0" anchor="ctr"/>
          <a:lstStyle/>
          <a:p>
            <a:pPr marL="0" indent="0">
              <a:buNone/>
            </a:pPr>
            <a:r>
              <a:rPr lang="en-US" sz="1100" b="1" kern="0" spc="160" dirty="0">
                <a:solidFill>
                  <a:srgbClr val="2A9D8F"/>
                </a:solidFill>
                <a:latin typeface="Calibri" pitchFamily="34" charset="0"/>
                <a:ea typeface="Calibri" pitchFamily="34" charset="-122"/>
                <a:cs typeface="Calibri" pitchFamily="34" charset="-120"/>
              </a:rPr>
              <a:t>HERRAMIENTA 1</a:t>
            </a:r>
            <a:endParaRPr lang="en-US" sz="1100" dirty="0"/>
          </a:p>
        </p:txBody>
      </p:sp>
      <p:sp>
        <p:nvSpPr>
          <p:cNvPr id="3" name="Text 1"/>
          <p:cNvSpPr txBox="1"/>
          <p:nvPr/>
        </p:nvSpPr>
        <p:spPr>
          <a:xfrm>
            <a:off x="566928" y="603504"/>
            <a:ext cx="11055096" cy="749808"/>
          </a:xfrm>
          <a:prstGeom prst="rect">
            <a:avLst/>
          </a:prstGeom>
          <a:noFill/>
          <a:ln/>
        </p:spPr>
        <p:txBody>
          <a:bodyPr wrap="square" lIns="0" tIns="0" rIns="0" bIns="0" rtlCol="0" anchor="t"/>
          <a:lstStyle/>
          <a:p>
            <a:pPr marL="0" indent="0">
              <a:buNone/>
            </a:pPr>
            <a:r>
              <a:rPr lang="en-US" sz="2900" b="1" dirty="0">
                <a:solidFill>
                  <a:srgbClr val="1B2A4A"/>
                </a:solidFill>
                <a:latin typeface="Cambria" pitchFamily="34" charset="0"/>
                <a:ea typeface="Cambria" pitchFamily="34" charset="-122"/>
                <a:cs typeface="Cambria" pitchFamily="34" charset="-120"/>
              </a:rPr>
              <a:t>Fórmula para redactar la competencia de la microunidad</a:t>
            </a:r>
            <a:endParaRPr lang="en-US" sz="2900" dirty="0"/>
          </a:p>
        </p:txBody>
      </p:sp>
      <p:sp>
        <p:nvSpPr>
          <p:cNvPr id="4" name="Text 2"/>
          <p:cNvSpPr txBox="1"/>
          <p:nvPr/>
        </p:nvSpPr>
        <p:spPr>
          <a:xfrm>
            <a:off x="566928" y="6428232"/>
            <a:ext cx="7863840" cy="256032"/>
          </a:xfrm>
          <a:prstGeom prst="rect">
            <a:avLst/>
          </a:prstGeom>
          <a:noFill/>
          <a:ln/>
        </p:spPr>
        <p:txBody>
          <a:bodyPr wrap="square" lIns="0" tIns="0" rIns="0" bIns="0" rtlCol="0" anchor="ctr"/>
          <a:lstStyle/>
          <a:p>
            <a:pPr marL="0" indent="0">
              <a:buNone/>
            </a:pPr>
            <a:r>
              <a:rPr lang="en-US" sz="900" dirty="0">
                <a:solidFill>
                  <a:srgbClr val="5B6B7B"/>
                </a:solidFill>
                <a:latin typeface="Calibri" pitchFamily="34" charset="0"/>
                <a:ea typeface="Calibri" pitchFamily="34" charset="-122"/>
                <a:cs typeface="Calibri" pitchFamily="34" charset="-120"/>
              </a:rPr>
              <a:t>Microaprendizaje para adultos  ·  Proyecto RUTA — Inter Ponce</a:t>
            </a:r>
            <a:endParaRPr lang="en-US" sz="900" dirty="0"/>
          </a:p>
        </p:txBody>
      </p:sp>
      <p:sp>
        <p:nvSpPr>
          <p:cNvPr id="5" name="Text 3"/>
          <p:cNvSpPr txBox="1"/>
          <p:nvPr/>
        </p:nvSpPr>
        <p:spPr>
          <a:xfrm>
            <a:off x="10972800" y="6428232"/>
            <a:ext cx="649224" cy="256032"/>
          </a:xfrm>
          <a:prstGeom prst="rect">
            <a:avLst/>
          </a:prstGeom>
          <a:noFill/>
          <a:ln/>
        </p:spPr>
        <p:txBody>
          <a:bodyPr wrap="square" lIns="0" tIns="0" rIns="0" bIns="0" rtlCol="0" anchor="ctr"/>
          <a:lstStyle/>
          <a:p>
            <a:pPr marL="0" indent="0" algn="r">
              <a:buNone/>
            </a:pPr>
            <a:r>
              <a:rPr lang="en-US" sz="900" dirty="0">
                <a:solidFill>
                  <a:srgbClr val="5B6B7B"/>
                </a:solidFill>
                <a:latin typeface="Calibri" pitchFamily="34" charset="0"/>
                <a:ea typeface="Calibri" pitchFamily="34" charset="-122"/>
                <a:cs typeface="Calibri" pitchFamily="34" charset="-120"/>
              </a:rPr>
              <a:t>17</a:t>
            </a:r>
            <a:endParaRPr lang="en-US" sz="900" dirty="0"/>
          </a:p>
        </p:txBody>
      </p:sp>
      <p:sp>
        <p:nvSpPr>
          <p:cNvPr id="6" name="Shape 4"/>
          <p:cNvSpPr/>
          <p:nvPr/>
        </p:nvSpPr>
        <p:spPr>
          <a:xfrm>
            <a:off x="566928" y="1572768"/>
            <a:ext cx="2624328" cy="2011680"/>
          </a:xfrm>
          <a:prstGeom prst="roundRect">
            <a:avLst>
              <a:gd name="adj" fmla="val 1818"/>
            </a:avLst>
          </a:prstGeom>
          <a:solidFill>
            <a:srgbClr val="F1F4F8"/>
          </a:solidFill>
          <a:ln w="12700">
            <a:solidFill>
              <a:srgbClr val="F1F4F8"/>
            </a:solidFill>
            <a:prstDash val="solid"/>
          </a:ln>
          <a:effectLst>
            <a:outerShdw blurRad="101600" dist="12700" dir="5400000" algn="bl" rotWithShape="0">
              <a:srgbClr val="9AA8B5">
                <a:alpha val="16000"/>
              </a:srgbClr>
            </a:outerShdw>
          </a:effectLst>
        </p:spPr>
      </p:sp>
      <p:sp>
        <p:nvSpPr>
          <p:cNvPr id="7" name="Shape 5"/>
          <p:cNvSpPr/>
          <p:nvPr/>
        </p:nvSpPr>
        <p:spPr>
          <a:xfrm>
            <a:off x="804672" y="1792224"/>
            <a:ext cx="420624" cy="420624"/>
          </a:xfrm>
          <a:prstGeom prst="ellipse">
            <a:avLst/>
          </a:prstGeom>
          <a:solidFill>
            <a:srgbClr val="1B2A4A"/>
          </a:solidFill>
          <a:ln w="12700">
            <a:solidFill>
              <a:srgbClr val="1B2A4A"/>
            </a:solidFill>
            <a:prstDash val="solid"/>
          </a:ln>
        </p:spPr>
      </p:sp>
      <p:sp>
        <p:nvSpPr>
          <p:cNvPr id="8" name="Text 6"/>
          <p:cNvSpPr txBox="1"/>
          <p:nvPr/>
        </p:nvSpPr>
        <p:spPr>
          <a:xfrm>
            <a:off x="804672" y="1792224"/>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7"/>
          <p:cNvSpPr txBox="1"/>
          <p:nvPr/>
        </p:nvSpPr>
        <p:spPr>
          <a:xfrm>
            <a:off x="804672" y="2359152"/>
            <a:ext cx="2148840" cy="310896"/>
          </a:xfrm>
          <a:prstGeom prst="rect">
            <a:avLst/>
          </a:prstGeom>
          <a:noFill/>
          <a:ln/>
        </p:spPr>
        <p:txBody>
          <a:bodyPr wrap="square" lIns="0" tIns="0" rIns="0" bIns="0" rtlCol="0" anchor="t"/>
          <a:lstStyle/>
          <a:p>
            <a:pPr marL="0" indent="0">
              <a:buNone/>
            </a:pPr>
            <a:r>
              <a:rPr lang="en-US" sz="1300" b="1" dirty="0">
                <a:solidFill>
                  <a:srgbClr val="1B2A4A"/>
                </a:solidFill>
                <a:latin typeface="Calibri" pitchFamily="34" charset="0"/>
                <a:ea typeface="Calibri" pitchFamily="34" charset="-122"/>
                <a:cs typeface="Calibri" pitchFamily="34" charset="-120"/>
              </a:rPr>
              <a:t>CONDICIÓN</a:t>
            </a:r>
            <a:endParaRPr lang="en-US" sz="1300" dirty="0"/>
          </a:p>
        </p:txBody>
      </p:sp>
      <p:sp>
        <p:nvSpPr>
          <p:cNvPr id="10" name="Text 8"/>
          <p:cNvSpPr txBox="1"/>
          <p:nvPr/>
        </p:nvSpPr>
        <p:spPr>
          <a:xfrm>
            <a:off x="804672" y="2724912"/>
            <a:ext cx="2148840" cy="676656"/>
          </a:xfrm>
          <a:prstGeom prst="rect">
            <a:avLst/>
          </a:prstGeom>
          <a:noFill/>
          <a:ln/>
        </p:spPr>
        <p:txBody>
          <a:bodyPr wrap="square" lIns="0" tIns="0" rIns="0" bIns="0" rtlCol="0" anchor="t"/>
          <a:lstStyle/>
          <a:p>
            <a:pPr marL="0" indent="0">
              <a:lnSpc>
                <a:spcPct val="106000"/>
              </a:lnSpc>
              <a:buNone/>
            </a:pPr>
            <a:r>
              <a:rPr lang="en-US" sz="1150" dirty="0">
                <a:solidFill>
                  <a:srgbClr val="1F2933"/>
                </a:solidFill>
                <a:latin typeface="Calibri" pitchFamily="34" charset="0"/>
                <a:ea typeface="Calibri" pitchFamily="34" charset="-122"/>
                <a:cs typeface="Calibri" pitchFamily="34" charset="-120"/>
              </a:rPr>
              <a:t>¿Con qué recursos o en qué situación?</a:t>
            </a:r>
            <a:endParaRPr lang="en-US" sz="1150" dirty="0"/>
          </a:p>
        </p:txBody>
      </p:sp>
      <p:sp>
        <p:nvSpPr>
          <p:cNvPr id="11" name="Shape 9"/>
          <p:cNvSpPr/>
          <p:nvPr/>
        </p:nvSpPr>
        <p:spPr>
          <a:xfrm>
            <a:off x="566928" y="3785616"/>
            <a:ext cx="2624328" cy="1097280"/>
          </a:xfrm>
          <a:prstGeom prst="roundRect">
            <a:avLst>
              <a:gd name="adj" fmla="val 3333"/>
            </a:avLst>
          </a:prstGeom>
          <a:solidFill>
            <a:srgbClr val="E7F2F0"/>
          </a:solidFill>
          <a:ln w="12700">
            <a:solidFill>
              <a:srgbClr val="E7F2F0"/>
            </a:solidFill>
            <a:prstDash val="solid"/>
          </a:ln>
          <a:effectLst>
            <a:outerShdw blurRad="101600" dist="12700" dir="5400000" algn="bl" rotWithShape="0">
              <a:srgbClr val="9AA8B5">
                <a:alpha val="16000"/>
              </a:srgbClr>
            </a:outerShdw>
          </a:effectLst>
        </p:spPr>
      </p:sp>
      <p:sp>
        <p:nvSpPr>
          <p:cNvPr id="12" name="Text 10"/>
          <p:cNvSpPr txBox="1"/>
          <p:nvPr/>
        </p:nvSpPr>
        <p:spPr>
          <a:xfrm>
            <a:off x="804672" y="4005072"/>
            <a:ext cx="2148840" cy="694944"/>
          </a:xfrm>
          <a:prstGeom prst="rect">
            <a:avLst/>
          </a:prstGeom>
          <a:noFill/>
          <a:ln/>
        </p:spPr>
        <p:txBody>
          <a:bodyPr wrap="square" lIns="0" tIns="0" rIns="0" bIns="0" rtlCol="0" anchor="t"/>
          <a:lstStyle/>
          <a:p>
            <a:pPr marL="0" indent="0">
              <a:lnSpc>
                <a:spcPct val="106000"/>
              </a:lnSpc>
              <a:buNone/>
            </a:pPr>
            <a:r>
              <a:rPr lang="en-US" sz="1200" dirty="0">
                <a:solidFill>
                  <a:srgbClr val="1F2933"/>
                </a:solidFill>
                <a:latin typeface="Calibri" pitchFamily="34" charset="0"/>
                <a:ea typeface="Calibri" pitchFamily="34" charset="-122"/>
                <a:cs typeface="Calibri" pitchFamily="34" charset="-120"/>
              </a:rPr>
              <a:t>Dado un recibo de servicios…</a:t>
            </a:r>
            <a:endParaRPr lang="en-US" sz="1200" dirty="0"/>
          </a:p>
        </p:txBody>
      </p:sp>
      <p:sp>
        <p:nvSpPr>
          <p:cNvPr id="13" name="Shape 11"/>
          <p:cNvSpPr/>
          <p:nvPr/>
        </p:nvSpPr>
        <p:spPr>
          <a:xfrm>
            <a:off x="3383280" y="1572768"/>
            <a:ext cx="2624328" cy="2011680"/>
          </a:xfrm>
          <a:prstGeom prst="roundRect">
            <a:avLst>
              <a:gd name="adj" fmla="val 1818"/>
            </a:avLst>
          </a:prstGeom>
          <a:solidFill>
            <a:srgbClr val="F1F4F8"/>
          </a:solidFill>
          <a:ln w="12700">
            <a:solidFill>
              <a:srgbClr val="F1F4F8"/>
            </a:solidFill>
            <a:prstDash val="solid"/>
          </a:ln>
          <a:effectLst>
            <a:outerShdw blurRad="101600" dist="12700" dir="5400000" algn="bl" rotWithShape="0">
              <a:srgbClr val="9AA8B5">
                <a:alpha val="16000"/>
              </a:srgbClr>
            </a:outerShdw>
          </a:effectLst>
        </p:spPr>
      </p:sp>
      <p:sp>
        <p:nvSpPr>
          <p:cNvPr id="14" name="Shape 12"/>
          <p:cNvSpPr/>
          <p:nvPr/>
        </p:nvSpPr>
        <p:spPr>
          <a:xfrm>
            <a:off x="3621024" y="1792224"/>
            <a:ext cx="420624" cy="420624"/>
          </a:xfrm>
          <a:prstGeom prst="ellipse">
            <a:avLst/>
          </a:prstGeom>
          <a:solidFill>
            <a:srgbClr val="2A9D8F"/>
          </a:solidFill>
          <a:ln w="12700">
            <a:solidFill>
              <a:srgbClr val="2A9D8F"/>
            </a:solidFill>
            <a:prstDash val="solid"/>
          </a:ln>
        </p:spPr>
      </p:sp>
      <p:sp>
        <p:nvSpPr>
          <p:cNvPr id="15" name="Text 13"/>
          <p:cNvSpPr txBox="1"/>
          <p:nvPr/>
        </p:nvSpPr>
        <p:spPr>
          <a:xfrm>
            <a:off x="3621024" y="1792224"/>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6" name="Text 14"/>
          <p:cNvSpPr txBox="1"/>
          <p:nvPr/>
        </p:nvSpPr>
        <p:spPr>
          <a:xfrm>
            <a:off x="3621024" y="2359152"/>
            <a:ext cx="2148840" cy="310896"/>
          </a:xfrm>
          <a:prstGeom prst="rect">
            <a:avLst/>
          </a:prstGeom>
          <a:noFill/>
          <a:ln/>
        </p:spPr>
        <p:txBody>
          <a:bodyPr wrap="square" lIns="0" tIns="0" rIns="0" bIns="0" rtlCol="0" anchor="t"/>
          <a:lstStyle/>
          <a:p>
            <a:pPr marL="0" indent="0">
              <a:buNone/>
            </a:pPr>
            <a:r>
              <a:rPr lang="en-US" sz="1300" b="1" dirty="0">
                <a:solidFill>
                  <a:srgbClr val="2A9D8F"/>
                </a:solidFill>
                <a:latin typeface="Calibri" pitchFamily="34" charset="0"/>
                <a:ea typeface="Calibri" pitchFamily="34" charset="-122"/>
                <a:cs typeface="Calibri" pitchFamily="34" charset="-120"/>
              </a:rPr>
              <a:t>VERBO OBSERVABLE</a:t>
            </a:r>
            <a:endParaRPr lang="en-US" sz="1300" dirty="0"/>
          </a:p>
        </p:txBody>
      </p:sp>
      <p:sp>
        <p:nvSpPr>
          <p:cNvPr id="17" name="Text 15"/>
          <p:cNvSpPr txBox="1"/>
          <p:nvPr/>
        </p:nvSpPr>
        <p:spPr>
          <a:xfrm>
            <a:off x="3621024" y="2724912"/>
            <a:ext cx="2148840" cy="676656"/>
          </a:xfrm>
          <a:prstGeom prst="rect">
            <a:avLst/>
          </a:prstGeom>
          <a:noFill/>
          <a:ln/>
        </p:spPr>
        <p:txBody>
          <a:bodyPr wrap="square" lIns="0" tIns="0" rIns="0" bIns="0" rtlCol="0" anchor="t"/>
          <a:lstStyle/>
          <a:p>
            <a:pPr marL="0" indent="0">
              <a:lnSpc>
                <a:spcPct val="106000"/>
              </a:lnSpc>
              <a:buNone/>
            </a:pPr>
            <a:r>
              <a:rPr lang="en-US" sz="1150" dirty="0">
                <a:solidFill>
                  <a:srgbClr val="1F2933"/>
                </a:solidFill>
                <a:latin typeface="Calibri" pitchFamily="34" charset="0"/>
                <a:ea typeface="Calibri" pitchFamily="34" charset="-122"/>
                <a:cs typeface="Calibri" pitchFamily="34" charset="-120"/>
              </a:rPr>
              <a:t>¿Qué hará que yo pueda ver?</a:t>
            </a:r>
            <a:endParaRPr lang="en-US" sz="1150" dirty="0"/>
          </a:p>
        </p:txBody>
      </p:sp>
      <p:sp>
        <p:nvSpPr>
          <p:cNvPr id="18" name="Shape 16"/>
          <p:cNvSpPr/>
          <p:nvPr/>
        </p:nvSpPr>
        <p:spPr>
          <a:xfrm>
            <a:off x="3383280" y="3785616"/>
            <a:ext cx="2624328" cy="1097280"/>
          </a:xfrm>
          <a:prstGeom prst="roundRect">
            <a:avLst>
              <a:gd name="adj" fmla="val 3333"/>
            </a:avLst>
          </a:prstGeom>
          <a:solidFill>
            <a:srgbClr val="E7F2F0"/>
          </a:solidFill>
          <a:ln w="12700">
            <a:solidFill>
              <a:srgbClr val="E7F2F0"/>
            </a:solidFill>
            <a:prstDash val="solid"/>
          </a:ln>
          <a:effectLst>
            <a:outerShdw blurRad="101600" dist="12700" dir="5400000" algn="bl" rotWithShape="0">
              <a:srgbClr val="9AA8B5">
                <a:alpha val="16000"/>
              </a:srgbClr>
            </a:outerShdw>
          </a:effectLst>
        </p:spPr>
      </p:sp>
      <p:sp>
        <p:nvSpPr>
          <p:cNvPr id="19" name="Text 17"/>
          <p:cNvSpPr txBox="1"/>
          <p:nvPr/>
        </p:nvSpPr>
        <p:spPr>
          <a:xfrm>
            <a:off x="3621024" y="4005072"/>
            <a:ext cx="2148840" cy="694944"/>
          </a:xfrm>
          <a:prstGeom prst="rect">
            <a:avLst/>
          </a:prstGeom>
          <a:noFill/>
          <a:ln/>
        </p:spPr>
        <p:txBody>
          <a:bodyPr wrap="square" lIns="0" tIns="0" rIns="0" bIns="0" rtlCol="0" anchor="t"/>
          <a:lstStyle/>
          <a:p>
            <a:pPr marL="0" indent="0">
              <a:lnSpc>
                <a:spcPct val="106000"/>
              </a:lnSpc>
              <a:buNone/>
            </a:pPr>
            <a:r>
              <a:rPr lang="en-US" sz="1200" dirty="0">
                <a:solidFill>
                  <a:srgbClr val="1F2933"/>
                </a:solidFill>
                <a:latin typeface="Calibri" pitchFamily="34" charset="0"/>
                <a:ea typeface="Calibri" pitchFamily="34" charset="-122"/>
                <a:cs typeface="Calibri" pitchFamily="34" charset="-120"/>
              </a:rPr>
              <a:t>…identificará…</a:t>
            </a:r>
            <a:endParaRPr lang="en-US" sz="1200" dirty="0"/>
          </a:p>
        </p:txBody>
      </p:sp>
      <p:sp>
        <p:nvSpPr>
          <p:cNvPr id="20" name="Shape 18"/>
          <p:cNvSpPr/>
          <p:nvPr/>
        </p:nvSpPr>
        <p:spPr>
          <a:xfrm>
            <a:off x="6199632" y="1572768"/>
            <a:ext cx="2624328" cy="2011680"/>
          </a:xfrm>
          <a:prstGeom prst="roundRect">
            <a:avLst>
              <a:gd name="adj" fmla="val 1818"/>
            </a:avLst>
          </a:prstGeom>
          <a:solidFill>
            <a:srgbClr val="F1F4F8"/>
          </a:solidFill>
          <a:ln w="12700">
            <a:solidFill>
              <a:srgbClr val="F1F4F8"/>
            </a:solidFill>
            <a:prstDash val="solid"/>
          </a:ln>
          <a:effectLst>
            <a:outerShdw blurRad="101600" dist="12700" dir="5400000" algn="bl" rotWithShape="0">
              <a:srgbClr val="9AA8B5">
                <a:alpha val="16000"/>
              </a:srgbClr>
            </a:outerShdw>
          </a:effectLst>
        </p:spPr>
      </p:sp>
      <p:sp>
        <p:nvSpPr>
          <p:cNvPr id="21" name="Shape 19"/>
          <p:cNvSpPr/>
          <p:nvPr/>
        </p:nvSpPr>
        <p:spPr>
          <a:xfrm>
            <a:off x="6437376" y="1792224"/>
            <a:ext cx="420624" cy="420624"/>
          </a:xfrm>
          <a:prstGeom prst="ellipse">
            <a:avLst/>
          </a:prstGeom>
          <a:solidFill>
            <a:srgbClr val="C9A227"/>
          </a:solidFill>
          <a:ln w="12700">
            <a:solidFill>
              <a:srgbClr val="C9A227"/>
            </a:solidFill>
            <a:prstDash val="solid"/>
          </a:ln>
        </p:spPr>
      </p:sp>
      <p:sp>
        <p:nvSpPr>
          <p:cNvPr id="22" name="Text 20"/>
          <p:cNvSpPr txBox="1"/>
          <p:nvPr/>
        </p:nvSpPr>
        <p:spPr>
          <a:xfrm>
            <a:off x="6437376" y="1792224"/>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3" name="Text 21"/>
          <p:cNvSpPr txBox="1"/>
          <p:nvPr/>
        </p:nvSpPr>
        <p:spPr>
          <a:xfrm>
            <a:off x="6437376" y="2359152"/>
            <a:ext cx="2148840" cy="310896"/>
          </a:xfrm>
          <a:prstGeom prst="rect">
            <a:avLst/>
          </a:prstGeom>
          <a:noFill/>
          <a:ln/>
        </p:spPr>
        <p:txBody>
          <a:bodyPr wrap="square" lIns="0" tIns="0" rIns="0" bIns="0" rtlCol="0" anchor="t"/>
          <a:lstStyle/>
          <a:p>
            <a:pPr marL="0" indent="0">
              <a:buNone/>
            </a:pPr>
            <a:r>
              <a:rPr lang="en-US" sz="1300" b="1" dirty="0">
                <a:solidFill>
                  <a:srgbClr val="C9A227"/>
                </a:solidFill>
                <a:latin typeface="Calibri" pitchFamily="34" charset="0"/>
                <a:ea typeface="Calibri" pitchFamily="34" charset="-122"/>
                <a:cs typeface="Calibri" pitchFamily="34" charset="-120"/>
              </a:rPr>
              <a:t>OBJETO</a:t>
            </a:r>
            <a:endParaRPr lang="en-US" sz="1300" dirty="0"/>
          </a:p>
        </p:txBody>
      </p:sp>
      <p:sp>
        <p:nvSpPr>
          <p:cNvPr id="24" name="Text 22"/>
          <p:cNvSpPr txBox="1"/>
          <p:nvPr/>
        </p:nvSpPr>
        <p:spPr>
          <a:xfrm>
            <a:off x="6437376" y="2724912"/>
            <a:ext cx="2148840" cy="676656"/>
          </a:xfrm>
          <a:prstGeom prst="rect">
            <a:avLst/>
          </a:prstGeom>
          <a:noFill/>
          <a:ln/>
        </p:spPr>
        <p:txBody>
          <a:bodyPr wrap="square" lIns="0" tIns="0" rIns="0" bIns="0" rtlCol="0" anchor="t"/>
          <a:lstStyle/>
          <a:p>
            <a:pPr marL="0" indent="0">
              <a:lnSpc>
                <a:spcPct val="106000"/>
              </a:lnSpc>
              <a:buNone/>
            </a:pPr>
            <a:r>
              <a:rPr lang="en-US" sz="1150" dirty="0">
                <a:solidFill>
                  <a:srgbClr val="1F2933"/>
                </a:solidFill>
                <a:latin typeface="Calibri" pitchFamily="34" charset="0"/>
                <a:ea typeface="Calibri" pitchFamily="34" charset="-122"/>
                <a:cs typeface="Calibri" pitchFamily="34" charset="-120"/>
              </a:rPr>
              <a:t>¿Sobre qué contenido?</a:t>
            </a:r>
            <a:endParaRPr lang="en-US" sz="1150" dirty="0"/>
          </a:p>
        </p:txBody>
      </p:sp>
      <p:sp>
        <p:nvSpPr>
          <p:cNvPr id="25" name="Shape 23"/>
          <p:cNvSpPr/>
          <p:nvPr/>
        </p:nvSpPr>
        <p:spPr>
          <a:xfrm>
            <a:off x="6199632" y="3785616"/>
            <a:ext cx="2624328" cy="1097280"/>
          </a:xfrm>
          <a:prstGeom prst="roundRect">
            <a:avLst>
              <a:gd name="adj" fmla="val 3333"/>
            </a:avLst>
          </a:prstGeom>
          <a:solidFill>
            <a:srgbClr val="E7F2F0"/>
          </a:solidFill>
          <a:ln w="12700">
            <a:solidFill>
              <a:srgbClr val="E7F2F0"/>
            </a:solidFill>
            <a:prstDash val="solid"/>
          </a:ln>
          <a:effectLst>
            <a:outerShdw blurRad="101600" dist="12700" dir="5400000" algn="bl" rotWithShape="0">
              <a:srgbClr val="9AA8B5">
                <a:alpha val="16000"/>
              </a:srgbClr>
            </a:outerShdw>
          </a:effectLst>
        </p:spPr>
      </p:sp>
      <p:sp>
        <p:nvSpPr>
          <p:cNvPr id="26" name="Text 24"/>
          <p:cNvSpPr txBox="1"/>
          <p:nvPr/>
        </p:nvSpPr>
        <p:spPr>
          <a:xfrm>
            <a:off x="6437376" y="4005072"/>
            <a:ext cx="2148840" cy="694944"/>
          </a:xfrm>
          <a:prstGeom prst="rect">
            <a:avLst/>
          </a:prstGeom>
          <a:noFill/>
          <a:ln/>
        </p:spPr>
        <p:txBody>
          <a:bodyPr wrap="square" lIns="0" tIns="0" rIns="0" bIns="0" rtlCol="0" anchor="t"/>
          <a:lstStyle/>
          <a:p>
            <a:pPr marL="0" indent="0">
              <a:lnSpc>
                <a:spcPct val="106000"/>
              </a:lnSpc>
              <a:buNone/>
            </a:pPr>
            <a:r>
              <a:rPr lang="en-US" sz="1200" dirty="0">
                <a:solidFill>
                  <a:srgbClr val="1F2933"/>
                </a:solidFill>
                <a:latin typeface="Calibri" pitchFamily="34" charset="0"/>
                <a:ea typeface="Calibri" pitchFamily="34" charset="-122"/>
                <a:cs typeface="Calibri" pitchFamily="34" charset="-120"/>
              </a:rPr>
              <a:t>…los tres cargos fijos…</a:t>
            </a:r>
            <a:endParaRPr lang="en-US" sz="1200" dirty="0"/>
          </a:p>
        </p:txBody>
      </p:sp>
      <p:sp>
        <p:nvSpPr>
          <p:cNvPr id="27" name="Shape 25"/>
          <p:cNvSpPr/>
          <p:nvPr/>
        </p:nvSpPr>
        <p:spPr>
          <a:xfrm>
            <a:off x="9015984" y="1572768"/>
            <a:ext cx="2624328" cy="2011680"/>
          </a:xfrm>
          <a:prstGeom prst="roundRect">
            <a:avLst>
              <a:gd name="adj" fmla="val 1818"/>
            </a:avLst>
          </a:prstGeom>
          <a:solidFill>
            <a:srgbClr val="F1F4F8"/>
          </a:solidFill>
          <a:ln w="12700">
            <a:solidFill>
              <a:srgbClr val="F1F4F8"/>
            </a:solidFill>
            <a:prstDash val="solid"/>
          </a:ln>
          <a:effectLst>
            <a:outerShdw blurRad="101600" dist="12700" dir="5400000" algn="bl" rotWithShape="0">
              <a:srgbClr val="9AA8B5">
                <a:alpha val="16000"/>
              </a:srgbClr>
            </a:outerShdw>
          </a:effectLst>
        </p:spPr>
      </p:sp>
      <p:sp>
        <p:nvSpPr>
          <p:cNvPr id="28" name="Shape 26"/>
          <p:cNvSpPr/>
          <p:nvPr/>
        </p:nvSpPr>
        <p:spPr>
          <a:xfrm>
            <a:off x="9253728" y="1792224"/>
            <a:ext cx="420624" cy="420624"/>
          </a:xfrm>
          <a:prstGeom prst="ellipse">
            <a:avLst/>
          </a:prstGeom>
          <a:solidFill>
            <a:srgbClr val="1F3864"/>
          </a:solidFill>
          <a:ln w="12700">
            <a:solidFill>
              <a:srgbClr val="1F3864"/>
            </a:solidFill>
            <a:prstDash val="solid"/>
          </a:ln>
        </p:spPr>
      </p:sp>
      <p:sp>
        <p:nvSpPr>
          <p:cNvPr id="29" name="Text 27"/>
          <p:cNvSpPr txBox="1"/>
          <p:nvPr/>
        </p:nvSpPr>
        <p:spPr>
          <a:xfrm>
            <a:off x="9253728" y="1792224"/>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30" name="Text 28"/>
          <p:cNvSpPr txBox="1"/>
          <p:nvPr/>
        </p:nvSpPr>
        <p:spPr>
          <a:xfrm>
            <a:off x="9253728" y="2359152"/>
            <a:ext cx="2148840" cy="310896"/>
          </a:xfrm>
          <a:prstGeom prst="rect">
            <a:avLst/>
          </a:prstGeom>
          <a:noFill/>
          <a:ln/>
        </p:spPr>
        <p:txBody>
          <a:bodyPr wrap="square" lIns="0" tIns="0" rIns="0" bIns="0" rtlCol="0" anchor="t"/>
          <a:lstStyle/>
          <a:p>
            <a:pPr marL="0" indent="0">
              <a:buNone/>
            </a:pPr>
            <a:r>
              <a:rPr lang="en-US" sz="1300" b="1" dirty="0">
                <a:solidFill>
                  <a:srgbClr val="1F3864"/>
                </a:solidFill>
                <a:latin typeface="Calibri" pitchFamily="34" charset="0"/>
                <a:ea typeface="Calibri" pitchFamily="34" charset="-122"/>
                <a:cs typeface="Calibri" pitchFamily="34" charset="-120"/>
              </a:rPr>
              <a:t>CRITERIO</a:t>
            </a:r>
            <a:endParaRPr lang="en-US" sz="1300" dirty="0"/>
          </a:p>
        </p:txBody>
      </p:sp>
      <p:sp>
        <p:nvSpPr>
          <p:cNvPr id="31" name="Text 29"/>
          <p:cNvSpPr txBox="1"/>
          <p:nvPr/>
        </p:nvSpPr>
        <p:spPr>
          <a:xfrm>
            <a:off x="9253728" y="2724912"/>
            <a:ext cx="2148840" cy="676656"/>
          </a:xfrm>
          <a:prstGeom prst="rect">
            <a:avLst/>
          </a:prstGeom>
          <a:noFill/>
          <a:ln/>
        </p:spPr>
        <p:txBody>
          <a:bodyPr wrap="square" lIns="0" tIns="0" rIns="0" bIns="0" rtlCol="0" anchor="t"/>
          <a:lstStyle/>
          <a:p>
            <a:pPr marL="0" indent="0">
              <a:lnSpc>
                <a:spcPct val="106000"/>
              </a:lnSpc>
              <a:buNone/>
            </a:pPr>
            <a:r>
              <a:rPr lang="en-US" sz="1150" dirty="0">
                <a:solidFill>
                  <a:srgbClr val="1F2933"/>
                </a:solidFill>
                <a:latin typeface="Calibri" pitchFamily="34" charset="0"/>
                <a:ea typeface="Calibri" pitchFamily="34" charset="-122"/>
                <a:cs typeface="Calibri" pitchFamily="34" charset="-120"/>
              </a:rPr>
              <a:t>¿Con qué nivel de logro?</a:t>
            </a:r>
            <a:endParaRPr lang="en-US" sz="1150" dirty="0"/>
          </a:p>
        </p:txBody>
      </p:sp>
      <p:sp>
        <p:nvSpPr>
          <p:cNvPr id="32" name="Shape 30"/>
          <p:cNvSpPr/>
          <p:nvPr/>
        </p:nvSpPr>
        <p:spPr>
          <a:xfrm>
            <a:off x="9015984" y="3785616"/>
            <a:ext cx="2624328" cy="1097280"/>
          </a:xfrm>
          <a:prstGeom prst="roundRect">
            <a:avLst>
              <a:gd name="adj" fmla="val 3333"/>
            </a:avLst>
          </a:prstGeom>
          <a:solidFill>
            <a:srgbClr val="E7F2F0"/>
          </a:solidFill>
          <a:ln w="12700">
            <a:solidFill>
              <a:srgbClr val="E7F2F0"/>
            </a:solidFill>
            <a:prstDash val="solid"/>
          </a:ln>
          <a:effectLst>
            <a:outerShdw blurRad="101600" dist="12700" dir="5400000" algn="bl" rotWithShape="0">
              <a:srgbClr val="9AA8B5">
                <a:alpha val="16000"/>
              </a:srgbClr>
            </a:outerShdw>
          </a:effectLst>
        </p:spPr>
      </p:sp>
      <p:sp>
        <p:nvSpPr>
          <p:cNvPr id="33" name="Text 31"/>
          <p:cNvSpPr txBox="1"/>
          <p:nvPr/>
        </p:nvSpPr>
        <p:spPr>
          <a:xfrm>
            <a:off x="9253728" y="4005072"/>
            <a:ext cx="2148840" cy="694944"/>
          </a:xfrm>
          <a:prstGeom prst="rect">
            <a:avLst/>
          </a:prstGeom>
          <a:noFill/>
          <a:ln/>
        </p:spPr>
        <p:txBody>
          <a:bodyPr wrap="square" lIns="0" tIns="0" rIns="0" bIns="0" rtlCol="0" anchor="t"/>
          <a:lstStyle/>
          <a:p>
            <a:pPr marL="0" indent="0">
              <a:lnSpc>
                <a:spcPct val="106000"/>
              </a:lnSpc>
              <a:buNone/>
            </a:pPr>
            <a:r>
              <a:rPr lang="en-US" sz="1200" dirty="0">
                <a:solidFill>
                  <a:srgbClr val="1F2933"/>
                </a:solidFill>
                <a:latin typeface="Calibri" pitchFamily="34" charset="0"/>
                <a:ea typeface="Calibri" pitchFamily="34" charset="-122"/>
                <a:cs typeface="Calibri" pitchFamily="34" charset="-120"/>
              </a:rPr>
              <a:t>…con 70 % de exactitud, en 10 minutos.</a:t>
            </a:r>
            <a:endParaRPr lang="en-US" sz="1200" dirty="0"/>
          </a:p>
        </p:txBody>
      </p:sp>
      <p:sp>
        <p:nvSpPr>
          <p:cNvPr id="34" name="Shape 32"/>
          <p:cNvSpPr/>
          <p:nvPr/>
        </p:nvSpPr>
        <p:spPr>
          <a:xfrm>
            <a:off x="566928" y="5102352"/>
            <a:ext cx="11055096" cy="713232"/>
          </a:xfrm>
          <a:prstGeom prst="roundRect">
            <a:avLst>
              <a:gd name="adj" fmla="val 6410"/>
            </a:avLst>
          </a:prstGeom>
          <a:solidFill>
            <a:srgbClr val="2A9D8F"/>
          </a:solidFill>
          <a:ln w="12700">
            <a:solidFill>
              <a:srgbClr val="2A9D8F"/>
            </a:solidFill>
            <a:prstDash val="solid"/>
          </a:ln>
        </p:spPr>
      </p:sp>
      <p:sp>
        <p:nvSpPr>
          <p:cNvPr id="35" name="Text 33"/>
          <p:cNvSpPr txBox="1"/>
          <p:nvPr/>
        </p:nvSpPr>
        <p:spPr>
          <a:xfrm>
            <a:off x="932688" y="5212080"/>
            <a:ext cx="10323576" cy="493776"/>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«Dado un recibo de servicios, el participante identificará los tres cargos fijos con 70 % de exactitud, en 10 minutos.»</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29184"/>
            <a:ext cx="11055096" cy="256032"/>
          </a:xfrm>
          <a:prstGeom prst="rect">
            <a:avLst/>
          </a:prstGeom>
          <a:noFill/>
          <a:ln/>
        </p:spPr>
        <p:txBody>
          <a:bodyPr wrap="square" lIns="0" tIns="0" rIns="0" bIns="0" rtlCol="0" anchor="ctr"/>
          <a:lstStyle/>
          <a:p>
            <a:pPr marL="0" indent="0">
              <a:buNone/>
            </a:pPr>
            <a:r>
              <a:rPr lang="en-US" sz="1100" b="1" kern="0" spc="160" dirty="0">
                <a:solidFill>
                  <a:srgbClr val="2A9D8F"/>
                </a:solidFill>
                <a:latin typeface="Calibri" pitchFamily="34" charset="0"/>
                <a:ea typeface="Calibri" pitchFamily="34" charset="-122"/>
                <a:cs typeface="Calibri" pitchFamily="34" charset="-120"/>
              </a:rPr>
              <a:t>CONTRASTE</a:t>
            </a:r>
            <a:endParaRPr lang="en-US" sz="1100" dirty="0"/>
          </a:p>
        </p:txBody>
      </p:sp>
      <p:sp>
        <p:nvSpPr>
          <p:cNvPr id="3" name="Text 1"/>
          <p:cNvSpPr txBox="1"/>
          <p:nvPr/>
        </p:nvSpPr>
        <p:spPr>
          <a:xfrm>
            <a:off x="566928" y="603504"/>
            <a:ext cx="11055096" cy="749808"/>
          </a:xfrm>
          <a:prstGeom prst="rect">
            <a:avLst/>
          </a:prstGeom>
          <a:noFill/>
          <a:ln/>
        </p:spPr>
        <p:txBody>
          <a:bodyPr wrap="square" lIns="0" tIns="0" rIns="0" bIns="0" rtlCol="0" anchor="t"/>
          <a:lstStyle/>
          <a:p>
            <a:pPr marL="0" indent="0">
              <a:buNone/>
            </a:pPr>
            <a:r>
              <a:rPr lang="en-US" sz="2900" b="1" dirty="0">
                <a:solidFill>
                  <a:srgbClr val="1B2A4A"/>
                </a:solidFill>
                <a:latin typeface="Cambria" pitchFamily="34" charset="0"/>
                <a:ea typeface="Cambria" pitchFamily="34" charset="-122"/>
                <a:cs typeface="Cambria" pitchFamily="34" charset="-120"/>
              </a:rPr>
              <a:t>Antes y después: de tema amplio a competencia observable</a:t>
            </a:r>
            <a:endParaRPr lang="en-US" sz="2900" dirty="0"/>
          </a:p>
        </p:txBody>
      </p:sp>
      <p:sp>
        <p:nvSpPr>
          <p:cNvPr id="4" name="Text 2"/>
          <p:cNvSpPr txBox="1"/>
          <p:nvPr/>
        </p:nvSpPr>
        <p:spPr>
          <a:xfrm>
            <a:off x="566928" y="6428232"/>
            <a:ext cx="7863840" cy="256032"/>
          </a:xfrm>
          <a:prstGeom prst="rect">
            <a:avLst/>
          </a:prstGeom>
          <a:noFill/>
          <a:ln/>
        </p:spPr>
        <p:txBody>
          <a:bodyPr wrap="square" lIns="0" tIns="0" rIns="0" bIns="0" rtlCol="0" anchor="ctr"/>
          <a:lstStyle/>
          <a:p>
            <a:pPr marL="0" indent="0">
              <a:buNone/>
            </a:pPr>
            <a:r>
              <a:rPr lang="en-US" sz="900" dirty="0">
                <a:solidFill>
                  <a:srgbClr val="5B6B7B"/>
                </a:solidFill>
                <a:latin typeface="Calibri" pitchFamily="34" charset="0"/>
                <a:ea typeface="Calibri" pitchFamily="34" charset="-122"/>
                <a:cs typeface="Calibri" pitchFamily="34" charset="-120"/>
              </a:rPr>
              <a:t>Microaprendizaje para adultos  ·  Proyecto RUTA — Inter Ponce</a:t>
            </a:r>
            <a:endParaRPr lang="en-US" sz="900" dirty="0"/>
          </a:p>
        </p:txBody>
      </p:sp>
      <p:sp>
        <p:nvSpPr>
          <p:cNvPr id="5" name="Text 3"/>
          <p:cNvSpPr txBox="1"/>
          <p:nvPr/>
        </p:nvSpPr>
        <p:spPr>
          <a:xfrm>
            <a:off x="10972800" y="6428232"/>
            <a:ext cx="649224" cy="256032"/>
          </a:xfrm>
          <a:prstGeom prst="rect">
            <a:avLst/>
          </a:prstGeom>
          <a:noFill/>
          <a:ln/>
        </p:spPr>
        <p:txBody>
          <a:bodyPr wrap="square" lIns="0" tIns="0" rIns="0" bIns="0" rtlCol="0" anchor="ctr"/>
          <a:lstStyle/>
          <a:p>
            <a:pPr marL="0" indent="0" algn="r">
              <a:buNone/>
            </a:pPr>
            <a:r>
              <a:rPr lang="en-US" sz="900" dirty="0">
                <a:solidFill>
                  <a:srgbClr val="5B6B7B"/>
                </a:solidFill>
                <a:latin typeface="Calibri" pitchFamily="34" charset="0"/>
                <a:ea typeface="Calibri" pitchFamily="34" charset="-122"/>
                <a:cs typeface="Calibri" pitchFamily="34" charset="-120"/>
              </a:rPr>
              <a:t>18</a:t>
            </a:r>
            <a:endParaRPr lang="en-US" sz="9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66928" y="1517904"/>
          <a:ext cx="11055096" cy="914400"/>
        </p:xfrm>
        <a:graphic>
          <a:graphicData uri="http://schemas.openxmlformats.org/drawingml/2006/table">
            <a:tbl>
              <a:tblPr/>
              <a:tblGrid>
                <a:gridCol w="2331720">
                  <a:extLst>
                    <a:ext uri="{9D8B030D-6E8A-4147-A177-3AD203B41FA5}">
                      <a16:colId xmlns:a16="http://schemas.microsoft.com/office/drawing/2014/main" val="20000"/>
                    </a:ext>
                  </a:extLst>
                </a:gridCol>
                <a:gridCol w="3566160">
                  <a:extLst>
                    <a:ext uri="{9D8B030D-6E8A-4147-A177-3AD203B41FA5}">
                      <a16:colId xmlns:a16="http://schemas.microsoft.com/office/drawing/2014/main" val="20001"/>
                    </a:ext>
                  </a:extLst>
                </a:gridCol>
                <a:gridCol w="5157216">
                  <a:extLst>
                    <a:ext uri="{9D8B030D-6E8A-4147-A177-3AD203B41FA5}">
                      <a16:colId xmlns:a16="http://schemas.microsoft.com/office/drawing/2014/main" val="20002"/>
                    </a:ext>
                  </a:extLst>
                </a:gridCol>
              </a:tblGrid>
              <a:tr h="822960">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Programa</a:t>
                      </a:r>
                      <a:endParaRPr lang="en-US" sz="120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1B2A4A"/>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Como suele redactarse</a:t>
                      </a:r>
                      <a:endParaRPr lang="en-US" sz="120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1B2A4A"/>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Redacción como microunidad</a:t>
                      </a:r>
                      <a:endParaRPr lang="en-US" sz="120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822960">
                <a:tc>
                  <a:txBody>
                    <a:bodyPr/>
                    <a:lstStyle/>
                    <a:p>
                      <a:pPr marL="0" indent="0">
                        <a:buNone/>
                      </a:pPr>
                      <a:r>
                        <a:rPr lang="en-US" sz="1150" b="1" dirty="0">
                          <a:solidFill>
                            <a:srgbClr val="1F2933"/>
                          </a:solidFill>
                          <a:latin typeface="Calibri" pitchFamily="34" charset="0"/>
                          <a:ea typeface="Calibri" pitchFamily="34" charset="-122"/>
                          <a:cs typeface="Calibri" pitchFamily="34" charset="-120"/>
                        </a:rPr>
                        <a:t>Inglés conversacional</a:t>
                      </a:r>
                      <a:endParaRPr lang="en-US" sz="11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150" dirty="0">
                          <a:solidFill>
                            <a:srgbClr val="1F2933"/>
                          </a:solidFill>
                          <a:latin typeface="Calibri" pitchFamily="34" charset="0"/>
                          <a:ea typeface="Calibri" pitchFamily="34" charset="-122"/>
                          <a:cs typeface="Calibri" pitchFamily="34" charset="-120"/>
                        </a:rPr>
                        <a:t>Practicar vocabulario relacionado con la salud.</a:t>
                      </a:r>
                      <a:endParaRPr lang="en-US" sz="11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150" dirty="0">
                          <a:solidFill>
                            <a:srgbClr val="1F2933"/>
                          </a:solidFill>
                          <a:latin typeface="Calibri" pitchFamily="34" charset="0"/>
                          <a:ea typeface="Calibri" pitchFamily="34" charset="-122"/>
                          <a:cs typeface="Calibri" pitchFamily="34" charset="-120"/>
                        </a:rPr>
                        <a:t>Dado un guion de tres turnos, el participante solicitará una cita médica por teléfono usando cinco expresiones clave, sin apoyo escrito, en 8 minutos.</a:t>
                      </a:r>
                      <a:endParaRPr lang="en-US" sz="11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22960">
                <a:tc>
                  <a:txBody>
                    <a:bodyPr/>
                    <a:lstStyle/>
                    <a:p>
                      <a:pPr marL="0" indent="0">
                        <a:buNone/>
                      </a:pPr>
                      <a:r>
                        <a:rPr lang="en-US" sz="1150" b="1" dirty="0">
                          <a:solidFill>
                            <a:srgbClr val="1F2933"/>
                          </a:solidFill>
                          <a:latin typeface="Calibri" pitchFamily="34" charset="0"/>
                          <a:ea typeface="Calibri" pitchFamily="34" charset="-122"/>
                          <a:cs typeface="Calibri" pitchFamily="34" charset="-120"/>
                        </a:rPr>
                        <a:t>Tutorías de examen de equivalencia — Matemáticas</a:t>
                      </a:r>
                      <a:endParaRPr lang="en-US" sz="11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1F4F8"/>
                    </a:solidFill>
                  </a:tcPr>
                </a:tc>
                <a:tc>
                  <a:txBody>
                    <a:bodyPr/>
                    <a:lstStyle/>
                    <a:p>
                      <a:pPr marL="0" indent="0">
                        <a:buNone/>
                      </a:pPr>
                      <a:r>
                        <a:rPr lang="en-US" sz="1150" dirty="0">
                          <a:solidFill>
                            <a:srgbClr val="1F2933"/>
                          </a:solidFill>
                          <a:latin typeface="Calibri" pitchFamily="34" charset="0"/>
                          <a:ea typeface="Calibri" pitchFamily="34" charset="-122"/>
                          <a:cs typeface="Calibri" pitchFamily="34" charset="-120"/>
                        </a:rPr>
                        <a:t>Repasar operaciones con fracciones.</a:t>
                      </a:r>
                      <a:endParaRPr lang="en-US" sz="11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1F4F8"/>
                    </a:solidFill>
                  </a:tcPr>
                </a:tc>
                <a:tc>
                  <a:txBody>
                    <a:bodyPr/>
                    <a:lstStyle/>
                    <a:p>
                      <a:pPr marL="0" indent="0">
                        <a:buNone/>
                      </a:pPr>
                      <a:r>
                        <a:rPr lang="en-US" sz="1150" dirty="0">
                          <a:solidFill>
                            <a:srgbClr val="1F2933"/>
                          </a:solidFill>
                          <a:latin typeface="Calibri" pitchFamily="34" charset="0"/>
                          <a:ea typeface="Calibri" pitchFamily="34" charset="-122"/>
                          <a:cs typeface="Calibri" pitchFamily="34" charset="-120"/>
                        </a:rPr>
                        <a:t>Dadas cuatro sumas de fracciones con distinto denominador, el participante determinará el denominador común y resolverá tres de las cuatro correctamente, en 10 minutos.</a:t>
                      </a:r>
                      <a:endParaRPr lang="en-US" sz="11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1F4F8"/>
                    </a:solidFill>
                  </a:tcPr>
                </a:tc>
                <a:extLst>
                  <a:ext uri="{0D108BD9-81ED-4DB2-BD59-A6C34878D82A}">
                    <a16:rowId xmlns:a16="http://schemas.microsoft.com/office/drawing/2014/main" val="10002"/>
                  </a:ext>
                </a:extLst>
              </a:tr>
              <a:tr h="822960">
                <a:tc>
                  <a:txBody>
                    <a:bodyPr/>
                    <a:lstStyle/>
                    <a:p>
                      <a:pPr marL="0" indent="0">
                        <a:buNone/>
                      </a:pPr>
                      <a:r>
                        <a:rPr lang="en-US" sz="1150" b="1" dirty="0">
                          <a:solidFill>
                            <a:srgbClr val="1F2933"/>
                          </a:solidFill>
                          <a:latin typeface="Calibri" pitchFamily="34" charset="0"/>
                          <a:ea typeface="Calibri" pitchFamily="34" charset="-122"/>
                          <a:cs typeface="Calibri" pitchFamily="34" charset="-120"/>
                        </a:rPr>
                        <a:t>Destrezas digitales</a:t>
                      </a:r>
                      <a:endParaRPr lang="en-US" sz="11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150" dirty="0">
                          <a:solidFill>
                            <a:srgbClr val="1F2933"/>
                          </a:solidFill>
                          <a:latin typeface="Calibri" pitchFamily="34" charset="0"/>
                          <a:ea typeface="Calibri" pitchFamily="34" charset="-122"/>
                          <a:cs typeface="Calibri" pitchFamily="34" charset="-120"/>
                        </a:rPr>
                        <a:t>Conocer el manejo del correo electrónico.</a:t>
                      </a:r>
                      <a:endParaRPr lang="en-US" sz="11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150" dirty="0">
                          <a:solidFill>
                            <a:srgbClr val="1F2933"/>
                          </a:solidFill>
                          <a:latin typeface="Calibri" pitchFamily="34" charset="0"/>
                          <a:ea typeface="Calibri" pitchFamily="34" charset="-122"/>
                          <a:cs typeface="Calibri" pitchFamily="34" charset="-120"/>
                        </a:rPr>
                        <a:t>Dado un adjunto en la bandeja de entrada, el participante descargará el archivo y lo guardará en una carpeta nombrada, sin asistencia, en 5 minutos.</a:t>
                      </a:r>
                      <a:endParaRPr lang="en-US" sz="11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822960">
                <a:tc>
                  <a:txBody>
                    <a:bodyPr/>
                    <a:lstStyle/>
                    <a:p>
                      <a:pPr marL="0" indent="0">
                        <a:buNone/>
                      </a:pPr>
                      <a:r>
                        <a:rPr lang="en-US" sz="1150" b="1" dirty="0">
                          <a:solidFill>
                            <a:srgbClr val="1F2933"/>
                          </a:solidFill>
                          <a:latin typeface="Calibri" pitchFamily="34" charset="0"/>
                          <a:ea typeface="Calibri" pitchFamily="34" charset="-122"/>
                          <a:cs typeface="Calibri" pitchFamily="34" charset="-120"/>
                        </a:rPr>
                        <a:t>Empleabilidad</a:t>
                      </a:r>
                      <a:endParaRPr lang="en-US" sz="11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1F4F8"/>
                    </a:solidFill>
                  </a:tcPr>
                </a:tc>
                <a:tc>
                  <a:txBody>
                    <a:bodyPr/>
                    <a:lstStyle/>
                    <a:p>
                      <a:pPr marL="0" indent="0">
                        <a:buNone/>
                      </a:pPr>
                      <a:r>
                        <a:rPr lang="en-US" sz="1150" dirty="0">
                          <a:solidFill>
                            <a:srgbClr val="1F2933"/>
                          </a:solidFill>
                          <a:latin typeface="Calibri" pitchFamily="34" charset="0"/>
                          <a:ea typeface="Calibri" pitchFamily="34" charset="-122"/>
                          <a:cs typeface="Calibri" pitchFamily="34" charset="-120"/>
                        </a:rPr>
                        <a:t>Orientar sobre la entrevista de empleo.</a:t>
                      </a:r>
                      <a:endParaRPr lang="en-US" sz="11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1F4F8"/>
                    </a:solidFill>
                  </a:tcPr>
                </a:tc>
                <a:tc>
                  <a:txBody>
                    <a:bodyPr/>
                    <a:lstStyle/>
                    <a:p>
                      <a:pPr marL="0" indent="0">
                        <a:buNone/>
                      </a:pPr>
                      <a:r>
                        <a:rPr lang="en-US" sz="1150" dirty="0">
                          <a:solidFill>
                            <a:srgbClr val="1F2933"/>
                          </a:solidFill>
                          <a:latin typeface="Calibri" pitchFamily="34" charset="0"/>
                          <a:ea typeface="Calibri" pitchFamily="34" charset="-122"/>
                          <a:cs typeface="Calibri" pitchFamily="34" charset="-120"/>
                        </a:rPr>
                        <a:t>Ante la pregunta «hábleme de usted», el participante formulará una respuesta de 60 segundos con tres elementos: función, logro y disponibilidad.</a:t>
                      </a:r>
                      <a:endParaRPr lang="en-US" sz="11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1F4F8"/>
                    </a:solidFill>
                  </a:tcPr>
                </a:tc>
                <a:extLst>
                  <a:ext uri="{0D108BD9-81ED-4DB2-BD59-A6C34878D82A}">
                    <a16:rowId xmlns:a16="http://schemas.microsoft.com/office/drawing/2014/main" val="10004"/>
                  </a:ext>
                </a:extLst>
              </a:tr>
            </a:tbl>
          </a:graphicData>
        </a:graphic>
      </p:graphicFrame>
      <p:sp>
        <p:nvSpPr>
          <p:cNvPr id="7" name="Text 4"/>
          <p:cNvSpPr txBox="1"/>
          <p:nvPr/>
        </p:nvSpPr>
        <p:spPr>
          <a:xfrm>
            <a:off x="566928" y="5907024"/>
            <a:ext cx="11055096" cy="274320"/>
          </a:xfrm>
          <a:prstGeom prst="rect">
            <a:avLst/>
          </a:prstGeom>
          <a:noFill/>
          <a:ln/>
        </p:spPr>
        <p:txBody>
          <a:bodyPr wrap="square" lIns="0" tIns="0" rIns="0" bIns="0" rtlCol="0" anchor="ctr"/>
          <a:lstStyle/>
          <a:p>
            <a:pPr marL="0" indent="0">
              <a:buNone/>
            </a:pPr>
            <a:r>
              <a:rPr lang="en-US" sz="1150" i="1" dirty="0">
                <a:solidFill>
                  <a:srgbClr val="5B6B7B"/>
                </a:solidFill>
                <a:latin typeface="Calibri" pitchFamily="34" charset="0"/>
                <a:ea typeface="Calibri" pitchFamily="34" charset="-122"/>
                <a:cs typeface="Calibri" pitchFamily="34" charset="-120"/>
              </a:rPr>
              <a:t>Observe que la columna derecha no es más larga por adorno: cada palabra añadida es una decisión de diseño verificable.</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29184"/>
            <a:ext cx="11055096" cy="256032"/>
          </a:xfrm>
          <a:prstGeom prst="rect">
            <a:avLst/>
          </a:prstGeom>
          <a:noFill/>
          <a:ln/>
        </p:spPr>
        <p:txBody>
          <a:bodyPr wrap="square" lIns="0" tIns="0" rIns="0" bIns="0" rtlCol="0" anchor="ctr"/>
          <a:lstStyle/>
          <a:p>
            <a:pPr marL="0" indent="0">
              <a:buNone/>
            </a:pPr>
            <a:r>
              <a:rPr lang="en-US" sz="1100" b="1" kern="0" spc="160" dirty="0">
                <a:solidFill>
                  <a:srgbClr val="2A9D8F"/>
                </a:solidFill>
                <a:latin typeface="Calibri" pitchFamily="34" charset="0"/>
                <a:ea typeface="Calibri" pitchFamily="34" charset="-122"/>
                <a:cs typeface="Calibri" pitchFamily="34" charset="-120"/>
              </a:rPr>
              <a:t>HERRAMIENTA 2</a:t>
            </a:r>
            <a:endParaRPr lang="en-US" sz="1100" dirty="0"/>
          </a:p>
        </p:txBody>
      </p:sp>
      <p:sp>
        <p:nvSpPr>
          <p:cNvPr id="3" name="Text 1"/>
          <p:cNvSpPr txBox="1"/>
          <p:nvPr/>
        </p:nvSpPr>
        <p:spPr>
          <a:xfrm>
            <a:off x="566928" y="603504"/>
            <a:ext cx="11055096" cy="749808"/>
          </a:xfrm>
          <a:prstGeom prst="rect">
            <a:avLst/>
          </a:prstGeom>
          <a:noFill/>
          <a:ln/>
        </p:spPr>
        <p:txBody>
          <a:bodyPr wrap="square" lIns="0" tIns="0" rIns="0" bIns="0" rtlCol="0" anchor="t"/>
          <a:lstStyle/>
          <a:p>
            <a:pPr marL="0" indent="0">
              <a:buNone/>
            </a:pPr>
            <a:r>
              <a:rPr lang="en-US" sz="2900" b="1" dirty="0">
                <a:solidFill>
                  <a:srgbClr val="1B2A4A"/>
                </a:solidFill>
                <a:latin typeface="Cambria" pitchFamily="34" charset="0"/>
                <a:ea typeface="Cambria" pitchFamily="34" charset="-122"/>
                <a:cs typeface="Cambria" pitchFamily="34" charset="-120"/>
              </a:rPr>
              <a:t>La regla 1-1-1: el filtro de foco</a:t>
            </a:r>
            <a:endParaRPr lang="en-US" sz="2900" dirty="0"/>
          </a:p>
        </p:txBody>
      </p:sp>
      <p:sp>
        <p:nvSpPr>
          <p:cNvPr id="4" name="Text 2"/>
          <p:cNvSpPr txBox="1"/>
          <p:nvPr/>
        </p:nvSpPr>
        <p:spPr>
          <a:xfrm>
            <a:off x="566928" y="6428232"/>
            <a:ext cx="7863840" cy="256032"/>
          </a:xfrm>
          <a:prstGeom prst="rect">
            <a:avLst/>
          </a:prstGeom>
          <a:noFill/>
          <a:ln/>
        </p:spPr>
        <p:txBody>
          <a:bodyPr wrap="square" lIns="0" tIns="0" rIns="0" bIns="0" rtlCol="0" anchor="ctr"/>
          <a:lstStyle/>
          <a:p>
            <a:pPr marL="0" indent="0">
              <a:buNone/>
            </a:pPr>
            <a:r>
              <a:rPr lang="en-US" sz="900" dirty="0">
                <a:solidFill>
                  <a:srgbClr val="5B6B7B"/>
                </a:solidFill>
                <a:latin typeface="Calibri" pitchFamily="34" charset="0"/>
                <a:ea typeface="Calibri" pitchFamily="34" charset="-122"/>
                <a:cs typeface="Calibri" pitchFamily="34" charset="-120"/>
              </a:rPr>
              <a:t>Microaprendizaje para adultos  ·  Proyecto RUTA — Inter Ponce</a:t>
            </a:r>
            <a:endParaRPr lang="en-US" sz="900" dirty="0"/>
          </a:p>
        </p:txBody>
      </p:sp>
      <p:sp>
        <p:nvSpPr>
          <p:cNvPr id="5" name="Text 3"/>
          <p:cNvSpPr txBox="1"/>
          <p:nvPr/>
        </p:nvSpPr>
        <p:spPr>
          <a:xfrm>
            <a:off x="10972800" y="6428232"/>
            <a:ext cx="649224" cy="256032"/>
          </a:xfrm>
          <a:prstGeom prst="rect">
            <a:avLst/>
          </a:prstGeom>
          <a:noFill/>
          <a:ln/>
        </p:spPr>
        <p:txBody>
          <a:bodyPr wrap="square" lIns="0" tIns="0" rIns="0" bIns="0" rtlCol="0" anchor="ctr"/>
          <a:lstStyle/>
          <a:p>
            <a:pPr marL="0" indent="0" algn="r">
              <a:buNone/>
            </a:pPr>
            <a:r>
              <a:rPr lang="en-US" sz="900" dirty="0">
                <a:solidFill>
                  <a:srgbClr val="5B6B7B"/>
                </a:solidFill>
                <a:latin typeface="Calibri" pitchFamily="34" charset="0"/>
                <a:ea typeface="Calibri" pitchFamily="34" charset="-122"/>
                <a:cs typeface="Calibri" pitchFamily="34" charset="-120"/>
              </a:rPr>
              <a:t>19</a:t>
            </a:r>
            <a:endParaRPr lang="en-US" sz="900" dirty="0"/>
          </a:p>
        </p:txBody>
      </p:sp>
      <p:sp>
        <p:nvSpPr>
          <p:cNvPr id="6" name="Shape 4"/>
          <p:cNvSpPr/>
          <p:nvPr/>
        </p:nvSpPr>
        <p:spPr>
          <a:xfrm>
            <a:off x="566928" y="1691640"/>
            <a:ext cx="3502152" cy="2697480"/>
          </a:xfrm>
          <a:prstGeom prst="roundRect">
            <a:avLst>
              <a:gd name="adj" fmla="val 1356"/>
            </a:avLst>
          </a:prstGeom>
          <a:solidFill>
            <a:srgbClr val="1B2A4A"/>
          </a:solidFill>
          <a:ln w="12700">
            <a:solidFill>
              <a:srgbClr val="1B2A4A"/>
            </a:solidFill>
            <a:prstDash val="solid"/>
          </a:ln>
          <a:effectLst>
            <a:outerShdw blurRad="101600" dist="12700" dir="5400000" algn="bl" rotWithShape="0">
              <a:srgbClr val="9AA8B5">
                <a:alpha val="16000"/>
              </a:srgbClr>
            </a:outerShdw>
          </a:effectLst>
        </p:spPr>
      </p:sp>
      <p:sp>
        <p:nvSpPr>
          <p:cNvPr id="7" name="Shape 5"/>
          <p:cNvSpPr/>
          <p:nvPr/>
        </p:nvSpPr>
        <p:spPr>
          <a:xfrm>
            <a:off x="804672" y="1911096"/>
            <a:ext cx="420624" cy="420624"/>
          </a:xfrm>
          <a:prstGeom prst="ellipse">
            <a:avLst/>
          </a:prstGeom>
          <a:solidFill>
            <a:srgbClr val="C9A227"/>
          </a:solidFill>
          <a:ln w="12700">
            <a:solidFill>
              <a:srgbClr val="C9A227"/>
            </a:solidFill>
            <a:prstDash val="solid"/>
          </a:ln>
        </p:spPr>
      </p:sp>
      <p:sp>
        <p:nvSpPr>
          <p:cNvPr id="8" name="Text 6"/>
          <p:cNvSpPr txBox="1"/>
          <p:nvPr/>
        </p:nvSpPr>
        <p:spPr>
          <a:xfrm>
            <a:off x="804672" y="1911096"/>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7"/>
          <p:cNvSpPr txBox="1"/>
          <p:nvPr/>
        </p:nvSpPr>
        <p:spPr>
          <a:xfrm>
            <a:off x="804672" y="2478024"/>
            <a:ext cx="3026664" cy="310896"/>
          </a:xfrm>
          <a:prstGeom prst="rect">
            <a:avLst/>
          </a:prstGeom>
          <a:noFill/>
          <a:ln/>
        </p:spPr>
        <p:txBody>
          <a:bodyPr wrap="square" lIns="0" tIns="0" rIns="0" bIns="0" rtlCol="0" anchor="t"/>
          <a:lstStyle/>
          <a:p>
            <a:pPr marL="0" indent="0">
              <a:buNone/>
            </a:pPr>
            <a:r>
              <a:rPr lang="en-US" sz="1450" b="1" dirty="0">
                <a:solidFill>
                  <a:srgbClr val="FFFFFF"/>
                </a:solidFill>
                <a:latin typeface="Calibri" pitchFamily="34" charset="0"/>
                <a:ea typeface="Calibri" pitchFamily="34" charset="-122"/>
                <a:cs typeface="Calibri" pitchFamily="34" charset="-120"/>
              </a:rPr>
              <a:t>Un objetivo</a:t>
            </a:r>
            <a:endParaRPr lang="en-US" sz="1450" dirty="0"/>
          </a:p>
        </p:txBody>
      </p:sp>
      <p:sp>
        <p:nvSpPr>
          <p:cNvPr id="10" name="Text 8"/>
          <p:cNvSpPr txBox="1"/>
          <p:nvPr/>
        </p:nvSpPr>
        <p:spPr>
          <a:xfrm>
            <a:off x="804672" y="2843784"/>
            <a:ext cx="3026664" cy="1362456"/>
          </a:xfrm>
          <a:prstGeom prst="rect">
            <a:avLst/>
          </a:prstGeom>
          <a:noFill/>
          <a:ln/>
        </p:spPr>
        <p:txBody>
          <a:bodyPr wrap="square" lIns="0" tIns="0" rIns="0" bIns="0" rtlCol="0" anchor="t"/>
          <a:lstStyle/>
          <a:p>
            <a:pPr marL="0" indent="0">
              <a:lnSpc>
                <a:spcPct val="106000"/>
              </a:lnSpc>
              <a:buNone/>
            </a:pPr>
            <a:r>
              <a:rPr lang="en-US" sz="1150" dirty="0">
                <a:solidFill>
                  <a:srgbClr val="D6E0EE"/>
                </a:solidFill>
                <a:latin typeface="Calibri" pitchFamily="34" charset="0"/>
                <a:ea typeface="Calibri" pitchFamily="34" charset="-122"/>
                <a:cs typeface="Calibri" pitchFamily="34" charset="-120"/>
              </a:rPr>
              <a:t>Una sola competencia observable por unidad. Si al redactarla aparece una «y», sospeche: probablemente son dos unidades.</a:t>
            </a:r>
            <a:endParaRPr lang="en-US" sz="1150" dirty="0"/>
          </a:p>
        </p:txBody>
      </p:sp>
      <p:sp>
        <p:nvSpPr>
          <p:cNvPr id="11" name="Shape 9"/>
          <p:cNvSpPr/>
          <p:nvPr/>
        </p:nvSpPr>
        <p:spPr>
          <a:xfrm>
            <a:off x="4343400" y="1691640"/>
            <a:ext cx="3502152" cy="2697480"/>
          </a:xfrm>
          <a:prstGeom prst="roundRect">
            <a:avLst>
              <a:gd name="adj" fmla="val 1356"/>
            </a:avLst>
          </a:prstGeom>
          <a:solidFill>
            <a:srgbClr val="2A9D8F"/>
          </a:solidFill>
          <a:ln w="12700">
            <a:solidFill>
              <a:srgbClr val="2A9D8F"/>
            </a:solidFill>
            <a:prstDash val="solid"/>
          </a:ln>
          <a:effectLst>
            <a:outerShdw blurRad="101600" dist="12700" dir="5400000" algn="bl" rotWithShape="0">
              <a:srgbClr val="9AA8B5">
                <a:alpha val="16000"/>
              </a:srgbClr>
            </a:outerShdw>
          </a:effectLst>
        </p:spPr>
      </p:sp>
      <p:sp>
        <p:nvSpPr>
          <p:cNvPr id="12" name="Shape 10"/>
          <p:cNvSpPr/>
          <p:nvPr/>
        </p:nvSpPr>
        <p:spPr>
          <a:xfrm>
            <a:off x="4581144" y="1911096"/>
            <a:ext cx="420624" cy="420624"/>
          </a:xfrm>
          <a:prstGeom prst="ellipse">
            <a:avLst/>
          </a:prstGeom>
          <a:solidFill>
            <a:srgbClr val="1B2A4A"/>
          </a:solidFill>
          <a:ln w="12700">
            <a:solidFill>
              <a:srgbClr val="1B2A4A"/>
            </a:solidFill>
            <a:prstDash val="solid"/>
          </a:ln>
        </p:spPr>
      </p:sp>
      <p:sp>
        <p:nvSpPr>
          <p:cNvPr id="13" name="Text 11"/>
          <p:cNvSpPr txBox="1"/>
          <p:nvPr/>
        </p:nvSpPr>
        <p:spPr>
          <a:xfrm>
            <a:off x="4581144" y="1911096"/>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4" name="Text 12"/>
          <p:cNvSpPr txBox="1"/>
          <p:nvPr/>
        </p:nvSpPr>
        <p:spPr>
          <a:xfrm>
            <a:off x="4581144" y="2478024"/>
            <a:ext cx="3026664" cy="310896"/>
          </a:xfrm>
          <a:prstGeom prst="rect">
            <a:avLst/>
          </a:prstGeom>
          <a:noFill/>
          <a:ln/>
        </p:spPr>
        <p:txBody>
          <a:bodyPr wrap="square" lIns="0" tIns="0" rIns="0" bIns="0" rtlCol="0" anchor="t"/>
          <a:lstStyle/>
          <a:p>
            <a:pPr marL="0" indent="0">
              <a:buNone/>
            </a:pPr>
            <a:r>
              <a:rPr lang="en-US" sz="1450" b="1" dirty="0">
                <a:solidFill>
                  <a:srgbClr val="FFFFFF"/>
                </a:solidFill>
                <a:latin typeface="Calibri" pitchFamily="34" charset="0"/>
                <a:ea typeface="Calibri" pitchFamily="34" charset="-122"/>
                <a:cs typeface="Calibri" pitchFamily="34" charset="-120"/>
              </a:rPr>
              <a:t>Un formato dominante</a:t>
            </a:r>
            <a:endParaRPr lang="en-US" sz="1450" dirty="0"/>
          </a:p>
        </p:txBody>
      </p:sp>
      <p:sp>
        <p:nvSpPr>
          <p:cNvPr id="15" name="Text 13"/>
          <p:cNvSpPr txBox="1"/>
          <p:nvPr/>
        </p:nvSpPr>
        <p:spPr>
          <a:xfrm>
            <a:off x="4581144" y="2843784"/>
            <a:ext cx="3026664" cy="1362456"/>
          </a:xfrm>
          <a:prstGeom prst="rect">
            <a:avLst/>
          </a:prstGeom>
          <a:noFill/>
          <a:ln/>
        </p:spPr>
        <p:txBody>
          <a:bodyPr wrap="square" lIns="0" tIns="0" rIns="0" bIns="0" rtlCol="0" anchor="t"/>
          <a:lstStyle/>
          <a:p>
            <a:pPr marL="0" indent="0">
              <a:lnSpc>
                <a:spcPct val="106000"/>
              </a:lnSpc>
              <a:buNone/>
            </a:pPr>
            <a:r>
              <a:rPr lang="en-US" sz="1150" dirty="0">
                <a:solidFill>
                  <a:srgbClr val="E6F5F2"/>
                </a:solidFill>
                <a:latin typeface="Calibri" pitchFamily="34" charset="0"/>
                <a:ea typeface="Calibri" pitchFamily="34" charset="-122"/>
                <a:cs typeface="Calibri" pitchFamily="34" charset="-120"/>
              </a:rPr>
              <a:t>Video breve, cápsula escrita o guía visual: elija uno como soporte principal. Mezclar tres formatos en diez minutos fragmenta la atención.</a:t>
            </a:r>
            <a:endParaRPr lang="en-US" sz="1150" dirty="0"/>
          </a:p>
        </p:txBody>
      </p:sp>
      <p:sp>
        <p:nvSpPr>
          <p:cNvPr id="16" name="Shape 14"/>
          <p:cNvSpPr/>
          <p:nvPr/>
        </p:nvSpPr>
        <p:spPr>
          <a:xfrm>
            <a:off x="8119872" y="1691640"/>
            <a:ext cx="3502152" cy="2697480"/>
          </a:xfrm>
          <a:prstGeom prst="roundRect">
            <a:avLst>
              <a:gd name="adj" fmla="val 1356"/>
            </a:avLst>
          </a:prstGeom>
          <a:solidFill>
            <a:srgbClr val="C9A227"/>
          </a:solidFill>
          <a:ln w="12700">
            <a:solidFill>
              <a:srgbClr val="C9A227"/>
            </a:solidFill>
            <a:prstDash val="solid"/>
          </a:ln>
          <a:effectLst>
            <a:outerShdw blurRad="101600" dist="12700" dir="5400000" algn="bl" rotWithShape="0">
              <a:srgbClr val="9AA8B5">
                <a:alpha val="16000"/>
              </a:srgbClr>
            </a:outerShdw>
          </a:effectLst>
        </p:spPr>
      </p:sp>
      <p:sp>
        <p:nvSpPr>
          <p:cNvPr id="17" name="Shape 15"/>
          <p:cNvSpPr/>
          <p:nvPr/>
        </p:nvSpPr>
        <p:spPr>
          <a:xfrm>
            <a:off x="8357616" y="1911096"/>
            <a:ext cx="420624" cy="420624"/>
          </a:xfrm>
          <a:prstGeom prst="ellipse">
            <a:avLst/>
          </a:prstGeom>
          <a:solidFill>
            <a:srgbClr val="1B2A4A"/>
          </a:solidFill>
          <a:ln w="12700">
            <a:solidFill>
              <a:srgbClr val="1B2A4A"/>
            </a:solidFill>
            <a:prstDash val="solid"/>
          </a:ln>
        </p:spPr>
      </p:sp>
      <p:sp>
        <p:nvSpPr>
          <p:cNvPr id="18" name="Text 16"/>
          <p:cNvSpPr txBox="1"/>
          <p:nvPr/>
        </p:nvSpPr>
        <p:spPr>
          <a:xfrm>
            <a:off x="8357616" y="1911096"/>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9" name="Text 17"/>
          <p:cNvSpPr txBox="1"/>
          <p:nvPr/>
        </p:nvSpPr>
        <p:spPr>
          <a:xfrm>
            <a:off x="8357616" y="2478024"/>
            <a:ext cx="3026664" cy="310896"/>
          </a:xfrm>
          <a:prstGeom prst="rect">
            <a:avLst/>
          </a:prstGeom>
          <a:noFill/>
          <a:ln/>
        </p:spPr>
        <p:txBody>
          <a:bodyPr wrap="square" lIns="0" tIns="0" rIns="0" bIns="0" rtlCol="0" anchor="t"/>
          <a:lstStyle/>
          <a:p>
            <a:pPr marL="0" indent="0">
              <a:buNone/>
            </a:pPr>
            <a:r>
              <a:rPr lang="en-US" sz="1450" b="1" dirty="0">
                <a:solidFill>
                  <a:srgbClr val="20180A"/>
                </a:solidFill>
                <a:latin typeface="Calibri" pitchFamily="34" charset="0"/>
                <a:ea typeface="Calibri" pitchFamily="34" charset="-122"/>
                <a:cs typeface="Calibri" pitchFamily="34" charset="-120"/>
              </a:rPr>
              <a:t>Una práctica</a:t>
            </a:r>
            <a:endParaRPr lang="en-US" sz="1450" dirty="0"/>
          </a:p>
        </p:txBody>
      </p:sp>
      <p:sp>
        <p:nvSpPr>
          <p:cNvPr id="20" name="Text 18"/>
          <p:cNvSpPr txBox="1"/>
          <p:nvPr/>
        </p:nvSpPr>
        <p:spPr>
          <a:xfrm>
            <a:off x="8357616" y="2843784"/>
            <a:ext cx="3026664" cy="1362456"/>
          </a:xfrm>
          <a:prstGeom prst="rect">
            <a:avLst/>
          </a:prstGeom>
          <a:noFill/>
          <a:ln/>
        </p:spPr>
        <p:txBody>
          <a:bodyPr wrap="square" lIns="0" tIns="0" rIns="0" bIns="0" rtlCol="0" anchor="t"/>
          <a:lstStyle/>
          <a:p>
            <a:pPr marL="0" indent="0">
              <a:lnSpc>
                <a:spcPct val="106000"/>
              </a:lnSpc>
              <a:buNone/>
            </a:pPr>
            <a:r>
              <a:rPr lang="en-US" sz="1150" dirty="0">
                <a:solidFill>
                  <a:srgbClr val="2A2210"/>
                </a:solidFill>
                <a:latin typeface="Calibri" pitchFamily="34" charset="0"/>
                <a:ea typeface="Calibri" pitchFamily="34" charset="-122"/>
                <a:cs typeface="Calibri" pitchFamily="34" charset="-120"/>
              </a:rPr>
              <a:t>Una sola tarea de aplicación, hecha durante la unidad y no después. Si el participante cierra la cápsula sin haber hecho nada, no hubo aprendizaje: hubo exposición.</a:t>
            </a:r>
            <a:endParaRPr lang="en-US" sz="1150" dirty="0"/>
          </a:p>
        </p:txBody>
      </p:sp>
      <p:sp>
        <p:nvSpPr>
          <p:cNvPr id="21" name="Shape 19"/>
          <p:cNvSpPr/>
          <p:nvPr/>
        </p:nvSpPr>
        <p:spPr>
          <a:xfrm>
            <a:off x="566928" y="4709160"/>
            <a:ext cx="11055096" cy="960120"/>
          </a:xfrm>
          <a:prstGeom prst="roundRect">
            <a:avLst>
              <a:gd name="adj" fmla="val 4762"/>
            </a:avLst>
          </a:prstGeom>
          <a:solidFill>
            <a:srgbClr val="F1F4F8"/>
          </a:solidFill>
          <a:ln w="12700">
            <a:solidFill>
              <a:srgbClr val="F1F4F8"/>
            </a:solidFill>
            <a:prstDash val="solid"/>
          </a:ln>
        </p:spPr>
      </p:sp>
      <p:sp>
        <p:nvSpPr>
          <p:cNvPr id="22" name="Text 20"/>
          <p:cNvSpPr txBox="1"/>
          <p:nvPr/>
        </p:nvSpPr>
        <p:spPr>
          <a:xfrm>
            <a:off x="932688" y="4818888"/>
            <a:ext cx="10323576" cy="740664"/>
          </a:xfrm>
          <a:prstGeom prst="rect">
            <a:avLst/>
          </a:prstGeom>
          <a:noFill/>
          <a:ln/>
        </p:spPr>
        <p:txBody>
          <a:bodyPr wrap="square" lIns="0" tIns="0" rIns="0" bIns="0" rtlCol="0" anchor="ctr"/>
          <a:lstStyle/>
          <a:p>
            <a:pPr marL="0" indent="0" algn="ctr">
              <a:buNone/>
            </a:pPr>
            <a:r>
              <a:rPr lang="en-US" sz="1700" b="1" dirty="0">
                <a:solidFill>
                  <a:srgbClr val="1B2A4A"/>
                </a:solidFill>
                <a:latin typeface="Cambria" pitchFamily="34" charset="0"/>
                <a:ea typeface="Cambria" pitchFamily="34" charset="-122"/>
                <a:cs typeface="Cambria" pitchFamily="34" charset="-120"/>
              </a:rPr>
              <a:t>Prueba rápida: si usted no puede explicar su cápsula en una sola oración, todavía no está focalizada.</a:t>
            </a:r>
            <a:endParaRPr lang="en-US" sz="17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29184"/>
            <a:ext cx="11055096" cy="256032"/>
          </a:xfrm>
          <a:prstGeom prst="rect">
            <a:avLst/>
          </a:prstGeom>
          <a:noFill/>
          <a:ln/>
        </p:spPr>
        <p:txBody>
          <a:bodyPr wrap="square" lIns="0" tIns="0" rIns="0" bIns="0" rtlCol="0" anchor="ctr"/>
          <a:lstStyle/>
          <a:p>
            <a:pPr marL="0" indent="0">
              <a:buNone/>
            </a:pPr>
            <a:r>
              <a:rPr lang="en-US" sz="1100" b="1" kern="0" spc="160" dirty="0">
                <a:solidFill>
                  <a:srgbClr val="2A9D8F"/>
                </a:solidFill>
                <a:latin typeface="Calibri" pitchFamily="34" charset="0"/>
                <a:ea typeface="Calibri" pitchFamily="34" charset="-122"/>
                <a:cs typeface="Calibri" pitchFamily="34" charset="-120"/>
              </a:rPr>
              <a:t>ESTRUCTURA</a:t>
            </a:r>
            <a:endParaRPr lang="en-US" sz="1100" dirty="0"/>
          </a:p>
        </p:txBody>
      </p:sp>
      <p:sp>
        <p:nvSpPr>
          <p:cNvPr id="3" name="Text 1"/>
          <p:cNvSpPr txBox="1"/>
          <p:nvPr/>
        </p:nvSpPr>
        <p:spPr>
          <a:xfrm>
            <a:off x="566928" y="603504"/>
            <a:ext cx="11055096" cy="749808"/>
          </a:xfrm>
          <a:prstGeom prst="rect">
            <a:avLst/>
          </a:prstGeom>
          <a:noFill/>
          <a:ln/>
        </p:spPr>
        <p:txBody>
          <a:bodyPr wrap="square" lIns="0" tIns="0" rIns="0" bIns="0" rtlCol="0" anchor="t"/>
          <a:lstStyle/>
          <a:p>
            <a:pPr marL="0" indent="0">
              <a:buNone/>
            </a:pPr>
            <a:r>
              <a:rPr lang="en-US" sz="2900" b="1" dirty="0">
                <a:solidFill>
                  <a:srgbClr val="1B2A4A"/>
                </a:solidFill>
                <a:latin typeface="Cambria" pitchFamily="34" charset="0"/>
                <a:ea typeface="Cambria" pitchFamily="34" charset="-122"/>
                <a:cs typeface="Cambria" pitchFamily="34" charset="-120"/>
              </a:rPr>
              <a:t>Los cinco momentos de una cápsula educativa</a:t>
            </a:r>
            <a:endParaRPr lang="en-US" sz="2900" dirty="0"/>
          </a:p>
        </p:txBody>
      </p:sp>
      <p:sp>
        <p:nvSpPr>
          <p:cNvPr id="4" name="Text 2"/>
          <p:cNvSpPr txBox="1"/>
          <p:nvPr/>
        </p:nvSpPr>
        <p:spPr>
          <a:xfrm>
            <a:off x="566928" y="6428232"/>
            <a:ext cx="7863840" cy="256032"/>
          </a:xfrm>
          <a:prstGeom prst="rect">
            <a:avLst/>
          </a:prstGeom>
          <a:noFill/>
          <a:ln/>
        </p:spPr>
        <p:txBody>
          <a:bodyPr wrap="square" lIns="0" tIns="0" rIns="0" bIns="0" rtlCol="0" anchor="ctr"/>
          <a:lstStyle/>
          <a:p>
            <a:pPr marL="0" indent="0">
              <a:buNone/>
            </a:pPr>
            <a:r>
              <a:rPr lang="en-US" sz="900" dirty="0">
                <a:solidFill>
                  <a:srgbClr val="5B6B7B"/>
                </a:solidFill>
                <a:latin typeface="Calibri" pitchFamily="34" charset="0"/>
                <a:ea typeface="Calibri" pitchFamily="34" charset="-122"/>
                <a:cs typeface="Calibri" pitchFamily="34" charset="-120"/>
              </a:rPr>
              <a:t>Microaprendizaje para adultos  ·  Proyecto RUTA — Inter Ponce</a:t>
            </a:r>
            <a:endParaRPr lang="en-US" sz="900" dirty="0"/>
          </a:p>
        </p:txBody>
      </p:sp>
      <p:sp>
        <p:nvSpPr>
          <p:cNvPr id="5" name="Text 3"/>
          <p:cNvSpPr txBox="1"/>
          <p:nvPr/>
        </p:nvSpPr>
        <p:spPr>
          <a:xfrm>
            <a:off x="10972800" y="6428232"/>
            <a:ext cx="649224" cy="256032"/>
          </a:xfrm>
          <a:prstGeom prst="rect">
            <a:avLst/>
          </a:prstGeom>
          <a:noFill/>
          <a:ln/>
        </p:spPr>
        <p:txBody>
          <a:bodyPr wrap="square" lIns="0" tIns="0" rIns="0" bIns="0" rtlCol="0" anchor="ctr"/>
          <a:lstStyle/>
          <a:p>
            <a:pPr marL="0" indent="0" algn="r">
              <a:buNone/>
            </a:pPr>
            <a:r>
              <a:rPr lang="en-US" sz="900" dirty="0">
                <a:solidFill>
                  <a:srgbClr val="5B6B7B"/>
                </a:solidFill>
                <a:latin typeface="Calibri" pitchFamily="34" charset="0"/>
                <a:ea typeface="Calibri" pitchFamily="34" charset="-122"/>
                <a:cs typeface="Calibri" pitchFamily="34" charset="-120"/>
              </a:rPr>
              <a:t>20</a:t>
            </a:r>
            <a:endParaRPr lang="en-US" sz="900" dirty="0"/>
          </a:p>
        </p:txBody>
      </p:sp>
      <p:sp>
        <p:nvSpPr>
          <p:cNvPr id="6" name="Shape 4"/>
          <p:cNvSpPr/>
          <p:nvPr/>
        </p:nvSpPr>
        <p:spPr>
          <a:xfrm>
            <a:off x="566928" y="1627632"/>
            <a:ext cx="2057400" cy="2926080"/>
          </a:xfrm>
          <a:prstGeom prst="roundRect">
            <a:avLst>
              <a:gd name="adj" fmla="val 1778"/>
            </a:avLst>
          </a:prstGeom>
          <a:solidFill>
            <a:srgbClr val="F1F4F8"/>
          </a:solidFill>
          <a:ln w="12700">
            <a:solidFill>
              <a:srgbClr val="F1F4F8"/>
            </a:solidFill>
            <a:prstDash val="solid"/>
          </a:ln>
          <a:effectLst>
            <a:outerShdw blurRad="101600" dist="12700" dir="5400000" algn="bl" rotWithShape="0">
              <a:srgbClr val="9AA8B5">
                <a:alpha val="16000"/>
              </a:srgbClr>
            </a:outerShdw>
          </a:effectLst>
        </p:spPr>
      </p:sp>
      <p:sp>
        <p:nvSpPr>
          <p:cNvPr id="7" name="Shape 5"/>
          <p:cNvSpPr/>
          <p:nvPr/>
        </p:nvSpPr>
        <p:spPr>
          <a:xfrm>
            <a:off x="804672" y="1847088"/>
            <a:ext cx="420624" cy="420624"/>
          </a:xfrm>
          <a:prstGeom prst="ellipse">
            <a:avLst/>
          </a:prstGeom>
          <a:solidFill>
            <a:srgbClr val="1B2A4A"/>
          </a:solidFill>
          <a:ln w="12700">
            <a:solidFill>
              <a:srgbClr val="1B2A4A"/>
            </a:solidFill>
            <a:prstDash val="solid"/>
          </a:ln>
        </p:spPr>
      </p:sp>
      <p:sp>
        <p:nvSpPr>
          <p:cNvPr id="8" name="Text 6"/>
          <p:cNvSpPr txBox="1"/>
          <p:nvPr/>
        </p:nvSpPr>
        <p:spPr>
          <a:xfrm>
            <a:off x="804672" y="1847088"/>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7"/>
          <p:cNvSpPr txBox="1"/>
          <p:nvPr/>
        </p:nvSpPr>
        <p:spPr>
          <a:xfrm>
            <a:off x="804672" y="2414016"/>
            <a:ext cx="1581912" cy="310896"/>
          </a:xfrm>
          <a:prstGeom prst="rect">
            <a:avLst/>
          </a:prstGeom>
          <a:noFill/>
          <a:ln/>
        </p:spPr>
        <p:txBody>
          <a:bodyPr wrap="square" lIns="0" tIns="0" rIns="0" bIns="0" rtlCol="0" anchor="t"/>
          <a:lstStyle/>
          <a:p>
            <a:pPr marL="0" indent="0">
              <a:buNone/>
            </a:pPr>
            <a:r>
              <a:rPr lang="en-US" sz="1500" b="1" dirty="0">
                <a:solidFill>
                  <a:srgbClr val="1B2A4A"/>
                </a:solidFill>
                <a:latin typeface="Calibri" pitchFamily="34" charset="0"/>
                <a:ea typeface="Calibri" pitchFamily="34" charset="-122"/>
                <a:cs typeface="Calibri" pitchFamily="34" charset="-120"/>
              </a:rPr>
              <a:t>Gancho</a:t>
            </a:r>
            <a:endParaRPr lang="en-US" sz="1500" dirty="0"/>
          </a:p>
        </p:txBody>
      </p:sp>
      <p:sp>
        <p:nvSpPr>
          <p:cNvPr id="10" name="Text 8"/>
          <p:cNvSpPr txBox="1"/>
          <p:nvPr/>
        </p:nvSpPr>
        <p:spPr>
          <a:xfrm>
            <a:off x="804672" y="2779776"/>
            <a:ext cx="1581912" cy="1591056"/>
          </a:xfrm>
          <a:prstGeom prst="rect">
            <a:avLst/>
          </a:prstGeom>
          <a:noFill/>
          <a:ln/>
        </p:spPr>
        <p:txBody>
          <a:bodyPr wrap="square" lIns="0" tIns="0" rIns="0" bIns="0" rtlCol="0" anchor="t"/>
          <a:lstStyle/>
          <a:p>
            <a:pPr marL="0" indent="0">
              <a:lnSpc>
                <a:spcPct val="106000"/>
              </a:lnSpc>
              <a:buNone/>
            </a:pPr>
            <a:r>
              <a:rPr lang="en-US" sz="1150" dirty="0">
                <a:solidFill>
                  <a:srgbClr val="1F2933"/>
                </a:solidFill>
                <a:latin typeface="Calibri" pitchFamily="34" charset="0"/>
                <a:ea typeface="Calibri" pitchFamily="34" charset="-122"/>
                <a:cs typeface="Calibri" pitchFamily="34" charset="-120"/>
              </a:rPr>
              <a:t>Una situación real, una pregunta o un dato que produzca incomodidad productiva.</a:t>
            </a:r>
            <a:endParaRPr lang="en-US" sz="1150" dirty="0"/>
          </a:p>
        </p:txBody>
      </p:sp>
      <p:sp>
        <p:nvSpPr>
          <p:cNvPr id="11" name="Shape 9"/>
          <p:cNvSpPr/>
          <p:nvPr/>
        </p:nvSpPr>
        <p:spPr>
          <a:xfrm>
            <a:off x="566928" y="4681728"/>
            <a:ext cx="2057400" cy="475488"/>
          </a:xfrm>
          <a:prstGeom prst="roundRect">
            <a:avLst>
              <a:gd name="adj" fmla="val 7692"/>
            </a:avLst>
          </a:prstGeom>
          <a:solidFill>
            <a:srgbClr val="1B2A4A"/>
          </a:solidFill>
          <a:ln w="12700">
            <a:solidFill>
              <a:srgbClr val="1B2A4A"/>
            </a:solidFill>
            <a:prstDash val="solid"/>
          </a:ln>
        </p:spPr>
      </p:sp>
      <p:sp>
        <p:nvSpPr>
          <p:cNvPr id="12" name="Text 10"/>
          <p:cNvSpPr txBox="1"/>
          <p:nvPr/>
        </p:nvSpPr>
        <p:spPr>
          <a:xfrm>
            <a:off x="566928" y="4681728"/>
            <a:ext cx="2057400" cy="475488"/>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10 % del tiempo</a:t>
            </a:r>
            <a:endParaRPr lang="en-US" sz="1250" dirty="0"/>
          </a:p>
        </p:txBody>
      </p:sp>
      <p:sp>
        <p:nvSpPr>
          <p:cNvPr id="13" name="Shape 11"/>
          <p:cNvSpPr/>
          <p:nvPr/>
        </p:nvSpPr>
        <p:spPr>
          <a:xfrm>
            <a:off x="2798064" y="1627632"/>
            <a:ext cx="2057400" cy="2926080"/>
          </a:xfrm>
          <a:prstGeom prst="roundRect">
            <a:avLst>
              <a:gd name="adj" fmla="val 1778"/>
            </a:avLst>
          </a:prstGeom>
          <a:solidFill>
            <a:srgbClr val="E7F2F0"/>
          </a:solidFill>
          <a:ln w="12700">
            <a:solidFill>
              <a:srgbClr val="E7F2F0"/>
            </a:solidFill>
            <a:prstDash val="solid"/>
          </a:ln>
          <a:effectLst>
            <a:outerShdw blurRad="101600" dist="12700" dir="5400000" algn="bl" rotWithShape="0">
              <a:srgbClr val="9AA8B5">
                <a:alpha val="16000"/>
              </a:srgbClr>
            </a:outerShdw>
          </a:effectLst>
        </p:spPr>
      </p:sp>
      <p:sp>
        <p:nvSpPr>
          <p:cNvPr id="14" name="Shape 12"/>
          <p:cNvSpPr/>
          <p:nvPr/>
        </p:nvSpPr>
        <p:spPr>
          <a:xfrm>
            <a:off x="3035808" y="1847088"/>
            <a:ext cx="420624" cy="420624"/>
          </a:xfrm>
          <a:prstGeom prst="ellipse">
            <a:avLst/>
          </a:prstGeom>
          <a:solidFill>
            <a:srgbClr val="2A9D8F"/>
          </a:solidFill>
          <a:ln w="12700">
            <a:solidFill>
              <a:srgbClr val="2A9D8F"/>
            </a:solidFill>
            <a:prstDash val="solid"/>
          </a:ln>
        </p:spPr>
      </p:sp>
      <p:sp>
        <p:nvSpPr>
          <p:cNvPr id="15" name="Text 13"/>
          <p:cNvSpPr txBox="1"/>
          <p:nvPr/>
        </p:nvSpPr>
        <p:spPr>
          <a:xfrm>
            <a:off x="3035808" y="1847088"/>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6" name="Text 14"/>
          <p:cNvSpPr txBox="1"/>
          <p:nvPr/>
        </p:nvSpPr>
        <p:spPr>
          <a:xfrm>
            <a:off x="3035808" y="2414016"/>
            <a:ext cx="1581912" cy="310896"/>
          </a:xfrm>
          <a:prstGeom prst="rect">
            <a:avLst/>
          </a:prstGeom>
          <a:noFill/>
          <a:ln/>
        </p:spPr>
        <p:txBody>
          <a:bodyPr wrap="square" lIns="0" tIns="0" rIns="0" bIns="0" rtlCol="0" anchor="t"/>
          <a:lstStyle/>
          <a:p>
            <a:pPr marL="0" indent="0">
              <a:buNone/>
            </a:pPr>
            <a:r>
              <a:rPr lang="en-US" sz="1500" b="1" dirty="0">
                <a:solidFill>
                  <a:srgbClr val="2A9D8F"/>
                </a:solidFill>
                <a:latin typeface="Calibri" pitchFamily="34" charset="0"/>
                <a:ea typeface="Calibri" pitchFamily="34" charset="-122"/>
                <a:cs typeface="Calibri" pitchFamily="34" charset="-120"/>
              </a:rPr>
              <a:t>Núcleo</a:t>
            </a:r>
            <a:endParaRPr lang="en-US" sz="1500" dirty="0"/>
          </a:p>
        </p:txBody>
      </p:sp>
      <p:sp>
        <p:nvSpPr>
          <p:cNvPr id="17" name="Text 15"/>
          <p:cNvSpPr txBox="1"/>
          <p:nvPr/>
        </p:nvSpPr>
        <p:spPr>
          <a:xfrm>
            <a:off x="3035808" y="2779776"/>
            <a:ext cx="1581912" cy="1591056"/>
          </a:xfrm>
          <a:prstGeom prst="rect">
            <a:avLst/>
          </a:prstGeom>
          <a:noFill/>
          <a:ln/>
        </p:spPr>
        <p:txBody>
          <a:bodyPr wrap="square" lIns="0" tIns="0" rIns="0" bIns="0" rtlCol="0" anchor="t"/>
          <a:lstStyle/>
          <a:p>
            <a:pPr marL="0" indent="0">
              <a:lnSpc>
                <a:spcPct val="106000"/>
              </a:lnSpc>
              <a:buNone/>
            </a:pPr>
            <a:r>
              <a:rPr lang="en-US" sz="1150" dirty="0">
                <a:solidFill>
                  <a:srgbClr val="1F2933"/>
                </a:solidFill>
                <a:latin typeface="Calibri" pitchFamily="34" charset="0"/>
                <a:ea typeface="Calibri" pitchFamily="34" charset="-122"/>
                <a:cs typeface="Calibri" pitchFamily="34" charset="-120"/>
              </a:rPr>
              <a:t>El contenido mínimo indispensable. Solo lo que la práctica exige.</a:t>
            </a:r>
            <a:endParaRPr lang="en-US" sz="1150" dirty="0"/>
          </a:p>
        </p:txBody>
      </p:sp>
      <p:sp>
        <p:nvSpPr>
          <p:cNvPr id="18" name="Shape 16"/>
          <p:cNvSpPr/>
          <p:nvPr/>
        </p:nvSpPr>
        <p:spPr>
          <a:xfrm>
            <a:off x="2798064" y="4681728"/>
            <a:ext cx="2057400" cy="475488"/>
          </a:xfrm>
          <a:prstGeom prst="roundRect">
            <a:avLst>
              <a:gd name="adj" fmla="val 7692"/>
            </a:avLst>
          </a:prstGeom>
          <a:solidFill>
            <a:srgbClr val="2A9D8F"/>
          </a:solidFill>
          <a:ln w="12700">
            <a:solidFill>
              <a:srgbClr val="2A9D8F"/>
            </a:solidFill>
            <a:prstDash val="solid"/>
          </a:ln>
        </p:spPr>
      </p:sp>
      <p:sp>
        <p:nvSpPr>
          <p:cNvPr id="19" name="Text 17"/>
          <p:cNvSpPr txBox="1"/>
          <p:nvPr/>
        </p:nvSpPr>
        <p:spPr>
          <a:xfrm>
            <a:off x="2798064" y="4681728"/>
            <a:ext cx="2057400" cy="475488"/>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25 % del tiempo</a:t>
            </a:r>
            <a:endParaRPr lang="en-US" sz="1250" dirty="0"/>
          </a:p>
        </p:txBody>
      </p:sp>
      <p:sp>
        <p:nvSpPr>
          <p:cNvPr id="20" name="Shape 18"/>
          <p:cNvSpPr/>
          <p:nvPr/>
        </p:nvSpPr>
        <p:spPr>
          <a:xfrm>
            <a:off x="5029200" y="1627632"/>
            <a:ext cx="2057400" cy="2926080"/>
          </a:xfrm>
          <a:prstGeom prst="roundRect">
            <a:avLst>
              <a:gd name="adj" fmla="val 1778"/>
            </a:avLst>
          </a:prstGeom>
          <a:solidFill>
            <a:srgbClr val="F1F4F8"/>
          </a:solidFill>
          <a:ln w="12700">
            <a:solidFill>
              <a:srgbClr val="F1F4F8"/>
            </a:solidFill>
            <a:prstDash val="solid"/>
          </a:ln>
          <a:effectLst>
            <a:outerShdw blurRad="101600" dist="12700" dir="5400000" algn="bl" rotWithShape="0">
              <a:srgbClr val="9AA8B5">
                <a:alpha val="16000"/>
              </a:srgbClr>
            </a:outerShdw>
          </a:effectLst>
        </p:spPr>
      </p:sp>
      <p:sp>
        <p:nvSpPr>
          <p:cNvPr id="21" name="Shape 19"/>
          <p:cNvSpPr/>
          <p:nvPr/>
        </p:nvSpPr>
        <p:spPr>
          <a:xfrm>
            <a:off x="5266944" y="1847088"/>
            <a:ext cx="420624" cy="420624"/>
          </a:xfrm>
          <a:prstGeom prst="ellipse">
            <a:avLst/>
          </a:prstGeom>
          <a:solidFill>
            <a:srgbClr val="C9A227"/>
          </a:solidFill>
          <a:ln w="12700">
            <a:solidFill>
              <a:srgbClr val="C9A227"/>
            </a:solidFill>
            <a:prstDash val="solid"/>
          </a:ln>
        </p:spPr>
      </p:sp>
      <p:sp>
        <p:nvSpPr>
          <p:cNvPr id="22" name="Text 20"/>
          <p:cNvSpPr txBox="1"/>
          <p:nvPr/>
        </p:nvSpPr>
        <p:spPr>
          <a:xfrm>
            <a:off x="5266944" y="1847088"/>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3" name="Text 21"/>
          <p:cNvSpPr txBox="1"/>
          <p:nvPr/>
        </p:nvSpPr>
        <p:spPr>
          <a:xfrm>
            <a:off x="5266944" y="2414016"/>
            <a:ext cx="1581912" cy="310896"/>
          </a:xfrm>
          <a:prstGeom prst="rect">
            <a:avLst/>
          </a:prstGeom>
          <a:noFill/>
          <a:ln/>
        </p:spPr>
        <p:txBody>
          <a:bodyPr wrap="square" lIns="0" tIns="0" rIns="0" bIns="0" rtlCol="0" anchor="t"/>
          <a:lstStyle/>
          <a:p>
            <a:pPr marL="0" indent="0">
              <a:buNone/>
            </a:pPr>
            <a:r>
              <a:rPr lang="en-US" sz="1500" b="1" dirty="0">
                <a:solidFill>
                  <a:srgbClr val="C9A227"/>
                </a:solidFill>
                <a:latin typeface="Calibri" pitchFamily="34" charset="0"/>
                <a:ea typeface="Calibri" pitchFamily="34" charset="-122"/>
                <a:cs typeface="Calibri" pitchFamily="34" charset="-120"/>
              </a:rPr>
              <a:t>Modelado</a:t>
            </a:r>
            <a:endParaRPr lang="en-US" sz="1500" dirty="0"/>
          </a:p>
        </p:txBody>
      </p:sp>
      <p:sp>
        <p:nvSpPr>
          <p:cNvPr id="24" name="Text 22"/>
          <p:cNvSpPr txBox="1"/>
          <p:nvPr/>
        </p:nvSpPr>
        <p:spPr>
          <a:xfrm>
            <a:off x="5266944" y="2779776"/>
            <a:ext cx="1581912" cy="1591056"/>
          </a:xfrm>
          <a:prstGeom prst="rect">
            <a:avLst/>
          </a:prstGeom>
          <a:noFill/>
          <a:ln/>
        </p:spPr>
        <p:txBody>
          <a:bodyPr wrap="square" lIns="0" tIns="0" rIns="0" bIns="0" rtlCol="0" anchor="t"/>
          <a:lstStyle/>
          <a:p>
            <a:pPr marL="0" indent="0">
              <a:lnSpc>
                <a:spcPct val="106000"/>
              </a:lnSpc>
              <a:buNone/>
            </a:pPr>
            <a:r>
              <a:rPr lang="en-US" sz="1150" dirty="0">
                <a:solidFill>
                  <a:srgbClr val="1F2933"/>
                </a:solidFill>
                <a:latin typeface="Calibri" pitchFamily="34" charset="0"/>
                <a:ea typeface="Calibri" pitchFamily="34" charset="-122"/>
                <a:cs typeface="Calibri" pitchFamily="34" charset="-120"/>
              </a:rPr>
              <a:t>El docente o el video muestra el procedimiento completo, pensando en voz alta.</a:t>
            </a:r>
            <a:endParaRPr lang="en-US" sz="1150" dirty="0"/>
          </a:p>
        </p:txBody>
      </p:sp>
      <p:sp>
        <p:nvSpPr>
          <p:cNvPr id="25" name="Shape 23"/>
          <p:cNvSpPr/>
          <p:nvPr/>
        </p:nvSpPr>
        <p:spPr>
          <a:xfrm>
            <a:off x="5029200" y="4681728"/>
            <a:ext cx="2057400" cy="475488"/>
          </a:xfrm>
          <a:prstGeom prst="roundRect">
            <a:avLst>
              <a:gd name="adj" fmla="val 7692"/>
            </a:avLst>
          </a:prstGeom>
          <a:solidFill>
            <a:srgbClr val="C9A227"/>
          </a:solidFill>
          <a:ln w="12700">
            <a:solidFill>
              <a:srgbClr val="C9A227"/>
            </a:solidFill>
            <a:prstDash val="solid"/>
          </a:ln>
        </p:spPr>
      </p:sp>
      <p:sp>
        <p:nvSpPr>
          <p:cNvPr id="26" name="Text 24"/>
          <p:cNvSpPr txBox="1"/>
          <p:nvPr/>
        </p:nvSpPr>
        <p:spPr>
          <a:xfrm>
            <a:off x="5029200" y="4681728"/>
            <a:ext cx="2057400" cy="475488"/>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20 % del tiempo</a:t>
            </a:r>
            <a:endParaRPr lang="en-US" sz="1250" dirty="0"/>
          </a:p>
        </p:txBody>
      </p:sp>
      <p:sp>
        <p:nvSpPr>
          <p:cNvPr id="27" name="Shape 25"/>
          <p:cNvSpPr/>
          <p:nvPr/>
        </p:nvSpPr>
        <p:spPr>
          <a:xfrm>
            <a:off x="7260336" y="1627632"/>
            <a:ext cx="2057400" cy="2926080"/>
          </a:xfrm>
          <a:prstGeom prst="roundRect">
            <a:avLst>
              <a:gd name="adj" fmla="val 1778"/>
            </a:avLst>
          </a:prstGeom>
          <a:solidFill>
            <a:srgbClr val="E7F2F0"/>
          </a:solidFill>
          <a:ln w="12700">
            <a:solidFill>
              <a:srgbClr val="E7F2F0"/>
            </a:solidFill>
            <a:prstDash val="solid"/>
          </a:ln>
          <a:effectLst>
            <a:outerShdw blurRad="101600" dist="12700" dir="5400000" algn="bl" rotWithShape="0">
              <a:srgbClr val="9AA8B5">
                <a:alpha val="16000"/>
              </a:srgbClr>
            </a:outerShdw>
          </a:effectLst>
        </p:spPr>
      </p:sp>
      <p:sp>
        <p:nvSpPr>
          <p:cNvPr id="28" name="Shape 26"/>
          <p:cNvSpPr/>
          <p:nvPr/>
        </p:nvSpPr>
        <p:spPr>
          <a:xfrm>
            <a:off x="7498080" y="1847088"/>
            <a:ext cx="420624" cy="420624"/>
          </a:xfrm>
          <a:prstGeom prst="ellipse">
            <a:avLst/>
          </a:prstGeom>
          <a:solidFill>
            <a:srgbClr val="1F3864"/>
          </a:solidFill>
          <a:ln w="12700">
            <a:solidFill>
              <a:srgbClr val="1F3864"/>
            </a:solidFill>
            <a:prstDash val="solid"/>
          </a:ln>
        </p:spPr>
      </p:sp>
      <p:sp>
        <p:nvSpPr>
          <p:cNvPr id="29" name="Text 27"/>
          <p:cNvSpPr txBox="1"/>
          <p:nvPr/>
        </p:nvSpPr>
        <p:spPr>
          <a:xfrm>
            <a:off x="7498080" y="1847088"/>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30" name="Text 28"/>
          <p:cNvSpPr txBox="1"/>
          <p:nvPr/>
        </p:nvSpPr>
        <p:spPr>
          <a:xfrm>
            <a:off x="7498080" y="2414016"/>
            <a:ext cx="1581912" cy="310896"/>
          </a:xfrm>
          <a:prstGeom prst="rect">
            <a:avLst/>
          </a:prstGeom>
          <a:noFill/>
          <a:ln/>
        </p:spPr>
        <p:txBody>
          <a:bodyPr wrap="square" lIns="0" tIns="0" rIns="0" bIns="0" rtlCol="0" anchor="t"/>
          <a:lstStyle/>
          <a:p>
            <a:pPr marL="0" indent="0">
              <a:buNone/>
            </a:pPr>
            <a:r>
              <a:rPr lang="en-US" sz="1500" b="1" dirty="0">
                <a:solidFill>
                  <a:srgbClr val="1F3864"/>
                </a:solidFill>
                <a:latin typeface="Calibri" pitchFamily="34" charset="0"/>
                <a:ea typeface="Calibri" pitchFamily="34" charset="-122"/>
                <a:cs typeface="Calibri" pitchFamily="34" charset="-120"/>
              </a:rPr>
              <a:t>Práctica</a:t>
            </a:r>
            <a:endParaRPr lang="en-US" sz="1500" dirty="0"/>
          </a:p>
        </p:txBody>
      </p:sp>
      <p:sp>
        <p:nvSpPr>
          <p:cNvPr id="31" name="Text 29"/>
          <p:cNvSpPr txBox="1"/>
          <p:nvPr/>
        </p:nvSpPr>
        <p:spPr>
          <a:xfrm>
            <a:off x="7498080" y="2779776"/>
            <a:ext cx="1581912" cy="1591056"/>
          </a:xfrm>
          <a:prstGeom prst="rect">
            <a:avLst/>
          </a:prstGeom>
          <a:noFill/>
          <a:ln/>
        </p:spPr>
        <p:txBody>
          <a:bodyPr wrap="square" lIns="0" tIns="0" rIns="0" bIns="0" rtlCol="0" anchor="t"/>
          <a:lstStyle/>
          <a:p>
            <a:pPr marL="0" indent="0">
              <a:lnSpc>
                <a:spcPct val="106000"/>
              </a:lnSpc>
              <a:buNone/>
            </a:pPr>
            <a:r>
              <a:rPr lang="en-US" sz="1150" dirty="0">
                <a:solidFill>
                  <a:srgbClr val="1F2933"/>
                </a:solidFill>
                <a:latin typeface="Calibri" pitchFamily="34" charset="0"/>
                <a:ea typeface="Calibri" pitchFamily="34" charset="-122"/>
                <a:cs typeface="Calibri" pitchFamily="34" charset="-120"/>
              </a:rPr>
              <a:t>El participante ejecuta. Es el momento más largo y el más protegido.</a:t>
            </a:r>
            <a:endParaRPr lang="en-US" sz="1150" dirty="0"/>
          </a:p>
        </p:txBody>
      </p:sp>
      <p:sp>
        <p:nvSpPr>
          <p:cNvPr id="32" name="Shape 30"/>
          <p:cNvSpPr/>
          <p:nvPr/>
        </p:nvSpPr>
        <p:spPr>
          <a:xfrm>
            <a:off x="7260336" y="4681728"/>
            <a:ext cx="2057400" cy="475488"/>
          </a:xfrm>
          <a:prstGeom prst="roundRect">
            <a:avLst>
              <a:gd name="adj" fmla="val 7692"/>
            </a:avLst>
          </a:prstGeom>
          <a:solidFill>
            <a:srgbClr val="1F3864"/>
          </a:solidFill>
          <a:ln w="12700">
            <a:solidFill>
              <a:srgbClr val="1F3864"/>
            </a:solidFill>
            <a:prstDash val="solid"/>
          </a:ln>
        </p:spPr>
      </p:sp>
      <p:sp>
        <p:nvSpPr>
          <p:cNvPr id="33" name="Text 31"/>
          <p:cNvSpPr txBox="1"/>
          <p:nvPr/>
        </p:nvSpPr>
        <p:spPr>
          <a:xfrm>
            <a:off x="7260336" y="4681728"/>
            <a:ext cx="2057400" cy="475488"/>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35 % del tiempo</a:t>
            </a:r>
            <a:endParaRPr lang="en-US" sz="1250" dirty="0"/>
          </a:p>
        </p:txBody>
      </p:sp>
      <p:sp>
        <p:nvSpPr>
          <p:cNvPr id="34" name="Shape 32"/>
          <p:cNvSpPr/>
          <p:nvPr/>
        </p:nvSpPr>
        <p:spPr>
          <a:xfrm>
            <a:off x="9491472" y="1627632"/>
            <a:ext cx="2057400" cy="2926080"/>
          </a:xfrm>
          <a:prstGeom prst="roundRect">
            <a:avLst>
              <a:gd name="adj" fmla="val 1778"/>
            </a:avLst>
          </a:prstGeom>
          <a:solidFill>
            <a:srgbClr val="F1F4F8"/>
          </a:solidFill>
          <a:ln w="12700">
            <a:solidFill>
              <a:srgbClr val="F1F4F8"/>
            </a:solidFill>
            <a:prstDash val="solid"/>
          </a:ln>
          <a:effectLst>
            <a:outerShdw blurRad="101600" dist="12700" dir="5400000" algn="bl" rotWithShape="0">
              <a:srgbClr val="9AA8B5">
                <a:alpha val="16000"/>
              </a:srgbClr>
            </a:outerShdw>
          </a:effectLst>
        </p:spPr>
      </p:sp>
      <p:sp>
        <p:nvSpPr>
          <p:cNvPr id="35" name="Shape 33"/>
          <p:cNvSpPr/>
          <p:nvPr/>
        </p:nvSpPr>
        <p:spPr>
          <a:xfrm>
            <a:off x="9729216" y="1847088"/>
            <a:ext cx="420624" cy="420624"/>
          </a:xfrm>
          <a:prstGeom prst="ellipse">
            <a:avLst/>
          </a:prstGeom>
          <a:solidFill>
            <a:srgbClr val="1F7A6F"/>
          </a:solidFill>
          <a:ln w="12700">
            <a:solidFill>
              <a:srgbClr val="1F7A6F"/>
            </a:solidFill>
            <a:prstDash val="solid"/>
          </a:ln>
        </p:spPr>
      </p:sp>
      <p:sp>
        <p:nvSpPr>
          <p:cNvPr id="36" name="Text 34"/>
          <p:cNvSpPr txBox="1"/>
          <p:nvPr/>
        </p:nvSpPr>
        <p:spPr>
          <a:xfrm>
            <a:off x="9729216" y="1847088"/>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7" name="Text 35"/>
          <p:cNvSpPr txBox="1"/>
          <p:nvPr/>
        </p:nvSpPr>
        <p:spPr>
          <a:xfrm>
            <a:off x="9729216" y="2414016"/>
            <a:ext cx="1581912" cy="310896"/>
          </a:xfrm>
          <a:prstGeom prst="rect">
            <a:avLst/>
          </a:prstGeom>
          <a:noFill/>
          <a:ln/>
        </p:spPr>
        <p:txBody>
          <a:bodyPr wrap="square" lIns="0" tIns="0" rIns="0" bIns="0" rtlCol="0" anchor="t"/>
          <a:lstStyle/>
          <a:p>
            <a:pPr marL="0" indent="0">
              <a:buNone/>
            </a:pPr>
            <a:r>
              <a:rPr lang="en-US" sz="1500" b="1" dirty="0">
                <a:solidFill>
                  <a:srgbClr val="1F7A6F"/>
                </a:solidFill>
                <a:latin typeface="Calibri" pitchFamily="34" charset="0"/>
                <a:ea typeface="Calibri" pitchFamily="34" charset="-122"/>
                <a:cs typeface="Calibri" pitchFamily="34" charset="-120"/>
              </a:rPr>
              <a:t>Chequeo</a:t>
            </a:r>
            <a:endParaRPr lang="en-US" sz="1500" dirty="0"/>
          </a:p>
        </p:txBody>
      </p:sp>
      <p:sp>
        <p:nvSpPr>
          <p:cNvPr id="38" name="Text 36"/>
          <p:cNvSpPr txBox="1"/>
          <p:nvPr/>
        </p:nvSpPr>
        <p:spPr>
          <a:xfrm>
            <a:off x="9729216" y="2779776"/>
            <a:ext cx="1581912" cy="1591056"/>
          </a:xfrm>
          <a:prstGeom prst="rect">
            <a:avLst/>
          </a:prstGeom>
          <a:noFill/>
          <a:ln/>
        </p:spPr>
        <p:txBody>
          <a:bodyPr wrap="square" lIns="0" tIns="0" rIns="0" bIns="0" rtlCol="0" anchor="t"/>
          <a:lstStyle/>
          <a:p>
            <a:pPr marL="0" indent="0">
              <a:lnSpc>
                <a:spcPct val="106000"/>
              </a:lnSpc>
              <a:buNone/>
            </a:pPr>
            <a:r>
              <a:rPr lang="en-US" sz="1150" dirty="0">
                <a:solidFill>
                  <a:srgbClr val="1F2933"/>
                </a:solidFill>
                <a:latin typeface="Calibri" pitchFamily="34" charset="0"/>
                <a:ea typeface="Calibri" pitchFamily="34" charset="-122"/>
                <a:cs typeface="Calibri" pitchFamily="34" charset="-120"/>
              </a:rPr>
              <a:t>Recuperación breve: qué logró, qué sigue.</a:t>
            </a:r>
            <a:endParaRPr lang="en-US" sz="1150" dirty="0"/>
          </a:p>
        </p:txBody>
      </p:sp>
      <p:sp>
        <p:nvSpPr>
          <p:cNvPr id="39" name="Shape 37"/>
          <p:cNvSpPr/>
          <p:nvPr/>
        </p:nvSpPr>
        <p:spPr>
          <a:xfrm>
            <a:off x="9491472" y="4681728"/>
            <a:ext cx="2057400" cy="475488"/>
          </a:xfrm>
          <a:prstGeom prst="roundRect">
            <a:avLst>
              <a:gd name="adj" fmla="val 7692"/>
            </a:avLst>
          </a:prstGeom>
          <a:solidFill>
            <a:srgbClr val="1F7A6F"/>
          </a:solidFill>
          <a:ln w="12700">
            <a:solidFill>
              <a:srgbClr val="1F7A6F"/>
            </a:solidFill>
            <a:prstDash val="solid"/>
          </a:ln>
        </p:spPr>
      </p:sp>
      <p:sp>
        <p:nvSpPr>
          <p:cNvPr id="40" name="Text 38"/>
          <p:cNvSpPr txBox="1"/>
          <p:nvPr/>
        </p:nvSpPr>
        <p:spPr>
          <a:xfrm>
            <a:off x="9491472" y="4681728"/>
            <a:ext cx="2057400" cy="475488"/>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10 % del tiempo</a:t>
            </a:r>
            <a:endParaRPr lang="en-US" sz="1250" dirty="0"/>
          </a:p>
        </p:txBody>
      </p:sp>
      <p:sp>
        <p:nvSpPr>
          <p:cNvPr id="41" name="Text 39"/>
          <p:cNvSpPr txBox="1"/>
          <p:nvPr/>
        </p:nvSpPr>
        <p:spPr>
          <a:xfrm>
            <a:off x="566928" y="5340096"/>
            <a:ext cx="11055096" cy="310896"/>
          </a:xfrm>
          <a:prstGeom prst="rect">
            <a:avLst/>
          </a:prstGeom>
          <a:noFill/>
          <a:ln/>
        </p:spPr>
        <p:txBody>
          <a:bodyPr wrap="square" lIns="0" tIns="0" rIns="0" bIns="0" rtlCol="0" anchor="ctr"/>
          <a:lstStyle/>
          <a:p>
            <a:pPr marL="0" indent="0">
              <a:buNone/>
            </a:pPr>
            <a:r>
              <a:rPr lang="en-US" sz="1250" b="1" i="1" dirty="0">
                <a:solidFill>
                  <a:srgbClr val="1B2A4A"/>
                </a:solidFill>
                <a:latin typeface="Calibri" pitchFamily="34" charset="0"/>
                <a:ea typeface="Calibri" pitchFamily="34" charset="-122"/>
                <a:cs typeface="Calibri" pitchFamily="34" charset="-120"/>
              </a:rPr>
              <a:t>Regla de oro: la práctica nunca se sacrifica. Si falta tiempo, se recorta el núcleo — no el momento en que la persona hace.</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29184"/>
            <a:ext cx="11055096" cy="256032"/>
          </a:xfrm>
          <a:prstGeom prst="rect">
            <a:avLst/>
          </a:prstGeom>
          <a:noFill/>
          <a:ln/>
        </p:spPr>
        <p:txBody>
          <a:bodyPr wrap="square" lIns="0" tIns="0" rIns="0" bIns="0" rtlCol="0" anchor="ctr"/>
          <a:lstStyle/>
          <a:p>
            <a:pPr marL="0" indent="0">
              <a:buNone/>
            </a:pPr>
            <a:r>
              <a:rPr lang="en-US" sz="1100" b="1" kern="0" spc="160" dirty="0">
                <a:solidFill>
                  <a:srgbClr val="2A9D8F"/>
                </a:solidFill>
                <a:latin typeface="Calibri" pitchFamily="34" charset="0"/>
                <a:ea typeface="Calibri" pitchFamily="34" charset="-122"/>
                <a:cs typeface="Calibri" pitchFamily="34" charset="-120"/>
              </a:rPr>
              <a:t>DOSIFICACIÓN</a:t>
            </a:r>
            <a:endParaRPr lang="en-US" sz="1100" dirty="0"/>
          </a:p>
        </p:txBody>
      </p:sp>
      <p:sp>
        <p:nvSpPr>
          <p:cNvPr id="3" name="Text 1"/>
          <p:cNvSpPr txBox="1"/>
          <p:nvPr/>
        </p:nvSpPr>
        <p:spPr>
          <a:xfrm>
            <a:off x="566928" y="603504"/>
            <a:ext cx="11055096" cy="749808"/>
          </a:xfrm>
          <a:prstGeom prst="rect">
            <a:avLst/>
          </a:prstGeom>
          <a:noFill/>
          <a:ln/>
        </p:spPr>
        <p:txBody>
          <a:bodyPr wrap="square" lIns="0" tIns="0" rIns="0" bIns="0" rtlCol="0" anchor="t"/>
          <a:lstStyle/>
          <a:p>
            <a:pPr marL="0" indent="0">
              <a:buNone/>
            </a:pPr>
            <a:r>
              <a:rPr lang="en-US" sz="2900" b="1" dirty="0">
                <a:solidFill>
                  <a:srgbClr val="1B2A4A"/>
                </a:solidFill>
                <a:latin typeface="Cambria" pitchFamily="34" charset="0"/>
                <a:ea typeface="Cambria" pitchFamily="34" charset="-122"/>
                <a:cs typeface="Cambria" pitchFamily="34" charset="-120"/>
              </a:rPr>
              <a:t>Cuánto dura cada momento según el largo de la cápsula</a:t>
            </a:r>
            <a:endParaRPr lang="en-US" sz="2900" dirty="0"/>
          </a:p>
        </p:txBody>
      </p:sp>
      <p:sp>
        <p:nvSpPr>
          <p:cNvPr id="4" name="Text 2"/>
          <p:cNvSpPr txBox="1"/>
          <p:nvPr/>
        </p:nvSpPr>
        <p:spPr>
          <a:xfrm>
            <a:off x="566928" y="6428232"/>
            <a:ext cx="7863840" cy="256032"/>
          </a:xfrm>
          <a:prstGeom prst="rect">
            <a:avLst/>
          </a:prstGeom>
          <a:noFill/>
          <a:ln/>
        </p:spPr>
        <p:txBody>
          <a:bodyPr wrap="square" lIns="0" tIns="0" rIns="0" bIns="0" rtlCol="0" anchor="ctr"/>
          <a:lstStyle/>
          <a:p>
            <a:pPr marL="0" indent="0">
              <a:buNone/>
            </a:pPr>
            <a:r>
              <a:rPr lang="en-US" sz="900" dirty="0">
                <a:solidFill>
                  <a:srgbClr val="5B6B7B"/>
                </a:solidFill>
                <a:latin typeface="Calibri" pitchFamily="34" charset="0"/>
                <a:ea typeface="Calibri" pitchFamily="34" charset="-122"/>
                <a:cs typeface="Calibri" pitchFamily="34" charset="-120"/>
              </a:rPr>
              <a:t>Microaprendizaje para adultos  ·  Proyecto RUTA — Inter Ponce</a:t>
            </a:r>
            <a:endParaRPr lang="en-US" sz="900" dirty="0"/>
          </a:p>
        </p:txBody>
      </p:sp>
      <p:sp>
        <p:nvSpPr>
          <p:cNvPr id="5" name="Text 3"/>
          <p:cNvSpPr txBox="1"/>
          <p:nvPr/>
        </p:nvSpPr>
        <p:spPr>
          <a:xfrm>
            <a:off x="10972800" y="6428232"/>
            <a:ext cx="649224" cy="256032"/>
          </a:xfrm>
          <a:prstGeom prst="rect">
            <a:avLst/>
          </a:prstGeom>
          <a:noFill/>
          <a:ln/>
        </p:spPr>
        <p:txBody>
          <a:bodyPr wrap="square" lIns="0" tIns="0" rIns="0" bIns="0" rtlCol="0" anchor="ctr"/>
          <a:lstStyle/>
          <a:p>
            <a:pPr marL="0" indent="0" algn="r">
              <a:buNone/>
            </a:pPr>
            <a:r>
              <a:rPr lang="en-US" sz="900" dirty="0">
                <a:solidFill>
                  <a:srgbClr val="5B6B7B"/>
                </a:solidFill>
                <a:latin typeface="Calibri" pitchFamily="34" charset="0"/>
                <a:ea typeface="Calibri" pitchFamily="34" charset="-122"/>
                <a:cs typeface="Calibri" pitchFamily="34" charset="-120"/>
              </a:rPr>
              <a:t>21</a:t>
            </a:r>
            <a:endParaRPr lang="en-US" sz="9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66928" y="1554480"/>
          <a:ext cx="11055096" cy="914400"/>
        </p:xfrm>
        <a:graphic>
          <a:graphicData uri="http://schemas.openxmlformats.org/drawingml/2006/table">
            <a:tbl>
              <a:tblPr/>
              <a:tblGrid>
                <a:gridCol w="196596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gridCol w="2103120">
                  <a:extLst>
                    <a:ext uri="{9D8B030D-6E8A-4147-A177-3AD203B41FA5}">
                      <a16:colId xmlns:a16="http://schemas.microsoft.com/office/drawing/2014/main" val="20003"/>
                    </a:ext>
                  </a:extLst>
                </a:gridCol>
                <a:gridCol w="2779776">
                  <a:extLst>
                    <a:ext uri="{9D8B030D-6E8A-4147-A177-3AD203B41FA5}">
                      <a16:colId xmlns:a16="http://schemas.microsoft.com/office/drawing/2014/main" val="20004"/>
                    </a:ext>
                  </a:extLst>
                </a:gridCol>
              </a:tblGrid>
              <a:tr h="475488">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Momento</a:t>
                      </a:r>
                      <a:endParaRPr lang="en-US" sz="120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1B2A4A"/>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Cápsula de 5 minutos</a:t>
                      </a:r>
                      <a:endParaRPr lang="en-US" sz="120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1B2A4A"/>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Cápsula de 10 minutos</a:t>
                      </a:r>
                      <a:endParaRPr lang="en-US" sz="120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1B2A4A"/>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Cápsula de 15 minutos</a:t>
                      </a:r>
                      <a:endParaRPr lang="en-US" sz="120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1B2A4A"/>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Qué se ajusta al crecer</a:t>
                      </a:r>
                      <a:endParaRPr lang="en-US" sz="120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475488">
                <a:tc>
                  <a:txBody>
                    <a:bodyPr/>
                    <a:lstStyle/>
                    <a:p>
                      <a:pPr marL="0" indent="0">
                        <a:buNone/>
                      </a:pPr>
                      <a:r>
                        <a:rPr lang="en-US" sz="1150" b="1" dirty="0">
                          <a:solidFill>
                            <a:srgbClr val="1F2933"/>
                          </a:solidFill>
                          <a:latin typeface="Calibri" pitchFamily="34" charset="0"/>
                          <a:ea typeface="Calibri" pitchFamily="34" charset="-122"/>
                          <a:cs typeface="Calibri" pitchFamily="34" charset="-120"/>
                        </a:rPr>
                        <a:t>Gancho</a:t>
                      </a:r>
                      <a:endParaRPr lang="en-US" sz="11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150" dirty="0">
                          <a:solidFill>
                            <a:srgbClr val="1F2933"/>
                          </a:solidFill>
                          <a:latin typeface="Calibri" pitchFamily="34" charset="0"/>
                          <a:ea typeface="Calibri" pitchFamily="34" charset="-122"/>
                          <a:cs typeface="Calibri" pitchFamily="34" charset="-120"/>
                        </a:rPr>
                        <a:t>30 segundos</a:t>
                      </a:r>
                      <a:endParaRPr lang="en-US" sz="11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150" dirty="0">
                          <a:solidFill>
                            <a:srgbClr val="1F2933"/>
                          </a:solidFill>
                          <a:latin typeface="Calibri" pitchFamily="34" charset="0"/>
                          <a:ea typeface="Calibri" pitchFamily="34" charset="-122"/>
                          <a:cs typeface="Calibri" pitchFamily="34" charset="-120"/>
                        </a:rPr>
                        <a:t>1 minuto</a:t>
                      </a:r>
                      <a:endParaRPr lang="en-US" sz="11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150" dirty="0">
                          <a:solidFill>
                            <a:srgbClr val="1F2933"/>
                          </a:solidFill>
                          <a:latin typeface="Calibri" pitchFamily="34" charset="0"/>
                          <a:ea typeface="Calibri" pitchFamily="34" charset="-122"/>
                          <a:cs typeface="Calibri" pitchFamily="34" charset="-120"/>
                        </a:rPr>
                        <a:t>1.5 minutos</a:t>
                      </a:r>
                      <a:endParaRPr lang="en-US" sz="11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150" dirty="0">
                          <a:solidFill>
                            <a:srgbClr val="1F2933"/>
                          </a:solidFill>
                          <a:latin typeface="Calibri" pitchFamily="34" charset="0"/>
                          <a:ea typeface="Calibri" pitchFamily="34" charset="-122"/>
                          <a:cs typeface="Calibri" pitchFamily="34" charset="-120"/>
                        </a:rPr>
                        <a:t>Se mantiene breve siempre</a:t>
                      </a:r>
                      <a:endParaRPr lang="en-US" sz="11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150" b="1" dirty="0">
                          <a:solidFill>
                            <a:srgbClr val="1F2933"/>
                          </a:solidFill>
                          <a:latin typeface="Calibri" pitchFamily="34" charset="0"/>
                          <a:ea typeface="Calibri" pitchFamily="34" charset="-122"/>
                          <a:cs typeface="Calibri" pitchFamily="34" charset="-120"/>
                        </a:rPr>
                        <a:t>Núcleo</a:t>
                      </a:r>
                      <a:endParaRPr lang="en-US" sz="11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1F4F8"/>
                    </a:solidFill>
                  </a:tcPr>
                </a:tc>
                <a:tc>
                  <a:txBody>
                    <a:bodyPr/>
                    <a:lstStyle/>
                    <a:p>
                      <a:pPr marL="0" indent="0">
                        <a:buNone/>
                      </a:pPr>
                      <a:r>
                        <a:rPr lang="en-US" sz="1150" dirty="0">
                          <a:solidFill>
                            <a:srgbClr val="1F2933"/>
                          </a:solidFill>
                          <a:latin typeface="Calibri" pitchFamily="34" charset="0"/>
                          <a:ea typeface="Calibri" pitchFamily="34" charset="-122"/>
                          <a:cs typeface="Calibri" pitchFamily="34" charset="-120"/>
                        </a:rPr>
                        <a:t>1 minuto</a:t>
                      </a:r>
                      <a:endParaRPr lang="en-US" sz="11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1F4F8"/>
                    </a:solidFill>
                  </a:tcPr>
                </a:tc>
                <a:tc>
                  <a:txBody>
                    <a:bodyPr/>
                    <a:lstStyle/>
                    <a:p>
                      <a:pPr marL="0" indent="0">
                        <a:buNone/>
                      </a:pPr>
                      <a:r>
                        <a:rPr lang="en-US" sz="1150" dirty="0">
                          <a:solidFill>
                            <a:srgbClr val="1F2933"/>
                          </a:solidFill>
                          <a:latin typeface="Calibri" pitchFamily="34" charset="0"/>
                          <a:ea typeface="Calibri" pitchFamily="34" charset="-122"/>
                          <a:cs typeface="Calibri" pitchFamily="34" charset="-120"/>
                        </a:rPr>
                        <a:t>2.5 minutos</a:t>
                      </a:r>
                      <a:endParaRPr lang="en-US" sz="11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1F4F8"/>
                    </a:solidFill>
                  </a:tcPr>
                </a:tc>
                <a:tc>
                  <a:txBody>
                    <a:bodyPr/>
                    <a:lstStyle/>
                    <a:p>
                      <a:pPr marL="0" indent="0">
                        <a:buNone/>
                      </a:pPr>
                      <a:r>
                        <a:rPr lang="en-US" sz="1150" dirty="0">
                          <a:solidFill>
                            <a:srgbClr val="1F2933"/>
                          </a:solidFill>
                          <a:latin typeface="Calibri" pitchFamily="34" charset="0"/>
                          <a:ea typeface="Calibri" pitchFamily="34" charset="-122"/>
                          <a:cs typeface="Calibri" pitchFamily="34" charset="-120"/>
                        </a:rPr>
                        <a:t>4 minutos</a:t>
                      </a:r>
                      <a:endParaRPr lang="en-US" sz="11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1F4F8"/>
                    </a:solidFill>
                  </a:tcPr>
                </a:tc>
                <a:tc>
                  <a:txBody>
                    <a:bodyPr/>
                    <a:lstStyle/>
                    <a:p>
                      <a:pPr marL="0" indent="0">
                        <a:buNone/>
                      </a:pPr>
                      <a:r>
                        <a:rPr lang="en-US" sz="1150" dirty="0">
                          <a:solidFill>
                            <a:srgbClr val="1F2933"/>
                          </a:solidFill>
                          <a:latin typeface="Calibri" pitchFamily="34" charset="0"/>
                          <a:ea typeface="Calibri" pitchFamily="34" charset="-122"/>
                          <a:cs typeface="Calibri" pitchFamily="34" charset="-120"/>
                        </a:rPr>
                        <a:t>Se añaden ejemplos, no temas</a:t>
                      </a:r>
                      <a:endParaRPr lang="en-US" sz="11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1F4F8"/>
                    </a:solidFill>
                  </a:tcPr>
                </a:tc>
                <a:extLst>
                  <a:ext uri="{0D108BD9-81ED-4DB2-BD59-A6C34878D82A}">
                    <a16:rowId xmlns:a16="http://schemas.microsoft.com/office/drawing/2014/main" val="10002"/>
                  </a:ext>
                </a:extLst>
              </a:tr>
              <a:tr h="475488">
                <a:tc>
                  <a:txBody>
                    <a:bodyPr/>
                    <a:lstStyle/>
                    <a:p>
                      <a:pPr marL="0" indent="0">
                        <a:buNone/>
                      </a:pPr>
                      <a:r>
                        <a:rPr lang="en-US" sz="1150" b="1" dirty="0">
                          <a:solidFill>
                            <a:srgbClr val="1F2933"/>
                          </a:solidFill>
                          <a:latin typeface="Calibri" pitchFamily="34" charset="0"/>
                          <a:ea typeface="Calibri" pitchFamily="34" charset="-122"/>
                          <a:cs typeface="Calibri" pitchFamily="34" charset="-120"/>
                        </a:rPr>
                        <a:t>Modelado</a:t>
                      </a:r>
                      <a:endParaRPr lang="en-US" sz="11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150" dirty="0">
                          <a:solidFill>
                            <a:srgbClr val="1F2933"/>
                          </a:solidFill>
                          <a:latin typeface="Calibri" pitchFamily="34" charset="0"/>
                          <a:ea typeface="Calibri" pitchFamily="34" charset="-122"/>
                          <a:cs typeface="Calibri" pitchFamily="34" charset="-120"/>
                        </a:rPr>
                        <a:t>1 minuto</a:t>
                      </a:r>
                      <a:endParaRPr lang="en-US" sz="11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150" dirty="0">
                          <a:solidFill>
                            <a:srgbClr val="1F2933"/>
                          </a:solidFill>
                          <a:latin typeface="Calibri" pitchFamily="34" charset="0"/>
                          <a:ea typeface="Calibri" pitchFamily="34" charset="-122"/>
                          <a:cs typeface="Calibri" pitchFamily="34" charset="-120"/>
                        </a:rPr>
                        <a:t>2 minutos</a:t>
                      </a:r>
                      <a:endParaRPr lang="en-US" sz="11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150" dirty="0">
                          <a:solidFill>
                            <a:srgbClr val="1F2933"/>
                          </a:solidFill>
                          <a:latin typeface="Calibri" pitchFamily="34" charset="0"/>
                          <a:ea typeface="Calibri" pitchFamily="34" charset="-122"/>
                          <a:cs typeface="Calibri" pitchFamily="34" charset="-120"/>
                        </a:rPr>
                        <a:t>3 minutos</a:t>
                      </a:r>
                      <a:endParaRPr lang="en-US" sz="11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150" dirty="0">
                          <a:solidFill>
                            <a:srgbClr val="1F2933"/>
                          </a:solidFill>
                          <a:latin typeface="Calibri" pitchFamily="34" charset="0"/>
                          <a:ea typeface="Calibri" pitchFamily="34" charset="-122"/>
                          <a:cs typeface="Calibri" pitchFamily="34" charset="-120"/>
                        </a:rPr>
                        <a:t>Se agrega un segundo caso contrastante</a:t>
                      </a:r>
                      <a:endParaRPr lang="en-US" sz="11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150" b="1" dirty="0">
                          <a:solidFill>
                            <a:srgbClr val="1F2933"/>
                          </a:solidFill>
                          <a:latin typeface="Calibri" pitchFamily="34" charset="0"/>
                          <a:ea typeface="Calibri" pitchFamily="34" charset="-122"/>
                          <a:cs typeface="Calibri" pitchFamily="34" charset="-120"/>
                        </a:rPr>
                        <a:t>Práctica</a:t>
                      </a:r>
                      <a:endParaRPr lang="en-US" sz="11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1F4F8"/>
                    </a:solidFill>
                  </a:tcPr>
                </a:tc>
                <a:tc>
                  <a:txBody>
                    <a:bodyPr/>
                    <a:lstStyle/>
                    <a:p>
                      <a:pPr marL="0" indent="0">
                        <a:buNone/>
                      </a:pPr>
                      <a:r>
                        <a:rPr lang="en-US" sz="1150" dirty="0">
                          <a:solidFill>
                            <a:srgbClr val="1F2933"/>
                          </a:solidFill>
                          <a:latin typeface="Calibri" pitchFamily="34" charset="0"/>
                          <a:ea typeface="Calibri" pitchFamily="34" charset="-122"/>
                          <a:cs typeface="Calibri" pitchFamily="34" charset="-120"/>
                        </a:rPr>
                        <a:t>2 minutos</a:t>
                      </a:r>
                      <a:endParaRPr lang="en-US" sz="11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1F4F8"/>
                    </a:solidFill>
                  </a:tcPr>
                </a:tc>
                <a:tc>
                  <a:txBody>
                    <a:bodyPr/>
                    <a:lstStyle/>
                    <a:p>
                      <a:pPr marL="0" indent="0">
                        <a:buNone/>
                      </a:pPr>
                      <a:r>
                        <a:rPr lang="en-US" sz="1150" dirty="0">
                          <a:solidFill>
                            <a:srgbClr val="1F2933"/>
                          </a:solidFill>
                          <a:latin typeface="Calibri" pitchFamily="34" charset="0"/>
                          <a:ea typeface="Calibri" pitchFamily="34" charset="-122"/>
                          <a:cs typeface="Calibri" pitchFamily="34" charset="-120"/>
                        </a:rPr>
                        <a:t>3.5 minutos</a:t>
                      </a:r>
                      <a:endParaRPr lang="en-US" sz="11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1F4F8"/>
                    </a:solidFill>
                  </a:tcPr>
                </a:tc>
                <a:tc>
                  <a:txBody>
                    <a:bodyPr/>
                    <a:lstStyle/>
                    <a:p>
                      <a:pPr marL="0" indent="0">
                        <a:buNone/>
                      </a:pPr>
                      <a:r>
                        <a:rPr lang="en-US" sz="1150" dirty="0">
                          <a:solidFill>
                            <a:srgbClr val="1F2933"/>
                          </a:solidFill>
                          <a:latin typeface="Calibri" pitchFamily="34" charset="0"/>
                          <a:ea typeface="Calibri" pitchFamily="34" charset="-122"/>
                          <a:cs typeface="Calibri" pitchFamily="34" charset="-120"/>
                        </a:rPr>
                        <a:t>5 minutos</a:t>
                      </a:r>
                      <a:endParaRPr lang="en-US" sz="11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1F4F8"/>
                    </a:solidFill>
                  </a:tcPr>
                </a:tc>
                <a:tc>
                  <a:txBody>
                    <a:bodyPr/>
                    <a:lstStyle/>
                    <a:p>
                      <a:pPr marL="0" indent="0">
                        <a:buNone/>
                      </a:pPr>
                      <a:r>
                        <a:rPr lang="en-US" sz="1150" dirty="0">
                          <a:solidFill>
                            <a:srgbClr val="1F2933"/>
                          </a:solidFill>
                          <a:latin typeface="Calibri" pitchFamily="34" charset="0"/>
                          <a:ea typeface="Calibri" pitchFamily="34" charset="-122"/>
                          <a:cs typeface="Calibri" pitchFamily="34" charset="-120"/>
                        </a:rPr>
                        <a:t>Se aumenta el número de reactivos</a:t>
                      </a:r>
                      <a:endParaRPr lang="en-US" sz="11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1F4F8"/>
                    </a:solidFill>
                  </a:tcPr>
                </a:tc>
                <a:extLst>
                  <a:ext uri="{0D108BD9-81ED-4DB2-BD59-A6C34878D82A}">
                    <a16:rowId xmlns:a16="http://schemas.microsoft.com/office/drawing/2014/main" val="10004"/>
                  </a:ext>
                </a:extLst>
              </a:tr>
              <a:tr h="475488">
                <a:tc>
                  <a:txBody>
                    <a:bodyPr/>
                    <a:lstStyle/>
                    <a:p>
                      <a:pPr marL="0" indent="0">
                        <a:buNone/>
                      </a:pPr>
                      <a:r>
                        <a:rPr lang="en-US" sz="1150" b="1" dirty="0">
                          <a:solidFill>
                            <a:srgbClr val="1F2933"/>
                          </a:solidFill>
                          <a:latin typeface="Calibri" pitchFamily="34" charset="0"/>
                          <a:ea typeface="Calibri" pitchFamily="34" charset="-122"/>
                          <a:cs typeface="Calibri" pitchFamily="34" charset="-120"/>
                        </a:rPr>
                        <a:t>Chequeo</a:t>
                      </a:r>
                      <a:endParaRPr lang="en-US" sz="11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150" dirty="0">
                          <a:solidFill>
                            <a:srgbClr val="1F2933"/>
                          </a:solidFill>
                          <a:latin typeface="Calibri" pitchFamily="34" charset="0"/>
                          <a:ea typeface="Calibri" pitchFamily="34" charset="-122"/>
                          <a:cs typeface="Calibri" pitchFamily="34" charset="-120"/>
                        </a:rPr>
                        <a:t>30 segundos</a:t>
                      </a:r>
                      <a:endParaRPr lang="en-US" sz="11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150" dirty="0">
                          <a:solidFill>
                            <a:srgbClr val="1F2933"/>
                          </a:solidFill>
                          <a:latin typeface="Calibri" pitchFamily="34" charset="0"/>
                          <a:ea typeface="Calibri" pitchFamily="34" charset="-122"/>
                          <a:cs typeface="Calibri" pitchFamily="34" charset="-120"/>
                        </a:rPr>
                        <a:t>1 minuto</a:t>
                      </a:r>
                      <a:endParaRPr lang="en-US" sz="11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150" dirty="0">
                          <a:solidFill>
                            <a:srgbClr val="1F2933"/>
                          </a:solidFill>
                          <a:latin typeface="Calibri" pitchFamily="34" charset="0"/>
                          <a:ea typeface="Calibri" pitchFamily="34" charset="-122"/>
                          <a:cs typeface="Calibri" pitchFamily="34" charset="-120"/>
                        </a:rPr>
                        <a:t>1.5 minutos</a:t>
                      </a:r>
                      <a:endParaRPr lang="en-US" sz="11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150" dirty="0">
                          <a:solidFill>
                            <a:srgbClr val="1F2933"/>
                          </a:solidFill>
                          <a:latin typeface="Calibri" pitchFamily="34" charset="0"/>
                          <a:ea typeface="Calibri" pitchFamily="34" charset="-122"/>
                          <a:cs typeface="Calibri" pitchFamily="34" charset="-120"/>
                        </a:rPr>
                        <a:t>Se añade autoevaluación del proceso</a:t>
                      </a:r>
                      <a:endParaRPr lang="en-US" sz="11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7" name="Shape 4"/>
          <p:cNvSpPr/>
          <p:nvPr/>
        </p:nvSpPr>
        <p:spPr>
          <a:xfrm>
            <a:off x="566928" y="4709160"/>
            <a:ext cx="5394960" cy="1005840"/>
          </a:xfrm>
          <a:prstGeom prst="roundRect">
            <a:avLst>
              <a:gd name="adj" fmla="val 3636"/>
            </a:avLst>
          </a:prstGeom>
          <a:solidFill>
            <a:srgbClr val="FAF3E0"/>
          </a:solidFill>
          <a:ln w="12700">
            <a:solidFill>
              <a:srgbClr val="FAF3E0"/>
            </a:solidFill>
            <a:prstDash val="solid"/>
          </a:ln>
          <a:effectLst>
            <a:outerShdw blurRad="101600" dist="12700" dir="5400000" algn="bl" rotWithShape="0">
              <a:srgbClr val="9AA8B5">
                <a:alpha val="16000"/>
              </a:srgbClr>
            </a:outerShdw>
          </a:effectLst>
        </p:spPr>
      </p:sp>
      <p:sp>
        <p:nvSpPr>
          <p:cNvPr id="8" name="Text 5"/>
          <p:cNvSpPr txBox="1"/>
          <p:nvPr/>
        </p:nvSpPr>
        <p:spPr>
          <a:xfrm>
            <a:off x="804672" y="4928616"/>
            <a:ext cx="4919472" cy="310896"/>
          </a:xfrm>
          <a:prstGeom prst="rect">
            <a:avLst/>
          </a:prstGeom>
          <a:noFill/>
          <a:ln/>
        </p:spPr>
        <p:txBody>
          <a:bodyPr wrap="square" lIns="0" tIns="0" rIns="0" bIns="0" rtlCol="0" anchor="t"/>
          <a:lstStyle/>
          <a:p>
            <a:pPr marL="0" indent="0">
              <a:buNone/>
            </a:pPr>
            <a:r>
              <a:rPr lang="en-US" sz="1300" b="1" dirty="0">
                <a:solidFill>
                  <a:srgbClr val="1B2A4A"/>
                </a:solidFill>
                <a:latin typeface="Calibri" pitchFamily="34" charset="0"/>
                <a:ea typeface="Calibri" pitchFamily="34" charset="-122"/>
                <a:cs typeface="Calibri" pitchFamily="34" charset="-120"/>
              </a:rPr>
              <a:t>Cuándo usar 5 minutos</a:t>
            </a:r>
            <a:endParaRPr lang="en-US" sz="1300" dirty="0"/>
          </a:p>
        </p:txBody>
      </p:sp>
      <p:sp>
        <p:nvSpPr>
          <p:cNvPr id="9" name="Text 6"/>
          <p:cNvSpPr txBox="1"/>
          <p:nvPr/>
        </p:nvSpPr>
        <p:spPr>
          <a:xfrm>
            <a:off x="804672" y="5294376"/>
            <a:ext cx="4919472" cy="237744"/>
          </a:xfrm>
          <a:prstGeom prst="rect">
            <a:avLst/>
          </a:prstGeom>
          <a:noFill/>
          <a:ln/>
        </p:spPr>
        <p:txBody>
          <a:bodyPr wrap="square" lIns="0" tIns="0" rIns="0" bIns="0" rtlCol="0" anchor="t"/>
          <a:lstStyle/>
          <a:p>
            <a:pPr marL="0" indent="0">
              <a:lnSpc>
                <a:spcPct val="106000"/>
              </a:lnSpc>
              <a:buNone/>
            </a:pPr>
            <a:r>
              <a:rPr lang="en-US" sz="1150" dirty="0">
                <a:solidFill>
                  <a:srgbClr val="1F2933"/>
                </a:solidFill>
                <a:latin typeface="Calibri" pitchFamily="34" charset="0"/>
                <a:ea typeface="Calibri" pitchFamily="34" charset="-122"/>
                <a:cs typeface="Calibri" pitchFamily="34" charset="-120"/>
              </a:rPr>
              <a:t>Refuerzo, recordatorio espaciado o apoyo al desempeño en el momento de la tarea.</a:t>
            </a:r>
            <a:endParaRPr lang="en-US" sz="1150" dirty="0"/>
          </a:p>
        </p:txBody>
      </p:sp>
      <p:sp>
        <p:nvSpPr>
          <p:cNvPr id="10" name="Shape 7"/>
          <p:cNvSpPr/>
          <p:nvPr/>
        </p:nvSpPr>
        <p:spPr>
          <a:xfrm>
            <a:off x="6227064" y="4709160"/>
            <a:ext cx="5394960" cy="1005840"/>
          </a:xfrm>
          <a:prstGeom prst="roundRect">
            <a:avLst>
              <a:gd name="adj" fmla="val 3636"/>
            </a:avLst>
          </a:prstGeom>
          <a:solidFill>
            <a:srgbClr val="E7F2F0"/>
          </a:solidFill>
          <a:ln w="12700">
            <a:solidFill>
              <a:srgbClr val="E7F2F0"/>
            </a:solidFill>
            <a:prstDash val="solid"/>
          </a:ln>
          <a:effectLst>
            <a:outerShdw blurRad="101600" dist="12700" dir="5400000" algn="bl" rotWithShape="0">
              <a:srgbClr val="9AA8B5">
                <a:alpha val="16000"/>
              </a:srgbClr>
            </a:outerShdw>
          </a:effectLst>
        </p:spPr>
      </p:sp>
      <p:sp>
        <p:nvSpPr>
          <p:cNvPr id="11" name="Text 8"/>
          <p:cNvSpPr txBox="1"/>
          <p:nvPr/>
        </p:nvSpPr>
        <p:spPr>
          <a:xfrm>
            <a:off x="6464808" y="4928616"/>
            <a:ext cx="4919472" cy="310896"/>
          </a:xfrm>
          <a:prstGeom prst="rect">
            <a:avLst/>
          </a:prstGeom>
          <a:noFill/>
          <a:ln/>
        </p:spPr>
        <p:txBody>
          <a:bodyPr wrap="square" lIns="0" tIns="0" rIns="0" bIns="0" rtlCol="0" anchor="t"/>
          <a:lstStyle/>
          <a:p>
            <a:pPr marL="0" indent="0">
              <a:buNone/>
            </a:pPr>
            <a:r>
              <a:rPr lang="en-US" sz="1300" b="1" dirty="0">
                <a:solidFill>
                  <a:srgbClr val="1B2A4A"/>
                </a:solidFill>
                <a:latin typeface="Calibri" pitchFamily="34" charset="0"/>
                <a:ea typeface="Calibri" pitchFamily="34" charset="-122"/>
                <a:cs typeface="Calibri" pitchFamily="34" charset="-120"/>
              </a:rPr>
              <a:t>Cuándo usar 15 minutos</a:t>
            </a:r>
            <a:endParaRPr lang="en-US" sz="1300" dirty="0"/>
          </a:p>
        </p:txBody>
      </p:sp>
      <p:sp>
        <p:nvSpPr>
          <p:cNvPr id="12" name="Text 9"/>
          <p:cNvSpPr txBox="1"/>
          <p:nvPr/>
        </p:nvSpPr>
        <p:spPr>
          <a:xfrm>
            <a:off x="6464808" y="5294376"/>
            <a:ext cx="4919472" cy="237744"/>
          </a:xfrm>
          <a:prstGeom prst="rect">
            <a:avLst/>
          </a:prstGeom>
          <a:noFill/>
          <a:ln/>
        </p:spPr>
        <p:txBody>
          <a:bodyPr wrap="square" lIns="0" tIns="0" rIns="0" bIns="0" rtlCol="0" anchor="t"/>
          <a:lstStyle/>
          <a:p>
            <a:pPr marL="0" indent="0">
              <a:lnSpc>
                <a:spcPct val="106000"/>
              </a:lnSpc>
              <a:buNone/>
            </a:pPr>
            <a:r>
              <a:rPr lang="en-US" sz="1150" dirty="0">
                <a:solidFill>
                  <a:srgbClr val="1F2933"/>
                </a:solidFill>
                <a:latin typeface="Calibri" pitchFamily="34" charset="0"/>
                <a:ea typeface="Calibri" pitchFamily="34" charset="-122"/>
                <a:cs typeface="Calibri" pitchFamily="34" charset="-120"/>
              </a:rPr>
              <a:t>Destreza nueva con procedimiento de varios pasos que exige modelado y práctica supervisada.</a:t>
            </a:r>
            <a:endParaRPr lang="en-US" sz="11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29184"/>
            <a:ext cx="11055096" cy="256032"/>
          </a:xfrm>
          <a:prstGeom prst="rect">
            <a:avLst/>
          </a:prstGeom>
          <a:noFill/>
          <a:ln/>
        </p:spPr>
        <p:txBody>
          <a:bodyPr wrap="square" lIns="0" tIns="0" rIns="0" bIns="0" rtlCol="0" anchor="ctr"/>
          <a:lstStyle/>
          <a:p>
            <a:pPr marL="0" indent="0">
              <a:buNone/>
            </a:pPr>
            <a:r>
              <a:rPr lang="en-US" sz="1100" b="1" kern="0" spc="160" dirty="0">
                <a:solidFill>
                  <a:srgbClr val="2A9D8F"/>
                </a:solidFill>
                <a:latin typeface="Calibri" pitchFamily="34" charset="0"/>
                <a:ea typeface="Calibri" pitchFamily="34" charset="-122"/>
                <a:cs typeface="Calibri" pitchFamily="34" charset="-120"/>
              </a:rPr>
              <a:t>DE LA CÁPSULA A LA RUTA</a:t>
            </a:r>
            <a:endParaRPr lang="en-US" sz="1100" dirty="0"/>
          </a:p>
        </p:txBody>
      </p:sp>
      <p:sp>
        <p:nvSpPr>
          <p:cNvPr id="3" name="Text 1"/>
          <p:cNvSpPr txBox="1"/>
          <p:nvPr/>
        </p:nvSpPr>
        <p:spPr>
          <a:xfrm>
            <a:off x="566928" y="603504"/>
            <a:ext cx="11055096" cy="749808"/>
          </a:xfrm>
          <a:prstGeom prst="rect">
            <a:avLst/>
          </a:prstGeom>
          <a:noFill/>
          <a:ln/>
        </p:spPr>
        <p:txBody>
          <a:bodyPr wrap="square" lIns="0" tIns="0" rIns="0" bIns="0" rtlCol="0" anchor="t"/>
          <a:lstStyle/>
          <a:p>
            <a:pPr marL="0" indent="0">
              <a:buNone/>
            </a:pPr>
            <a:r>
              <a:rPr lang="en-US" sz="2900" b="1" dirty="0">
                <a:solidFill>
                  <a:srgbClr val="1B2A4A"/>
                </a:solidFill>
                <a:latin typeface="Cambria" pitchFamily="34" charset="0"/>
                <a:ea typeface="Cambria" pitchFamily="34" charset="-122"/>
                <a:cs typeface="Cambria" pitchFamily="34" charset="-120"/>
              </a:rPr>
              <a:t>Secuenciación: el efecto está en el calendario, no en la pieza</a:t>
            </a:r>
            <a:endParaRPr lang="en-US" sz="2900" dirty="0"/>
          </a:p>
        </p:txBody>
      </p:sp>
      <p:sp>
        <p:nvSpPr>
          <p:cNvPr id="4" name="Text 2"/>
          <p:cNvSpPr txBox="1"/>
          <p:nvPr/>
        </p:nvSpPr>
        <p:spPr>
          <a:xfrm>
            <a:off x="566928" y="6428232"/>
            <a:ext cx="7863840" cy="256032"/>
          </a:xfrm>
          <a:prstGeom prst="rect">
            <a:avLst/>
          </a:prstGeom>
          <a:noFill/>
          <a:ln/>
        </p:spPr>
        <p:txBody>
          <a:bodyPr wrap="square" lIns="0" tIns="0" rIns="0" bIns="0" rtlCol="0" anchor="ctr"/>
          <a:lstStyle/>
          <a:p>
            <a:pPr marL="0" indent="0">
              <a:buNone/>
            </a:pPr>
            <a:r>
              <a:rPr lang="en-US" sz="900" dirty="0">
                <a:solidFill>
                  <a:srgbClr val="5B6B7B"/>
                </a:solidFill>
                <a:latin typeface="Calibri" pitchFamily="34" charset="0"/>
                <a:ea typeface="Calibri" pitchFamily="34" charset="-122"/>
                <a:cs typeface="Calibri" pitchFamily="34" charset="-120"/>
              </a:rPr>
              <a:t>Microaprendizaje para adultos  ·  Proyecto RUTA — Inter Ponce</a:t>
            </a:r>
            <a:endParaRPr lang="en-US" sz="900" dirty="0"/>
          </a:p>
        </p:txBody>
      </p:sp>
      <p:sp>
        <p:nvSpPr>
          <p:cNvPr id="5" name="Text 3"/>
          <p:cNvSpPr txBox="1"/>
          <p:nvPr/>
        </p:nvSpPr>
        <p:spPr>
          <a:xfrm>
            <a:off x="10972800" y="6428232"/>
            <a:ext cx="649224" cy="256032"/>
          </a:xfrm>
          <a:prstGeom prst="rect">
            <a:avLst/>
          </a:prstGeom>
          <a:noFill/>
          <a:ln/>
        </p:spPr>
        <p:txBody>
          <a:bodyPr wrap="square" lIns="0" tIns="0" rIns="0" bIns="0" rtlCol="0" anchor="ctr"/>
          <a:lstStyle/>
          <a:p>
            <a:pPr marL="0" indent="0" algn="r">
              <a:buNone/>
            </a:pPr>
            <a:r>
              <a:rPr lang="en-US" sz="900" dirty="0">
                <a:solidFill>
                  <a:srgbClr val="5B6B7B"/>
                </a:solidFill>
                <a:latin typeface="Calibri" pitchFamily="34" charset="0"/>
                <a:ea typeface="Calibri" pitchFamily="34" charset="-122"/>
                <a:cs typeface="Calibri" pitchFamily="34" charset="-120"/>
              </a:rPr>
              <a:t>22</a:t>
            </a:r>
            <a:endParaRPr lang="en-US" sz="900" dirty="0"/>
          </a:p>
        </p:txBody>
      </p:sp>
      <p:sp>
        <p:nvSpPr>
          <p:cNvPr id="6" name="Shape 4"/>
          <p:cNvSpPr/>
          <p:nvPr/>
        </p:nvSpPr>
        <p:spPr>
          <a:xfrm>
            <a:off x="566928" y="1664208"/>
            <a:ext cx="2624328" cy="512064"/>
          </a:xfrm>
          <a:prstGeom prst="roundRect">
            <a:avLst>
              <a:gd name="adj" fmla="val 7143"/>
            </a:avLst>
          </a:prstGeom>
          <a:solidFill>
            <a:srgbClr val="1B2A4A"/>
          </a:solidFill>
          <a:ln w="12700">
            <a:solidFill>
              <a:srgbClr val="1B2A4A"/>
            </a:solidFill>
            <a:prstDash val="solid"/>
          </a:ln>
        </p:spPr>
      </p:sp>
      <p:sp>
        <p:nvSpPr>
          <p:cNvPr id="7" name="Text 5"/>
          <p:cNvSpPr txBox="1"/>
          <p:nvPr/>
        </p:nvSpPr>
        <p:spPr>
          <a:xfrm>
            <a:off x="566928" y="1664208"/>
            <a:ext cx="2624328" cy="512064"/>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Día 1</a:t>
            </a:r>
            <a:endParaRPr lang="en-US" sz="1500" dirty="0"/>
          </a:p>
        </p:txBody>
      </p:sp>
      <p:sp>
        <p:nvSpPr>
          <p:cNvPr id="8" name="Shape 6"/>
          <p:cNvSpPr/>
          <p:nvPr/>
        </p:nvSpPr>
        <p:spPr>
          <a:xfrm>
            <a:off x="566928" y="2286000"/>
            <a:ext cx="2624328" cy="1783080"/>
          </a:xfrm>
          <a:prstGeom prst="roundRect">
            <a:avLst>
              <a:gd name="adj" fmla="val 2051"/>
            </a:avLst>
          </a:prstGeom>
          <a:solidFill>
            <a:srgbClr val="F1F4F8"/>
          </a:solidFill>
          <a:ln w="12700">
            <a:solidFill>
              <a:srgbClr val="F1F4F8"/>
            </a:solidFill>
            <a:prstDash val="solid"/>
          </a:ln>
          <a:effectLst>
            <a:outerShdw blurRad="101600" dist="12700" dir="5400000" algn="bl" rotWithShape="0">
              <a:srgbClr val="9AA8B5">
                <a:alpha val="16000"/>
              </a:srgbClr>
            </a:outerShdw>
          </a:effectLst>
        </p:spPr>
      </p:sp>
      <p:sp>
        <p:nvSpPr>
          <p:cNvPr id="9" name="Text 7"/>
          <p:cNvSpPr txBox="1"/>
          <p:nvPr/>
        </p:nvSpPr>
        <p:spPr>
          <a:xfrm>
            <a:off x="804672" y="2505456"/>
            <a:ext cx="2148840" cy="310896"/>
          </a:xfrm>
          <a:prstGeom prst="rect">
            <a:avLst/>
          </a:prstGeom>
          <a:noFill/>
          <a:ln/>
        </p:spPr>
        <p:txBody>
          <a:bodyPr wrap="square" lIns="0" tIns="0" rIns="0" bIns="0" rtlCol="0" anchor="t"/>
          <a:lstStyle/>
          <a:p>
            <a:pPr marL="0" indent="0">
              <a:buNone/>
            </a:pPr>
            <a:r>
              <a:rPr lang="en-US" sz="1400" b="1" dirty="0">
                <a:solidFill>
                  <a:srgbClr val="1B2A4A"/>
                </a:solidFill>
                <a:latin typeface="Calibri" pitchFamily="34" charset="0"/>
                <a:ea typeface="Calibri" pitchFamily="34" charset="-122"/>
                <a:cs typeface="Calibri" pitchFamily="34" charset="-120"/>
              </a:rPr>
              <a:t>Cápsula A</a:t>
            </a:r>
            <a:endParaRPr lang="en-US" sz="1400" dirty="0"/>
          </a:p>
        </p:txBody>
      </p:sp>
      <p:sp>
        <p:nvSpPr>
          <p:cNvPr id="10" name="Text 8"/>
          <p:cNvSpPr txBox="1"/>
          <p:nvPr/>
        </p:nvSpPr>
        <p:spPr>
          <a:xfrm>
            <a:off x="804672" y="2871216"/>
            <a:ext cx="2148840" cy="1014984"/>
          </a:xfrm>
          <a:prstGeom prst="rect">
            <a:avLst/>
          </a:prstGeom>
          <a:noFill/>
          <a:ln/>
        </p:spPr>
        <p:txBody>
          <a:bodyPr wrap="square" lIns="0" tIns="0" rIns="0" bIns="0" rtlCol="0" anchor="t"/>
          <a:lstStyle/>
          <a:p>
            <a:pPr marL="0" indent="0">
              <a:lnSpc>
                <a:spcPct val="106000"/>
              </a:lnSpc>
              <a:buNone/>
            </a:pPr>
            <a:r>
              <a:rPr lang="en-US" sz="1150" dirty="0">
                <a:solidFill>
                  <a:srgbClr val="1F2933"/>
                </a:solidFill>
                <a:latin typeface="Calibri" pitchFamily="34" charset="0"/>
                <a:ea typeface="Calibri" pitchFamily="34" charset="-122"/>
                <a:cs typeface="Calibri" pitchFamily="34" charset="-120"/>
              </a:rPr>
              <a:t>Introduce la destreza y su primera práctica.</a:t>
            </a:r>
            <a:endParaRPr lang="en-US" sz="1150" dirty="0"/>
          </a:p>
        </p:txBody>
      </p:sp>
      <p:sp>
        <p:nvSpPr>
          <p:cNvPr id="11" name="Shape 9"/>
          <p:cNvSpPr/>
          <p:nvPr/>
        </p:nvSpPr>
        <p:spPr>
          <a:xfrm>
            <a:off x="3209544" y="2962656"/>
            <a:ext cx="155448" cy="219456"/>
          </a:xfrm>
          <a:prstGeom prst="rightArrow">
            <a:avLst/>
          </a:prstGeom>
          <a:solidFill>
            <a:srgbClr val="D9E0E8"/>
          </a:solidFill>
          <a:ln w="12700">
            <a:solidFill>
              <a:srgbClr val="D9E0E8"/>
            </a:solidFill>
            <a:prstDash val="solid"/>
          </a:ln>
        </p:spPr>
      </p:sp>
      <p:sp>
        <p:nvSpPr>
          <p:cNvPr id="12" name="Shape 10"/>
          <p:cNvSpPr/>
          <p:nvPr/>
        </p:nvSpPr>
        <p:spPr>
          <a:xfrm>
            <a:off x="3383280" y="1664208"/>
            <a:ext cx="2624328" cy="512064"/>
          </a:xfrm>
          <a:prstGeom prst="roundRect">
            <a:avLst>
              <a:gd name="adj" fmla="val 7143"/>
            </a:avLst>
          </a:prstGeom>
          <a:solidFill>
            <a:srgbClr val="2A9D8F"/>
          </a:solidFill>
          <a:ln w="12700">
            <a:solidFill>
              <a:srgbClr val="2A9D8F"/>
            </a:solidFill>
            <a:prstDash val="solid"/>
          </a:ln>
        </p:spPr>
      </p:sp>
      <p:sp>
        <p:nvSpPr>
          <p:cNvPr id="13" name="Text 11"/>
          <p:cNvSpPr txBox="1"/>
          <p:nvPr/>
        </p:nvSpPr>
        <p:spPr>
          <a:xfrm>
            <a:off x="3383280" y="1664208"/>
            <a:ext cx="2624328" cy="512064"/>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Día 3</a:t>
            </a:r>
            <a:endParaRPr lang="en-US" sz="1500" dirty="0"/>
          </a:p>
        </p:txBody>
      </p:sp>
      <p:sp>
        <p:nvSpPr>
          <p:cNvPr id="14" name="Shape 12"/>
          <p:cNvSpPr/>
          <p:nvPr/>
        </p:nvSpPr>
        <p:spPr>
          <a:xfrm>
            <a:off x="3383280" y="2286000"/>
            <a:ext cx="2624328" cy="1783080"/>
          </a:xfrm>
          <a:prstGeom prst="roundRect">
            <a:avLst>
              <a:gd name="adj" fmla="val 2051"/>
            </a:avLst>
          </a:prstGeom>
          <a:solidFill>
            <a:srgbClr val="F1F4F8"/>
          </a:solidFill>
          <a:ln w="12700">
            <a:solidFill>
              <a:srgbClr val="F1F4F8"/>
            </a:solidFill>
            <a:prstDash val="solid"/>
          </a:ln>
          <a:effectLst>
            <a:outerShdw blurRad="101600" dist="12700" dir="5400000" algn="bl" rotWithShape="0">
              <a:srgbClr val="9AA8B5">
                <a:alpha val="16000"/>
              </a:srgbClr>
            </a:outerShdw>
          </a:effectLst>
        </p:spPr>
      </p:sp>
      <p:sp>
        <p:nvSpPr>
          <p:cNvPr id="15" name="Text 13"/>
          <p:cNvSpPr txBox="1"/>
          <p:nvPr/>
        </p:nvSpPr>
        <p:spPr>
          <a:xfrm>
            <a:off x="3621024" y="2505456"/>
            <a:ext cx="2148840" cy="310896"/>
          </a:xfrm>
          <a:prstGeom prst="rect">
            <a:avLst/>
          </a:prstGeom>
          <a:noFill/>
          <a:ln/>
        </p:spPr>
        <p:txBody>
          <a:bodyPr wrap="square" lIns="0" tIns="0" rIns="0" bIns="0" rtlCol="0" anchor="t"/>
          <a:lstStyle/>
          <a:p>
            <a:pPr marL="0" indent="0">
              <a:buNone/>
            </a:pPr>
            <a:r>
              <a:rPr lang="en-US" sz="1400" b="1" dirty="0">
                <a:solidFill>
                  <a:srgbClr val="2A9D8F"/>
                </a:solidFill>
                <a:latin typeface="Calibri" pitchFamily="34" charset="0"/>
                <a:ea typeface="Calibri" pitchFamily="34" charset="-122"/>
                <a:cs typeface="Calibri" pitchFamily="34" charset="-120"/>
              </a:rPr>
              <a:t>Cápsula B</a:t>
            </a:r>
            <a:endParaRPr lang="en-US" sz="1400" dirty="0"/>
          </a:p>
        </p:txBody>
      </p:sp>
      <p:sp>
        <p:nvSpPr>
          <p:cNvPr id="16" name="Text 14"/>
          <p:cNvSpPr txBox="1"/>
          <p:nvPr/>
        </p:nvSpPr>
        <p:spPr>
          <a:xfrm>
            <a:off x="3621024" y="2871216"/>
            <a:ext cx="2148840" cy="1014984"/>
          </a:xfrm>
          <a:prstGeom prst="rect">
            <a:avLst/>
          </a:prstGeom>
          <a:noFill/>
          <a:ln/>
        </p:spPr>
        <p:txBody>
          <a:bodyPr wrap="square" lIns="0" tIns="0" rIns="0" bIns="0" rtlCol="0" anchor="t"/>
          <a:lstStyle/>
          <a:p>
            <a:pPr marL="0" indent="0">
              <a:lnSpc>
                <a:spcPct val="106000"/>
              </a:lnSpc>
              <a:buNone/>
            </a:pPr>
            <a:r>
              <a:rPr lang="en-US" sz="1150" dirty="0">
                <a:solidFill>
                  <a:srgbClr val="1F2933"/>
                </a:solidFill>
                <a:latin typeface="Calibri" pitchFamily="34" charset="0"/>
                <a:ea typeface="Calibri" pitchFamily="34" charset="-122"/>
                <a:cs typeface="Calibri" pitchFamily="34" charset="-120"/>
              </a:rPr>
              <a:t>Recupera A sin volver a explicarla y añade un caso nuevo.</a:t>
            </a:r>
            <a:endParaRPr lang="en-US" sz="1150" dirty="0"/>
          </a:p>
        </p:txBody>
      </p:sp>
      <p:sp>
        <p:nvSpPr>
          <p:cNvPr id="17" name="Shape 15"/>
          <p:cNvSpPr/>
          <p:nvPr/>
        </p:nvSpPr>
        <p:spPr>
          <a:xfrm>
            <a:off x="6025896" y="2962656"/>
            <a:ext cx="155448" cy="219456"/>
          </a:xfrm>
          <a:prstGeom prst="rightArrow">
            <a:avLst/>
          </a:prstGeom>
          <a:solidFill>
            <a:srgbClr val="D9E0E8"/>
          </a:solidFill>
          <a:ln w="12700">
            <a:solidFill>
              <a:srgbClr val="D9E0E8"/>
            </a:solidFill>
            <a:prstDash val="solid"/>
          </a:ln>
        </p:spPr>
      </p:sp>
      <p:sp>
        <p:nvSpPr>
          <p:cNvPr id="18" name="Shape 16"/>
          <p:cNvSpPr/>
          <p:nvPr/>
        </p:nvSpPr>
        <p:spPr>
          <a:xfrm>
            <a:off x="6199632" y="1664208"/>
            <a:ext cx="2624328" cy="512064"/>
          </a:xfrm>
          <a:prstGeom prst="roundRect">
            <a:avLst>
              <a:gd name="adj" fmla="val 7143"/>
            </a:avLst>
          </a:prstGeom>
          <a:solidFill>
            <a:srgbClr val="C9A227"/>
          </a:solidFill>
          <a:ln w="12700">
            <a:solidFill>
              <a:srgbClr val="C9A227"/>
            </a:solidFill>
            <a:prstDash val="solid"/>
          </a:ln>
        </p:spPr>
      </p:sp>
      <p:sp>
        <p:nvSpPr>
          <p:cNvPr id="19" name="Text 17"/>
          <p:cNvSpPr txBox="1"/>
          <p:nvPr/>
        </p:nvSpPr>
        <p:spPr>
          <a:xfrm>
            <a:off x="6199632" y="1664208"/>
            <a:ext cx="2624328" cy="512064"/>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Día 7</a:t>
            </a:r>
            <a:endParaRPr lang="en-US" sz="1500" dirty="0"/>
          </a:p>
        </p:txBody>
      </p:sp>
      <p:sp>
        <p:nvSpPr>
          <p:cNvPr id="20" name="Shape 18"/>
          <p:cNvSpPr/>
          <p:nvPr/>
        </p:nvSpPr>
        <p:spPr>
          <a:xfrm>
            <a:off x="6199632" y="2286000"/>
            <a:ext cx="2624328" cy="1783080"/>
          </a:xfrm>
          <a:prstGeom prst="roundRect">
            <a:avLst>
              <a:gd name="adj" fmla="val 2051"/>
            </a:avLst>
          </a:prstGeom>
          <a:solidFill>
            <a:srgbClr val="F1F4F8"/>
          </a:solidFill>
          <a:ln w="12700">
            <a:solidFill>
              <a:srgbClr val="F1F4F8"/>
            </a:solidFill>
            <a:prstDash val="solid"/>
          </a:ln>
          <a:effectLst>
            <a:outerShdw blurRad="101600" dist="12700" dir="5400000" algn="bl" rotWithShape="0">
              <a:srgbClr val="9AA8B5">
                <a:alpha val="16000"/>
              </a:srgbClr>
            </a:outerShdw>
          </a:effectLst>
        </p:spPr>
      </p:sp>
      <p:sp>
        <p:nvSpPr>
          <p:cNvPr id="21" name="Text 19"/>
          <p:cNvSpPr txBox="1"/>
          <p:nvPr/>
        </p:nvSpPr>
        <p:spPr>
          <a:xfrm>
            <a:off x="6437376" y="2505456"/>
            <a:ext cx="2148840" cy="310896"/>
          </a:xfrm>
          <a:prstGeom prst="rect">
            <a:avLst/>
          </a:prstGeom>
          <a:noFill/>
          <a:ln/>
        </p:spPr>
        <p:txBody>
          <a:bodyPr wrap="square" lIns="0" tIns="0" rIns="0" bIns="0" rtlCol="0" anchor="t"/>
          <a:lstStyle/>
          <a:p>
            <a:pPr marL="0" indent="0">
              <a:buNone/>
            </a:pPr>
            <a:r>
              <a:rPr lang="en-US" sz="1400" b="1" dirty="0">
                <a:solidFill>
                  <a:srgbClr val="C9A227"/>
                </a:solidFill>
                <a:latin typeface="Calibri" pitchFamily="34" charset="0"/>
                <a:ea typeface="Calibri" pitchFamily="34" charset="-122"/>
                <a:cs typeface="Calibri" pitchFamily="34" charset="-120"/>
              </a:rPr>
              <a:t>Cápsula C</a:t>
            </a:r>
            <a:endParaRPr lang="en-US" sz="1400" dirty="0"/>
          </a:p>
        </p:txBody>
      </p:sp>
      <p:sp>
        <p:nvSpPr>
          <p:cNvPr id="22" name="Text 20"/>
          <p:cNvSpPr txBox="1"/>
          <p:nvPr/>
        </p:nvSpPr>
        <p:spPr>
          <a:xfrm>
            <a:off x="6437376" y="2871216"/>
            <a:ext cx="2148840" cy="1014984"/>
          </a:xfrm>
          <a:prstGeom prst="rect">
            <a:avLst/>
          </a:prstGeom>
          <a:noFill/>
          <a:ln/>
        </p:spPr>
        <p:txBody>
          <a:bodyPr wrap="square" lIns="0" tIns="0" rIns="0" bIns="0" rtlCol="0" anchor="t"/>
          <a:lstStyle/>
          <a:p>
            <a:pPr marL="0" indent="0">
              <a:lnSpc>
                <a:spcPct val="106000"/>
              </a:lnSpc>
              <a:buNone/>
            </a:pPr>
            <a:r>
              <a:rPr lang="en-US" sz="1150" dirty="0">
                <a:solidFill>
                  <a:srgbClr val="1F2933"/>
                </a:solidFill>
                <a:latin typeface="Calibri" pitchFamily="34" charset="0"/>
                <a:ea typeface="Calibri" pitchFamily="34" charset="-122"/>
                <a:cs typeface="Calibri" pitchFamily="34" charset="-120"/>
              </a:rPr>
              <a:t>Aplica la destreza en un contexto distinto al original.</a:t>
            </a:r>
            <a:endParaRPr lang="en-US" sz="1150" dirty="0"/>
          </a:p>
        </p:txBody>
      </p:sp>
      <p:sp>
        <p:nvSpPr>
          <p:cNvPr id="23" name="Shape 21"/>
          <p:cNvSpPr/>
          <p:nvPr/>
        </p:nvSpPr>
        <p:spPr>
          <a:xfrm>
            <a:off x="8842248" y="2962656"/>
            <a:ext cx="155448" cy="219456"/>
          </a:xfrm>
          <a:prstGeom prst="rightArrow">
            <a:avLst/>
          </a:prstGeom>
          <a:solidFill>
            <a:srgbClr val="D9E0E8"/>
          </a:solidFill>
          <a:ln w="12700">
            <a:solidFill>
              <a:srgbClr val="D9E0E8"/>
            </a:solidFill>
            <a:prstDash val="solid"/>
          </a:ln>
        </p:spPr>
      </p:sp>
      <p:sp>
        <p:nvSpPr>
          <p:cNvPr id="24" name="Shape 22"/>
          <p:cNvSpPr/>
          <p:nvPr/>
        </p:nvSpPr>
        <p:spPr>
          <a:xfrm>
            <a:off x="9015984" y="1664208"/>
            <a:ext cx="2624328" cy="512064"/>
          </a:xfrm>
          <a:prstGeom prst="roundRect">
            <a:avLst>
              <a:gd name="adj" fmla="val 7143"/>
            </a:avLst>
          </a:prstGeom>
          <a:solidFill>
            <a:srgbClr val="1F3864"/>
          </a:solidFill>
          <a:ln w="12700">
            <a:solidFill>
              <a:srgbClr val="1F3864"/>
            </a:solidFill>
            <a:prstDash val="solid"/>
          </a:ln>
        </p:spPr>
      </p:sp>
      <p:sp>
        <p:nvSpPr>
          <p:cNvPr id="25" name="Text 23"/>
          <p:cNvSpPr txBox="1"/>
          <p:nvPr/>
        </p:nvSpPr>
        <p:spPr>
          <a:xfrm>
            <a:off x="9015984" y="1664208"/>
            <a:ext cx="2624328" cy="512064"/>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Día 14</a:t>
            </a:r>
            <a:endParaRPr lang="en-US" sz="1500" dirty="0"/>
          </a:p>
        </p:txBody>
      </p:sp>
      <p:sp>
        <p:nvSpPr>
          <p:cNvPr id="26" name="Shape 24"/>
          <p:cNvSpPr/>
          <p:nvPr/>
        </p:nvSpPr>
        <p:spPr>
          <a:xfrm>
            <a:off x="9015984" y="2286000"/>
            <a:ext cx="2624328" cy="1783080"/>
          </a:xfrm>
          <a:prstGeom prst="roundRect">
            <a:avLst>
              <a:gd name="adj" fmla="val 2051"/>
            </a:avLst>
          </a:prstGeom>
          <a:solidFill>
            <a:srgbClr val="F1F4F8"/>
          </a:solidFill>
          <a:ln w="12700">
            <a:solidFill>
              <a:srgbClr val="F1F4F8"/>
            </a:solidFill>
            <a:prstDash val="solid"/>
          </a:ln>
          <a:effectLst>
            <a:outerShdw blurRad="101600" dist="12700" dir="5400000" algn="bl" rotWithShape="0">
              <a:srgbClr val="9AA8B5">
                <a:alpha val="16000"/>
              </a:srgbClr>
            </a:outerShdw>
          </a:effectLst>
        </p:spPr>
      </p:sp>
      <p:sp>
        <p:nvSpPr>
          <p:cNvPr id="27" name="Text 25"/>
          <p:cNvSpPr txBox="1"/>
          <p:nvPr/>
        </p:nvSpPr>
        <p:spPr>
          <a:xfrm>
            <a:off x="9253728" y="2505456"/>
            <a:ext cx="2148840" cy="310896"/>
          </a:xfrm>
          <a:prstGeom prst="rect">
            <a:avLst/>
          </a:prstGeom>
          <a:noFill/>
          <a:ln/>
        </p:spPr>
        <p:txBody>
          <a:bodyPr wrap="square" lIns="0" tIns="0" rIns="0" bIns="0" rtlCol="0" anchor="t"/>
          <a:lstStyle/>
          <a:p>
            <a:pPr marL="0" indent="0">
              <a:buNone/>
            </a:pPr>
            <a:r>
              <a:rPr lang="en-US" sz="1400" b="1" dirty="0">
                <a:solidFill>
                  <a:srgbClr val="1F3864"/>
                </a:solidFill>
                <a:latin typeface="Calibri" pitchFamily="34" charset="0"/>
                <a:ea typeface="Calibri" pitchFamily="34" charset="-122"/>
                <a:cs typeface="Calibri" pitchFamily="34" charset="-120"/>
              </a:rPr>
              <a:t>Chequeo</a:t>
            </a:r>
            <a:endParaRPr lang="en-US" sz="1400" dirty="0"/>
          </a:p>
        </p:txBody>
      </p:sp>
      <p:sp>
        <p:nvSpPr>
          <p:cNvPr id="28" name="Text 26"/>
          <p:cNvSpPr txBox="1"/>
          <p:nvPr/>
        </p:nvSpPr>
        <p:spPr>
          <a:xfrm>
            <a:off x="9253728" y="2871216"/>
            <a:ext cx="2148840" cy="1014984"/>
          </a:xfrm>
          <a:prstGeom prst="rect">
            <a:avLst/>
          </a:prstGeom>
          <a:noFill/>
          <a:ln/>
        </p:spPr>
        <p:txBody>
          <a:bodyPr wrap="square" lIns="0" tIns="0" rIns="0" bIns="0" rtlCol="0" anchor="t"/>
          <a:lstStyle/>
          <a:p>
            <a:pPr marL="0" indent="0">
              <a:lnSpc>
                <a:spcPct val="106000"/>
              </a:lnSpc>
              <a:buNone/>
            </a:pPr>
            <a:r>
              <a:rPr lang="en-US" sz="1150" dirty="0">
                <a:solidFill>
                  <a:srgbClr val="1F2933"/>
                </a:solidFill>
                <a:latin typeface="Calibri" pitchFamily="34" charset="0"/>
                <a:ea typeface="Calibri" pitchFamily="34" charset="-122"/>
                <a:cs typeface="Calibri" pitchFamily="34" charset="-120"/>
              </a:rPr>
              <a:t>Recuperación acumulativa de A, B y C en cinco minutos.</a:t>
            </a:r>
            <a:endParaRPr lang="en-US" sz="1150" dirty="0"/>
          </a:p>
        </p:txBody>
      </p:sp>
      <p:sp>
        <p:nvSpPr>
          <p:cNvPr id="29" name="Shape 27"/>
          <p:cNvSpPr/>
          <p:nvPr/>
        </p:nvSpPr>
        <p:spPr>
          <a:xfrm>
            <a:off x="566928" y="4352544"/>
            <a:ext cx="5394960" cy="1316736"/>
          </a:xfrm>
          <a:prstGeom prst="roundRect">
            <a:avLst>
              <a:gd name="adj" fmla="val 2778"/>
            </a:avLst>
          </a:prstGeom>
          <a:solidFill>
            <a:srgbClr val="E7F2F0"/>
          </a:solidFill>
          <a:ln w="12700">
            <a:solidFill>
              <a:srgbClr val="E7F2F0"/>
            </a:solidFill>
            <a:prstDash val="solid"/>
          </a:ln>
          <a:effectLst>
            <a:outerShdw blurRad="101600" dist="12700" dir="5400000" algn="bl" rotWithShape="0">
              <a:srgbClr val="9AA8B5">
                <a:alpha val="16000"/>
              </a:srgbClr>
            </a:outerShdw>
          </a:effectLst>
        </p:spPr>
      </p:sp>
      <p:sp>
        <p:nvSpPr>
          <p:cNvPr id="30" name="Text 28"/>
          <p:cNvSpPr txBox="1"/>
          <p:nvPr/>
        </p:nvSpPr>
        <p:spPr>
          <a:xfrm>
            <a:off x="804672" y="4572000"/>
            <a:ext cx="4919472" cy="310896"/>
          </a:xfrm>
          <a:prstGeom prst="rect">
            <a:avLst/>
          </a:prstGeom>
          <a:noFill/>
          <a:ln/>
        </p:spPr>
        <p:txBody>
          <a:bodyPr wrap="square" lIns="0" tIns="0" rIns="0" bIns="0" rtlCol="0" anchor="t"/>
          <a:lstStyle/>
          <a:p>
            <a:pPr marL="0" indent="0">
              <a:buNone/>
            </a:pPr>
            <a:r>
              <a:rPr lang="en-US" sz="1450" b="1" dirty="0">
                <a:solidFill>
                  <a:srgbClr val="1B2A4A"/>
                </a:solidFill>
                <a:latin typeface="Calibri" pitchFamily="34" charset="0"/>
                <a:ea typeface="Calibri" pitchFamily="34" charset="-122"/>
                <a:cs typeface="Calibri" pitchFamily="34" charset="-120"/>
              </a:rPr>
              <a:t>Lo que el participante percibe</a:t>
            </a:r>
            <a:endParaRPr lang="en-US" sz="1450" dirty="0"/>
          </a:p>
        </p:txBody>
      </p:sp>
      <p:sp>
        <p:nvSpPr>
          <p:cNvPr id="31" name="Text 29"/>
          <p:cNvSpPr txBox="1"/>
          <p:nvPr/>
        </p:nvSpPr>
        <p:spPr>
          <a:xfrm>
            <a:off x="804672" y="4937760"/>
            <a:ext cx="4919472" cy="548640"/>
          </a:xfrm>
          <a:prstGeom prst="rect">
            <a:avLst/>
          </a:prstGeom>
          <a:noFill/>
          <a:ln/>
        </p:spPr>
        <p:txBody>
          <a:bodyPr wrap="square" lIns="0" tIns="0" rIns="0" bIns="0" rtlCol="0" anchor="t"/>
          <a:lstStyle/>
          <a:p>
            <a:pPr marL="0" indent="0">
              <a:lnSpc>
                <a:spcPct val="106000"/>
              </a:lnSpc>
              <a:buNone/>
            </a:pPr>
            <a:r>
              <a:rPr lang="en-US" sz="1200" dirty="0">
                <a:solidFill>
                  <a:srgbClr val="1F2933"/>
                </a:solidFill>
                <a:latin typeface="Calibri" pitchFamily="34" charset="0"/>
                <a:ea typeface="Calibri" pitchFamily="34" charset="-122"/>
                <a:cs typeface="Calibri" pitchFamily="34" charset="-120"/>
              </a:rPr>
              <a:t>Cuatro esfuerzos cortos y llevaderos, con la sensación de avanzar cada vez.</a:t>
            </a:r>
            <a:endParaRPr lang="en-US" sz="1200" dirty="0"/>
          </a:p>
        </p:txBody>
      </p:sp>
      <p:sp>
        <p:nvSpPr>
          <p:cNvPr id="32" name="Shape 30"/>
          <p:cNvSpPr/>
          <p:nvPr/>
        </p:nvSpPr>
        <p:spPr>
          <a:xfrm>
            <a:off x="6227064" y="4352544"/>
            <a:ext cx="5394960" cy="1316736"/>
          </a:xfrm>
          <a:prstGeom prst="roundRect">
            <a:avLst>
              <a:gd name="adj" fmla="val 2778"/>
            </a:avLst>
          </a:prstGeom>
          <a:solidFill>
            <a:srgbClr val="1B2A4A"/>
          </a:solidFill>
          <a:ln w="12700">
            <a:solidFill>
              <a:srgbClr val="1B2A4A"/>
            </a:solidFill>
            <a:prstDash val="solid"/>
          </a:ln>
          <a:effectLst>
            <a:outerShdw blurRad="101600" dist="12700" dir="5400000" algn="bl" rotWithShape="0">
              <a:srgbClr val="9AA8B5">
                <a:alpha val="16000"/>
              </a:srgbClr>
            </a:outerShdw>
          </a:effectLst>
        </p:spPr>
      </p:sp>
      <p:sp>
        <p:nvSpPr>
          <p:cNvPr id="33" name="Text 31"/>
          <p:cNvSpPr txBox="1"/>
          <p:nvPr/>
        </p:nvSpPr>
        <p:spPr>
          <a:xfrm>
            <a:off x="6464808" y="4572000"/>
            <a:ext cx="4919472" cy="310896"/>
          </a:xfrm>
          <a:prstGeom prst="rect">
            <a:avLst/>
          </a:prstGeom>
          <a:noFill/>
          <a:ln/>
        </p:spPr>
        <p:txBody>
          <a:bodyPr wrap="square" lIns="0" tIns="0" rIns="0" bIns="0" rtlCol="0" anchor="t"/>
          <a:lstStyle/>
          <a:p>
            <a:pPr marL="0" indent="0">
              <a:buNone/>
            </a:pPr>
            <a:r>
              <a:rPr lang="en-US" sz="1450" b="1" dirty="0">
                <a:solidFill>
                  <a:srgbClr val="C9A227"/>
                </a:solidFill>
                <a:latin typeface="Calibri" pitchFamily="34" charset="0"/>
                <a:ea typeface="Calibri" pitchFamily="34" charset="-122"/>
                <a:cs typeface="Calibri" pitchFamily="34" charset="-120"/>
              </a:rPr>
              <a:t>Lo que ocurre cognitivamente</a:t>
            </a:r>
            <a:endParaRPr lang="en-US" sz="1450" dirty="0"/>
          </a:p>
        </p:txBody>
      </p:sp>
      <p:sp>
        <p:nvSpPr>
          <p:cNvPr id="34" name="Text 32"/>
          <p:cNvSpPr txBox="1"/>
          <p:nvPr/>
        </p:nvSpPr>
        <p:spPr>
          <a:xfrm>
            <a:off x="6464808" y="4937760"/>
            <a:ext cx="4919472" cy="548640"/>
          </a:xfrm>
          <a:prstGeom prst="rect">
            <a:avLst/>
          </a:prstGeom>
          <a:noFill/>
          <a:ln/>
        </p:spPr>
        <p:txBody>
          <a:bodyPr wrap="square" lIns="0" tIns="0" rIns="0" bIns="0" rtlCol="0" anchor="t"/>
          <a:lstStyle/>
          <a:p>
            <a:pPr marL="0" indent="0">
              <a:lnSpc>
                <a:spcPct val="106000"/>
              </a:lnSpc>
              <a:buNone/>
            </a:pPr>
            <a:r>
              <a:rPr lang="en-US" sz="1200" dirty="0">
                <a:solidFill>
                  <a:srgbClr val="D6E0EE"/>
                </a:solidFill>
                <a:latin typeface="Calibri" pitchFamily="34" charset="0"/>
                <a:ea typeface="Calibri" pitchFamily="34" charset="-122"/>
                <a:cs typeface="Calibri" pitchFamily="34" charset="-120"/>
              </a:rPr>
              <a:t>Práctica espaciada más recuperación repetida: la combinación con mayor respaldo empírico para la retención a largo plazo.</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29184"/>
            <a:ext cx="11055096" cy="256032"/>
          </a:xfrm>
          <a:prstGeom prst="rect">
            <a:avLst/>
          </a:prstGeom>
          <a:noFill/>
          <a:ln/>
        </p:spPr>
        <p:txBody>
          <a:bodyPr wrap="square" lIns="0" tIns="0" rIns="0" bIns="0" rtlCol="0" anchor="ctr"/>
          <a:lstStyle/>
          <a:p>
            <a:pPr marL="0" indent="0">
              <a:buNone/>
            </a:pPr>
            <a:r>
              <a:rPr lang="en-US" sz="1100" b="1" kern="0" spc="160" dirty="0">
                <a:solidFill>
                  <a:srgbClr val="2A9D8F"/>
                </a:solidFill>
                <a:latin typeface="Calibri" pitchFamily="34" charset="0"/>
                <a:ea typeface="Calibri" pitchFamily="34" charset="-122"/>
                <a:cs typeface="Calibri" pitchFamily="34" charset="-120"/>
              </a:rPr>
              <a:t>ACCESIBILIDAD</a:t>
            </a:r>
            <a:endParaRPr lang="en-US" sz="1100" dirty="0"/>
          </a:p>
        </p:txBody>
      </p:sp>
      <p:sp>
        <p:nvSpPr>
          <p:cNvPr id="3" name="Text 1"/>
          <p:cNvSpPr txBox="1"/>
          <p:nvPr/>
        </p:nvSpPr>
        <p:spPr>
          <a:xfrm>
            <a:off x="566928" y="603504"/>
            <a:ext cx="11055096" cy="749808"/>
          </a:xfrm>
          <a:prstGeom prst="rect">
            <a:avLst/>
          </a:prstGeom>
          <a:noFill/>
          <a:ln/>
        </p:spPr>
        <p:txBody>
          <a:bodyPr wrap="square" lIns="0" tIns="0" rIns="0" bIns="0" rtlCol="0" anchor="t"/>
          <a:lstStyle/>
          <a:p>
            <a:pPr marL="0" indent="0">
              <a:buNone/>
            </a:pPr>
            <a:r>
              <a:rPr lang="en-US" sz="2900" b="1" dirty="0">
                <a:solidFill>
                  <a:srgbClr val="1B2A4A"/>
                </a:solidFill>
                <a:latin typeface="Cambria" pitchFamily="34" charset="0"/>
                <a:ea typeface="Cambria" pitchFamily="34" charset="-122"/>
                <a:cs typeface="Cambria" pitchFamily="34" charset="-120"/>
              </a:rPr>
              <a:t>El DUA en microformato: tres decisiones de un minuto</a:t>
            </a:r>
            <a:endParaRPr lang="en-US" sz="2900" dirty="0"/>
          </a:p>
        </p:txBody>
      </p:sp>
      <p:sp>
        <p:nvSpPr>
          <p:cNvPr id="4" name="Text 2"/>
          <p:cNvSpPr txBox="1"/>
          <p:nvPr/>
        </p:nvSpPr>
        <p:spPr>
          <a:xfrm>
            <a:off x="566928" y="6428232"/>
            <a:ext cx="7863840" cy="256032"/>
          </a:xfrm>
          <a:prstGeom prst="rect">
            <a:avLst/>
          </a:prstGeom>
          <a:noFill/>
          <a:ln/>
        </p:spPr>
        <p:txBody>
          <a:bodyPr wrap="square" lIns="0" tIns="0" rIns="0" bIns="0" rtlCol="0" anchor="ctr"/>
          <a:lstStyle/>
          <a:p>
            <a:pPr marL="0" indent="0">
              <a:buNone/>
            </a:pPr>
            <a:r>
              <a:rPr lang="en-US" sz="900" dirty="0">
                <a:solidFill>
                  <a:srgbClr val="5B6B7B"/>
                </a:solidFill>
                <a:latin typeface="Calibri" pitchFamily="34" charset="0"/>
                <a:ea typeface="Calibri" pitchFamily="34" charset="-122"/>
                <a:cs typeface="Calibri" pitchFamily="34" charset="-120"/>
              </a:rPr>
              <a:t>Microaprendizaje para adultos  ·  Proyecto RUTA — Inter Ponce</a:t>
            </a:r>
            <a:endParaRPr lang="en-US" sz="900" dirty="0"/>
          </a:p>
        </p:txBody>
      </p:sp>
      <p:sp>
        <p:nvSpPr>
          <p:cNvPr id="5" name="Text 3"/>
          <p:cNvSpPr txBox="1"/>
          <p:nvPr/>
        </p:nvSpPr>
        <p:spPr>
          <a:xfrm>
            <a:off x="10972800" y="6428232"/>
            <a:ext cx="649224" cy="256032"/>
          </a:xfrm>
          <a:prstGeom prst="rect">
            <a:avLst/>
          </a:prstGeom>
          <a:noFill/>
          <a:ln/>
        </p:spPr>
        <p:txBody>
          <a:bodyPr wrap="square" lIns="0" tIns="0" rIns="0" bIns="0" rtlCol="0" anchor="ctr"/>
          <a:lstStyle/>
          <a:p>
            <a:pPr marL="0" indent="0" algn="r">
              <a:buNone/>
            </a:pPr>
            <a:r>
              <a:rPr lang="en-US" sz="900" dirty="0">
                <a:solidFill>
                  <a:srgbClr val="5B6B7B"/>
                </a:solidFill>
                <a:latin typeface="Calibri" pitchFamily="34" charset="0"/>
                <a:ea typeface="Calibri" pitchFamily="34" charset="-122"/>
                <a:cs typeface="Calibri" pitchFamily="34" charset="-120"/>
              </a:rPr>
              <a:t>23</a:t>
            </a:r>
            <a:endParaRPr lang="en-US" sz="900" dirty="0"/>
          </a:p>
        </p:txBody>
      </p:sp>
      <p:sp>
        <p:nvSpPr>
          <p:cNvPr id="6" name="Shape 4"/>
          <p:cNvSpPr/>
          <p:nvPr/>
        </p:nvSpPr>
        <p:spPr>
          <a:xfrm>
            <a:off x="566928" y="1627632"/>
            <a:ext cx="3502152" cy="3657600"/>
          </a:xfrm>
          <a:prstGeom prst="roundRect">
            <a:avLst>
              <a:gd name="adj" fmla="val 1044"/>
            </a:avLst>
          </a:prstGeom>
          <a:solidFill>
            <a:srgbClr val="F1F4F8"/>
          </a:solidFill>
          <a:ln w="12700">
            <a:solidFill>
              <a:srgbClr val="F1F4F8"/>
            </a:solidFill>
            <a:prstDash val="solid"/>
          </a:ln>
          <a:effectLst>
            <a:outerShdw blurRad="101600" dist="12700" dir="5400000" algn="bl" rotWithShape="0">
              <a:srgbClr val="9AA8B5">
                <a:alpha val="16000"/>
              </a:srgbClr>
            </a:outerShdw>
          </a:effectLst>
        </p:spPr>
      </p:sp>
      <p:sp>
        <p:nvSpPr>
          <p:cNvPr id="7" name="Shape 5"/>
          <p:cNvSpPr/>
          <p:nvPr/>
        </p:nvSpPr>
        <p:spPr>
          <a:xfrm>
            <a:off x="804672" y="1847088"/>
            <a:ext cx="420624" cy="420624"/>
          </a:xfrm>
          <a:prstGeom prst="ellipse">
            <a:avLst/>
          </a:prstGeom>
          <a:solidFill>
            <a:srgbClr val="1B2A4A"/>
          </a:solidFill>
          <a:ln w="12700">
            <a:solidFill>
              <a:srgbClr val="1B2A4A"/>
            </a:solidFill>
            <a:prstDash val="solid"/>
          </a:ln>
        </p:spPr>
      </p:sp>
      <p:sp>
        <p:nvSpPr>
          <p:cNvPr id="8" name="Text 6"/>
          <p:cNvSpPr txBox="1"/>
          <p:nvPr/>
        </p:nvSpPr>
        <p:spPr>
          <a:xfrm>
            <a:off x="804672" y="1847088"/>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7"/>
          <p:cNvSpPr txBox="1"/>
          <p:nvPr/>
        </p:nvSpPr>
        <p:spPr>
          <a:xfrm>
            <a:off x="804672" y="2414016"/>
            <a:ext cx="3026664" cy="566928"/>
          </a:xfrm>
          <a:prstGeom prst="rect">
            <a:avLst/>
          </a:prstGeom>
          <a:noFill/>
          <a:ln/>
        </p:spPr>
        <p:txBody>
          <a:bodyPr wrap="square" lIns="0" tIns="0" rIns="0" bIns="0" rtlCol="0" anchor="t"/>
          <a:lstStyle/>
          <a:p>
            <a:pPr marL="0" indent="0">
              <a:buNone/>
            </a:pPr>
            <a:r>
              <a:rPr lang="en-US" sz="1400" b="1" dirty="0">
                <a:solidFill>
                  <a:srgbClr val="1B2A4A"/>
                </a:solidFill>
                <a:latin typeface="Calibri" pitchFamily="34" charset="0"/>
                <a:ea typeface="Calibri" pitchFamily="34" charset="-122"/>
                <a:cs typeface="Calibri" pitchFamily="34" charset="-120"/>
              </a:rPr>
              <a:t>Múltiples formas de representación</a:t>
            </a:r>
            <a:endParaRPr lang="en-US" sz="1400" dirty="0"/>
          </a:p>
        </p:txBody>
      </p:sp>
      <p:sp>
        <p:nvSpPr>
          <p:cNvPr id="10" name="Text 8"/>
          <p:cNvSpPr txBox="1"/>
          <p:nvPr/>
        </p:nvSpPr>
        <p:spPr>
          <a:xfrm>
            <a:off x="841248" y="3035808"/>
            <a:ext cx="2990088" cy="2066544"/>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1F2933"/>
                </a:solidFill>
                <a:latin typeface="Calibri" pitchFamily="34" charset="0"/>
                <a:ea typeface="Calibri" pitchFamily="34" charset="-122"/>
                <a:cs typeface="Calibri" pitchFamily="34" charset="-120"/>
              </a:rPr>
              <a:t>Todo audio lleva texto; todo texto clave lleva apoyo visual.</a:t>
            </a:r>
            <a:endParaRPr lang="en-US" sz="1150" dirty="0"/>
          </a:p>
          <a:p>
            <a:pPr marL="342900" indent="-342900">
              <a:spcAft>
                <a:spcPts val="500"/>
              </a:spcAft>
              <a:buSzPct val="100000"/>
              <a:buChar char="•"/>
            </a:pPr>
            <a:r>
              <a:rPr lang="en-US" sz="1150" dirty="0">
                <a:solidFill>
                  <a:srgbClr val="1F2933"/>
                </a:solidFill>
                <a:latin typeface="Calibri" pitchFamily="34" charset="0"/>
                <a:ea typeface="Calibri" pitchFamily="34" charset="-122"/>
                <a:cs typeface="Calibri" pitchFamily="34" charset="-120"/>
              </a:rPr>
              <a:t>Vocabulario técnico definido en la misma pantalla.</a:t>
            </a:r>
            <a:endParaRPr lang="en-US" sz="1150" dirty="0"/>
          </a:p>
          <a:p>
            <a:pPr marL="342900" indent="-342900">
              <a:spcAft>
                <a:spcPts val="500"/>
              </a:spcAft>
              <a:buSzPct val="100000"/>
              <a:buChar char="•"/>
            </a:pPr>
            <a:r>
              <a:rPr lang="en-US" sz="1150" dirty="0">
                <a:solidFill>
                  <a:srgbClr val="1F2933"/>
                </a:solidFill>
                <a:latin typeface="Calibri" pitchFamily="34" charset="0"/>
                <a:ea typeface="Calibri" pitchFamily="34" charset="-122"/>
                <a:cs typeface="Calibri" pitchFamily="34" charset="-120"/>
              </a:rPr>
              <a:t>Contraste alto y tipografía de 14 puntos o más.</a:t>
            </a:r>
            <a:endParaRPr lang="en-US" sz="1150" dirty="0"/>
          </a:p>
        </p:txBody>
      </p:sp>
      <p:sp>
        <p:nvSpPr>
          <p:cNvPr id="11" name="Shape 9"/>
          <p:cNvSpPr/>
          <p:nvPr/>
        </p:nvSpPr>
        <p:spPr>
          <a:xfrm>
            <a:off x="4343400" y="1627632"/>
            <a:ext cx="3502152" cy="3657600"/>
          </a:xfrm>
          <a:prstGeom prst="roundRect">
            <a:avLst>
              <a:gd name="adj" fmla="val 1044"/>
            </a:avLst>
          </a:prstGeom>
          <a:solidFill>
            <a:srgbClr val="E7F2F0"/>
          </a:solidFill>
          <a:ln w="12700">
            <a:solidFill>
              <a:srgbClr val="E7F2F0"/>
            </a:solidFill>
            <a:prstDash val="solid"/>
          </a:ln>
          <a:effectLst>
            <a:outerShdw blurRad="101600" dist="12700" dir="5400000" algn="bl" rotWithShape="0">
              <a:srgbClr val="9AA8B5">
                <a:alpha val="16000"/>
              </a:srgbClr>
            </a:outerShdw>
          </a:effectLst>
        </p:spPr>
      </p:sp>
      <p:sp>
        <p:nvSpPr>
          <p:cNvPr id="12" name="Shape 10"/>
          <p:cNvSpPr/>
          <p:nvPr/>
        </p:nvSpPr>
        <p:spPr>
          <a:xfrm>
            <a:off x="4581144" y="1847088"/>
            <a:ext cx="420624" cy="420624"/>
          </a:xfrm>
          <a:prstGeom prst="ellipse">
            <a:avLst/>
          </a:prstGeom>
          <a:solidFill>
            <a:srgbClr val="2A9D8F"/>
          </a:solidFill>
          <a:ln w="12700">
            <a:solidFill>
              <a:srgbClr val="2A9D8F"/>
            </a:solidFill>
            <a:prstDash val="solid"/>
          </a:ln>
        </p:spPr>
      </p:sp>
      <p:sp>
        <p:nvSpPr>
          <p:cNvPr id="13" name="Text 11"/>
          <p:cNvSpPr txBox="1"/>
          <p:nvPr/>
        </p:nvSpPr>
        <p:spPr>
          <a:xfrm>
            <a:off x="4581144" y="1847088"/>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4" name="Text 12"/>
          <p:cNvSpPr txBox="1"/>
          <p:nvPr/>
        </p:nvSpPr>
        <p:spPr>
          <a:xfrm>
            <a:off x="4581144" y="2414016"/>
            <a:ext cx="3026664" cy="566928"/>
          </a:xfrm>
          <a:prstGeom prst="rect">
            <a:avLst/>
          </a:prstGeom>
          <a:noFill/>
          <a:ln/>
        </p:spPr>
        <p:txBody>
          <a:bodyPr wrap="square" lIns="0" tIns="0" rIns="0" bIns="0" rtlCol="0" anchor="t"/>
          <a:lstStyle/>
          <a:p>
            <a:pPr marL="0" indent="0">
              <a:buNone/>
            </a:pPr>
            <a:r>
              <a:rPr lang="en-US" sz="1400" b="1" dirty="0">
                <a:solidFill>
                  <a:srgbClr val="2A9D8F"/>
                </a:solidFill>
                <a:latin typeface="Calibri" pitchFamily="34" charset="0"/>
                <a:ea typeface="Calibri" pitchFamily="34" charset="-122"/>
                <a:cs typeface="Calibri" pitchFamily="34" charset="-120"/>
              </a:rPr>
              <a:t>Múltiples formas de acción y expresión</a:t>
            </a:r>
            <a:endParaRPr lang="en-US" sz="1400" dirty="0"/>
          </a:p>
        </p:txBody>
      </p:sp>
      <p:sp>
        <p:nvSpPr>
          <p:cNvPr id="15" name="Text 13"/>
          <p:cNvSpPr txBox="1"/>
          <p:nvPr/>
        </p:nvSpPr>
        <p:spPr>
          <a:xfrm>
            <a:off x="4617720" y="3035808"/>
            <a:ext cx="2990088" cy="2066544"/>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1F2933"/>
                </a:solidFill>
                <a:latin typeface="Calibri" pitchFamily="34" charset="0"/>
                <a:ea typeface="Calibri" pitchFamily="34" charset="-122"/>
                <a:cs typeface="Calibri" pitchFamily="34" charset="-120"/>
              </a:rPr>
              <a:t>La práctica admite respuesta escrita, oral o demostrada.</a:t>
            </a:r>
            <a:endParaRPr lang="en-US" sz="1150" dirty="0"/>
          </a:p>
          <a:p>
            <a:pPr marL="342900" indent="-342900">
              <a:spcAft>
                <a:spcPts val="500"/>
              </a:spcAft>
              <a:buSzPct val="100000"/>
              <a:buChar char="•"/>
            </a:pPr>
            <a:r>
              <a:rPr lang="en-US" sz="1150" dirty="0">
                <a:solidFill>
                  <a:srgbClr val="1F2933"/>
                </a:solidFill>
                <a:latin typeface="Calibri" pitchFamily="34" charset="0"/>
                <a:ea typeface="Calibri" pitchFamily="34" charset="-122"/>
                <a:cs typeface="Calibri" pitchFamily="34" charset="-120"/>
              </a:rPr>
              <a:t>Se permite usar apuntes, calculadora o diccionario si la competencia no los excluye.</a:t>
            </a:r>
            <a:endParaRPr lang="en-US" sz="1150" dirty="0"/>
          </a:p>
          <a:p>
            <a:pPr marL="342900" indent="-342900">
              <a:spcAft>
                <a:spcPts val="500"/>
              </a:spcAft>
              <a:buSzPct val="100000"/>
              <a:buChar char="•"/>
            </a:pPr>
            <a:r>
              <a:rPr lang="en-US" sz="1150" dirty="0">
                <a:solidFill>
                  <a:srgbClr val="1F2933"/>
                </a:solidFill>
                <a:latin typeface="Calibri" pitchFamily="34" charset="0"/>
                <a:ea typeface="Calibri" pitchFamily="34" charset="-122"/>
                <a:cs typeface="Calibri" pitchFamily="34" charset="-120"/>
              </a:rPr>
              <a:t>Hay una vía sin conexión para quien no tiene datos.</a:t>
            </a:r>
            <a:endParaRPr lang="en-US" sz="1150" dirty="0"/>
          </a:p>
        </p:txBody>
      </p:sp>
      <p:sp>
        <p:nvSpPr>
          <p:cNvPr id="16" name="Shape 14"/>
          <p:cNvSpPr/>
          <p:nvPr/>
        </p:nvSpPr>
        <p:spPr>
          <a:xfrm>
            <a:off x="8119872" y="1627632"/>
            <a:ext cx="3502152" cy="3657600"/>
          </a:xfrm>
          <a:prstGeom prst="roundRect">
            <a:avLst>
              <a:gd name="adj" fmla="val 1044"/>
            </a:avLst>
          </a:prstGeom>
          <a:solidFill>
            <a:srgbClr val="FAF3E0"/>
          </a:solidFill>
          <a:ln w="12700">
            <a:solidFill>
              <a:srgbClr val="FAF3E0"/>
            </a:solidFill>
            <a:prstDash val="solid"/>
          </a:ln>
          <a:effectLst>
            <a:outerShdw blurRad="101600" dist="12700" dir="5400000" algn="bl" rotWithShape="0">
              <a:srgbClr val="9AA8B5">
                <a:alpha val="16000"/>
              </a:srgbClr>
            </a:outerShdw>
          </a:effectLst>
        </p:spPr>
      </p:sp>
      <p:sp>
        <p:nvSpPr>
          <p:cNvPr id="17" name="Shape 15"/>
          <p:cNvSpPr/>
          <p:nvPr/>
        </p:nvSpPr>
        <p:spPr>
          <a:xfrm>
            <a:off x="8357616" y="1847088"/>
            <a:ext cx="420624" cy="420624"/>
          </a:xfrm>
          <a:prstGeom prst="ellipse">
            <a:avLst/>
          </a:prstGeom>
          <a:solidFill>
            <a:srgbClr val="C9A227"/>
          </a:solidFill>
          <a:ln w="12700">
            <a:solidFill>
              <a:srgbClr val="C9A227"/>
            </a:solidFill>
            <a:prstDash val="solid"/>
          </a:ln>
        </p:spPr>
      </p:sp>
      <p:sp>
        <p:nvSpPr>
          <p:cNvPr id="18" name="Text 16"/>
          <p:cNvSpPr txBox="1"/>
          <p:nvPr/>
        </p:nvSpPr>
        <p:spPr>
          <a:xfrm>
            <a:off x="8357616" y="1847088"/>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7"/>
          <p:cNvSpPr txBox="1"/>
          <p:nvPr/>
        </p:nvSpPr>
        <p:spPr>
          <a:xfrm>
            <a:off x="8357616" y="2414016"/>
            <a:ext cx="3026664" cy="566928"/>
          </a:xfrm>
          <a:prstGeom prst="rect">
            <a:avLst/>
          </a:prstGeom>
          <a:noFill/>
          <a:ln/>
        </p:spPr>
        <p:txBody>
          <a:bodyPr wrap="square" lIns="0" tIns="0" rIns="0" bIns="0" rtlCol="0" anchor="t"/>
          <a:lstStyle/>
          <a:p>
            <a:pPr marL="0" indent="0">
              <a:buNone/>
            </a:pPr>
            <a:r>
              <a:rPr lang="en-US" sz="1400" b="1" dirty="0">
                <a:solidFill>
                  <a:srgbClr val="C9A227"/>
                </a:solidFill>
                <a:latin typeface="Calibri" pitchFamily="34" charset="0"/>
                <a:ea typeface="Calibri" pitchFamily="34" charset="-122"/>
                <a:cs typeface="Calibri" pitchFamily="34" charset="-120"/>
              </a:rPr>
              <a:t>Múltiples formas de participación</a:t>
            </a:r>
            <a:endParaRPr lang="en-US" sz="1400" dirty="0"/>
          </a:p>
        </p:txBody>
      </p:sp>
      <p:sp>
        <p:nvSpPr>
          <p:cNvPr id="20" name="Text 18"/>
          <p:cNvSpPr txBox="1"/>
          <p:nvPr/>
        </p:nvSpPr>
        <p:spPr>
          <a:xfrm>
            <a:off x="8394192" y="3035808"/>
            <a:ext cx="2990088" cy="2066544"/>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1F2933"/>
                </a:solidFill>
                <a:latin typeface="Calibri" pitchFamily="34" charset="0"/>
                <a:ea typeface="Calibri" pitchFamily="34" charset="-122"/>
                <a:cs typeface="Calibri" pitchFamily="34" charset="-120"/>
              </a:rPr>
              <a:t>El gancho conecta con una situación de la vida adulta del participante.</a:t>
            </a:r>
            <a:endParaRPr lang="en-US" sz="1150" dirty="0"/>
          </a:p>
          <a:p>
            <a:pPr marL="342900" indent="-342900">
              <a:spcAft>
                <a:spcPts val="500"/>
              </a:spcAft>
              <a:buSzPct val="100000"/>
              <a:buChar char="•"/>
            </a:pPr>
            <a:r>
              <a:rPr lang="en-US" sz="1150" dirty="0">
                <a:solidFill>
                  <a:srgbClr val="1F2933"/>
                </a:solidFill>
                <a:latin typeface="Calibri" pitchFamily="34" charset="0"/>
                <a:ea typeface="Calibri" pitchFamily="34" charset="-122"/>
                <a:cs typeface="Calibri" pitchFamily="34" charset="-120"/>
              </a:rPr>
              <a:t>El criterio de logro se declara desde el inicio.</a:t>
            </a:r>
            <a:endParaRPr lang="en-US" sz="1150" dirty="0"/>
          </a:p>
          <a:p>
            <a:pPr marL="342900" indent="-342900">
              <a:spcAft>
                <a:spcPts val="500"/>
              </a:spcAft>
              <a:buSzPct val="100000"/>
              <a:buChar char="•"/>
            </a:pPr>
            <a:r>
              <a:rPr lang="en-US" sz="1150" dirty="0">
                <a:solidFill>
                  <a:srgbClr val="1F2933"/>
                </a:solidFill>
                <a:latin typeface="Calibri" pitchFamily="34" charset="0"/>
                <a:ea typeface="Calibri" pitchFamily="34" charset="-122"/>
                <a:cs typeface="Calibri" pitchFamily="34" charset="-120"/>
              </a:rPr>
              <a:t>Se puede repetir la cápsula sin penalidad.</a:t>
            </a:r>
            <a:endParaRPr lang="en-US" sz="1150" dirty="0"/>
          </a:p>
        </p:txBody>
      </p:sp>
      <p:sp>
        <p:nvSpPr>
          <p:cNvPr id="21" name="Text 19"/>
          <p:cNvSpPr txBox="1"/>
          <p:nvPr/>
        </p:nvSpPr>
        <p:spPr>
          <a:xfrm>
            <a:off x="566928" y="5449824"/>
            <a:ext cx="11055096" cy="274320"/>
          </a:xfrm>
          <a:prstGeom prst="rect">
            <a:avLst/>
          </a:prstGeom>
          <a:noFill/>
          <a:ln/>
        </p:spPr>
        <p:txBody>
          <a:bodyPr wrap="square" lIns="0" tIns="0" rIns="0" bIns="0" rtlCol="0" anchor="ctr"/>
          <a:lstStyle/>
          <a:p>
            <a:pPr marL="0" indent="0">
              <a:buNone/>
            </a:pPr>
            <a:r>
              <a:rPr lang="en-US" sz="1100" i="1" dirty="0">
                <a:solidFill>
                  <a:srgbClr val="5B6B7B"/>
                </a:solidFill>
                <a:latin typeface="Calibri" pitchFamily="34" charset="0"/>
                <a:ea typeface="Calibri" pitchFamily="34" charset="-122"/>
                <a:cs typeface="Calibri" pitchFamily="34" charset="-120"/>
              </a:rPr>
              <a:t>Marco de referencia: CAST (2024), Pautas del Diseño Universal para el Aprendizaje, versión 3.0.</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29184"/>
            <a:ext cx="11055096" cy="256032"/>
          </a:xfrm>
          <a:prstGeom prst="rect">
            <a:avLst/>
          </a:prstGeom>
          <a:noFill/>
          <a:ln/>
        </p:spPr>
        <p:txBody>
          <a:bodyPr wrap="square" lIns="0" tIns="0" rIns="0" bIns="0" rtlCol="0" anchor="ctr"/>
          <a:lstStyle/>
          <a:p>
            <a:pPr marL="0" indent="0">
              <a:buNone/>
            </a:pPr>
            <a:r>
              <a:rPr lang="en-US" sz="1100" b="1" kern="0" spc="160" dirty="0">
                <a:solidFill>
                  <a:srgbClr val="2A9D8F"/>
                </a:solidFill>
                <a:latin typeface="Calibri" pitchFamily="34" charset="0"/>
                <a:ea typeface="Calibri" pitchFamily="34" charset="-122"/>
                <a:cs typeface="Calibri" pitchFamily="34" charset="-120"/>
              </a:rPr>
              <a:t>PLANTILLA A</a:t>
            </a:r>
            <a:endParaRPr lang="en-US" sz="1100" dirty="0"/>
          </a:p>
        </p:txBody>
      </p:sp>
      <p:sp>
        <p:nvSpPr>
          <p:cNvPr id="3" name="Text 1"/>
          <p:cNvSpPr txBox="1"/>
          <p:nvPr/>
        </p:nvSpPr>
        <p:spPr>
          <a:xfrm>
            <a:off x="566928" y="603504"/>
            <a:ext cx="11055096" cy="749808"/>
          </a:xfrm>
          <a:prstGeom prst="rect">
            <a:avLst/>
          </a:prstGeom>
          <a:noFill/>
          <a:ln/>
        </p:spPr>
        <p:txBody>
          <a:bodyPr wrap="square" lIns="0" tIns="0" rIns="0" bIns="0" rtlCol="0" anchor="t"/>
          <a:lstStyle/>
          <a:p>
            <a:pPr marL="0" indent="0">
              <a:buNone/>
            </a:pPr>
            <a:r>
              <a:rPr lang="en-US" sz="2900" b="1" dirty="0">
                <a:solidFill>
                  <a:srgbClr val="1B2A4A"/>
                </a:solidFill>
                <a:latin typeface="Cambria" pitchFamily="34" charset="0"/>
                <a:ea typeface="Cambria" pitchFamily="34" charset="-122"/>
                <a:cs typeface="Cambria" pitchFamily="34" charset="-120"/>
              </a:rPr>
              <a:t>Diseño de cápsula educativa  —  hoja de trabajo</a:t>
            </a:r>
            <a:endParaRPr lang="en-US" sz="2900" dirty="0"/>
          </a:p>
        </p:txBody>
      </p:sp>
      <p:sp>
        <p:nvSpPr>
          <p:cNvPr id="4" name="Text 2"/>
          <p:cNvSpPr txBox="1"/>
          <p:nvPr/>
        </p:nvSpPr>
        <p:spPr>
          <a:xfrm>
            <a:off x="566928" y="6428232"/>
            <a:ext cx="7863840" cy="256032"/>
          </a:xfrm>
          <a:prstGeom prst="rect">
            <a:avLst/>
          </a:prstGeom>
          <a:noFill/>
          <a:ln/>
        </p:spPr>
        <p:txBody>
          <a:bodyPr wrap="square" lIns="0" tIns="0" rIns="0" bIns="0" rtlCol="0" anchor="ctr"/>
          <a:lstStyle/>
          <a:p>
            <a:pPr marL="0" indent="0">
              <a:buNone/>
            </a:pPr>
            <a:r>
              <a:rPr lang="en-US" sz="900" dirty="0">
                <a:solidFill>
                  <a:srgbClr val="5B6B7B"/>
                </a:solidFill>
                <a:latin typeface="Calibri" pitchFamily="34" charset="0"/>
                <a:ea typeface="Calibri" pitchFamily="34" charset="-122"/>
                <a:cs typeface="Calibri" pitchFamily="34" charset="-120"/>
              </a:rPr>
              <a:t>Microaprendizaje para adultos  ·  Proyecto RUTA — Inter Ponce</a:t>
            </a:r>
            <a:endParaRPr lang="en-US" sz="900" dirty="0"/>
          </a:p>
        </p:txBody>
      </p:sp>
      <p:sp>
        <p:nvSpPr>
          <p:cNvPr id="5" name="Text 3"/>
          <p:cNvSpPr txBox="1"/>
          <p:nvPr/>
        </p:nvSpPr>
        <p:spPr>
          <a:xfrm>
            <a:off x="10972800" y="6428232"/>
            <a:ext cx="649224" cy="256032"/>
          </a:xfrm>
          <a:prstGeom prst="rect">
            <a:avLst/>
          </a:prstGeom>
          <a:noFill/>
          <a:ln/>
        </p:spPr>
        <p:txBody>
          <a:bodyPr wrap="square" lIns="0" tIns="0" rIns="0" bIns="0" rtlCol="0" anchor="ctr"/>
          <a:lstStyle/>
          <a:p>
            <a:pPr marL="0" indent="0" algn="r">
              <a:buNone/>
            </a:pPr>
            <a:r>
              <a:rPr lang="en-US" sz="900" dirty="0">
                <a:solidFill>
                  <a:srgbClr val="5B6B7B"/>
                </a:solidFill>
                <a:latin typeface="Calibri" pitchFamily="34" charset="0"/>
                <a:ea typeface="Calibri" pitchFamily="34" charset="-122"/>
                <a:cs typeface="Calibri" pitchFamily="34" charset="-120"/>
              </a:rPr>
              <a:t>24</a:t>
            </a:r>
            <a:endParaRPr lang="en-US" sz="9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66928" y="1536192"/>
          <a:ext cx="11055096" cy="914400"/>
        </p:xfrm>
        <a:graphic>
          <a:graphicData uri="http://schemas.openxmlformats.org/drawingml/2006/table">
            <a:tbl>
              <a:tblPr/>
              <a:tblGrid>
                <a:gridCol w="2331720">
                  <a:extLst>
                    <a:ext uri="{9D8B030D-6E8A-4147-A177-3AD203B41FA5}">
                      <a16:colId xmlns:a16="http://schemas.microsoft.com/office/drawing/2014/main" val="20000"/>
                    </a:ext>
                  </a:extLst>
                </a:gridCol>
                <a:gridCol w="4974336">
                  <a:extLst>
                    <a:ext uri="{9D8B030D-6E8A-4147-A177-3AD203B41FA5}">
                      <a16:colId xmlns:a16="http://schemas.microsoft.com/office/drawing/2014/main" val="20001"/>
                    </a:ext>
                  </a:extLst>
                </a:gridCol>
                <a:gridCol w="3749040">
                  <a:extLst>
                    <a:ext uri="{9D8B030D-6E8A-4147-A177-3AD203B41FA5}">
                      <a16:colId xmlns:a16="http://schemas.microsoft.com/office/drawing/2014/main" val="20002"/>
                    </a:ext>
                  </a:extLst>
                </a:gridCol>
              </a:tblGrid>
              <a:tr h="342900">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Campo</a:t>
                      </a:r>
                      <a:endParaRPr lang="en-US" sz="110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1B2A4A"/>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Qué se escribe</a:t>
                      </a:r>
                      <a:endParaRPr lang="en-US" sz="110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1B2A4A"/>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Su cápsula</a:t>
                      </a:r>
                      <a:endParaRPr lang="en-US" sz="110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342900">
                <a:tc>
                  <a:txBody>
                    <a:bodyPr/>
                    <a:lstStyle/>
                    <a:p>
                      <a:pPr marL="0" indent="0">
                        <a:buNone/>
                      </a:pPr>
                      <a:r>
                        <a:rPr lang="en-US" sz="1050" b="1" dirty="0">
                          <a:solidFill>
                            <a:srgbClr val="1F2933"/>
                          </a:solidFill>
                          <a:latin typeface="Calibri" pitchFamily="34" charset="0"/>
                          <a:ea typeface="Calibri" pitchFamily="34" charset="-122"/>
                          <a:cs typeface="Calibri" pitchFamily="34" charset="-120"/>
                        </a:rPr>
                        <a:t>Programa y grupo</a:t>
                      </a:r>
                      <a:endParaRPr lang="en-US" sz="10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Curso, nivel y número aproximado de participantes.</a:t>
                      </a:r>
                      <a:endParaRPr lang="en-US" sz="10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FFFFF"/>
                    </a:solidFill>
                  </a:tcPr>
                </a:tc>
                <a:tc>
                  <a:txBody>
                    <a:bodyPr/>
                    <a:lstStyle/>
                    <a:p>
                      <a:pPr marL="0" indent="0">
                        <a:buNone/>
                      </a:pPr>
                      <a:endParaRPr lang="en-US" sz="10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42900">
                <a:tc>
                  <a:txBody>
                    <a:bodyPr/>
                    <a:lstStyle/>
                    <a:p>
                      <a:pPr marL="0" indent="0">
                        <a:buNone/>
                      </a:pPr>
                      <a:r>
                        <a:rPr lang="en-US" sz="1050" b="1" dirty="0">
                          <a:solidFill>
                            <a:srgbClr val="1F2933"/>
                          </a:solidFill>
                          <a:latin typeface="Calibri" pitchFamily="34" charset="0"/>
                          <a:ea typeface="Calibri" pitchFamily="34" charset="-122"/>
                          <a:cs typeface="Calibri" pitchFamily="34" charset="-120"/>
                        </a:rPr>
                        <a:t>Función de la microunidad</a:t>
                      </a:r>
                      <a:endParaRPr lang="en-US" sz="10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1F4F8"/>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Preparatoria, de práctica, posinstruccional, de desempeño, reflexiva o persuasiva.</a:t>
                      </a:r>
                      <a:endParaRPr lang="en-US" sz="10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1F4F8"/>
                    </a:solidFill>
                  </a:tcPr>
                </a:tc>
                <a:tc>
                  <a:txBody>
                    <a:bodyPr/>
                    <a:lstStyle/>
                    <a:p>
                      <a:pPr marL="0" indent="0">
                        <a:buNone/>
                      </a:pPr>
                      <a:endParaRPr lang="en-US" sz="10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1F4F8"/>
                    </a:solidFill>
                  </a:tcPr>
                </a:tc>
                <a:extLst>
                  <a:ext uri="{0D108BD9-81ED-4DB2-BD59-A6C34878D82A}">
                    <a16:rowId xmlns:a16="http://schemas.microsoft.com/office/drawing/2014/main" val="10002"/>
                  </a:ext>
                </a:extLst>
              </a:tr>
              <a:tr h="342900">
                <a:tc>
                  <a:txBody>
                    <a:bodyPr/>
                    <a:lstStyle/>
                    <a:p>
                      <a:pPr marL="0" indent="0">
                        <a:buNone/>
                      </a:pPr>
                      <a:r>
                        <a:rPr lang="en-US" sz="1050" b="1" dirty="0">
                          <a:solidFill>
                            <a:srgbClr val="1F2933"/>
                          </a:solidFill>
                          <a:latin typeface="Calibri" pitchFamily="34" charset="0"/>
                          <a:ea typeface="Calibri" pitchFamily="34" charset="-122"/>
                          <a:cs typeface="Calibri" pitchFamily="34" charset="-120"/>
                        </a:rPr>
                        <a:t>Competencia observable</a:t>
                      </a:r>
                      <a:endParaRPr lang="en-US" sz="10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Condición + verbo observable + objeto + criterio de logro.</a:t>
                      </a:r>
                      <a:endParaRPr lang="en-US" sz="10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FFFFF"/>
                    </a:solidFill>
                  </a:tcPr>
                </a:tc>
                <a:tc>
                  <a:txBody>
                    <a:bodyPr/>
                    <a:lstStyle/>
                    <a:p>
                      <a:pPr marL="0" indent="0">
                        <a:buNone/>
                      </a:pPr>
                      <a:endParaRPr lang="en-US" sz="10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42900">
                <a:tc>
                  <a:txBody>
                    <a:bodyPr/>
                    <a:lstStyle/>
                    <a:p>
                      <a:pPr marL="0" indent="0">
                        <a:buNone/>
                      </a:pPr>
                      <a:r>
                        <a:rPr lang="en-US" sz="1050" b="1" dirty="0">
                          <a:solidFill>
                            <a:srgbClr val="1F2933"/>
                          </a:solidFill>
                          <a:latin typeface="Calibri" pitchFamily="34" charset="0"/>
                          <a:ea typeface="Calibri" pitchFamily="34" charset="-122"/>
                          <a:cs typeface="Calibri" pitchFamily="34" charset="-120"/>
                        </a:rPr>
                        <a:t>Formato dominante</a:t>
                      </a:r>
                      <a:endParaRPr lang="en-US" sz="10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1F4F8"/>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Cápsula escrita, video breve o guía visual (uno solo).</a:t>
                      </a:r>
                      <a:endParaRPr lang="en-US" sz="10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1F4F8"/>
                    </a:solidFill>
                  </a:tcPr>
                </a:tc>
                <a:tc>
                  <a:txBody>
                    <a:bodyPr/>
                    <a:lstStyle/>
                    <a:p>
                      <a:pPr marL="0" indent="0">
                        <a:buNone/>
                      </a:pPr>
                      <a:endParaRPr lang="en-US" sz="10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1F4F8"/>
                    </a:solidFill>
                  </a:tcPr>
                </a:tc>
                <a:extLst>
                  <a:ext uri="{0D108BD9-81ED-4DB2-BD59-A6C34878D82A}">
                    <a16:rowId xmlns:a16="http://schemas.microsoft.com/office/drawing/2014/main" val="10004"/>
                  </a:ext>
                </a:extLst>
              </a:tr>
              <a:tr h="342900">
                <a:tc>
                  <a:txBody>
                    <a:bodyPr/>
                    <a:lstStyle/>
                    <a:p>
                      <a:pPr marL="0" indent="0">
                        <a:buNone/>
                      </a:pPr>
                      <a:r>
                        <a:rPr lang="en-US" sz="1050" b="1" dirty="0">
                          <a:solidFill>
                            <a:srgbClr val="1F2933"/>
                          </a:solidFill>
                          <a:latin typeface="Calibri" pitchFamily="34" charset="0"/>
                          <a:ea typeface="Calibri" pitchFamily="34" charset="-122"/>
                          <a:cs typeface="Calibri" pitchFamily="34" charset="-120"/>
                        </a:rPr>
                        <a:t>Duración total</a:t>
                      </a:r>
                      <a:endParaRPr lang="en-US" sz="10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5, 10 o 15 minutos.</a:t>
                      </a:r>
                      <a:endParaRPr lang="en-US" sz="10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FFFFF"/>
                    </a:solidFill>
                  </a:tcPr>
                </a:tc>
                <a:tc>
                  <a:txBody>
                    <a:bodyPr/>
                    <a:lstStyle/>
                    <a:p>
                      <a:pPr marL="0" indent="0">
                        <a:buNone/>
                      </a:pPr>
                      <a:endParaRPr lang="en-US" sz="10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42900">
                <a:tc>
                  <a:txBody>
                    <a:bodyPr/>
                    <a:lstStyle/>
                    <a:p>
                      <a:pPr marL="0" indent="0">
                        <a:buNone/>
                      </a:pPr>
                      <a:r>
                        <a:rPr lang="en-US" sz="1050" b="1" dirty="0">
                          <a:solidFill>
                            <a:srgbClr val="1F2933"/>
                          </a:solidFill>
                          <a:latin typeface="Calibri" pitchFamily="34" charset="0"/>
                          <a:ea typeface="Calibri" pitchFamily="34" charset="-122"/>
                          <a:cs typeface="Calibri" pitchFamily="34" charset="-120"/>
                        </a:rPr>
                        <a:t>Gancho</a:t>
                      </a:r>
                      <a:endParaRPr lang="en-US" sz="10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1F4F8"/>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Situación, pregunta o dato de arranque.</a:t>
                      </a:r>
                      <a:endParaRPr lang="en-US" sz="10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1F4F8"/>
                    </a:solidFill>
                  </a:tcPr>
                </a:tc>
                <a:tc>
                  <a:txBody>
                    <a:bodyPr/>
                    <a:lstStyle/>
                    <a:p>
                      <a:pPr marL="0" indent="0">
                        <a:buNone/>
                      </a:pPr>
                      <a:endParaRPr lang="en-US" sz="10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1F4F8"/>
                    </a:solidFill>
                  </a:tcPr>
                </a:tc>
                <a:extLst>
                  <a:ext uri="{0D108BD9-81ED-4DB2-BD59-A6C34878D82A}">
                    <a16:rowId xmlns:a16="http://schemas.microsoft.com/office/drawing/2014/main" val="10006"/>
                  </a:ext>
                </a:extLst>
              </a:tr>
              <a:tr h="342900">
                <a:tc>
                  <a:txBody>
                    <a:bodyPr/>
                    <a:lstStyle/>
                    <a:p>
                      <a:pPr marL="0" indent="0">
                        <a:buNone/>
                      </a:pPr>
                      <a:r>
                        <a:rPr lang="en-US" sz="1050" b="1" dirty="0">
                          <a:solidFill>
                            <a:srgbClr val="1F2933"/>
                          </a:solidFill>
                          <a:latin typeface="Calibri" pitchFamily="34" charset="0"/>
                          <a:ea typeface="Calibri" pitchFamily="34" charset="-122"/>
                          <a:cs typeface="Calibri" pitchFamily="34" charset="-120"/>
                        </a:rPr>
                        <a:t>Núcleo</a:t>
                      </a:r>
                      <a:endParaRPr lang="en-US" sz="10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Contenido mínimo indispensable para la práctica.</a:t>
                      </a:r>
                      <a:endParaRPr lang="en-US" sz="10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FFFFF"/>
                    </a:solidFill>
                  </a:tcPr>
                </a:tc>
                <a:tc>
                  <a:txBody>
                    <a:bodyPr/>
                    <a:lstStyle/>
                    <a:p>
                      <a:pPr marL="0" indent="0">
                        <a:buNone/>
                      </a:pPr>
                      <a:endParaRPr lang="en-US" sz="10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42900">
                <a:tc>
                  <a:txBody>
                    <a:bodyPr/>
                    <a:lstStyle/>
                    <a:p>
                      <a:pPr marL="0" indent="0">
                        <a:buNone/>
                      </a:pPr>
                      <a:r>
                        <a:rPr lang="en-US" sz="1050" b="1" dirty="0">
                          <a:solidFill>
                            <a:srgbClr val="1F2933"/>
                          </a:solidFill>
                          <a:latin typeface="Calibri" pitchFamily="34" charset="0"/>
                          <a:ea typeface="Calibri" pitchFamily="34" charset="-122"/>
                          <a:cs typeface="Calibri" pitchFamily="34" charset="-120"/>
                        </a:rPr>
                        <a:t>Modelado</a:t>
                      </a:r>
                      <a:endParaRPr lang="en-US" sz="10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1F4F8"/>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Procedimiento mostrado paso a paso.</a:t>
                      </a:r>
                      <a:endParaRPr lang="en-US" sz="10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1F4F8"/>
                    </a:solidFill>
                  </a:tcPr>
                </a:tc>
                <a:tc>
                  <a:txBody>
                    <a:bodyPr/>
                    <a:lstStyle/>
                    <a:p>
                      <a:pPr marL="0" indent="0">
                        <a:buNone/>
                      </a:pPr>
                      <a:endParaRPr lang="en-US" sz="10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1F4F8"/>
                    </a:solidFill>
                  </a:tcPr>
                </a:tc>
                <a:extLst>
                  <a:ext uri="{0D108BD9-81ED-4DB2-BD59-A6C34878D82A}">
                    <a16:rowId xmlns:a16="http://schemas.microsoft.com/office/drawing/2014/main" val="10008"/>
                  </a:ext>
                </a:extLst>
              </a:tr>
              <a:tr h="342900">
                <a:tc>
                  <a:txBody>
                    <a:bodyPr/>
                    <a:lstStyle/>
                    <a:p>
                      <a:pPr marL="0" indent="0">
                        <a:buNone/>
                      </a:pPr>
                      <a:r>
                        <a:rPr lang="en-US" sz="1050" b="1" dirty="0">
                          <a:solidFill>
                            <a:srgbClr val="1F2933"/>
                          </a:solidFill>
                          <a:latin typeface="Calibri" pitchFamily="34" charset="0"/>
                          <a:ea typeface="Calibri" pitchFamily="34" charset="-122"/>
                          <a:cs typeface="Calibri" pitchFamily="34" charset="-120"/>
                        </a:rPr>
                        <a:t>Práctica inmediata</a:t>
                      </a:r>
                      <a:endParaRPr lang="en-US" sz="10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Tarea que el participante ejecuta durante la cápsula.</a:t>
                      </a:r>
                      <a:endParaRPr lang="en-US" sz="10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FFFFF"/>
                    </a:solidFill>
                  </a:tcPr>
                </a:tc>
                <a:tc>
                  <a:txBody>
                    <a:bodyPr/>
                    <a:lstStyle/>
                    <a:p>
                      <a:pPr marL="0" indent="0">
                        <a:buNone/>
                      </a:pPr>
                      <a:endParaRPr lang="en-US" sz="10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42900">
                <a:tc>
                  <a:txBody>
                    <a:bodyPr/>
                    <a:lstStyle/>
                    <a:p>
                      <a:pPr marL="0" indent="0">
                        <a:buNone/>
                      </a:pPr>
                      <a:r>
                        <a:rPr lang="en-US" sz="1050" b="1" dirty="0">
                          <a:solidFill>
                            <a:srgbClr val="1F2933"/>
                          </a:solidFill>
                          <a:latin typeface="Calibri" pitchFamily="34" charset="0"/>
                          <a:ea typeface="Calibri" pitchFamily="34" charset="-122"/>
                          <a:cs typeface="Calibri" pitchFamily="34" charset="-120"/>
                        </a:rPr>
                        <a:t>Microevaluación</a:t>
                      </a:r>
                      <a:endParaRPr lang="en-US" sz="10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1F4F8"/>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Formato del chequeo y criterio de aprobación (70 %).</a:t>
                      </a:r>
                      <a:endParaRPr lang="en-US" sz="10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1F4F8"/>
                    </a:solidFill>
                  </a:tcPr>
                </a:tc>
                <a:tc>
                  <a:txBody>
                    <a:bodyPr/>
                    <a:lstStyle/>
                    <a:p>
                      <a:pPr marL="0" indent="0">
                        <a:buNone/>
                      </a:pPr>
                      <a:endParaRPr lang="en-US" sz="10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1F4F8"/>
                    </a:solidFill>
                  </a:tcPr>
                </a:tc>
                <a:extLst>
                  <a:ext uri="{0D108BD9-81ED-4DB2-BD59-A6C34878D82A}">
                    <a16:rowId xmlns:a16="http://schemas.microsoft.com/office/drawing/2014/main" val="10010"/>
                  </a:ext>
                </a:extLst>
              </a:tr>
              <a:tr h="342900">
                <a:tc>
                  <a:txBody>
                    <a:bodyPr/>
                    <a:lstStyle/>
                    <a:p>
                      <a:pPr marL="0" indent="0">
                        <a:buNone/>
                      </a:pPr>
                      <a:r>
                        <a:rPr lang="en-US" sz="1050" b="1" dirty="0">
                          <a:solidFill>
                            <a:srgbClr val="1F2933"/>
                          </a:solidFill>
                          <a:latin typeface="Calibri" pitchFamily="34" charset="0"/>
                          <a:ea typeface="Calibri" pitchFamily="34" charset="-122"/>
                          <a:cs typeface="Calibri" pitchFamily="34" charset="-120"/>
                        </a:rPr>
                        <a:t>Decisiones DUA</a:t>
                      </a:r>
                      <a:endParaRPr lang="en-US" sz="10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Una por cada principio: representación, expresión, participación.</a:t>
                      </a:r>
                      <a:endParaRPr lang="en-US" sz="10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FFFFF"/>
                    </a:solidFill>
                  </a:tcPr>
                </a:tc>
                <a:tc>
                  <a:txBody>
                    <a:bodyPr/>
                    <a:lstStyle/>
                    <a:p>
                      <a:pPr marL="0" indent="0">
                        <a:buNone/>
                      </a:pPr>
                      <a:endParaRPr lang="en-US" sz="10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342900">
                <a:tc>
                  <a:txBody>
                    <a:bodyPr/>
                    <a:lstStyle/>
                    <a:p>
                      <a:pPr marL="0" indent="0">
                        <a:buNone/>
                      </a:pPr>
                      <a:r>
                        <a:rPr lang="en-US" sz="1050" b="1" dirty="0">
                          <a:solidFill>
                            <a:srgbClr val="1F2933"/>
                          </a:solidFill>
                          <a:latin typeface="Calibri" pitchFamily="34" charset="0"/>
                          <a:ea typeface="Calibri" pitchFamily="34" charset="-122"/>
                          <a:cs typeface="Calibri" pitchFamily="34" charset="-120"/>
                        </a:rPr>
                        <a:t>Lugar en la ruta</a:t>
                      </a:r>
                      <a:endParaRPr lang="en-US" sz="10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1F4F8"/>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Qué cápsula la antecede y cuál la sigue; días de espaciamiento.</a:t>
                      </a:r>
                      <a:endParaRPr lang="en-US" sz="10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1F4F8"/>
                    </a:solidFill>
                  </a:tcPr>
                </a:tc>
                <a:tc>
                  <a:txBody>
                    <a:bodyPr/>
                    <a:lstStyle/>
                    <a:p>
                      <a:pPr marL="0" indent="0">
                        <a:buNone/>
                      </a:pPr>
                      <a:endParaRPr lang="en-US" sz="10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1F4F8"/>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29184"/>
            <a:ext cx="11055096" cy="256032"/>
          </a:xfrm>
          <a:prstGeom prst="rect">
            <a:avLst/>
          </a:prstGeom>
          <a:noFill/>
          <a:ln/>
        </p:spPr>
        <p:txBody>
          <a:bodyPr wrap="square" lIns="0" tIns="0" rIns="0" bIns="0" rtlCol="0" anchor="ctr"/>
          <a:lstStyle/>
          <a:p>
            <a:pPr marL="0" indent="0">
              <a:buNone/>
            </a:pPr>
            <a:r>
              <a:rPr lang="en-US" sz="1100" b="1" kern="0" spc="160" dirty="0">
                <a:solidFill>
                  <a:srgbClr val="2A9D8F"/>
                </a:solidFill>
                <a:latin typeface="Calibri" pitchFamily="34" charset="0"/>
                <a:ea typeface="Calibri" pitchFamily="34" charset="-122"/>
                <a:cs typeface="Calibri" pitchFamily="34" charset="-120"/>
              </a:rPr>
              <a:t>ACTIVIDAD 2  ·  20 MINUTOS</a:t>
            </a:r>
            <a:endParaRPr lang="en-US" sz="1100" dirty="0"/>
          </a:p>
        </p:txBody>
      </p:sp>
      <p:sp>
        <p:nvSpPr>
          <p:cNvPr id="3" name="Text 1"/>
          <p:cNvSpPr txBox="1"/>
          <p:nvPr/>
        </p:nvSpPr>
        <p:spPr>
          <a:xfrm>
            <a:off x="566928" y="603504"/>
            <a:ext cx="11055096" cy="749808"/>
          </a:xfrm>
          <a:prstGeom prst="rect">
            <a:avLst/>
          </a:prstGeom>
          <a:noFill/>
          <a:ln/>
        </p:spPr>
        <p:txBody>
          <a:bodyPr wrap="square" lIns="0" tIns="0" rIns="0" bIns="0" rtlCol="0" anchor="t"/>
          <a:lstStyle/>
          <a:p>
            <a:pPr marL="0" indent="0">
              <a:buNone/>
            </a:pPr>
            <a:r>
              <a:rPr lang="en-US" sz="2900" b="1" dirty="0">
                <a:solidFill>
                  <a:srgbClr val="1B2A4A"/>
                </a:solidFill>
                <a:latin typeface="Cambria" pitchFamily="34" charset="0"/>
                <a:ea typeface="Cambria" pitchFamily="34" charset="-122"/>
                <a:cs typeface="Cambria" pitchFamily="34" charset="-120"/>
              </a:rPr>
              <a:t>Redactar la competencia y armar el esqueleto</a:t>
            </a:r>
            <a:endParaRPr lang="en-US" sz="2900" dirty="0"/>
          </a:p>
        </p:txBody>
      </p:sp>
      <p:sp>
        <p:nvSpPr>
          <p:cNvPr id="4" name="Text 2"/>
          <p:cNvSpPr txBox="1"/>
          <p:nvPr/>
        </p:nvSpPr>
        <p:spPr>
          <a:xfrm>
            <a:off x="566928" y="6428232"/>
            <a:ext cx="7863840" cy="256032"/>
          </a:xfrm>
          <a:prstGeom prst="rect">
            <a:avLst/>
          </a:prstGeom>
          <a:noFill/>
          <a:ln/>
        </p:spPr>
        <p:txBody>
          <a:bodyPr wrap="square" lIns="0" tIns="0" rIns="0" bIns="0" rtlCol="0" anchor="ctr"/>
          <a:lstStyle/>
          <a:p>
            <a:pPr marL="0" indent="0">
              <a:buNone/>
            </a:pPr>
            <a:r>
              <a:rPr lang="en-US" sz="900" dirty="0">
                <a:solidFill>
                  <a:srgbClr val="5B6B7B"/>
                </a:solidFill>
                <a:latin typeface="Calibri" pitchFamily="34" charset="0"/>
                <a:ea typeface="Calibri" pitchFamily="34" charset="-122"/>
                <a:cs typeface="Calibri" pitchFamily="34" charset="-120"/>
              </a:rPr>
              <a:t>Microaprendizaje para adultos  ·  Proyecto RUTA — Inter Ponce</a:t>
            </a:r>
            <a:endParaRPr lang="en-US" sz="900" dirty="0"/>
          </a:p>
        </p:txBody>
      </p:sp>
      <p:sp>
        <p:nvSpPr>
          <p:cNvPr id="5" name="Text 3"/>
          <p:cNvSpPr txBox="1"/>
          <p:nvPr/>
        </p:nvSpPr>
        <p:spPr>
          <a:xfrm>
            <a:off x="10972800" y="6428232"/>
            <a:ext cx="649224" cy="256032"/>
          </a:xfrm>
          <a:prstGeom prst="rect">
            <a:avLst/>
          </a:prstGeom>
          <a:noFill/>
          <a:ln/>
        </p:spPr>
        <p:txBody>
          <a:bodyPr wrap="square" lIns="0" tIns="0" rIns="0" bIns="0" rtlCol="0" anchor="ctr"/>
          <a:lstStyle/>
          <a:p>
            <a:pPr marL="0" indent="0" algn="r">
              <a:buNone/>
            </a:pPr>
            <a:r>
              <a:rPr lang="en-US" sz="900" dirty="0">
                <a:solidFill>
                  <a:srgbClr val="5B6B7B"/>
                </a:solidFill>
                <a:latin typeface="Calibri" pitchFamily="34" charset="0"/>
                <a:ea typeface="Calibri" pitchFamily="34" charset="-122"/>
                <a:cs typeface="Calibri" pitchFamily="34" charset="-120"/>
              </a:rPr>
              <a:t>25</a:t>
            </a:r>
            <a:endParaRPr lang="en-US" sz="900" dirty="0"/>
          </a:p>
        </p:txBody>
      </p:sp>
      <p:sp>
        <p:nvSpPr>
          <p:cNvPr id="6" name="Shape 4"/>
          <p:cNvSpPr/>
          <p:nvPr/>
        </p:nvSpPr>
        <p:spPr>
          <a:xfrm>
            <a:off x="566928" y="1627632"/>
            <a:ext cx="6675120" cy="3566160"/>
          </a:xfrm>
          <a:prstGeom prst="roundRect">
            <a:avLst>
              <a:gd name="adj" fmla="val 1026"/>
            </a:avLst>
          </a:prstGeom>
          <a:solidFill>
            <a:srgbClr val="F1F4F8"/>
          </a:solidFill>
          <a:ln w="12700">
            <a:solidFill>
              <a:srgbClr val="F1F4F8"/>
            </a:solidFill>
            <a:prstDash val="solid"/>
          </a:ln>
          <a:effectLst>
            <a:outerShdw blurRad="101600" dist="12700" dir="5400000" algn="bl" rotWithShape="0">
              <a:srgbClr val="9AA8B5">
                <a:alpha val="16000"/>
              </a:srgbClr>
            </a:outerShdw>
          </a:effectLst>
        </p:spPr>
      </p:sp>
      <p:sp>
        <p:nvSpPr>
          <p:cNvPr id="7" name="Text 5"/>
          <p:cNvSpPr txBox="1"/>
          <p:nvPr/>
        </p:nvSpPr>
        <p:spPr>
          <a:xfrm>
            <a:off x="804672" y="1847088"/>
            <a:ext cx="6199632" cy="310896"/>
          </a:xfrm>
          <a:prstGeom prst="rect">
            <a:avLst/>
          </a:prstGeom>
          <a:noFill/>
          <a:ln/>
        </p:spPr>
        <p:txBody>
          <a:bodyPr wrap="square" lIns="0" tIns="0" rIns="0" bIns="0" rtlCol="0" anchor="t"/>
          <a:lstStyle/>
          <a:p>
            <a:pPr marL="0" indent="0">
              <a:buNone/>
            </a:pPr>
            <a:r>
              <a:rPr lang="en-US" sz="1450" b="1" dirty="0">
                <a:solidFill>
                  <a:srgbClr val="1B2A4A"/>
                </a:solidFill>
                <a:latin typeface="Calibri" pitchFamily="34" charset="0"/>
                <a:ea typeface="Calibri" pitchFamily="34" charset="-122"/>
                <a:cs typeface="Calibri" pitchFamily="34" charset="-120"/>
              </a:rPr>
              <a:t>Trabajo en equipo — Plantilla A, campos 1 al 6</a:t>
            </a:r>
            <a:endParaRPr lang="en-US" sz="1450" dirty="0"/>
          </a:p>
        </p:txBody>
      </p:sp>
      <p:sp>
        <p:nvSpPr>
          <p:cNvPr id="8" name="Text 6"/>
          <p:cNvSpPr txBox="1"/>
          <p:nvPr/>
        </p:nvSpPr>
        <p:spPr>
          <a:xfrm>
            <a:off x="841248" y="2212848"/>
            <a:ext cx="6163056" cy="2798064"/>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1F2933"/>
                </a:solidFill>
                <a:latin typeface="Calibri" pitchFamily="34" charset="0"/>
                <a:ea typeface="Calibri" pitchFamily="34" charset="-122"/>
                <a:cs typeface="Calibri" pitchFamily="34" charset="-120"/>
              </a:rPr>
              <a:t>Minutos 1 a 6: conviertan el problema de la Actividad 1 en una competencia observable con los cuatro componentes. Escríbanla y sométanla a las tres pruebas de la lámina 16.</a:t>
            </a:r>
            <a:endParaRPr lang="en-US" sz="1250" dirty="0"/>
          </a:p>
          <a:p>
            <a:pPr marL="342900" indent="-342900">
              <a:spcAft>
                <a:spcPts val="500"/>
              </a:spcAft>
              <a:buSzPct val="100000"/>
              <a:buChar char="•"/>
            </a:pPr>
            <a:r>
              <a:rPr lang="en-US" sz="1250" dirty="0">
                <a:solidFill>
                  <a:srgbClr val="1F2933"/>
                </a:solidFill>
                <a:latin typeface="Calibri" pitchFamily="34" charset="0"/>
                <a:ea typeface="Calibri" pitchFamily="34" charset="-122"/>
                <a:cs typeface="Calibri" pitchFamily="34" charset="-120"/>
              </a:rPr>
              <a:t>Minutos 7 a 10: intercambien la plantilla con otro equipo. El equipo revisor solo marca lo que no puede ver y lo que no cabe en el tiempo.</a:t>
            </a:r>
            <a:endParaRPr lang="en-US" sz="1250" dirty="0"/>
          </a:p>
          <a:p>
            <a:pPr marL="342900" indent="-342900">
              <a:spcAft>
                <a:spcPts val="500"/>
              </a:spcAft>
              <a:buSzPct val="100000"/>
              <a:buChar char="•"/>
            </a:pPr>
            <a:r>
              <a:rPr lang="en-US" sz="1250" dirty="0">
                <a:solidFill>
                  <a:srgbClr val="1F2933"/>
                </a:solidFill>
                <a:latin typeface="Calibri" pitchFamily="34" charset="0"/>
                <a:ea typeface="Calibri" pitchFamily="34" charset="-122"/>
                <a:cs typeface="Calibri" pitchFamily="34" charset="-120"/>
              </a:rPr>
              <a:t>Minutos 11 a 16: corrijan y decidan función, formato dominante y duración total.</a:t>
            </a:r>
            <a:endParaRPr lang="en-US" sz="1250" dirty="0"/>
          </a:p>
          <a:p>
            <a:pPr marL="342900" indent="-342900">
              <a:spcAft>
                <a:spcPts val="500"/>
              </a:spcAft>
              <a:buSzPct val="100000"/>
              <a:buChar char="•"/>
            </a:pPr>
            <a:r>
              <a:rPr lang="en-US" sz="1250" dirty="0">
                <a:solidFill>
                  <a:srgbClr val="1F2933"/>
                </a:solidFill>
                <a:latin typeface="Calibri" pitchFamily="34" charset="0"/>
                <a:ea typeface="Calibri" pitchFamily="34" charset="-122"/>
                <a:cs typeface="Calibri" pitchFamily="34" charset="-120"/>
              </a:rPr>
              <a:t>Minutos 17 a 20: redacten el gancho en una o dos oraciones.</a:t>
            </a:r>
            <a:endParaRPr lang="en-US" sz="1250" dirty="0"/>
          </a:p>
        </p:txBody>
      </p:sp>
      <p:sp>
        <p:nvSpPr>
          <p:cNvPr id="9" name="Shape 7"/>
          <p:cNvSpPr/>
          <p:nvPr/>
        </p:nvSpPr>
        <p:spPr>
          <a:xfrm>
            <a:off x="7516368" y="1627632"/>
            <a:ext cx="4105656" cy="1874520"/>
          </a:xfrm>
          <a:prstGeom prst="roundRect">
            <a:avLst>
              <a:gd name="adj" fmla="val 1951"/>
            </a:avLst>
          </a:prstGeom>
          <a:solidFill>
            <a:srgbClr val="E7F2F0"/>
          </a:solidFill>
          <a:ln w="12700">
            <a:solidFill>
              <a:srgbClr val="E7F2F0"/>
            </a:solidFill>
            <a:prstDash val="solid"/>
          </a:ln>
          <a:effectLst>
            <a:outerShdw blurRad="101600" dist="12700" dir="5400000" algn="bl" rotWithShape="0">
              <a:srgbClr val="9AA8B5">
                <a:alpha val="16000"/>
              </a:srgbClr>
            </a:outerShdw>
          </a:effectLst>
        </p:spPr>
      </p:sp>
      <p:sp>
        <p:nvSpPr>
          <p:cNvPr id="10" name="Text 8"/>
          <p:cNvSpPr txBox="1"/>
          <p:nvPr/>
        </p:nvSpPr>
        <p:spPr>
          <a:xfrm>
            <a:off x="7754112" y="1847088"/>
            <a:ext cx="3630168" cy="310896"/>
          </a:xfrm>
          <a:prstGeom prst="rect">
            <a:avLst/>
          </a:prstGeom>
          <a:noFill/>
          <a:ln/>
        </p:spPr>
        <p:txBody>
          <a:bodyPr wrap="square" lIns="0" tIns="0" rIns="0" bIns="0" rtlCol="0" anchor="t"/>
          <a:lstStyle/>
          <a:p>
            <a:pPr marL="0" indent="0">
              <a:buNone/>
            </a:pPr>
            <a:r>
              <a:rPr lang="en-US" sz="1450" b="1" dirty="0">
                <a:solidFill>
                  <a:srgbClr val="1B2A4A"/>
                </a:solidFill>
                <a:latin typeface="Calibri" pitchFamily="34" charset="0"/>
                <a:ea typeface="Calibri" pitchFamily="34" charset="-122"/>
                <a:cs typeface="Calibri" pitchFamily="34" charset="-120"/>
              </a:rPr>
              <a:t>Criterios de revisión entre pares</a:t>
            </a:r>
            <a:endParaRPr lang="en-US" sz="1450" dirty="0"/>
          </a:p>
        </p:txBody>
      </p:sp>
      <p:sp>
        <p:nvSpPr>
          <p:cNvPr id="11" name="Text 9"/>
          <p:cNvSpPr txBox="1"/>
          <p:nvPr/>
        </p:nvSpPr>
        <p:spPr>
          <a:xfrm>
            <a:off x="7790688" y="2212848"/>
            <a:ext cx="3593592" cy="1106424"/>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1F2933"/>
                </a:solidFill>
                <a:latin typeface="Calibri" pitchFamily="34" charset="0"/>
                <a:ea typeface="Calibri" pitchFamily="34" charset="-122"/>
                <a:cs typeface="Calibri" pitchFamily="34" charset="-120"/>
              </a:rPr>
              <a:t>¿El verbo es observable?</a:t>
            </a:r>
            <a:endParaRPr lang="en-US" sz="1150" dirty="0"/>
          </a:p>
          <a:p>
            <a:pPr marL="342900" indent="-342900">
              <a:spcAft>
                <a:spcPts val="500"/>
              </a:spcAft>
              <a:buSzPct val="100000"/>
              <a:buChar char="•"/>
            </a:pPr>
            <a:r>
              <a:rPr lang="en-US" sz="1150" dirty="0">
                <a:solidFill>
                  <a:srgbClr val="1F2933"/>
                </a:solidFill>
                <a:latin typeface="Calibri" pitchFamily="34" charset="0"/>
                <a:ea typeface="Calibri" pitchFamily="34" charset="-122"/>
                <a:cs typeface="Calibri" pitchFamily="34" charset="-120"/>
              </a:rPr>
              <a:t>¿Hay criterio de logro numérico?</a:t>
            </a:r>
            <a:endParaRPr lang="en-US" sz="1150" dirty="0"/>
          </a:p>
          <a:p>
            <a:pPr marL="342900" indent="-342900">
              <a:spcAft>
                <a:spcPts val="500"/>
              </a:spcAft>
              <a:buSzPct val="100000"/>
              <a:buChar char="•"/>
            </a:pPr>
            <a:r>
              <a:rPr lang="en-US" sz="1150" dirty="0">
                <a:solidFill>
                  <a:srgbClr val="1F2933"/>
                </a:solidFill>
                <a:latin typeface="Calibri" pitchFamily="34" charset="0"/>
                <a:ea typeface="Calibri" pitchFamily="34" charset="-122"/>
                <a:cs typeface="Calibri" pitchFamily="34" charset="-120"/>
              </a:rPr>
              <a:t>¿Cabe en la duración declarada?</a:t>
            </a:r>
            <a:endParaRPr lang="en-US" sz="1150" dirty="0"/>
          </a:p>
          <a:p>
            <a:pPr marL="342900" indent="-342900">
              <a:spcAft>
                <a:spcPts val="500"/>
              </a:spcAft>
              <a:buSzPct val="100000"/>
              <a:buChar char="•"/>
            </a:pPr>
            <a:r>
              <a:rPr lang="en-US" sz="1150" dirty="0">
                <a:solidFill>
                  <a:srgbClr val="1F2933"/>
                </a:solidFill>
                <a:latin typeface="Calibri" pitchFamily="34" charset="0"/>
                <a:ea typeface="Calibri" pitchFamily="34" charset="-122"/>
                <a:cs typeface="Calibri" pitchFamily="34" charset="-120"/>
              </a:rPr>
              <a:t>¿Se usa en 72 horas?</a:t>
            </a:r>
            <a:endParaRPr lang="en-US" sz="1150" dirty="0"/>
          </a:p>
        </p:txBody>
      </p:sp>
      <p:sp>
        <p:nvSpPr>
          <p:cNvPr id="12" name="Shape 10"/>
          <p:cNvSpPr/>
          <p:nvPr/>
        </p:nvSpPr>
        <p:spPr>
          <a:xfrm>
            <a:off x="7516368" y="3685032"/>
            <a:ext cx="4105656" cy="1508760"/>
          </a:xfrm>
          <a:prstGeom prst="roundRect">
            <a:avLst>
              <a:gd name="adj" fmla="val 2424"/>
            </a:avLst>
          </a:prstGeom>
          <a:solidFill>
            <a:srgbClr val="1B2A4A"/>
          </a:solidFill>
          <a:ln w="12700">
            <a:solidFill>
              <a:srgbClr val="1B2A4A"/>
            </a:solidFill>
            <a:prstDash val="solid"/>
          </a:ln>
          <a:effectLst>
            <a:outerShdw blurRad="101600" dist="12700" dir="5400000" algn="bl" rotWithShape="0">
              <a:srgbClr val="9AA8B5">
                <a:alpha val="16000"/>
              </a:srgbClr>
            </a:outerShdw>
          </a:effectLst>
        </p:spPr>
      </p:sp>
      <p:sp>
        <p:nvSpPr>
          <p:cNvPr id="13" name="Text 11"/>
          <p:cNvSpPr txBox="1"/>
          <p:nvPr/>
        </p:nvSpPr>
        <p:spPr>
          <a:xfrm>
            <a:off x="7754112" y="3904488"/>
            <a:ext cx="3630168" cy="310896"/>
          </a:xfrm>
          <a:prstGeom prst="rect">
            <a:avLst/>
          </a:prstGeom>
          <a:noFill/>
          <a:ln/>
        </p:spPr>
        <p:txBody>
          <a:bodyPr wrap="square" lIns="0" tIns="0" rIns="0" bIns="0" rtlCol="0" anchor="t"/>
          <a:lstStyle/>
          <a:p>
            <a:pPr marL="0" indent="0">
              <a:buNone/>
            </a:pPr>
            <a:r>
              <a:rPr lang="en-US" sz="1450" b="1" dirty="0">
                <a:solidFill>
                  <a:srgbClr val="C9A227"/>
                </a:solidFill>
                <a:latin typeface="Calibri" pitchFamily="34" charset="0"/>
                <a:ea typeface="Calibri" pitchFamily="34" charset="-122"/>
                <a:cs typeface="Calibri" pitchFamily="34" charset="-120"/>
              </a:rPr>
              <a:t>Al terminar</a:t>
            </a:r>
            <a:endParaRPr lang="en-US" sz="1450" dirty="0"/>
          </a:p>
        </p:txBody>
      </p:sp>
      <p:sp>
        <p:nvSpPr>
          <p:cNvPr id="14" name="Text 12"/>
          <p:cNvSpPr txBox="1"/>
          <p:nvPr/>
        </p:nvSpPr>
        <p:spPr>
          <a:xfrm>
            <a:off x="7754112" y="4270248"/>
            <a:ext cx="3630168" cy="740664"/>
          </a:xfrm>
          <a:prstGeom prst="rect">
            <a:avLst/>
          </a:prstGeom>
          <a:noFill/>
          <a:ln/>
        </p:spPr>
        <p:txBody>
          <a:bodyPr wrap="square" lIns="0" tIns="0" rIns="0" bIns="0" rtlCol="0" anchor="t"/>
          <a:lstStyle/>
          <a:p>
            <a:pPr marL="0" indent="0">
              <a:lnSpc>
                <a:spcPct val="106000"/>
              </a:lnSpc>
              <a:buNone/>
            </a:pPr>
            <a:r>
              <a:rPr lang="en-US" sz="1200" dirty="0">
                <a:solidFill>
                  <a:srgbClr val="D6E0EE"/>
                </a:solidFill>
                <a:latin typeface="Calibri" pitchFamily="34" charset="0"/>
                <a:ea typeface="Calibri" pitchFamily="34" charset="-122"/>
                <a:cs typeface="Calibri" pitchFamily="34" charset="-120"/>
              </a:rPr>
              <a:t>Cada equipo tiene la mitad superior de la Plantilla A completada. Después del receso se produce el material y se diseña la microevaluación.</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B2A4A"/>
        </a:solidFill>
        <a:effectLst/>
      </p:bgPr>
    </p:bg>
    <p:spTree>
      <p:nvGrpSpPr>
        <p:cNvPr id="1" name=""/>
        <p:cNvGrpSpPr/>
        <p:nvPr/>
      </p:nvGrpSpPr>
      <p:grpSpPr>
        <a:xfrm>
          <a:off x="0" y="0"/>
          <a:ext cx="0" cy="0"/>
          <a:chOff x="0" y="0"/>
          <a:chExt cx="0" cy="0"/>
        </a:xfrm>
      </p:grpSpPr>
      <p:sp>
        <p:nvSpPr>
          <p:cNvPr id="2" name="Text 0"/>
          <p:cNvSpPr txBox="1"/>
          <p:nvPr/>
        </p:nvSpPr>
        <p:spPr>
          <a:xfrm>
            <a:off x="566928" y="2286000"/>
            <a:ext cx="10241280" cy="1005840"/>
          </a:xfrm>
          <a:prstGeom prst="rect">
            <a:avLst/>
          </a:prstGeom>
          <a:noFill/>
          <a:ln/>
        </p:spPr>
        <p:txBody>
          <a:bodyPr wrap="square" lIns="0" tIns="0" rIns="0" bIns="0" rtlCol="0" anchor="ctr"/>
          <a:lstStyle/>
          <a:p>
            <a:pPr marL="0" indent="0">
              <a:buNone/>
            </a:pPr>
            <a:r>
              <a:rPr lang="en-US" sz="5400" b="1" dirty="0">
                <a:solidFill>
                  <a:srgbClr val="FFFFFF"/>
                </a:solidFill>
                <a:latin typeface="Cambria" pitchFamily="34" charset="0"/>
                <a:ea typeface="Cambria" pitchFamily="34" charset="-122"/>
                <a:cs typeface="Cambria" pitchFamily="34" charset="-120"/>
              </a:rPr>
              <a:t>Receso</a:t>
            </a:r>
            <a:endParaRPr lang="en-US" sz="5400" dirty="0"/>
          </a:p>
        </p:txBody>
      </p:sp>
      <p:sp>
        <p:nvSpPr>
          <p:cNvPr id="3" name="Text 1"/>
          <p:cNvSpPr txBox="1"/>
          <p:nvPr/>
        </p:nvSpPr>
        <p:spPr>
          <a:xfrm>
            <a:off x="566928" y="3291840"/>
            <a:ext cx="10241280" cy="548640"/>
          </a:xfrm>
          <a:prstGeom prst="rect">
            <a:avLst/>
          </a:prstGeom>
          <a:noFill/>
          <a:ln/>
        </p:spPr>
        <p:txBody>
          <a:bodyPr wrap="square" lIns="0" tIns="0" rIns="0" bIns="0" rtlCol="0" anchor="ctr"/>
          <a:lstStyle/>
          <a:p>
            <a:pPr marL="0" indent="0">
              <a:buNone/>
            </a:pPr>
            <a:r>
              <a:rPr lang="en-US" sz="2600" dirty="0">
                <a:solidFill>
                  <a:srgbClr val="C9A227"/>
                </a:solidFill>
                <a:latin typeface="Cambria" pitchFamily="34" charset="0"/>
                <a:ea typeface="Cambria" pitchFamily="34" charset="-122"/>
                <a:cs typeface="Cambria" pitchFamily="34" charset="-120"/>
              </a:rPr>
              <a:t>10 minutos</a:t>
            </a:r>
            <a:endParaRPr lang="en-US" sz="2600" dirty="0"/>
          </a:p>
        </p:txBody>
      </p:sp>
      <p:sp>
        <p:nvSpPr>
          <p:cNvPr id="4" name="Text 2"/>
          <p:cNvSpPr txBox="1"/>
          <p:nvPr/>
        </p:nvSpPr>
        <p:spPr>
          <a:xfrm>
            <a:off x="566928" y="3977640"/>
            <a:ext cx="8686800" cy="457200"/>
          </a:xfrm>
          <a:prstGeom prst="rect">
            <a:avLst/>
          </a:prstGeom>
          <a:noFill/>
          <a:ln/>
        </p:spPr>
        <p:txBody>
          <a:bodyPr wrap="square" lIns="0" tIns="0" rIns="0" bIns="0" rtlCol="0" anchor="t"/>
          <a:lstStyle/>
          <a:p>
            <a:pPr marL="0" indent="0">
              <a:buNone/>
            </a:pPr>
            <a:r>
              <a:rPr lang="en-US" sz="1500" dirty="0">
                <a:solidFill>
                  <a:srgbClr val="C3D0E0"/>
                </a:solidFill>
                <a:latin typeface="Calibri" pitchFamily="34" charset="0"/>
                <a:ea typeface="Calibri" pitchFamily="34" charset="-122"/>
                <a:cs typeface="Calibri" pitchFamily="34" charset="-120"/>
              </a:rPr>
              <a:t>Al regresar: producción del material y diseño de la microevaluación.</a:t>
            </a:r>
            <a:endParaRPr lang="en-US" sz="1500" dirty="0"/>
          </a:p>
        </p:txBody>
      </p:sp>
      <p:sp>
        <p:nvSpPr>
          <p:cNvPr id="5" name="Shape 3"/>
          <p:cNvSpPr/>
          <p:nvPr/>
        </p:nvSpPr>
        <p:spPr>
          <a:xfrm>
            <a:off x="9189720" y="4480560"/>
            <a:ext cx="502920" cy="502920"/>
          </a:xfrm>
          <a:prstGeom prst="roundRect">
            <a:avLst>
              <a:gd name="adj" fmla="val 9091"/>
            </a:avLst>
          </a:prstGeom>
          <a:solidFill>
            <a:srgbClr val="C9A227"/>
          </a:solidFill>
          <a:ln w="12700">
            <a:solidFill>
              <a:srgbClr val="C9A227"/>
            </a:solidFill>
            <a:prstDash val="solid"/>
          </a:ln>
        </p:spPr>
      </p:sp>
      <p:sp>
        <p:nvSpPr>
          <p:cNvPr id="6" name="Shape 4"/>
          <p:cNvSpPr/>
          <p:nvPr/>
        </p:nvSpPr>
        <p:spPr>
          <a:xfrm>
            <a:off x="9857232" y="4480560"/>
            <a:ext cx="502920" cy="502920"/>
          </a:xfrm>
          <a:prstGeom prst="roundRect">
            <a:avLst>
              <a:gd name="adj" fmla="val 9091"/>
            </a:avLst>
          </a:prstGeom>
          <a:solidFill>
            <a:srgbClr val="2A9D8F"/>
          </a:solidFill>
          <a:ln w="12700">
            <a:solidFill>
              <a:srgbClr val="2A9D8F"/>
            </a:solidFill>
            <a:prstDash val="solid"/>
          </a:ln>
        </p:spPr>
      </p:sp>
      <p:sp>
        <p:nvSpPr>
          <p:cNvPr id="7" name="Shape 5"/>
          <p:cNvSpPr/>
          <p:nvPr/>
        </p:nvSpPr>
        <p:spPr>
          <a:xfrm>
            <a:off x="10524744" y="4480560"/>
            <a:ext cx="502920" cy="502920"/>
          </a:xfrm>
          <a:prstGeom prst="roundRect">
            <a:avLst>
              <a:gd name="adj" fmla="val 9091"/>
            </a:avLst>
          </a:prstGeom>
          <a:solidFill>
            <a:srgbClr val="FFFFFF"/>
          </a:solidFill>
          <a:ln w="12700">
            <a:solidFill>
              <a:srgbClr val="FFFFFF"/>
            </a:solidFill>
            <a:prstDash val="solid"/>
          </a:ln>
        </p:spPr>
      </p:sp>
      <p:sp>
        <p:nvSpPr>
          <p:cNvPr id="8" name="Shape 6"/>
          <p:cNvSpPr/>
          <p:nvPr/>
        </p:nvSpPr>
        <p:spPr>
          <a:xfrm>
            <a:off x="9189720" y="5148072"/>
            <a:ext cx="502920" cy="502920"/>
          </a:xfrm>
          <a:prstGeom prst="roundRect">
            <a:avLst>
              <a:gd name="adj" fmla="val 9091"/>
            </a:avLst>
          </a:prstGeom>
          <a:solidFill>
            <a:srgbClr val="2A9D8F">
              <a:alpha val="55000"/>
            </a:srgbClr>
          </a:solidFill>
          <a:ln w="12700">
            <a:solidFill>
              <a:srgbClr val="2A9D8F"/>
            </a:solidFill>
            <a:prstDash val="solid"/>
          </a:ln>
        </p:spPr>
      </p:sp>
      <p:sp>
        <p:nvSpPr>
          <p:cNvPr id="9" name="Shape 7"/>
          <p:cNvSpPr/>
          <p:nvPr/>
        </p:nvSpPr>
        <p:spPr>
          <a:xfrm>
            <a:off x="9857232" y="5148072"/>
            <a:ext cx="502920" cy="502920"/>
          </a:xfrm>
          <a:prstGeom prst="roundRect">
            <a:avLst>
              <a:gd name="adj" fmla="val 9091"/>
            </a:avLst>
          </a:prstGeom>
          <a:solidFill>
            <a:srgbClr val="FFFFFF">
              <a:alpha val="55000"/>
            </a:srgbClr>
          </a:solidFill>
          <a:ln w="12700">
            <a:solidFill>
              <a:srgbClr val="FFFFFF"/>
            </a:solidFill>
            <a:prstDash val="solid"/>
          </a:ln>
        </p:spPr>
      </p:sp>
      <p:sp>
        <p:nvSpPr>
          <p:cNvPr id="10" name="Shape 8"/>
          <p:cNvSpPr/>
          <p:nvPr/>
        </p:nvSpPr>
        <p:spPr>
          <a:xfrm>
            <a:off x="10524744" y="5148072"/>
            <a:ext cx="502920" cy="502920"/>
          </a:xfrm>
          <a:prstGeom prst="roundRect">
            <a:avLst>
              <a:gd name="adj" fmla="val 9091"/>
            </a:avLst>
          </a:prstGeom>
          <a:solidFill>
            <a:srgbClr val="C9A227">
              <a:alpha val="55000"/>
            </a:srgbClr>
          </a:solidFill>
          <a:ln w="12700">
            <a:solidFill>
              <a:srgbClr val="C9A227"/>
            </a:solidFill>
            <a:prstDash val="solid"/>
          </a:ln>
        </p:spPr>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B2A4A"/>
        </a:solidFill>
        <a:effectLst/>
      </p:bgPr>
    </p:bg>
    <p:spTree>
      <p:nvGrpSpPr>
        <p:cNvPr id="1" name=""/>
        <p:cNvGrpSpPr/>
        <p:nvPr/>
      </p:nvGrpSpPr>
      <p:grpSpPr>
        <a:xfrm>
          <a:off x="0" y="0"/>
          <a:ext cx="0" cy="0"/>
          <a:chOff x="0" y="0"/>
          <a:chExt cx="0" cy="0"/>
        </a:xfrm>
      </p:grpSpPr>
      <p:sp>
        <p:nvSpPr>
          <p:cNvPr id="2" name="Text 0"/>
          <p:cNvSpPr txBox="1"/>
          <p:nvPr/>
        </p:nvSpPr>
        <p:spPr>
          <a:xfrm>
            <a:off x="566928" y="1691640"/>
            <a:ext cx="2011680" cy="1371600"/>
          </a:xfrm>
          <a:prstGeom prst="rect">
            <a:avLst/>
          </a:prstGeom>
          <a:noFill/>
          <a:ln/>
        </p:spPr>
        <p:txBody>
          <a:bodyPr wrap="square" lIns="0" tIns="0" rIns="0" bIns="0" rtlCol="0" anchor="ctr"/>
          <a:lstStyle/>
          <a:p>
            <a:pPr marL="0" indent="0">
              <a:buNone/>
            </a:pPr>
            <a:r>
              <a:rPr lang="en-US" sz="9600" b="1" dirty="0">
                <a:solidFill>
                  <a:srgbClr val="C9A227"/>
                </a:solidFill>
                <a:latin typeface="Cambria" pitchFamily="34" charset="0"/>
                <a:ea typeface="Cambria" pitchFamily="34" charset="-122"/>
                <a:cs typeface="Cambria" pitchFamily="34" charset="-120"/>
              </a:rPr>
              <a:t>03</a:t>
            </a:r>
            <a:endParaRPr lang="en-US" sz="9600" dirty="0"/>
          </a:p>
        </p:txBody>
      </p:sp>
      <p:sp>
        <p:nvSpPr>
          <p:cNvPr id="3" name="Text 1"/>
          <p:cNvSpPr txBox="1"/>
          <p:nvPr/>
        </p:nvSpPr>
        <p:spPr>
          <a:xfrm>
            <a:off x="2331720" y="1783080"/>
            <a:ext cx="8686800" cy="137160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El repertorio</a:t>
            </a:r>
            <a:endParaRPr lang="en-US" sz="3400" dirty="0"/>
          </a:p>
        </p:txBody>
      </p:sp>
      <p:sp>
        <p:nvSpPr>
          <p:cNvPr id="4" name="Text 2"/>
          <p:cNvSpPr txBox="1"/>
          <p:nvPr/>
        </p:nvSpPr>
        <p:spPr>
          <a:xfrm>
            <a:off x="2331720" y="3200400"/>
            <a:ext cx="8686800" cy="822960"/>
          </a:xfrm>
          <a:prstGeom prst="rect">
            <a:avLst/>
          </a:prstGeom>
          <a:noFill/>
          <a:ln/>
        </p:spPr>
        <p:txBody>
          <a:bodyPr wrap="square" lIns="0" tIns="0" rIns="0" bIns="0" rtlCol="0" anchor="t"/>
          <a:lstStyle/>
          <a:p>
            <a:pPr marL="0" indent="0">
              <a:buNone/>
            </a:pPr>
            <a:r>
              <a:rPr lang="en-US" sz="1500" dirty="0">
                <a:solidFill>
                  <a:srgbClr val="C3D0E0"/>
                </a:solidFill>
                <a:latin typeface="Calibri" pitchFamily="34" charset="0"/>
                <a:ea typeface="Calibri" pitchFamily="34" charset="-122"/>
                <a:cs typeface="Calibri" pitchFamily="34" charset="-120"/>
              </a:rPr>
              <a:t>Cápsulas escritas, videos breves, guías visuales, práctica inmediata y evaluaciones rápidas: cuándo usar cada formato y cómo producirlo bien.</a:t>
            </a:r>
            <a:endParaRPr lang="en-US" sz="1500" dirty="0"/>
          </a:p>
        </p:txBody>
      </p:sp>
      <p:sp>
        <p:nvSpPr>
          <p:cNvPr id="5" name="Shape 3"/>
          <p:cNvSpPr/>
          <p:nvPr/>
        </p:nvSpPr>
        <p:spPr>
          <a:xfrm>
            <a:off x="2331720" y="4160520"/>
            <a:ext cx="2834640" cy="457200"/>
          </a:xfrm>
          <a:prstGeom prst="roundRect">
            <a:avLst>
              <a:gd name="adj" fmla="val 50000"/>
            </a:avLst>
          </a:prstGeom>
          <a:solidFill>
            <a:srgbClr val="2A9D8F"/>
          </a:solidFill>
          <a:ln w="12700">
            <a:solidFill>
              <a:srgbClr val="2A9D8F"/>
            </a:solidFill>
            <a:prstDash val="solid"/>
          </a:ln>
        </p:spPr>
      </p:sp>
      <p:sp>
        <p:nvSpPr>
          <p:cNvPr id="6" name="Text 4"/>
          <p:cNvSpPr txBox="1"/>
          <p:nvPr/>
        </p:nvSpPr>
        <p:spPr>
          <a:xfrm>
            <a:off x="2331720" y="4160520"/>
            <a:ext cx="283464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55 minutos</a:t>
            </a:r>
            <a:endParaRPr lang="en-US" sz="1300" dirty="0"/>
          </a:p>
        </p:txBody>
      </p:sp>
      <p:sp>
        <p:nvSpPr>
          <p:cNvPr id="7" name="Shape 5"/>
          <p:cNvSpPr/>
          <p:nvPr/>
        </p:nvSpPr>
        <p:spPr>
          <a:xfrm>
            <a:off x="9646920" y="5074920"/>
            <a:ext cx="365760" cy="365760"/>
          </a:xfrm>
          <a:prstGeom prst="roundRect">
            <a:avLst>
              <a:gd name="adj" fmla="val 12500"/>
            </a:avLst>
          </a:prstGeom>
          <a:solidFill>
            <a:srgbClr val="C9A227"/>
          </a:solidFill>
          <a:ln w="12700">
            <a:solidFill>
              <a:srgbClr val="C9A227"/>
            </a:solidFill>
            <a:prstDash val="solid"/>
          </a:ln>
        </p:spPr>
      </p:sp>
      <p:sp>
        <p:nvSpPr>
          <p:cNvPr id="8" name="Shape 6"/>
          <p:cNvSpPr/>
          <p:nvPr/>
        </p:nvSpPr>
        <p:spPr>
          <a:xfrm>
            <a:off x="10140696" y="5074920"/>
            <a:ext cx="365760" cy="365760"/>
          </a:xfrm>
          <a:prstGeom prst="roundRect">
            <a:avLst>
              <a:gd name="adj" fmla="val 12500"/>
            </a:avLst>
          </a:prstGeom>
          <a:solidFill>
            <a:srgbClr val="2A9D8F"/>
          </a:solidFill>
          <a:ln w="12700">
            <a:solidFill>
              <a:srgbClr val="2A9D8F"/>
            </a:solidFill>
            <a:prstDash val="solid"/>
          </a:ln>
        </p:spPr>
      </p:sp>
      <p:sp>
        <p:nvSpPr>
          <p:cNvPr id="9" name="Shape 7"/>
          <p:cNvSpPr/>
          <p:nvPr/>
        </p:nvSpPr>
        <p:spPr>
          <a:xfrm>
            <a:off x="10634472" y="5074920"/>
            <a:ext cx="365760" cy="365760"/>
          </a:xfrm>
          <a:prstGeom prst="roundRect">
            <a:avLst>
              <a:gd name="adj" fmla="val 12500"/>
            </a:avLst>
          </a:prstGeom>
          <a:solidFill>
            <a:srgbClr val="FFFFFF"/>
          </a:solidFill>
          <a:ln w="12700">
            <a:solidFill>
              <a:srgbClr val="FFFFFF"/>
            </a:solidFill>
            <a:prstDash val="solid"/>
          </a:ln>
        </p:spPr>
      </p:sp>
      <p:sp>
        <p:nvSpPr>
          <p:cNvPr id="10" name="Shape 8"/>
          <p:cNvSpPr/>
          <p:nvPr/>
        </p:nvSpPr>
        <p:spPr>
          <a:xfrm>
            <a:off x="9646920" y="5568696"/>
            <a:ext cx="365760" cy="365760"/>
          </a:xfrm>
          <a:prstGeom prst="roundRect">
            <a:avLst>
              <a:gd name="adj" fmla="val 12500"/>
            </a:avLst>
          </a:prstGeom>
          <a:solidFill>
            <a:srgbClr val="2A9D8F">
              <a:alpha val="55000"/>
            </a:srgbClr>
          </a:solidFill>
          <a:ln w="12700">
            <a:solidFill>
              <a:srgbClr val="2A9D8F"/>
            </a:solidFill>
            <a:prstDash val="solid"/>
          </a:ln>
        </p:spPr>
      </p:sp>
      <p:sp>
        <p:nvSpPr>
          <p:cNvPr id="11" name="Shape 9"/>
          <p:cNvSpPr/>
          <p:nvPr/>
        </p:nvSpPr>
        <p:spPr>
          <a:xfrm>
            <a:off x="10140696" y="5568696"/>
            <a:ext cx="365760" cy="365760"/>
          </a:xfrm>
          <a:prstGeom prst="roundRect">
            <a:avLst>
              <a:gd name="adj" fmla="val 12500"/>
            </a:avLst>
          </a:prstGeom>
          <a:solidFill>
            <a:srgbClr val="FFFFFF">
              <a:alpha val="55000"/>
            </a:srgbClr>
          </a:solidFill>
          <a:ln w="12700">
            <a:solidFill>
              <a:srgbClr val="FFFFFF"/>
            </a:solidFill>
            <a:prstDash val="solid"/>
          </a:ln>
        </p:spPr>
      </p:sp>
      <p:sp>
        <p:nvSpPr>
          <p:cNvPr id="12" name="Shape 10"/>
          <p:cNvSpPr/>
          <p:nvPr/>
        </p:nvSpPr>
        <p:spPr>
          <a:xfrm>
            <a:off x="10634472" y="5568696"/>
            <a:ext cx="365760" cy="365760"/>
          </a:xfrm>
          <a:prstGeom prst="roundRect">
            <a:avLst>
              <a:gd name="adj" fmla="val 12500"/>
            </a:avLst>
          </a:prstGeom>
          <a:solidFill>
            <a:srgbClr val="C9A227">
              <a:alpha val="55000"/>
            </a:srgbClr>
          </a:solidFill>
          <a:ln w="12700">
            <a:solidFill>
              <a:srgbClr val="C9A227"/>
            </a:solidFill>
            <a:prstDash val="solid"/>
          </a:ln>
        </p:spPr>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29184"/>
            <a:ext cx="11055096" cy="256032"/>
          </a:xfrm>
          <a:prstGeom prst="rect">
            <a:avLst/>
          </a:prstGeom>
          <a:noFill/>
          <a:ln/>
        </p:spPr>
        <p:txBody>
          <a:bodyPr wrap="square" lIns="0" tIns="0" rIns="0" bIns="0" rtlCol="0" anchor="ctr"/>
          <a:lstStyle/>
          <a:p>
            <a:pPr marL="0" indent="0">
              <a:buNone/>
            </a:pPr>
            <a:r>
              <a:rPr lang="en-US" sz="1100" b="1" kern="0" spc="160" dirty="0">
                <a:solidFill>
                  <a:srgbClr val="2A9D8F"/>
                </a:solidFill>
                <a:latin typeface="Calibri" pitchFamily="34" charset="0"/>
                <a:ea typeface="Calibri" pitchFamily="34" charset="-122"/>
                <a:cs typeface="Calibri" pitchFamily="34" charset="-120"/>
              </a:rPr>
              <a:t>DECISIÓN DE FORMATO</a:t>
            </a:r>
            <a:endParaRPr lang="en-US" sz="1100" dirty="0"/>
          </a:p>
        </p:txBody>
      </p:sp>
      <p:sp>
        <p:nvSpPr>
          <p:cNvPr id="3" name="Text 1"/>
          <p:cNvSpPr txBox="1"/>
          <p:nvPr/>
        </p:nvSpPr>
        <p:spPr>
          <a:xfrm>
            <a:off x="566928" y="603504"/>
            <a:ext cx="11055096" cy="749808"/>
          </a:xfrm>
          <a:prstGeom prst="rect">
            <a:avLst/>
          </a:prstGeom>
          <a:noFill/>
          <a:ln/>
        </p:spPr>
        <p:txBody>
          <a:bodyPr wrap="square" lIns="0" tIns="0" rIns="0" bIns="0" rtlCol="0" anchor="t"/>
          <a:lstStyle/>
          <a:p>
            <a:pPr marL="0" indent="0">
              <a:buNone/>
            </a:pPr>
            <a:r>
              <a:rPr lang="en-US" sz="2900" b="1" dirty="0">
                <a:solidFill>
                  <a:srgbClr val="1B2A4A"/>
                </a:solidFill>
                <a:latin typeface="Cambria" pitchFamily="34" charset="0"/>
                <a:ea typeface="Cambria" pitchFamily="34" charset="-122"/>
                <a:cs typeface="Cambria" pitchFamily="34" charset="-120"/>
              </a:rPr>
              <a:t>Mapa del repertorio: qué formato para qué necesidad</a:t>
            </a:r>
            <a:endParaRPr lang="en-US" sz="2900" dirty="0"/>
          </a:p>
        </p:txBody>
      </p:sp>
      <p:sp>
        <p:nvSpPr>
          <p:cNvPr id="4" name="Text 2"/>
          <p:cNvSpPr txBox="1"/>
          <p:nvPr/>
        </p:nvSpPr>
        <p:spPr>
          <a:xfrm>
            <a:off x="566928" y="6428232"/>
            <a:ext cx="7863840" cy="256032"/>
          </a:xfrm>
          <a:prstGeom prst="rect">
            <a:avLst/>
          </a:prstGeom>
          <a:noFill/>
          <a:ln/>
        </p:spPr>
        <p:txBody>
          <a:bodyPr wrap="square" lIns="0" tIns="0" rIns="0" bIns="0" rtlCol="0" anchor="ctr"/>
          <a:lstStyle/>
          <a:p>
            <a:pPr marL="0" indent="0">
              <a:buNone/>
            </a:pPr>
            <a:r>
              <a:rPr lang="en-US" sz="900" dirty="0">
                <a:solidFill>
                  <a:srgbClr val="5B6B7B"/>
                </a:solidFill>
                <a:latin typeface="Calibri" pitchFamily="34" charset="0"/>
                <a:ea typeface="Calibri" pitchFamily="34" charset="-122"/>
                <a:cs typeface="Calibri" pitchFamily="34" charset="-120"/>
              </a:rPr>
              <a:t>Microaprendizaje para adultos  ·  Proyecto RUTA — Inter Ponce</a:t>
            </a:r>
            <a:endParaRPr lang="en-US" sz="900" dirty="0"/>
          </a:p>
        </p:txBody>
      </p:sp>
      <p:sp>
        <p:nvSpPr>
          <p:cNvPr id="5" name="Text 3"/>
          <p:cNvSpPr txBox="1"/>
          <p:nvPr/>
        </p:nvSpPr>
        <p:spPr>
          <a:xfrm>
            <a:off x="10972800" y="6428232"/>
            <a:ext cx="649224" cy="256032"/>
          </a:xfrm>
          <a:prstGeom prst="rect">
            <a:avLst/>
          </a:prstGeom>
          <a:noFill/>
          <a:ln/>
        </p:spPr>
        <p:txBody>
          <a:bodyPr wrap="square" lIns="0" tIns="0" rIns="0" bIns="0" rtlCol="0" anchor="ctr"/>
          <a:lstStyle/>
          <a:p>
            <a:pPr marL="0" indent="0" algn="r">
              <a:buNone/>
            </a:pPr>
            <a:r>
              <a:rPr lang="en-US" sz="900" dirty="0">
                <a:solidFill>
                  <a:srgbClr val="5B6B7B"/>
                </a:solidFill>
                <a:latin typeface="Calibri" pitchFamily="34" charset="0"/>
                <a:ea typeface="Calibri" pitchFamily="34" charset="-122"/>
                <a:cs typeface="Calibri" pitchFamily="34" charset="-120"/>
              </a:rPr>
              <a:t>28</a:t>
            </a:r>
            <a:endParaRPr lang="en-US" sz="9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66928" y="1572768"/>
          <a:ext cx="11055096" cy="914400"/>
        </p:xfrm>
        <a:graphic>
          <a:graphicData uri="http://schemas.openxmlformats.org/drawingml/2006/table">
            <a:tbl>
              <a:tblPr/>
              <a:tblGrid>
                <a:gridCol w="233172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2688336">
                  <a:extLst>
                    <a:ext uri="{9D8B030D-6E8A-4147-A177-3AD203B41FA5}">
                      <a16:colId xmlns:a16="http://schemas.microsoft.com/office/drawing/2014/main" val="20003"/>
                    </a:ext>
                  </a:extLst>
                </a:gridCol>
              </a:tblGrid>
              <a:tr h="566928">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Formato</a:t>
                      </a:r>
                      <a:endParaRPr lang="en-US" sz="120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1B2A4A"/>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Úselo cuando…</a:t>
                      </a:r>
                      <a:endParaRPr lang="en-US" sz="120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1B2A4A"/>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Duración</a:t>
                      </a:r>
                      <a:endParaRPr lang="en-US" sz="120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1B2A4A"/>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Evidencia que produce</a:t>
                      </a:r>
                      <a:endParaRPr lang="en-US" sz="120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566928">
                <a:tc>
                  <a:txBody>
                    <a:bodyPr/>
                    <a:lstStyle/>
                    <a:p>
                      <a:pPr marL="0" indent="0">
                        <a:buNone/>
                      </a:pPr>
                      <a:r>
                        <a:rPr lang="en-US" sz="1150" b="1" dirty="0">
                          <a:solidFill>
                            <a:srgbClr val="1F2933"/>
                          </a:solidFill>
                          <a:latin typeface="Calibri" pitchFamily="34" charset="0"/>
                          <a:ea typeface="Calibri" pitchFamily="34" charset="-122"/>
                          <a:cs typeface="Calibri" pitchFamily="34" charset="-120"/>
                        </a:rPr>
                        <a:t>Cápsula escrita</a:t>
                      </a:r>
                      <a:endParaRPr lang="en-US" sz="11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150" dirty="0">
                          <a:solidFill>
                            <a:srgbClr val="1F2933"/>
                          </a:solidFill>
                          <a:latin typeface="Calibri" pitchFamily="34" charset="0"/>
                          <a:ea typeface="Calibri" pitchFamily="34" charset="-122"/>
                          <a:cs typeface="Calibri" pitchFamily="34" charset="-120"/>
                        </a:rPr>
                        <a:t>El contenido debe consultarse otra vez y la conexión es intermitente.</a:t>
                      </a:r>
                      <a:endParaRPr lang="en-US" sz="11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150" dirty="0">
                          <a:solidFill>
                            <a:srgbClr val="1F2933"/>
                          </a:solidFill>
                          <a:latin typeface="Calibri" pitchFamily="34" charset="0"/>
                          <a:ea typeface="Calibri" pitchFamily="34" charset="-122"/>
                          <a:cs typeface="Calibri" pitchFamily="34" charset="-120"/>
                        </a:rPr>
                        <a:t>5 a 10 min</a:t>
                      </a:r>
                      <a:endParaRPr lang="en-US" sz="11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150" dirty="0">
                          <a:solidFill>
                            <a:srgbClr val="1F2933"/>
                          </a:solidFill>
                          <a:latin typeface="Calibri" pitchFamily="34" charset="0"/>
                          <a:ea typeface="Calibri" pitchFamily="34" charset="-122"/>
                          <a:cs typeface="Calibri" pitchFamily="34" charset="-120"/>
                        </a:rPr>
                        <a:t>Documento resuelto o formulario completado.</a:t>
                      </a:r>
                      <a:endParaRPr lang="en-US" sz="11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buNone/>
                      </a:pPr>
                      <a:r>
                        <a:rPr lang="en-US" sz="1150" b="1" dirty="0">
                          <a:solidFill>
                            <a:srgbClr val="1F2933"/>
                          </a:solidFill>
                          <a:latin typeface="Calibri" pitchFamily="34" charset="0"/>
                          <a:ea typeface="Calibri" pitchFamily="34" charset="-122"/>
                          <a:cs typeface="Calibri" pitchFamily="34" charset="-120"/>
                        </a:rPr>
                        <a:t>Video breve</a:t>
                      </a:r>
                      <a:endParaRPr lang="en-US" sz="11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1F4F8"/>
                    </a:solidFill>
                  </a:tcPr>
                </a:tc>
                <a:tc>
                  <a:txBody>
                    <a:bodyPr/>
                    <a:lstStyle/>
                    <a:p>
                      <a:pPr marL="0" indent="0">
                        <a:buNone/>
                      </a:pPr>
                      <a:r>
                        <a:rPr lang="en-US" sz="1150" dirty="0">
                          <a:solidFill>
                            <a:srgbClr val="1F2933"/>
                          </a:solidFill>
                          <a:latin typeface="Calibri" pitchFamily="34" charset="0"/>
                          <a:ea typeface="Calibri" pitchFamily="34" charset="-122"/>
                          <a:cs typeface="Calibri" pitchFamily="34" charset="-120"/>
                        </a:rPr>
                        <a:t>Hay un procedimiento que debe verse ejecutar paso a paso.</a:t>
                      </a:r>
                      <a:endParaRPr lang="en-US" sz="11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1F4F8"/>
                    </a:solidFill>
                  </a:tcPr>
                </a:tc>
                <a:tc>
                  <a:txBody>
                    <a:bodyPr/>
                    <a:lstStyle/>
                    <a:p>
                      <a:pPr marL="0" indent="0">
                        <a:buNone/>
                      </a:pPr>
                      <a:r>
                        <a:rPr lang="en-US" sz="1150" dirty="0">
                          <a:solidFill>
                            <a:srgbClr val="1F2933"/>
                          </a:solidFill>
                          <a:latin typeface="Calibri" pitchFamily="34" charset="0"/>
                          <a:ea typeface="Calibri" pitchFamily="34" charset="-122"/>
                          <a:cs typeface="Calibri" pitchFamily="34" charset="-120"/>
                        </a:rPr>
                        <a:t>60 a 180 s</a:t>
                      </a:r>
                      <a:endParaRPr lang="en-US" sz="11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1F4F8"/>
                    </a:solidFill>
                  </a:tcPr>
                </a:tc>
                <a:tc>
                  <a:txBody>
                    <a:bodyPr/>
                    <a:lstStyle/>
                    <a:p>
                      <a:pPr marL="0" indent="0">
                        <a:buNone/>
                      </a:pPr>
                      <a:r>
                        <a:rPr lang="en-US" sz="1150" dirty="0">
                          <a:solidFill>
                            <a:srgbClr val="1F2933"/>
                          </a:solidFill>
                          <a:latin typeface="Calibri" pitchFamily="34" charset="0"/>
                          <a:ea typeface="Calibri" pitchFamily="34" charset="-122"/>
                          <a:cs typeface="Calibri" pitchFamily="34" charset="-120"/>
                        </a:rPr>
                        <a:t>Grabación del participante replicando el procedimiento.</a:t>
                      </a:r>
                      <a:endParaRPr lang="en-US" sz="11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1F4F8"/>
                    </a:solidFill>
                  </a:tcPr>
                </a:tc>
                <a:extLst>
                  <a:ext uri="{0D108BD9-81ED-4DB2-BD59-A6C34878D82A}">
                    <a16:rowId xmlns:a16="http://schemas.microsoft.com/office/drawing/2014/main" val="10002"/>
                  </a:ext>
                </a:extLst>
              </a:tr>
              <a:tr h="566928">
                <a:tc>
                  <a:txBody>
                    <a:bodyPr/>
                    <a:lstStyle/>
                    <a:p>
                      <a:pPr marL="0" indent="0">
                        <a:buNone/>
                      </a:pPr>
                      <a:r>
                        <a:rPr lang="en-US" sz="1150" b="1" dirty="0">
                          <a:solidFill>
                            <a:srgbClr val="1F2933"/>
                          </a:solidFill>
                          <a:latin typeface="Calibri" pitchFamily="34" charset="0"/>
                          <a:ea typeface="Calibri" pitchFamily="34" charset="-122"/>
                          <a:cs typeface="Calibri" pitchFamily="34" charset="-120"/>
                        </a:rPr>
                        <a:t>Guía visual</a:t>
                      </a:r>
                      <a:endParaRPr lang="en-US" sz="11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150" dirty="0">
                          <a:solidFill>
                            <a:srgbClr val="1F2933"/>
                          </a:solidFill>
                          <a:latin typeface="Calibri" pitchFamily="34" charset="0"/>
                          <a:ea typeface="Calibri" pitchFamily="34" charset="-122"/>
                          <a:cs typeface="Calibri" pitchFamily="34" charset="-120"/>
                        </a:rPr>
                        <a:t>La destreza se aplica en el momento de una tarea concreta.</a:t>
                      </a:r>
                      <a:endParaRPr lang="en-US" sz="11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150" dirty="0">
                          <a:solidFill>
                            <a:srgbClr val="1F2933"/>
                          </a:solidFill>
                          <a:latin typeface="Calibri" pitchFamily="34" charset="0"/>
                          <a:ea typeface="Calibri" pitchFamily="34" charset="-122"/>
                          <a:cs typeface="Calibri" pitchFamily="34" charset="-120"/>
                        </a:rPr>
                        <a:t>Consulta</a:t>
                      </a:r>
                      <a:endParaRPr lang="en-US" sz="11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150" dirty="0">
                          <a:solidFill>
                            <a:srgbClr val="1F2933"/>
                          </a:solidFill>
                          <a:latin typeface="Calibri" pitchFamily="34" charset="0"/>
                          <a:ea typeface="Calibri" pitchFamily="34" charset="-122"/>
                          <a:cs typeface="Calibri" pitchFamily="34" charset="-120"/>
                        </a:rPr>
                        <a:t>Tarea completada con la guía al lado.</a:t>
                      </a:r>
                      <a:endParaRPr lang="en-US" sz="11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buNone/>
                      </a:pPr>
                      <a:r>
                        <a:rPr lang="en-US" sz="1150" b="1" dirty="0">
                          <a:solidFill>
                            <a:srgbClr val="1F2933"/>
                          </a:solidFill>
                          <a:latin typeface="Calibri" pitchFamily="34" charset="0"/>
                          <a:ea typeface="Calibri" pitchFamily="34" charset="-122"/>
                          <a:cs typeface="Calibri" pitchFamily="34" charset="-120"/>
                        </a:rPr>
                        <a:t>Audio breve</a:t>
                      </a:r>
                      <a:endParaRPr lang="en-US" sz="11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1F4F8"/>
                    </a:solidFill>
                  </a:tcPr>
                </a:tc>
                <a:tc>
                  <a:txBody>
                    <a:bodyPr/>
                    <a:lstStyle/>
                    <a:p>
                      <a:pPr marL="0" indent="0">
                        <a:buNone/>
                      </a:pPr>
                      <a:r>
                        <a:rPr lang="en-US" sz="1150" dirty="0">
                          <a:solidFill>
                            <a:srgbClr val="1F2933"/>
                          </a:solidFill>
                          <a:latin typeface="Calibri" pitchFamily="34" charset="0"/>
                          <a:ea typeface="Calibri" pitchFamily="34" charset="-122"/>
                          <a:cs typeface="Calibri" pitchFamily="34" charset="-120"/>
                        </a:rPr>
                        <a:t>Se trabaja pronunciación, escucha o el participante se desplaza.</a:t>
                      </a:r>
                      <a:endParaRPr lang="en-US" sz="11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1F4F8"/>
                    </a:solidFill>
                  </a:tcPr>
                </a:tc>
                <a:tc>
                  <a:txBody>
                    <a:bodyPr/>
                    <a:lstStyle/>
                    <a:p>
                      <a:pPr marL="0" indent="0">
                        <a:buNone/>
                      </a:pPr>
                      <a:r>
                        <a:rPr lang="en-US" sz="1150" dirty="0">
                          <a:solidFill>
                            <a:srgbClr val="1F2933"/>
                          </a:solidFill>
                          <a:latin typeface="Calibri" pitchFamily="34" charset="0"/>
                          <a:ea typeface="Calibri" pitchFamily="34" charset="-122"/>
                          <a:cs typeface="Calibri" pitchFamily="34" charset="-120"/>
                        </a:rPr>
                        <a:t>60 a 120 s</a:t>
                      </a:r>
                      <a:endParaRPr lang="en-US" sz="11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1F4F8"/>
                    </a:solidFill>
                  </a:tcPr>
                </a:tc>
                <a:tc>
                  <a:txBody>
                    <a:bodyPr/>
                    <a:lstStyle/>
                    <a:p>
                      <a:pPr marL="0" indent="0">
                        <a:buNone/>
                      </a:pPr>
                      <a:r>
                        <a:rPr lang="en-US" sz="1150" dirty="0">
                          <a:solidFill>
                            <a:srgbClr val="1F2933"/>
                          </a:solidFill>
                          <a:latin typeface="Calibri" pitchFamily="34" charset="0"/>
                          <a:ea typeface="Calibri" pitchFamily="34" charset="-122"/>
                          <a:cs typeface="Calibri" pitchFamily="34" charset="-120"/>
                        </a:rPr>
                        <a:t>Grabación de voz del participante.</a:t>
                      </a:r>
                      <a:endParaRPr lang="en-US" sz="11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1F4F8"/>
                    </a:solidFill>
                  </a:tcPr>
                </a:tc>
                <a:extLst>
                  <a:ext uri="{0D108BD9-81ED-4DB2-BD59-A6C34878D82A}">
                    <a16:rowId xmlns:a16="http://schemas.microsoft.com/office/drawing/2014/main" val="10004"/>
                  </a:ext>
                </a:extLst>
              </a:tr>
              <a:tr h="566928">
                <a:tc>
                  <a:txBody>
                    <a:bodyPr/>
                    <a:lstStyle/>
                    <a:p>
                      <a:pPr marL="0" indent="0">
                        <a:buNone/>
                      </a:pPr>
                      <a:r>
                        <a:rPr lang="en-US" sz="1150" b="1" dirty="0">
                          <a:solidFill>
                            <a:srgbClr val="1F2933"/>
                          </a:solidFill>
                          <a:latin typeface="Calibri" pitchFamily="34" charset="0"/>
                          <a:ea typeface="Calibri" pitchFamily="34" charset="-122"/>
                          <a:cs typeface="Calibri" pitchFamily="34" charset="-120"/>
                        </a:rPr>
                        <a:t>Práctica guiada presencial</a:t>
                      </a:r>
                      <a:endParaRPr lang="en-US" sz="11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150" dirty="0">
                          <a:solidFill>
                            <a:srgbClr val="1F2933"/>
                          </a:solidFill>
                          <a:latin typeface="Calibri" pitchFamily="34" charset="0"/>
                          <a:ea typeface="Calibri" pitchFamily="34" charset="-122"/>
                          <a:cs typeface="Calibri" pitchFamily="34" charset="-120"/>
                        </a:rPr>
                        <a:t>La destreza requiere retroalimentación inmediata del docente.</a:t>
                      </a:r>
                      <a:endParaRPr lang="en-US" sz="11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150" dirty="0">
                          <a:solidFill>
                            <a:srgbClr val="1F2933"/>
                          </a:solidFill>
                          <a:latin typeface="Calibri" pitchFamily="34" charset="0"/>
                          <a:ea typeface="Calibri" pitchFamily="34" charset="-122"/>
                          <a:cs typeface="Calibri" pitchFamily="34" charset="-120"/>
                        </a:rPr>
                        <a:t>10 a 15 min</a:t>
                      </a:r>
                      <a:endParaRPr lang="en-US" sz="11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150" dirty="0">
                          <a:solidFill>
                            <a:srgbClr val="1F2933"/>
                          </a:solidFill>
                          <a:latin typeface="Calibri" pitchFamily="34" charset="0"/>
                          <a:ea typeface="Calibri" pitchFamily="34" charset="-122"/>
                          <a:cs typeface="Calibri" pitchFamily="34" charset="-120"/>
                        </a:rPr>
                        <a:t>Demostración observada con lista de cotejo.</a:t>
                      </a:r>
                      <a:endParaRPr lang="en-US" sz="11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7" name="Shape 4"/>
          <p:cNvSpPr/>
          <p:nvPr/>
        </p:nvSpPr>
        <p:spPr>
          <a:xfrm>
            <a:off x="566928" y="5230368"/>
            <a:ext cx="11055096" cy="731520"/>
          </a:xfrm>
          <a:prstGeom prst="roundRect">
            <a:avLst>
              <a:gd name="adj" fmla="val 6250"/>
            </a:avLst>
          </a:prstGeom>
          <a:solidFill>
            <a:srgbClr val="E7F2F0"/>
          </a:solidFill>
          <a:ln w="12700">
            <a:solidFill>
              <a:srgbClr val="E7F2F0"/>
            </a:solidFill>
            <a:prstDash val="solid"/>
          </a:ln>
        </p:spPr>
      </p:sp>
      <p:sp>
        <p:nvSpPr>
          <p:cNvPr id="8" name="Text 5"/>
          <p:cNvSpPr txBox="1"/>
          <p:nvPr/>
        </p:nvSpPr>
        <p:spPr>
          <a:xfrm>
            <a:off x="932688" y="5340096"/>
            <a:ext cx="10323576" cy="512064"/>
          </a:xfrm>
          <a:prstGeom prst="rect">
            <a:avLst/>
          </a:prstGeom>
          <a:noFill/>
          <a:ln/>
        </p:spPr>
        <p:txBody>
          <a:bodyPr wrap="square" lIns="0" tIns="0" rIns="0" bIns="0" rtlCol="0" anchor="ctr"/>
          <a:lstStyle/>
          <a:p>
            <a:pPr marL="0" indent="0" algn="ctr">
              <a:buNone/>
            </a:pPr>
            <a:r>
              <a:rPr lang="en-US" sz="1500" b="1" dirty="0">
                <a:solidFill>
                  <a:srgbClr val="1B2A4A"/>
                </a:solidFill>
                <a:latin typeface="Cambria" pitchFamily="34" charset="0"/>
                <a:ea typeface="Cambria" pitchFamily="34" charset="-122"/>
                <a:cs typeface="Cambria" pitchFamily="34" charset="-120"/>
              </a:rPr>
              <a:t>El formato se elige después de la competencia, nunca antes. Primero qué debe poder hacer la persona; luego, con qué se lo enseño.</a:t>
            </a:r>
            <a:endParaRPr lang="en-US" sz="15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29184"/>
            <a:ext cx="11055096" cy="256032"/>
          </a:xfrm>
          <a:prstGeom prst="rect">
            <a:avLst/>
          </a:prstGeom>
          <a:noFill/>
          <a:ln/>
        </p:spPr>
        <p:txBody>
          <a:bodyPr wrap="square" lIns="0" tIns="0" rIns="0" bIns="0" rtlCol="0" anchor="ctr"/>
          <a:lstStyle/>
          <a:p>
            <a:pPr marL="0" indent="0">
              <a:buNone/>
            </a:pPr>
            <a:r>
              <a:rPr lang="en-US" sz="1100" b="1" kern="0" spc="160" dirty="0">
                <a:solidFill>
                  <a:srgbClr val="2A9D8F"/>
                </a:solidFill>
                <a:latin typeface="Calibri" pitchFamily="34" charset="0"/>
                <a:ea typeface="Calibri" pitchFamily="34" charset="-122"/>
                <a:cs typeface="Calibri" pitchFamily="34" charset="-120"/>
              </a:rPr>
              <a:t>FORMATO 1</a:t>
            </a:r>
            <a:endParaRPr lang="en-US" sz="1100" dirty="0"/>
          </a:p>
        </p:txBody>
      </p:sp>
      <p:sp>
        <p:nvSpPr>
          <p:cNvPr id="3" name="Text 1"/>
          <p:cNvSpPr txBox="1"/>
          <p:nvPr/>
        </p:nvSpPr>
        <p:spPr>
          <a:xfrm>
            <a:off x="566928" y="603504"/>
            <a:ext cx="11055096" cy="749808"/>
          </a:xfrm>
          <a:prstGeom prst="rect">
            <a:avLst/>
          </a:prstGeom>
          <a:noFill/>
          <a:ln/>
        </p:spPr>
        <p:txBody>
          <a:bodyPr wrap="square" lIns="0" tIns="0" rIns="0" bIns="0" rtlCol="0" anchor="t"/>
          <a:lstStyle/>
          <a:p>
            <a:pPr marL="0" indent="0">
              <a:buNone/>
            </a:pPr>
            <a:r>
              <a:rPr lang="en-US" sz="2900" b="1" dirty="0">
                <a:solidFill>
                  <a:srgbClr val="1B2A4A"/>
                </a:solidFill>
                <a:latin typeface="Cambria" pitchFamily="34" charset="0"/>
                <a:ea typeface="Cambria" pitchFamily="34" charset="-122"/>
                <a:cs typeface="Cambria" pitchFamily="34" charset="-120"/>
              </a:rPr>
              <a:t>Cápsula escrita: anatomía de una sola página</a:t>
            </a:r>
            <a:endParaRPr lang="en-US" sz="2900" dirty="0"/>
          </a:p>
        </p:txBody>
      </p:sp>
      <p:sp>
        <p:nvSpPr>
          <p:cNvPr id="4" name="Text 2"/>
          <p:cNvSpPr txBox="1"/>
          <p:nvPr/>
        </p:nvSpPr>
        <p:spPr>
          <a:xfrm>
            <a:off x="566928" y="6428232"/>
            <a:ext cx="7863840" cy="256032"/>
          </a:xfrm>
          <a:prstGeom prst="rect">
            <a:avLst/>
          </a:prstGeom>
          <a:noFill/>
          <a:ln/>
        </p:spPr>
        <p:txBody>
          <a:bodyPr wrap="square" lIns="0" tIns="0" rIns="0" bIns="0" rtlCol="0" anchor="ctr"/>
          <a:lstStyle/>
          <a:p>
            <a:pPr marL="0" indent="0">
              <a:buNone/>
            </a:pPr>
            <a:r>
              <a:rPr lang="en-US" sz="900" dirty="0">
                <a:solidFill>
                  <a:srgbClr val="5B6B7B"/>
                </a:solidFill>
                <a:latin typeface="Calibri" pitchFamily="34" charset="0"/>
                <a:ea typeface="Calibri" pitchFamily="34" charset="-122"/>
                <a:cs typeface="Calibri" pitchFamily="34" charset="-120"/>
              </a:rPr>
              <a:t>Microaprendizaje para adultos  ·  Proyecto RUTA — Inter Ponce</a:t>
            </a:r>
            <a:endParaRPr lang="en-US" sz="900" dirty="0"/>
          </a:p>
        </p:txBody>
      </p:sp>
      <p:sp>
        <p:nvSpPr>
          <p:cNvPr id="5" name="Text 3"/>
          <p:cNvSpPr txBox="1"/>
          <p:nvPr/>
        </p:nvSpPr>
        <p:spPr>
          <a:xfrm>
            <a:off x="10972800" y="6428232"/>
            <a:ext cx="649224" cy="256032"/>
          </a:xfrm>
          <a:prstGeom prst="rect">
            <a:avLst/>
          </a:prstGeom>
          <a:noFill/>
          <a:ln/>
        </p:spPr>
        <p:txBody>
          <a:bodyPr wrap="square" lIns="0" tIns="0" rIns="0" bIns="0" rtlCol="0" anchor="ctr"/>
          <a:lstStyle/>
          <a:p>
            <a:pPr marL="0" indent="0" algn="r">
              <a:buNone/>
            </a:pPr>
            <a:r>
              <a:rPr lang="en-US" sz="900" dirty="0">
                <a:solidFill>
                  <a:srgbClr val="5B6B7B"/>
                </a:solidFill>
                <a:latin typeface="Calibri" pitchFamily="34" charset="0"/>
                <a:ea typeface="Calibri" pitchFamily="34" charset="-122"/>
                <a:cs typeface="Calibri" pitchFamily="34" charset="-120"/>
              </a:rPr>
              <a:t>29</a:t>
            </a:r>
            <a:endParaRPr lang="en-US" sz="900" dirty="0"/>
          </a:p>
        </p:txBody>
      </p:sp>
      <p:sp>
        <p:nvSpPr>
          <p:cNvPr id="6" name="Shape 4"/>
          <p:cNvSpPr/>
          <p:nvPr/>
        </p:nvSpPr>
        <p:spPr>
          <a:xfrm>
            <a:off x="566928" y="1627632"/>
            <a:ext cx="5394960" cy="4023360"/>
          </a:xfrm>
          <a:prstGeom prst="roundRect">
            <a:avLst>
              <a:gd name="adj" fmla="val 909"/>
            </a:avLst>
          </a:prstGeom>
          <a:solidFill>
            <a:srgbClr val="F1F4F8"/>
          </a:solidFill>
          <a:ln w="12700">
            <a:solidFill>
              <a:srgbClr val="F1F4F8"/>
            </a:solidFill>
            <a:prstDash val="solid"/>
          </a:ln>
          <a:effectLst>
            <a:outerShdw blurRad="101600" dist="12700" dir="5400000" algn="bl" rotWithShape="0">
              <a:srgbClr val="9AA8B5">
                <a:alpha val="16000"/>
              </a:srgbClr>
            </a:outerShdw>
          </a:effectLst>
        </p:spPr>
      </p:sp>
      <p:sp>
        <p:nvSpPr>
          <p:cNvPr id="7" name="Text 5"/>
          <p:cNvSpPr txBox="1"/>
          <p:nvPr/>
        </p:nvSpPr>
        <p:spPr>
          <a:xfrm>
            <a:off x="804672" y="1847088"/>
            <a:ext cx="4919472" cy="310896"/>
          </a:xfrm>
          <a:prstGeom prst="rect">
            <a:avLst/>
          </a:prstGeom>
          <a:noFill/>
          <a:ln/>
        </p:spPr>
        <p:txBody>
          <a:bodyPr wrap="square" lIns="0" tIns="0" rIns="0" bIns="0" rtlCol="0" anchor="t"/>
          <a:lstStyle/>
          <a:p>
            <a:pPr marL="0" indent="0">
              <a:buNone/>
            </a:pPr>
            <a:r>
              <a:rPr lang="en-US" sz="1450" b="1" dirty="0">
                <a:solidFill>
                  <a:srgbClr val="1B2A4A"/>
                </a:solidFill>
                <a:latin typeface="Calibri" pitchFamily="34" charset="0"/>
                <a:ea typeface="Calibri" pitchFamily="34" charset="-122"/>
                <a:cs typeface="Calibri" pitchFamily="34" charset="-120"/>
              </a:rPr>
              <a:t>Estructura de la página</a:t>
            </a:r>
            <a:endParaRPr lang="en-US" sz="1450" dirty="0"/>
          </a:p>
        </p:txBody>
      </p:sp>
      <p:sp>
        <p:nvSpPr>
          <p:cNvPr id="8" name="Text 6"/>
          <p:cNvSpPr txBox="1"/>
          <p:nvPr/>
        </p:nvSpPr>
        <p:spPr>
          <a:xfrm>
            <a:off x="841248" y="2212848"/>
            <a:ext cx="4882896" cy="3255264"/>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1F2933"/>
                </a:solidFill>
                <a:latin typeface="Calibri" pitchFamily="34" charset="0"/>
                <a:ea typeface="Calibri" pitchFamily="34" charset="-122"/>
                <a:cs typeface="Calibri" pitchFamily="34" charset="-120"/>
              </a:rPr>
              <a:t>Título en forma de promesa: «Al terminar podrá calcular el 15 % de propina mentalmente».</a:t>
            </a:r>
            <a:endParaRPr lang="en-US" sz="1200" dirty="0"/>
          </a:p>
          <a:p>
            <a:pPr marL="342900" indent="-342900">
              <a:spcAft>
                <a:spcPts val="500"/>
              </a:spcAft>
              <a:buSzPct val="100000"/>
              <a:buChar char="•"/>
            </a:pPr>
            <a:r>
              <a:rPr lang="en-US" sz="1200" dirty="0">
                <a:solidFill>
                  <a:srgbClr val="1F2933"/>
                </a:solidFill>
                <a:latin typeface="Calibri" pitchFamily="34" charset="0"/>
                <a:ea typeface="Calibri" pitchFamily="34" charset="-122"/>
                <a:cs typeface="Calibri" pitchFamily="34" charset="-120"/>
              </a:rPr>
              <a:t>Situación de arranque en dos o tres oraciones.</a:t>
            </a:r>
            <a:endParaRPr lang="en-US" sz="1200" dirty="0"/>
          </a:p>
          <a:p>
            <a:pPr marL="342900" indent="-342900">
              <a:spcAft>
                <a:spcPts val="500"/>
              </a:spcAft>
              <a:buSzPct val="100000"/>
              <a:buChar char="•"/>
            </a:pPr>
            <a:r>
              <a:rPr lang="en-US" sz="1200" dirty="0">
                <a:solidFill>
                  <a:srgbClr val="1F2933"/>
                </a:solidFill>
                <a:latin typeface="Calibri" pitchFamily="34" charset="0"/>
                <a:ea typeface="Calibri" pitchFamily="34" charset="-122"/>
                <a:cs typeface="Calibri" pitchFamily="34" charset="-120"/>
              </a:rPr>
              <a:t>Contenido mínimo en viñetas, nunca en párrafos largos.</a:t>
            </a:r>
            <a:endParaRPr lang="en-US" sz="1200" dirty="0"/>
          </a:p>
          <a:p>
            <a:pPr marL="342900" indent="-342900">
              <a:spcAft>
                <a:spcPts val="500"/>
              </a:spcAft>
              <a:buSzPct val="100000"/>
              <a:buChar char="•"/>
            </a:pPr>
            <a:r>
              <a:rPr lang="en-US" sz="1200" dirty="0">
                <a:solidFill>
                  <a:srgbClr val="1F2933"/>
                </a:solidFill>
                <a:latin typeface="Calibri" pitchFamily="34" charset="0"/>
                <a:ea typeface="Calibri" pitchFamily="34" charset="-122"/>
                <a:cs typeface="Calibri" pitchFamily="34" charset="-120"/>
              </a:rPr>
              <a:t>Procedimiento numerado, un paso por línea.</a:t>
            </a:r>
            <a:endParaRPr lang="en-US" sz="1200" dirty="0"/>
          </a:p>
          <a:p>
            <a:pPr marL="342900" indent="-342900">
              <a:spcAft>
                <a:spcPts val="500"/>
              </a:spcAft>
              <a:buSzPct val="100000"/>
              <a:buChar char="•"/>
            </a:pPr>
            <a:r>
              <a:rPr lang="en-US" sz="1200" dirty="0">
                <a:solidFill>
                  <a:srgbClr val="1F2933"/>
                </a:solidFill>
                <a:latin typeface="Calibri" pitchFamily="34" charset="0"/>
                <a:ea typeface="Calibri" pitchFamily="34" charset="-122"/>
                <a:cs typeface="Calibri" pitchFamily="34" charset="-120"/>
              </a:rPr>
              <a:t>Ejemplo resuelto completo, con el razonamiento visible.</a:t>
            </a:r>
            <a:endParaRPr lang="en-US" sz="1200" dirty="0"/>
          </a:p>
          <a:p>
            <a:pPr marL="342900" indent="-342900">
              <a:spcAft>
                <a:spcPts val="500"/>
              </a:spcAft>
              <a:buSzPct val="100000"/>
              <a:buChar char="•"/>
            </a:pPr>
            <a:r>
              <a:rPr lang="en-US" sz="1200" dirty="0">
                <a:solidFill>
                  <a:srgbClr val="1F2933"/>
                </a:solidFill>
                <a:latin typeface="Calibri" pitchFamily="34" charset="0"/>
                <a:ea typeface="Calibri" pitchFamily="34" charset="-122"/>
                <a:cs typeface="Calibri" pitchFamily="34" charset="-120"/>
              </a:rPr>
              <a:t>Zona de práctica con espacio real para escribir.</a:t>
            </a:r>
            <a:endParaRPr lang="en-US" sz="1200" dirty="0"/>
          </a:p>
          <a:p>
            <a:pPr marL="342900" indent="-342900">
              <a:spcAft>
                <a:spcPts val="500"/>
              </a:spcAft>
              <a:buSzPct val="100000"/>
              <a:buChar char="•"/>
            </a:pPr>
            <a:r>
              <a:rPr lang="en-US" sz="1200" dirty="0">
                <a:solidFill>
                  <a:srgbClr val="1F2933"/>
                </a:solidFill>
                <a:latin typeface="Calibri" pitchFamily="34" charset="0"/>
                <a:ea typeface="Calibri" pitchFamily="34" charset="-122"/>
                <a:cs typeface="Calibri" pitchFamily="34" charset="-120"/>
              </a:rPr>
              <a:t>Chequeo de tres preguntas con las respuestas al reverso.</a:t>
            </a:r>
            <a:endParaRPr lang="en-US" sz="1200" dirty="0"/>
          </a:p>
        </p:txBody>
      </p:sp>
      <p:sp>
        <p:nvSpPr>
          <p:cNvPr id="9" name="Shape 7"/>
          <p:cNvSpPr/>
          <p:nvPr/>
        </p:nvSpPr>
        <p:spPr>
          <a:xfrm>
            <a:off x="6227064" y="1627632"/>
            <a:ext cx="5394960" cy="1920240"/>
          </a:xfrm>
          <a:prstGeom prst="roundRect">
            <a:avLst>
              <a:gd name="adj" fmla="val 1905"/>
            </a:avLst>
          </a:prstGeom>
          <a:solidFill>
            <a:srgbClr val="E7F2F0"/>
          </a:solidFill>
          <a:ln w="12700">
            <a:solidFill>
              <a:srgbClr val="E7F2F0"/>
            </a:solidFill>
            <a:prstDash val="solid"/>
          </a:ln>
          <a:effectLst>
            <a:outerShdw blurRad="101600" dist="12700" dir="5400000" algn="bl" rotWithShape="0">
              <a:srgbClr val="9AA8B5">
                <a:alpha val="16000"/>
              </a:srgbClr>
            </a:outerShdw>
          </a:effectLst>
        </p:spPr>
      </p:sp>
      <p:sp>
        <p:nvSpPr>
          <p:cNvPr id="10" name="Text 8"/>
          <p:cNvSpPr txBox="1"/>
          <p:nvPr/>
        </p:nvSpPr>
        <p:spPr>
          <a:xfrm>
            <a:off x="6464808" y="1847088"/>
            <a:ext cx="4919472" cy="310896"/>
          </a:xfrm>
          <a:prstGeom prst="rect">
            <a:avLst/>
          </a:prstGeom>
          <a:noFill/>
          <a:ln/>
        </p:spPr>
        <p:txBody>
          <a:bodyPr wrap="square" lIns="0" tIns="0" rIns="0" bIns="0" rtlCol="0" anchor="t"/>
          <a:lstStyle/>
          <a:p>
            <a:pPr marL="0" indent="0">
              <a:buNone/>
            </a:pPr>
            <a:r>
              <a:rPr lang="en-US" sz="1450" b="1" dirty="0">
                <a:solidFill>
                  <a:srgbClr val="1B2A4A"/>
                </a:solidFill>
                <a:latin typeface="Calibri" pitchFamily="34" charset="0"/>
                <a:ea typeface="Calibri" pitchFamily="34" charset="-122"/>
                <a:cs typeface="Calibri" pitchFamily="34" charset="-120"/>
              </a:rPr>
              <a:t>Criterios de calidad</a:t>
            </a:r>
            <a:endParaRPr lang="en-US" sz="1450" dirty="0"/>
          </a:p>
        </p:txBody>
      </p:sp>
      <p:sp>
        <p:nvSpPr>
          <p:cNvPr id="11" name="Text 9"/>
          <p:cNvSpPr txBox="1"/>
          <p:nvPr/>
        </p:nvSpPr>
        <p:spPr>
          <a:xfrm>
            <a:off x="6501384" y="2212848"/>
            <a:ext cx="4882896" cy="1152144"/>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1F2933"/>
                </a:solidFill>
                <a:latin typeface="Calibri" pitchFamily="34" charset="0"/>
                <a:ea typeface="Calibri" pitchFamily="34" charset="-122"/>
                <a:cs typeface="Calibri" pitchFamily="34" charset="-120"/>
              </a:rPr>
              <a:t>Cabe en una página; si no cabe, son dos cápsulas.</a:t>
            </a:r>
            <a:endParaRPr lang="en-US" sz="1150" dirty="0"/>
          </a:p>
          <a:p>
            <a:pPr marL="342900" indent="-342900">
              <a:spcAft>
                <a:spcPts val="500"/>
              </a:spcAft>
              <a:buSzPct val="100000"/>
              <a:buChar char="•"/>
            </a:pPr>
            <a:r>
              <a:rPr lang="en-US" sz="1150" dirty="0">
                <a:solidFill>
                  <a:srgbClr val="1F2933"/>
                </a:solidFill>
                <a:latin typeface="Calibri" pitchFamily="34" charset="0"/>
                <a:ea typeface="Calibri" pitchFamily="34" charset="-122"/>
                <a:cs typeface="Calibri" pitchFamily="34" charset="-120"/>
              </a:rPr>
              <a:t>Tipografía de 14 puntos o mayor, alto contraste.</a:t>
            </a:r>
            <a:endParaRPr lang="en-US" sz="1150" dirty="0"/>
          </a:p>
          <a:p>
            <a:pPr marL="342900" indent="-342900">
              <a:spcAft>
                <a:spcPts val="500"/>
              </a:spcAft>
              <a:buSzPct val="100000"/>
              <a:buChar char="•"/>
            </a:pPr>
            <a:r>
              <a:rPr lang="en-US" sz="1150" dirty="0">
                <a:solidFill>
                  <a:srgbClr val="1F2933"/>
                </a:solidFill>
                <a:latin typeface="Calibri" pitchFamily="34" charset="0"/>
                <a:ea typeface="Calibri" pitchFamily="34" charset="-122"/>
                <a:cs typeface="Calibri" pitchFamily="34" charset="-120"/>
              </a:rPr>
              <a:t>Ningún párrafo de más de cuatro líneas.</a:t>
            </a:r>
            <a:endParaRPr lang="en-US" sz="1150" dirty="0"/>
          </a:p>
          <a:p>
            <a:pPr marL="342900" indent="-342900">
              <a:spcAft>
                <a:spcPts val="500"/>
              </a:spcAft>
              <a:buSzPct val="100000"/>
              <a:buChar char="•"/>
            </a:pPr>
            <a:r>
              <a:rPr lang="en-US" sz="1150" dirty="0">
                <a:solidFill>
                  <a:srgbClr val="1F2933"/>
                </a:solidFill>
                <a:latin typeface="Calibri" pitchFamily="34" charset="0"/>
                <a:ea typeface="Calibri" pitchFamily="34" charset="-122"/>
                <a:cs typeface="Calibri" pitchFamily="34" charset="-120"/>
              </a:rPr>
              <a:t>Funciona impresa y en pantalla de celular.</a:t>
            </a:r>
            <a:endParaRPr lang="en-US" sz="1150" dirty="0"/>
          </a:p>
        </p:txBody>
      </p:sp>
      <p:sp>
        <p:nvSpPr>
          <p:cNvPr id="12" name="Shape 10"/>
          <p:cNvSpPr/>
          <p:nvPr/>
        </p:nvSpPr>
        <p:spPr>
          <a:xfrm>
            <a:off x="6227064" y="3730752"/>
            <a:ext cx="5394960" cy="1920240"/>
          </a:xfrm>
          <a:prstGeom prst="roundRect">
            <a:avLst>
              <a:gd name="adj" fmla="val 1905"/>
            </a:avLst>
          </a:prstGeom>
          <a:solidFill>
            <a:srgbClr val="FAF3E0"/>
          </a:solidFill>
          <a:ln w="12700">
            <a:solidFill>
              <a:srgbClr val="FAF3E0"/>
            </a:solidFill>
            <a:prstDash val="solid"/>
          </a:ln>
          <a:effectLst>
            <a:outerShdw blurRad="101600" dist="12700" dir="5400000" algn="bl" rotWithShape="0">
              <a:srgbClr val="9AA8B5">
                <a:alpha val="16000"/>
              </a:srgbClr>
            </a:outerShdw>
          </a:effectLst>
        </p:spPr>
      </p:sp>
      <p:sp>
        <p:nvSpPr>
          <p:cNvPr id="13" name="Text 11"/>
          <p:cNvSpPr txBox="1"/>
          <p:nvPr/>
        </p:nvSpPr>
        <p:spPr>
          <a:xfrm>
            <a:off x="6464808" y="3950208"/>
            <a:ext cx="4919472" cy="310896"/>
          </a:xfrm>
          <a:prstGeom prst="rect">
            <a:avLst/>
          </a:prstGeom>
          <a:noFill/>
          <a:ln/>
        </p:spPr>
        <p:txBody>
          <a:bodyPr wrap="square" lIns="0" tIns="0" rIns="0" bIns="0" rtlCol="0" anchor="t"/>
          <a:lstStyle/>
          <a:p>
            <a:pPr marL="0" indent="0">
              <a:buNone/>
            </a:pPr>
            <a:r>
              <a:rPr lang="en-US" sz="1450" b="1" dirty="0">
                <a:solidFill>
                  <a:srgbClr val="1B2A4A"/>
                </a:solidFill>
                <a:latin typeface="Calibri" pitchFamily="34" charset="0"/>
                <a:ea typeface="Calibri" pitchFamily="34" charset="-122"/>
                <a:cs typeface="Calibri" pitchFamily="34" charset="-120"/>
              </a:rPr>
              <a:t>Errores que la arruinan</a:t>
            </a:r>
            <a:endParaRPr lang="en-US" sz="1450" dirty="0"/>
          </a:p>
        </p:txBody>
      </p:sp>
      <p:sp>
        <p:nvSpPr>
          <p:cNvPr id="14" name="Text 12"/>
          <p:cNvSpPr txBox="1"/>
          <p:nvPr/>
        </p:nvSpPr>
        <p:spPr>
          <a:xfrm>
            <a:off x="6501384" y="4315968"/>
            <a:ext cx="4882896" cy="1152144"/>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1F2933"/>
                </a:solidFill>
                <a:latin typeface="Calibri" pitchFamily="34" charset="0"/>
                <a:ea typeface="Calibri" pitchFamily="34" charset="-122"/>
                <a:cs typeface="Calibri" pitchFamily="34" charset="-120"/>
              </a:rPr>
              <a:t>Escribir el resumen del tema en vez del procedimiento.</a:t>
            </a:r>
            <a:endParaRPr lang="en-US" sz="1150" dirty="0"/>
          </a:p>
          <a:p>
            <a:pPr marL="342900" indent="-342900">
              <a:spcAft>
                <a:spcPts val="500"/>
              </a:spcAft>
              <a:buSzPct val="100000"/>
              <a:buChar char="•"/>
            </a:pPr>
            <a:r>
              <a:rPr lang="en-US" sz="1150" dirty="0">
                <a:solidFill>
                  <a:srgbClr val="1F2933"/>
                </a:solidFill>
                <a:latin typeface="Calibri" pitchFamily="34" charset="0"/>
                <a:ea typeface="Calibri" pitchFamily="34" charset="-122"/>
                <a:cs typeface="Calibri" pitchFamily="34" charset="-120"/>
              </a:rPr>
              <a:t>Dejar el ejemplo a medias, «para que piensen».</a:t>
            </a:r>
            <a:endParaRPr lang="en-US" sz="1150" dirty="0"/>
          </a:p>
          <a:p>
            <a:pPr marL="342900" indent="-342900">
              <a:spcAft>
                <a:spcPts val="500"/>
              </a:spcAft>
              <a:buSzPct val="100000"/>
              <a:buChar char="•"/>
            </a:pPr>
            <a:r>
              <a:rPr lang="en-US" sz="1150" dirty="0">
                <a:solidFill>
                  <a:srgbClr val="1F2933"/>
                </a:solidFill>
                <a:latin typeface="Calibri" pitchFamily="34" charset="0"/>
                <a:ea typeface="Calibri" pitchFamily="34" charset="-122"/>
                <a:cs typeface="Calibri" pitchFamily="34" charset="-120"/>
              </a:rPr>
              <a:t>Poner la práctica en otra hoja: se pierde.</a:t>
            </a:r>
            <a:endParaRPr lang="en-US" sz="1150" dirty="0"/>
          </a:p>
          <a:p>
            <a:pPr marL="342900" indent="-342900">
              <a:spcAft>
                <a:spcPts val="500"/>
              </a:spcAft>
              <a:buSzPct val="100000"/>
              <a:buChar char="•"/>
            </a:pPr>
            <a:r>
              <a:rPr lang="en-US" sz="1150" dirty="0">
                <a:solidFill>
                  <a:srgbClr val="1F2933"/>
                </a:solidFill>
                <a:latin typeface="Calibri" pitchFamily="34" charset="0"/>
                <a:ea typeface="Calibri" pitchFamily="34" charset="-122"/>
                <a:cs typeface="Calibri" pitchFamily="34" charset="-120"/>
              </a:rPr>
              <a:t>Usar lenguaje académico donde cabe lenguaje llano.</a:t>
            </a:r>
            <a:endParaRPr lang="en-US" sz="11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29184"/>
            <a:ext cx="11055096" cy="256032"/>
          </a:xfrm>
          <a:prstGeom prst="rect">
            <a:avLst/>
          </a:prstGeom>
          <a:noFill/>
          <a:ln/>
        </p:spPr>
        <p:txBody>
          <a:bodyPr wrap="square" lIns="0" tIns="0" rIns="0" bIns="0" rtlCol="0" anchor="ctr"/>
          <a:lstStyle/>
          <a:p>
            <a:pPr marL="0" indent="0">
              <a:buNone/>
            </a:pPr>
            <a:r>
              <a:rPr lang="en-US" sz="1100" b="1" kern="0" spc="160" dirty="0">
                <a:solidFill>
                  <a:srgbClr val="2A9D8F"/>
                </a:solidFill>
                <a:latin typeface="Calibri" pitchFamily="34" charset="0"/>
                <a:ea typeface="Calibri" pitchFamily="34" charset="-122"/>
                <a:cs typeface="Calibri" pitchFamily="34" charset="-120"/>
              </a:rPr>
              <a:t>FORMATO 2</a:t>
            </a:r>
            <a:endParaRPr lang="en-US" sz="1100" dirty="0"/>
          </a:p>
        </p:txBody>
      </p:sp>
      <p:sp>
        <p:nvSpPr>
          <p:cNvPr id="3" name="Text 1"/>
          <p:cNvSpPr txBox="1"/>
          <p:nvPr/>
        </p:nvSpPr>
        <p:spPr>
          <a:xfrm>
            <a:off x="566928" y="603504"/>
            <a:ext cx="11055096" cy="749808"/>
          </a:xfrm>
          <a:prstGeom prst="rect">
            <a:avLst/>
          </a:prstGeom>
          <a:noFill/>
          <a:ln/>
        </p:spPr>
        <p:txBody>
          <a:bodyPr wrap="square" lIns="0" tIns="0" rIns="0" bIns="0" rtlCol="0" anchor="t"/>
          <a:lstStyle/>
          <a:p>
            <a:pPr marL="0" indent="0">
              <a:buNone/>
            </a:pPr>
            <a:r>
              <a:rPr lang="en-US" sz="2900" b="1" dirty="0">
                <a:solidFill>
                  <a:srgbClr val="1B2A4A"/>
                </a:solidFill>
                <a:latin typeface="Cambria" pitchFamily="34" charset="0"/>
                <a:ea typeface="Cambria" pitchFamily="34" charset="-122"/>
                <a:cs typeface="Cambria" pitchFamily="34" charset="-120"/>
              </a:rPr>
              <a:t>Video breve: guion de cuatro bloques y producción con celular</a:t>
            </a:r>
            <a:endParaRPr lang="en-US" sz="2900" dirty="0"/>
          </a:p>
        </p:txBody>
      </p:sp>
      <p:sp>
        <p:nvSpPr>
          <p:cNvPr id="4" name="Text 2"/>
          <p:cNvSpPr txBox="1"/>
          <p:nvPr/>
        </p:nvSpPr>
        <p:spPr>
          <a:xfrm>
            <a:off x="566928" y="6428232"/>
            <a:ext cx="7863840" cy="256032"/>
          </a:xfrm>
          <a:prstGeom prst="rect">
            <a:avLst/>
          </a:prstGeom>
          <a:noFill/>
          <a:ln/>
        </p:spPr>
        <p:txBody>
          <a:bodyPr wrap="square" lIns="0" tIns="0" rIns="0" bIns="0" rtlCol="0" anchor="ctr"/>
          <a:lstStyle/>
          <a:p>
            <a:pPr marL="0" indent="0">
              <a:buNone/>
            </a:pPr>
            <a:r>
              <a:rPr lang="en-US" sz="900" dirty="0">
                <a:solidFill>
                  <a:srgbClr val="5B6B7B"/>
                </a:solidFill>
                <a:latin typeface="Calibri" pitchFamily="34" charset="0"/>
                <a:ea typeface="Calibri" pitchFamily="34" charset="-122"/>
                <a:cs typeface="Calibri" pitchFamily="34" charset="-120"/>
              </a:rPr>
              <a:t>Microaprendizaje para adultos  ·  Proyecto RUTA — Inter Ponce</a:t>
            </a:r>
            <a:endParaRPr lang="en-US" sz="900" dirty="0"/>
          </a:p>
        </p:txBody>
      </p:sp>
      <p:sp>
        <p:nvSpPr>
          <p:cNvPr id="5" name="Text 3"/>
          <p:cNvSpPr txBox="1"/>
          <p:nvPr/>
        </p:nvSpPr>
        <p:spPr>
          <a:xfrm>
            <a:off x="10972800" y="6428232"/>
            <a:ext cx="649224" cy="256032"/>
          </a:xfrm>
          <a:prstGeom prst="rect">
            <a:avLst/>
          </a:prstGeom>
          <a:noFill/>
          <a:ln/>
        </p:spPr>
        <p:txBody>
          <a:bodyPr wrap="square" lIns="0" tIns="0" rIns="0" bIns="0" rtlCol="0" anchor="ctr"/>
          <a:lstStyle/>
          <a:p>
            <a:pPr marL="0" indent="0" algn="r">
              <a:buNone/>
            </a:pPr>
            <a:r>
              <a:rPr lang="en-US" sz="900" dirty="0">
                <a:solidFill>
                  <a:srgbClr val="5B6B7B"/>
                </a:solidFill>
                <a:latin typeface="Calibri" pitchFamily="34" charset="0"/>
                <a:ea typeface="Calibri" pitchFamily="34" charset="-122"/>
                <a:cs typeface="Calibri" pitchFamily="34" charset="-120"/>
              </a:rPr>
              <a:t>30</a:t>
            </a:r>
            <a:endParaRPr lang="en-US" sz="900" dirty="0"/>
          </a:p>
        </p:txBody>
      </p:sp>
      <p:sp>
        <p:nvSpPr>
          <p:cNvPr id="6" name="Shape 4"/>
          <p:cNvSpPr/>
          <p:nvPr/>
        </p:nvSpPr>
        <p:spPr>
          <a:xfrm>
            <a:off x="566928" y="1627632"/>
            <a:ext cx="2624328" cy="438912"/>
          </a:xfrm>
          <a:prstGeom prst="roundRect">
            <a:avLst>
              <a:gd name="adj" fmla="val 8333"/>
            </a:avLst>
          </a:prstGeom>
          <a:solidFill>
            <a:srgbClr val="1B2A4A"/>
          </a:solidFill>
          <a:ln w="12700">
            <a:solidFill>
              <a:srgbClr val="1B2A4A"/>
            </a:solidFill>
            <a:prstDash val="solid"/>
          </a:ln>
        </p:spPr>
      </p:sp>
      <p:sp>
        <p:nvSpPr>
          <p:cNvPr id="7" name="Text 5"/>
          <p:cNvSpPr txBox="1"/>
          <p:nvPr/>
        </p:nvSpPr>
        <p:spPr>
          <a:xfrm>
            <a:off x="566928" y="1627632"/>
            <a:ext cx="2624328" cy="438912"/>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0:00 – 0:15</a:t>
            </a:r>
            <a:endParaRPr lang="en-US" sz="1250" dirty="0"/>
          </a:p>
        </p:txBody>
      </p:sp>
      <p:sp>
        <p:nvSpPr>
          <p:cNvPr id="8" name="Shape 6"/>
          <p:cNvSpPr/>
          <p:nvPr/>
        </p:nvSpPr>
        <p:spPr>
          <a:xfrm>
            <a:off x="566928" y="2176272"/>
            <a:ext cx="2624328" cy="1783080"/>
          </a:xfrm>
          <a:prstGeom prst="roundRect">
            <a:avLst>
              <a:gd name="adj" fmla="val 2051"/>
            </a:avLst>
          </a:prstGeom>
          <a:solidFill>
            <a:srgbClr val="F1F4F8"/>
          </a:solidFill>
          <a:ln w="12700">
            <a:solidFill>
              <a:srgbClr val="F1F4F8"/>
            </a:solidFill>
            <a:prstDash val="solid"/>
          </a:ln>
          <a:effectLst>
            <a:outerShdw blurRad="101600" dist="12700" dir="5400000" algn="bl" rotWithShape="0">
              <a:srgbClr val="9AA8B5">
                <a:alpha val="16000"/>
              </a:srgbClr>
            </a:outerShdw>
          </a:effectLst>
        </p:spPr>
      </p:sp>
      <p:sp>
        <p:nvSpPr>
          <p:cNvPr id="9" name="Text 7"/>
          <p:cNvSpPr txBox="1"/>
          <p:nvPr/>
        </p:nvSpPr>
        <p:spPr>
          <a:xfrm>
            <a:off x="804672" y="2395728"/>
            <a:ext cx="2148840" cy="310896"/>
          </a:xfrm>
          <a:prstGeom prst="rect">
            <a:avLst/>
          </a:prstGeom>
          <a:noFill/>
          <a:ln/>
        </p:spPr>
        <p:txBody>
          <a:bodyPr wrap="square" lIns="0" tIns="0" rIns="0" bIns="0" rtlCol="0" anchor="t"/>
          <a:lstStyle/>
          <a:p>
            <a:pPr marL="0" indent="0">
              <a:buNone/>
            </a:pPr>
            <a:r>
              <a:rPr lang="en-US" sz="1400" b="1" dirty="0">
                <a:solidFill>
                  <a:srgbClr val="1B2A4A"/>
                </a:solidFill>
                <a:latin typeface="Calibri" pitchFamily="34" charset="0"/>
                <a:ea typeface="Calibri" pitchFamily="34" charset="-122"/>
                <a:cs typeface="Calibri" pitchFamily="34" charset="-120"/>
              </a:rPr>
              <a:t>Promesa</a:t>
            </a:r>
            <a:endParaRPr lang="en-US" sz="1400" dirty="0"/>
          </a:p>
        </p:txBody>
      </p:sp>
      <p:sp>
        <p:nvSpPr>
          <p:cNvPr id="10" name="Text 8"/>
          <p:cNvSpPr txBox="1"/>
          <p:nvPr/>
        </p:nvSpPr>
        <p:spPr>
          <a:xfrm>
            <a:off x="804672" y="2761488"/>
            <a:ext cx="2148840" cy="1014984"/>
          </a:xfrm>
          <a:prstGeom prst="rect">
            <a:avLst/>
          </a:prstGeom>
          <a:noFill/>
          <a:ln/>
        </p:spPr>
        <p:txBody>
          <a:bodyPr wrap="square" lIns="0" tIns="0" rIns="0" bIns="0" rtlCol="0" anchor="t"/>
          <a:lstStyle/>
          <a:p>
            <a:pPr marL="0" indent="0">
              <a:lnSpc>
                <a:spcPct val="106000"/>
              </a:lnSpc>
              <a:buNone/>
            </a:pPr>
            <a:r>
              <a:rPr lang="en-US" sz="1150" dirty="0">
                <a:solidFill>
                  <a:srgbClr val="1F2933"/>
                </a:solidFill>
                <a:latin typeface="Calibri" pitchFamily="34" charset="0"/>
                <a:ea typeface="Calibri" pitchFamily="34" charset="-122"/>
                <a:cs typeface="Calibri" pitchFamily="34" charset="-120"/>
              </a:rPr>
              <a:t>Diga qué podrá hacer quien vea el video. Sin presentaciones ni saludos largos.</a:t>
            </a:r>
            <a:endParaRPr lang="en-US" sz="1150" dirty="0"/>
          </a:p>
        </p:txBody>
      </p:sp>
      <p:sp>
        <p:nvSpPr>
          <p:cNvPr id="11" name="Shape 9"/>
          <p:cNvSpPr/>
          <p:nvPr/>
        </p:nvSpPr>
        <p:spPr>
          <a:xfrm>
            <a:off x="3383280" y="1627632"/>
            <a:ext cx="2624328" cy="438912"/>
          </a:xfrm>
          <a:prstGeom prst="roundRect">
            <a:avLst>
              <a:gd name="adj" fmla="val 8333"/>
            </a:avLst>
          </a:prstGeom>
          <a:solidFill>
            <a:srgbClr val="2A9D8F"/>
          </a:solidFill>
          <a:ln w="12700">
            <a:solidFill>
              <a:srgbClr val="2A9D8F"/>
            </a:solidFill>
            <a:prstDash val="solid"/>
          </a:ln>
        </p:spPr>
      </p:sp>
      <p:sp>
        <p:nvSpPr>
          <p:cNvPr id="12" name="Text 10"/>
          <p:cNvSpPr txBox="1"/>
          <p:nvPr/>
        </p:nvSpPr>
        <p:spPr>
          <a:xfrm>
            <a:off x="3383280" y="1627632"/>
            <a:ext cx="2624328" cy="438912"/>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0:15 – 0:45</a:t>
            </a:r>
            <a:endParaRPr lang="en-US" sz="1250" dirty="0"/>
          </a:p>
        </p:txBody>
      </p:sp>
      <p:sp>
        <p:nvSpPr>
          <p:cNvPr id="13" name="Shape 11"/>
          <p:cNvSpPr/>
          <p:nvPr/>
        </p:nvSpPr>
        <p:spPr>
          <a:xfrm>
            <a:off x="3383280" y="2176272"/>
            <a:ext cx="2624328" cy="1783080"/>
          </a:xfrm>
          <a:prstGeom prst="roundRect">
            <a:avLst>
              <a:gd name="adj" fmla="val 2051"/>
            </a:avLst>
          </a:prstGeom>
          <a:solidFill>
            <a:srgbClr val="F1F4F8"/>
          </a:solidFill>
          <a:ln w="12700">
            <a:solidFill>
              <a:srgbClr val="F1F4F8"/>
            </a:solidFill>
            <a:prstDash val="solid"/>
          </a:ln>
          <a:effectLst>
            <a:outerShdw blurRad="101600" dist="12700" dir="5400000" algn="bl" rotWithShape="0">
              <a:srgbClr val="9AA8B5">
                <a:alpha val="16000"/>
              </a:srgbClr>
            </a:outerShdw>
          </a:effectLst>
        </p:spPr>
      </p:sp>
      <p:sp>
        <p:nvSpPr>
          <p:cNvPr id="14" name="Text 12"/>
          <p:cNvSpPr txBox="1"/>
          <p:nvPr/>
        </p:nvSpPr>
        <p:spPr>
          <a:xfrm>
            <a:off x="3621024" y="2395728"/>
            <a:ext cx="2148840" cy="310896"/>
          </a:xfrm>
          <a:prstGeom prst="rect">
            <a:avLst/>
          </a:prstGeom>
          <a:noFill/>
          <a:ln/>
        </p:spPr>
        <p:txBody>
          <a:bodyPr wrap="square" lIns="0" tIns="0" rIns="0" bIns="0" rtlCol="0" anchor="t"/>
          <a:lstStyle/>
          <a:p>
            <a:pPr marL="0" indent="0">
              <a:buNone/>
            </a:pPr>
            <a:r>
              <a:rPr lang="en-US" sz="1400" b="1" dirty="0">
                <a:solidFill>
                  <a:srgbClr val="2A9D8F"/>
                </a:solidFill>
                <a:latin typeface="Calibri" pitchFamily="34" charset="0"/>
                <a:ea typeface="Calibri" pitchFamily="34" charset="-122"/>
                <a:cs typeface="Calibri" pitchFamily="34" charset="-120"/>
              </a:rPr>
              <a:t>Situación</a:t>
            </a:r>
            <a:endParaRPr lang="en-US" sz="1400" dirty="0"/>
          </a:p>
        </p:txBody>
      </p:sp>
      <p:sp>
        <p:nvSpPr>
          <p:cNvPr id="15" name="Text 13"/>
          <p:cNvSpPr txBox="1"/>
          <p:nvPr/>
        </p:nvSpPr>
        <p:spPr>
          <a:xfrm>
            <a:off x="3621024" y="2761488"/>
            <a:ext cx="2148840" cy="1014984"/>
          </a:xfrm>
          <a:prstGeom prst="rect">
            <a:avLst/>
          </a:prstGeom>
          <a:noFill/>
          <a:ln/>
        </p:spPr>
        <p:txBody>
          <a:bodyPr wrap="square" lIns="0" tIns="0" rIns="0" bIns="0" rtlCol="0" anchor="t"/>
          <a:lstStyle/>
          <a:p>
            <a:pPr marL="0" indent="0">
              <a:lnSpc>
                <a:spcPct val="106000"/>
              </a:lnSpc>
              <a:buNone/>
            </a:pPr>
            <a:r>
              <a:rPr lang="en-US" sz="1150" dirty="0">
                <a:solidFill>
                  <a:srgbClr val="1F2933"/>
                </a:solidFill>
                <a:latin typeface="Calibri" pitchFamily="34" charset="0"/>
                <a:ea typeface="Calibri" pitchFamily="34" charset="-122"/>
                <a:cs typeface="Calibri" pitchFamily="34" charset="-120"/>
              </a:rPr>
              <a:t>Muestre el problema real, no la definición del concepto.</a:t>
            </a:r>
            <a:endParaRPr lang="en-US" sz="1150" dirty="0"/>
          </a:p>
        </p:txBody>
      </p:sp>
      <p:sp>
        <p:nvSpPr>
          <p:cNvPr id="16" name="Shape 14"/>
          <p:cNvSpPr/>
          <p:nvPr/>
        </p:nvSpPr>
        <p:spPr>
          <a:xfrm>
            <a:off x="6199632" y="1627632"/>
            <a:ext cx="2624328" cy="438912"/>
          </a:xfrm>
          <a:prstGeom prst="roundRect">
            <a:avLst>
              <a:gd name="adj" fmla="val 8333"/>
            </a:avLst>
          </a:prstGeom>
          <a:solidFill>
            <a:srgbClr val="C9A227"/>
          </a:solidFill>
          <a:ln w="12700">
            <a:solidFill>
              <a:srgbClr val="C9A227"/>
            </a:solidFill>
            <a:prstDash val="solid"/>
          </a:ln>
        </p:spPr>
      </p:sp>
      <p:sp>
        <p:nvSpPr>
          <p:cNvPr id="17" name="Text 15"/>
          <p:cNvSpPr txBox="1"/>
          <p:nvPr/>
        </p:nvSpPr>
        <p:spPr>
          <a:xfrm>
            <a:off x="6199632" y="1627632"/>
            <a:ext cx="2624328" cy="438912"/>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0:45 – 2:15</a:t>
            </a:r>
            <a:endParaRPr lang="en-US" sz="1250" dirty="0"/>
          </a:p>
        </p:txBody>
      </p:sp>
      <p:sp>
        <p:nvSpPr>
          <p:cNvPr id="18" name="Shape 16"/>
          <p:cNvSpPr/>
          <p:nvPr/>
        </p:nvSpPr>
        <p:spPr>
          <a:xfrm>
            <a:off x="6199632" y="2176272"/>
            <a:ext cx="2624328" cy="1783080"/>
          </a:xfrm>
          <a:prstGeom prst="roundRect">
            <a:avLst>
              <a:gd name="adj" fmla="val 2051"/>
            </a:avLst>
          </a:prstGeom>
          <a:solidFill>
            <a:srgbClr val="F1F4F8"/>
          </a:solidFill>
          <a:ln w="12700">
            <a:solidFill>
              <a:srgbClr val="F1F4F8"/>
            </a:solidFill>
            <a:prstDash val="solid"/>
          </a:ln>
          <a:effectLst>
            <a:outerShdw blurRad="101600" dist="12700" dir="5400000" algn="bl" rotWithShape="0">
              <a:srgbClr val="9AA8B5">
                <a:alpha val="16000"/>
              </a:srgbClr>
            </a:outerShdw>
          </a:effectLst>
        </p:spPr>
      </p:sp>
      <p:sp>
        <p:nvSpPr>
          <p:cNvPr id="19" name="Text 17"/>
          <p:cNvSpPr txBox="1"/>
          <p:nvPr/>
        </p:nvSpPr>
        <p:spPr>
          <a:xfrm>
            <a:off x="6437376" y="2395728"/>
            <a:ext cx="2148840" cy="310896"/>
          </a:xfrm>
          <a:prstGeom prst="rect">
            <a:avLst/>
          </a:prstGeom>
          <a:noFill/>
          <a:ln/>
        </p:spPr>
        <p:txBody>
          <a:bodyPr wrap="square" lIns="0" tIns="0" rIns="0" bIns="0" rtlCol="0" anchor="t"/>
          <a:lstStyle/>
          <a:p>
            <a:pPr marL="0" indent="0">
              <a:buNone/>
            </a:pPr>
            <a:r>
              <a:rPr lang="en-US" sz="1400" b="1" dirty="0">
                <a:solidFill>
                  <a:srgbClr val="C9A227"/>
                </a:solidFill>
                <a:latin typeface="Calibri" pitchFamily="34" charset="0"/>
                <a:ea typeface="Calibri" pitchFamily="34" charset="-122"/>
                <a:cs typeface="Calibri" pitchFamily="34" charset="-120"/>
              </a:rPr>
              <a:t>Procedimiento</a:t>
            </a:r>
            <a:endParaRPr lang="en-US" sz="1400" dirty="0"/>
          </a:p>
        </p:txBody>
      </p:sp>
      <p:sp>
        <p:nvSpPr>
          <p:cNvPr id="20" name="Text 18"/>
          <p:cNvSpPr txBox="1"/>
          <p:nvPr/>
        </p:nvSpPr>
        <p:spPr>
          <a:xfrm>
            <a:off x="6437376" y="2761488"/>
            <a:ext cx="2148840" cy="1014984"/>
          </a:xfrm>
          <a:prstGeom prst="rect">
            <a:avLst/>
          </a:prstGeom>
          <a:noFill/>
          <a:ln/>
        </p:spPr>
        <p:txBody>
          <a:bodyPr wrap="square" lIns="0" tIns="0" rIns="0" bIns="0" rtlCol="0" anchor="t"/>
          <a:lstStyle/>
          <a:p>
            <a:pPr marL="0" indent="0">
              <a:lnSpc>
                <a:spcPct val="106000"/>
              </a:lnSpc>
              <a:buNone/>
            </a:pPr>
            <a:r>
              <a:rPr lang="en-US" sz="1150" dirty="0">
                <a:solidFill>
                  <a:srgbClr val="1F2933"/>
                </a:solidFill>
                <a:latin typeface="Calibri" pitchFamily="34" charset="0"/>
                <a:ea typeface="Calibri" pitchFamily="34" charset="-122"/>
                <a:cs typeface="Calibri" pitchFamily="34" charset="-120"/>
              </a:rPr>
              <a:t>Ejecute paso a paso pensando en voz alta. Este es el corazón del video.</a:t>
            </a:r>
            <a:endParaRPr lang="en-US" sz="1150" dirty="0"/>
          </a:p>
        </p:txBody>
      </p:sp>
      <p:sp>
        <p:nvSpPr>
          <p:cNvPr id="21" name="Shape 19"/>
          <p:cNvSpPr/>
          <p:nvPr/>
        </p:nvSpPr>
        <p:spPr>
          <a:xfrm>
            <a:off x="9015984" y="1627632"/>
            <a:ext cx="2624328" cy="438912"/>
          </a:xfrm>
          <a:prstGeom prst="roundRect">
            <a:avLst>
              <a:gd name="adj" fmla="val 8333"/>
            </a:avLst>
          </a:prstGeom>
          <a:solidFill>
            <a:srgbClr val="1F3864"/>
          </a:solidFill>
          <a:ln w="12700">
            <a:solidFill>
              <a:srgbClr val="1F3864"/>
            </a:solidFill>
            <a:prstDash val="solid"/>
          </a:ln>
        </p:spPr>
      </p:sp>
      <p:sp>
        <p:nvSpPr>
          <p:cNvPr id="22" name="Text 20"/>
          <p:cNvSpPr txBox="1"/>
          <p:nvPr/>
        </p:nvSpPr>
        <p:spPr>
          <a:xfrm>
            <a:off x="9015984" y="1627632"/>
            <a:ext cx="2624328" cy="438912"/>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2:15 – 2:45</a:t>
            </a:r>
            <a:endParaRPr lang="en-US" sz="1250" dirty="0"/>
          </a:p>
        </p:txBody>
      </p:sp>
      <p:sp>
        <p:nvSpPr>
          <p:cNvPr id="23" name="Shape 21"/>
          <p:cNvSpPr/>
          <p:nvPr/>
        </p:nvSpPr>
        <p:spPr>
          <a:xfrm>
            <a:off x="9015984" y="2176272"/>
            <a:ext cx="2624328" cy="1783080"/>
          </a:xfrm>
          <a:prstGeom prst="roundRect">
            <a:avLst>
              <a:gd name="adj" fmla="val 2051"/>
            </a:avLst>
          </a:prstGeom>
          <a:solidFill>
            <a:srgbClr val="F1F4F8"/>
          </a:solidFill>
          <a:ln w="12700">
            <a:solidFill>
              <a:srgbClr val="F1F4F8"/>
            </a:solidFill>
            <a:prstDash val="solid"/>
          </a:ln>
          <a:effectLst>
            <a:outerShdw blurRad="101600" dist="12700" dir="5400000" algn="bl" rotWithShape="0">
              <a:srgbClr val="9AA8B5">
                <a:alpha val="16000"/>
              </a:srgbClr>
            </a:outerShdw>
          </a:effectLst>
        </p:spPr>
      </p:sp>
      <p:sp>
        <p:nvSpPr>
          <p:cNvPr id="24" name="Text 22"/>
          <p:cNvSpPr txBox="1"/>
          <p:nvPr/>
        </p:nvSpPr>
        <p:spPr>
          <a:xfrm>
            <a:off x="9253728" y="2395728"/>
            <a:ext cx="2148840" cy="310896"/>
          </a:xfrm>
          <a:prstGeom prst="rect">
            <a:avLst/>
          </a:prstGeom>
          <a:noFill/>
          <a:ln/>
        </p:spPr>
        <p:txBody>
          <a:bodyPr wrap="square" lIns="0" tIns="0" rIns="0" bIns="0" rtlCol="0" anchor="t"/>
          <a:lstStyle/>
          <a:p>
            <a:pPr marL="0" indent="0">
              <a:buNone/>
            </a:pPr>
            <a:r>
              <a:rPr lang="en-US" sz="1400" b="1" dirty="0">
                <a:solidFill>
                  <a:srgbClr val="1F3864"/>
                </a:solidFill>
                <a:latin typeface="Calibri" pitchFamily="34" charset="0"/>
                <a:ea typeface="Calibri" pitchFamily="34" charset="-122"/>
                <a:cs typeface="Calibri" pitchFamily="34" charset="-120"/>
              </a:rPr>
              <a:t>Encargo</a:t>
            </a:r>
            <a:endParaRPr lang="en-US" sz="1400" dirty="0"/>
          </a:p>
        </p:txBody>
      </p:sp>
      <p:sp>
        <p:nvSpPr>
          <p:cNvPr id="25" name="Text 23"/>
          <p:cNvSpPr txBox="1"/>
          <p:nvPr/>
        </p:nvSpPr>
        <p:spPr>
          <a:xfrm>
            <a:off x="9253728" y="2761488"/>
            <a:ext cx="2148840" cy="1014984"/>
          </a:xfrm>
          <a:prstGeom prst="rect">
            <a:avLst/>
          </a:prstGeom>
          <a:noFill/>
          <a:ln/>
        </p:spPr>
        <p:txBody>
          <a:bodyPr wrap="square" lIns="0" tIns="0" rIns="0" bIns="0" rtlCol="0" anchor="t"/>
          <a:lstStyle/>
          <a:p>
            <a:pPr marL="0" indent="0">
              <a:lnSpc>
                <a:spcPct val="106000"/>
              </a:lnSpc>
              <a:buNone/>
            </a:pPr>
            <a:r>
              <a:rPr lang="en-US" sz="1150" dirty="0">
                <a:solidFill>
                  <a:srgbClr val="1F2933"/>
                </a:solidFill>
                <a:latin typeface="Calibri" pitchFamily="34" charset="0"/>
                <a:ea typeface="Calibri" pitchFamily="34" charset="-122"/>
                <a:cs typeface="Calibri" pitchFamily="34" charset="-120"/>
              </a:rPr>
              <a:t>Deje una tarea concreta que se haga inmediatamente después.</a:t>
            </a:r>
            <a:endParaRPr lang="en-US" sz="1150" dirty="0"/>
          </a:p>
        </p:txBody>
      </p:sp>
      <p:sp>
        <p:nvSpPr>
          <p:cNvPr id="26" name="Shape 24"/>
          <p:cNvSpPr/>
          <p:nvPr/>
        </p:nvSpPr>
        <p:spPr>
          <a:xfrm>
            <a:off x="566928" y="4160520"/>
            <a:ext cx="5394960" cy="1572768"/>
          </a:xfrm>
          <a:prstGeom prst="roundRect">
            <a:avLst>
              <a:gd name="adj" fmla="val 2326"/>
            </a:avLst>
          </a:prstGeom>
          <a:solidFill>
            <a:srgbClr val="E7F2F0"/>
          </a:solidFill>
          <a:ln w="12700">
            <a:solidFill>
              <a:srgbClr val="E7F2F0"/>
            </a:solidFill>
            <a:prstDash val="solid"/>
          </a:ln>
          <a:effectLst>
            <a:outerShdw blurRad="101600" dist="12700" dir="5400000" algn="bl" rotWithShape="0">
              <a:srgbClr val="9AA8B5">
                <a:alpha val="16000"/>
              </a:srgbClr>
            </a:outerShdw>
          </a:effectLst>
        </p:spPr>
      </p:sp>
      <p:sp>
        <p:nvSpPr>
          <p:cNvPr id="27" name="Text 25"/>
          <p:cNvSpPr txBox="1"/>
          <p:nvPr/>
        </p:nvSpPr>
        <p:spPr>
          <a:xfrm>
            <a:off x="804672" y="4379976"/>
            <a:ext cx="4919472" cy="310896"/>
          </a:xfrm>
          <a:prstGeom prst="rect">
            <a:avLst/>
          </a:prstGeom>
          <a:noFill/>
          <a:ln/>
        </p:spPr>
        <p:txBody>
          <a:bodyPr wrap="square" lIns="0" tIns="0" rIns="0" bIns="0" rtlCol="0" anchor="t"/>
          <a:lstStyle/>
          <a:p>
            <a:pPr marL="0" indent="0">
              <a:buNone/>
            </a:pPr>
            <a:r>
              <a:rPr lang="en-US" sz="1450" b="1" dirty="0">
                <a:solidFill>
                  <a:srgbClr val="1B2A4A"/>
                </a:solidFill>
                <a:latin typeface="Calibri" pitchFamily="34" charset="0"/>
                <a:ea typeface="Calibri" pitchFamily="34" charset="-122"/>
                <a:cs typeface="Calibri" pitchFamily="34" charset="-120"/>
              </a:rPr>
              <a:t>Reglas de producción con celular</a:t>
            </a:r>
            <a:endParaRPr lang="en-US" sz="1450" dirty="0"/>
          </a:p>
        </p:txBody>
      </p:sp>
      <p:sp>
        <p:nvSpPr>
          <p:cNvPr id="28" name="Text 26"/>
          <p:cNvSpPr txBox="1"/>
          <p:nvPr/>
        </p:nvSpPr>
        <p:spPr>
          <a:xfrm>
            <a:off x="841248" y="4745736"/>
            <a:ext cx="4882896" cy="804672"/>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1F2933"/>
                </a:solidFill>
                <a:latin typeface="Calibri" pitchFamily="34" charset="0"/>
                <a:ea typeface="Calibri" pitchFamily="34" charset="-122"/>
                <a:cs typeface="Calibri" pitchFamily="34" charset="-120"/>
              </a:rPr>
              <a:t>Grabe en horizontal, con la luz de frente y el celular apoyado.</a:t>
            </a:r>
            <a:endParaRPr lang="en-US" sz="1150" dirty="0"/>
          </a:p>
          <a:p>
            <a:pPr marL="342900" indent="-342900">
              <a:spcAft>
                <a:spcPts val="500"/>
              </a:spcAft>
              <a:buSzPct val="100000"/>
              <a:buChar char="•"/>
            </a:pPr>
            <a:r>
              <a:rPr lang="en-US" sz="1150" dirty="0">
                <a:solidFill>
                  <a:srgbClr val="1F2933"/>
                </a:solidFill>
                <a:latin typeface="Calibri" pitchFamily="34" charset="0"/>
                <a:ea typeface="Calibri" pitchFamily="34" charset="-122"/>
                <a:cs typeface="Calibri" pitchFamily="34" charset="-120"/>
              </a:rPr>
              <a:t>Grabe en tomas cortas y únalas; no busque una toma perfecta.</a:t>
            </a:r>
            <a:endParaRPr lang="en-US" sz="1150" dirty="0"/>
          </a:p>
          <a:p>
            <a:pPr marL="342900" indent="-342900">
              <a:spcAft>
                <a:spcPts val="500"/>
              </a:spcAft>
              <a:buSzPct val="100000"/>
              <a:buChar char="•"/>
            </a:pPr>
            <a:r>
              <a:rPr lang="en-US" sz="1150" dirty="0">
                <a:solidFill>
                  <a:srgbClr val="1F2933"/>
                </a:solidFill>
                <a:latin typeface="Calibri" pitchFamily="34" charset="0"/>
                <a:ea typeface="Calibri" pitchFamily="34" charset="-122"/>
                <a:cs typeface="Calibri" pitchFamily="34" charset="-120"/>
              </a:rPr>
              <a:t>Audio limpio antes que imagen bonita: acérquese al micrófono.</a:t>
            </a:r>
            <a:endParaRPr lang="en-US" sz="1150" dirty="0"/>
          </a:p>
        </p:txBody>
      </p:sp>
      <p:sp>
        <p:nvSpPr>
          <p:cNvPr id="29" name="Shape 27"/>
          <p:cNvSpPr/>
          <p:nvPr/>
        </p:nvSpPr>
        <p:spPr>
          <a:xfrm>
            <a:off x="6227064" y="4160520"/>
            <a:ext cx="5394960" cy="1572768"/>
          </a:xfrm>
          <a:prstGeom prst="roundRect">
            <a:avLst>
              <a:gd name="adj" fmla="val 2326"/>
            </a:avLst>
          </a:prstGeom>
          <a:solidFill>
            <a:srgbClr val="FAF3E0"/>
          </a:solidFill>
          <a:ln w="12700">
            <a:solidFill>
              <a:srgbClr val="FAF3E0"/>
            </a:solidFill>
            <a:prstDash val="solid"/>
          </a:ln>
          <a:effectLst>
            <a:outerShdw blurRad="101600" dist="12700" dir="5400000" algn="bl" rotWithShape="0">
              <a:srgbClr val="9AA8B5">
                <a:alpha val="16000"/>
              </a:srgbClr>
            </a:outerShdw>
          </a:effectLst>
        </p:spPr>
      </p:sp>
      <p:sp>
        <p:nvSpPr>
          <p:cNvPr id="30" name="Text 28"/>
          <p:cNvSpPr txBox="1"/>
          <p:nvPr/>
        </p:nvSpPr>
        <p:spPr>
          <a:xfrm>
            <a:off x="6464808" y="4379976"/>
            <a:ext cx="4919472" cy="310896"/>
          </a:xfrm>
          <a:prstGeom prst="rect">
            <a:avLst/>
          </a:prstGeom>
          <a:noFill/>
          <a:ln/>
        </p:spPr>
        <p:txBody>
          <a:bodyPr wrap="square" lIns="0" tIns="0" rIns="0" bIns="0" rtlCol="0" anchor="t"/>
          <a:lstStyle/>
          <a:p>
            <a:pPr marL="0" indent="0">
              <a:buNone/>
            </a:pPr>
            <a:r>
              <a:rPr lang="en-US" sz="1450" b="1" dirty="0">
                <a:solidFill>
                  <a:srgbClr val="1B2A4A"/>
                </a:solidFill>
                <a:latin typeface="Calibri" pitchFamily="34" charset="0"/>
                <a:ea typeface="Calibri" pitchFamily="34" charset="-122"/>
                <a:cs typeface="Calibri" pitchFamily="34" charset="-120"/>
              </a:rPr>
              <a:t>Accesibilidad mínima no negociable</a:t>
            </a:r>
            <a:endParaRPr lang="en-US" sz="1450" dirty="0"/>
          </a:p>
        </p:txBody>
      </p:sp>
      <p:sp>
        <p:nvSpPr>
          <p:cNvPr id="31" name="Text 29"/>
          <p:cNvSpPr txBox="1"/>
          <p:nvPr/>
        </p:nvSpPr>
        <p:spPr>
          <a:xfrm>
            <a:off x="6501384" y="4745736"/>
            <a:ext cx="4882896" cy="804672"/>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1F2933"/>
                </a:solidFill>
                <a:latin typeface="Calibri" pitchFamily="34" charset="0"/>
                <a:ea typeface="Calibri" pitchFamily="34" charset="-122"/>
                <a:cs typeface="Calibri" pitchFamily="34" charset="-120"/>
              </a:rPr>
              <a:t>Subtítulos o transcripción siempre: hay quien lo verá sin audio.</a:t>
            </a:r>
            <a:endParaRPr lang="en-US" sz="1150" dirty="0"/>
          </a:p>
          <a:p>
            <a:pPr marL="342900" indent="-342900">
              <a:spcAft>
                <a:spcPts val="500"/>
              </a:spcAft>
              <a:buSzPct val="100000"/>
              <a:buChar char="•"/>
            </a:pPr>
            <a:r>
              <a:rPr lang="en-US" sz="1150" dirty="0">
                <a:solidFill>
                  <a:srgbClr val="1F2933"/>
                </a:solidFill>
                <a:latin typeface="Calibri" pitchFamily="34" charset="0"/>
                <a:ea typeface="Calibri" pitchFamily="34" charset="-122"/>
                <a:cs typeface="Calibri" pitchFamily="34" charset="-120"/>
              </a:rPr>
              <a:t>Lo que se dice en voz también aparece escrito en pantalla.</a:t>
            </a:r>
            <a:endParaRPr lang="en-US" sz="1150" dirty="0"/>
          </a:p>
          <a:p>
            <a:pPr marL="342900" indent="-342900">
              <a:spcAft>
                <a:spcPts val="500"/>
              </a:spcAft>
              <a:buSzPct val="100000"/>
              <a:buChar char="•"/>
            </a:pPr>
            <a:r>
              <a:rPr lang="en-US" sz="1150" dirty="0">
                <a:solidFill>
                  <a:srgbClr val="1F2933"/>
                </a:solidFill>
                <a:latin typeface="Calibri" pitchFamily="34" charset="0"/>
                <a:ea typeface="Calibri" pitchFamily="34" charset="-122"/>
                <a:cs typeface="Calibri" pitchFamily="34" charset="-120"/>
              </a:rPr>
              <a:t>Archivo liviano y descargable, para quien tiene datos limitados.</a:t>
            </a:r>
            <a:endParaRPr lang="en-US" sz="11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29184"/>
            <a:ext cx="11055096" cy="256032"/>
          </a:xfrm>
          <a:prstGeom prst="rect">
            <a:avLst/>
          </a:prstGeom>
          <a:noFill/>
          <a:ln/>
        </p:spPr>
        <p:txBody>
          <a:bodyPr wrap="square" lIns="0" tIns="0" rIns="0" bIns="0" rtlCol="0" anchor="ctr"/>
          <a:lstStyle/>
          <a:p>
            <a:pPr marL="0" indent="0">
              <a:buNone/>
            </a:pPr>
            <a:r>
              <a:rPr lang="en-US" sz="1100" b="1" kern="0" spc="160" dirty="0">
                <a:solidFill>
                  <a:srgbClr val="2A9D8F"/>
                </a:solidFill>
                <a:latin typeface="Calibri" pitchFamily="34" charset="0"/>
                <a:ea typeface="Calibri" pitchFamily="34" charset="-122"/>
                <a:cs typeface="Calibri" pitchFamily="34" charset="-120"/>
              </a:rPr>
              <a:t>FORMATO 3</a:t>
            </a:r>
            <a:endParaRPr lang="en-US" sz="1100" dirty="0"/>
          </a:p>
        </p:txBody>
      </p:sp>
      <p:sp>
        <p:nvSpPr>
          <p:cNvPr id="3" name="Text 1"/>
          <p:cNvSpPr txBox="1"/>
          <p:nvPr/>
        </p:nvSpPr>
        <p:spPr>
          <a:xfrm>
            <a:off x="566928" y="603504"/>
            <a:ext cx="11055096" cy="749808"/>
          </a:xfrm>
          <a:prstGeom prst="rect">
            <a:avLst/>
          </a:prstGeom>
          <a:noFill/>
          <a:ln/>
        </p:spPr>
        <p:txBody>
          <a:bodyPr wrap="square" lIns="0" tIns="0" rIns="0" bIns="0" rtlCol="0" anchor="t"/>
          <a:lstStyle/>
          <a:p>
            <a:pPr marL="0" indent="0">
              <a:buNone/>
            </a:pPr>
            <a:r>
              <a:rPr lang="en-US" sz="2900" b="1" dirty="0">
                <a:solidFill>
                  <a:srgbClr val="1B2A4A"/>
                </a:solidFill>
                <a:latin typeface="Cambria" pitchFamily="34" charset="0"/>
                <a:ea typeface="Cambria" pitchFamily="34" charset="-122"/>
                <a:cs typeface="Cambria" pitchFamily="34" charset="-120"/>
              </a:rPr>
              <a:t>Guía visual: la pieza que se consulta mientras se hace la tarea</a:t>
            </a:r>
            <a:endParaRPr lang="en-US" sz="2900" dirty="0"/>
          </a:p>
        </p:txBody>
      </p:sp>
      <p:sp>
        <p:nvSpPr>
          <p:cNvPr id="4" name="Text 2"/>
          <p:cNvSpPr txBox="1"/>
          <p:nvPr/>
        </p:nvSpPr>
        <p:spPr>
          <a:xfrm>
            <a:off x="566928" y="6428232"/>
            <a:ext cx="7863840" cy="256032"/>
          </a:xfrm>
          <a:prstGeom prst="rect">
            <a:avLst/>
          </a:prstGeom>
          <a:noFill/>
          <a:ln/>
        </p:spPr>
        <p:txBody>
          <a:bodyPr wrap="square" lIns="0" tIns="0" rIns="0" bIns="0" rtlCol="0" anchor="ctr"/>
          <a:lstStyle/>
          <a:p>
            <a:pPr marL="0" indent="0">
              <a:buNone/>
            </a:pPr>
            <a:r>
              <a:rPr lang="en-US" sz="900" dirty="0">
                <a:solidFill>
                  <a:srgbClr val="5B6B7B"/>
                </a:solidFill>
                <a:latin typeface="Calibri" pitchFamily="34" charset="0"/>
                <a:ea typeface="Calibri" pitchFamily="34" charset="-122"/>
                <a:cs typeface="Calibri" pitchFamily="34" charset="-120"/>
              </a:rPr>
              <a:t>Microaprendizaje para adultos  ·  Proyecto RUTA — Inter Ponce</a:t>
            </a:r>
            <a:endParaRPr lang="en-US" sz="900" dirty="0"/>
          </a:p>
        </p:txBody>
      </p:sp>
      <p:sp>
        <p:nvSpPr>
          <p:cNvPr id="5" name="Text 3"/>
          <p:cNvSpPr txBox="1"/>
          <p:nvPr/>
        </p:nvSpPr>
        <p:spPr>
          <a:xfrm>
            <a:off x="10972800" y="6428232"/>
            <a:ext cx="649224" cy="256032"/>
          </a:xfrm>
          <a:prstGeom prst="rect">
            <a:avLst/>
          </a:prstGeom>
          <a:noFill/>
          <a:ln/>
        </p:spPr>
        <p:txBody>
          <a:bodyPr wrap="square" lIns="0" tIns="0" rIns="0" bIns="0" rtlCol="0" anchor="ctr"/>
          <a:lstStyle/>
          <a:p>
            <a:pPr marL="0" indent="0" algn="r">
              <a:buNone/>
            </a:pPr>
            <a:r>
              <a:rPr lang="en-US" sz="900" dirty="0">
                <a:solidFill>
                  <a:srgbClr val="5B6B7B"/>
                </a:solidFill>
                <a:latin typeface="Calibri" pitchFamily="34" charset="0"/>
                <a:ea typeface="Calibri" pitchFamily="34" charset="-122"/>
                <a:cs typeface="Calibri" pitchFamily="34" charset="-120"/>
              </a:rPr>
              <a:t>31</a:t>
            </a:r>
            <a:endParaRPr lang="en-US" sz="900" dirty="0"/>
          </a:p>
        </p:txBody>
      </p:sp>
      <p:sp>
        <p:nvSpPr>
          <p:cNvPr id="6" name="Shape 4"/>
          <p:cNvSpPr/>
          <p:nvPr/>
        </p:nvSpPr>
        <p:spPr>
          <a:xfrm>
            <a:off x="566928" y="1627632"/>
            <a:ext cx="5394960" cy="1481328"/>
          </a:xfrm>
          <a:prstGeom prst="roundRect">
            <a:avLst>
              <a:gd name="adj" fmla="val 2469"/>
            </a:avLst>
          </a:prstGeom>
          <a:solidFill>
            <a:srgbClr val="F1F4F8"/>
          </a:solidFill>
          <a:ln w="12700">
            <a:solidFill>
              <a:srgbClr val="F1F4F8"/>
            </a:solidFill>
            <a:prstDash val="solid"/>
          </a:ln>
          <a:effectLst>
            <a:outerShdw blurRad="101600" dist="12700" dir="5400000" algn="bl" rotWithShape="0">
              <a:srgbClr val="9AA8B5">
                <a:alpha val="16000"/>
              </a:srgbClr>
            </a:outerShdw>
          </a:effectLst>
        </p:spPr>
      </p:sp>
      <p:sp>
        <p:nvSpPr>
          <p:cNvPr id="7" name="Shape 5"/>
          <p:cNvSpPr/>
          <p:nvPr/>
        </p:nvSpPr>
        <p:spPr>
          <a:xfrm>
            <a:off x="804672" y="1847088"/>
            <a:ext cx="420624" cy="420624"/>
          </a:xfrm>
          <a:prstGeom prst="ellipse">
            <a:avLst/>
          </a:prstGeom>
          <a:solidFill>
            <a:srgbClr val="1B2A4A"/>
          </a:solidFill>
          <a:ln w="12700">
            <a:solidFill>
              <a:srgbClr val="1B2A4A"/>
            </a:solidFill>
            <a:prstDash val="solid"/>
          </a:ln>
        </p:spPr>
      </p:sp>
      <p:sp>
        <p:nvSpPr>
          <p:cNvPr id="8" name="Text 6"/>
          <p:cNvSpPr txBox="1"/>
          <p:nvPr/>
        </p:nvSpPr>
        <p:spPr>
          <a:xfrm>
            <a:off x="804672" y="1847088"/>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7"/>
          <p:cNvSpPr txBox="1"/>
          <p:nvPr/>
        </p:nvSpPr>
        <p:spPr>
          <a:xfrm>
            <a:off x="804672" y="2414016"/>
            <a:ext cx="4919472" cy="310896"/>
          </a:xfrm>
          <a:prstGeom prst="rect">
            <a:avLst/>
          </a:prstGeom>
          <a:noFill/>
          <a:ln/>
        </p:spPr>
        <p:txBody>
          <a:bodyPr wrap="square" lIns="0" tIns="0" rIns="0" bIns="0" rtlCol="0" anchor="t"/>
          <a:lstStyle/>
          <a:p>
            <a:pPr marL="0" indent="0">
              <a:buNone/>
            </a:pPr>
            <a:r>
              <a:rPr lang="en-US" sz="1400" b="1" dirty="0">
                <a:solidFill>
                  <a:srgbClr val="1B2A4A"/>
                </a:solidFill>
                <a:latin typeface="Calibri" pitchFamily="34" charset="0"/>
                <a:ea typeface="Calibri" pitchFamily="34" charset="-122"/>
                <a:cs typeface="Calibri" pitchFamily="34" charset="-120"/>
              </a:rPr>
              <a:t>Regla de los tres bloques</a:t>
            </a:r>
            <a:endParaRPr lang="en-US" sz="1400" dirty="0"/>
          </a:p>
        </p:txBody>
      </p:sp>
      <p:sp>
        <p:nvSpPr>
          <p:cNvPr id="10" name="Text 8"/>
          <p:cNvSpPr txBox="1"/>
          <p:nvPr/>
        </p:nvSpPr>
        <p:spPr>
          <a:xfrm>
            <a:off x="804672" y="2779776"/>
            <a:ext cx="4919472" cy="146304"/>
          </a:xfrm>
          <a:prstGeom prst="rect">
            <a:avLst/>
          </a:prstGeom>
          <a:noFill/>
          <a:ln/>
        </p:spPr>
        <p:txBody>
          <a:bodyPr wrap="square" lIns="0" tIns="0" rIns="0" bIns="0" rtlCol="0" anchor="t"/>
          <a:lstStyle/>
          <a:p>
            <a:pPr marL="0" indent="0">
              <a:lnSpc>
                <a:spcPct val="106000"/>
              </a:lnSpc>
              <a:buNone/>
            </a:pPr>
            <a:r>
              <a:rPr lang="en-US" sz="1150" dirty="0">
                <a:solidFill>
                  <a:srgbClr val="1F2933"/>
                </a:solidFill>
                <a:latin typeface="Calibri" pitchFamily="34" charset="0"/>
                <a:ea typeface="Calibri" pitchFamily="34" charset="-122"/>
                <a:cs typeface="Calibri" pitchFamily="34" charset="-120"/>
              </a:rPr>
              <a:t>Título con la tarea, secuencia de pasos numerada y un aviso de error frecuente. Nada más.</a:t>
            </a:r>
            <a:endParaRPr lang="en-US" sz="1150" dirty="0"/>
          </a:p>
        </p:txBody>
      </p:sp>
      <p:sp>
        <p:nvSpPr>
          <p:cNvPr id="11" name="Shape 9"/>
          <p:cNvSpPr/>
          <p:nvPr/>
        </p:nvSpPr>
        <p:spPr>
          <a:xfrm>
            <a:off x="6227064" y="1627632"/>
            <a:ext cx="5394960" cy="1481328"/>
          </a:xfrm>
          <a:prstGeom prst="roundRect">
            <a:avLst>
              <a:gd name="adj" fmla="val 2469"/>
            </a:avLst>
          </a:prstGeom>
          <a:solidFill>
            <a:srgbClr val="E7F2F0"/>
          </a:solidFill>
          <a:ln w="12700">
            <a:solidFill>
              <a:srgbClr val="E7F2F0"/>
            </a:solidFill>
            <a:prstDash val="solid"/>
          </a:ln>
          <a:effectLst>
            <a:outerShdw blurRad="101600" dist="12700" dir="5400000" algn="bl" rotWithShape="0">
              <a:srgbClr val="9AA8B5">
                <a:alpha val="16000"/>
              </a:srgbClr>
            </a:outerShdw>
          </a:effectLst>
        </p:spPr>
      </p:sp>
      <p:sp>
        <p:nvSpPr>
          <p:cNvPr id="12" name="Shape 10"/>
          <p:cNvSpPr/>
          <p:nvPr/>
        </p:nvSpPr>
        <p:spPr>
          <a:xfrm>
            <a:off x="6464808" y="1847088"/>
            <a:ext cx="420624" cy="420624"/>
          </a:xfrm>
          <a:prstGeom prst="ellipse">
            <a:avLst/>
          </a:prstGeom>
          <a:solidFill>
            <a:srgbClr val="2A9D8F"/>
          </a:solidFill>
          <a:ln w="12700">
            <a:solidFill>
              <a:srgbClr val="2A9D8F"/>
            </a:solidFill>
            <a:prstDash val="solid"/>
          </a:ln>
        </p:spPr>
      </p:sp>
      <p:sp>
        <p:nvSpPr>
          <p:cNvPr id="13" name="Text 11"/>
          <p:cNvSpPr txBox="1"/>
          <p:nvPr/>
        </p:nvSpPr>
        <p:spPr>
          <a:xfrm>
            <a:off x="6464808" y="1847088"/>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4" name="Text 12"/>
          <p:cNvSpPr txBox="1"/>
          <p:nvPr/>
        </p:nvSpPr>
        <p:spPr>
          <a:xfrm>
            <a:off x="6464808" y="2414016"/>
            <a:ext cx="4919472" cy="310896"/>
          </a:xfrm>
          <a:prstGeom prst="rect">
            <a:avLst/>
          </a:prstGeom>
          <a:noFill/>
          <a:ln/>
        </p:spPr>
        <p:txBody>
          <a:bodyPr wrap="square" lIns="0" tIns="0" rIns="0" bIns="0" rtlCol="0" anchor="t"/>
          <a:lstStyle/>
          <a:p>
            <a:pPr marL="0" indent="0">
              <a:buNone/>
            </a:pPr>
            <a:r>
              <a:rPr lang="en-US" sz="1400" b="1" dirty="0">
                <a:solidFill>
                  <a:srgbClr val="2A9D8F"/>
                </a:solidFill>
                <a:latin typeface="Calibri" pitchFamily="34" charset="0"/>
                <a:ea typeface="Calibri" pitchFamily="34" charset="-122"/>
                <a:cs typeface="Calibri" pitchFamily="34" charset="-120"/>
              </a:rPr>
              <a:t>Jerarquía visual</a:t>
            </a:r>
            <a:endParaRPr lang="en-US" sz="1400" dirty="0"/>
          </a:p>
        </p:txBody>
      </p:sp>
      <p:sp>
        <p:nvSpPr>
          <p:cNvPr id="15" name="Text 13"/>
          <p:cNvSpPr txBox="1"/>
          <p:nvPr/>
        </p:nvSpPr>
        <p:spPr>
          <a:xfrm>
            <a:off x="6464808" y="2779776"/>
            <a:ext cx="4919472" cy="146304"/>
          </a:xfrm>
          <a:prstGeom prst="rect">
            <a:avLst/>
          </a:prstGeom>
          <a:noFill/>
          <a:ln/>
        </p:spPr>
        <p:txBody>
          <a:bodyPr wrap="square" lIns="0" tIns="0" rIns="0" bIns="0" rtlCol="0" anchor="t"/>
          <a:lstStyle/>
          <a:p>
            <a:pPr marL="0" indent="0">
              <a:lnSpc>
                <a:spcPct val="106000"/>
              </a:lnSpc>
              <a:buNone/>
            </a:pPr>
            <a:r>
              <a:rPr lang="en-US" sz="1150" dirty="0">
                <a:solidFill>
                  <a:srgbClr val="1F2933"/>
                </a:solidFill>
                <a:latin typeface="Calibri" pitchFamily="34" charset="0"/>
                <a:ea typeface="Calibri" pitchFamily="34" charset="-122"/>
                <a:cs typeface="Calibri" pitchFamily="34" charset="-120"/>
              </a:rPr>
              <a:t>Un elemento domina la pieza. Si todo está resaltado, nada está resaltado.</a:t>
            </a:r>
            <a:endParaRPr lang="en-US" sz="1150" dirty="0"/>
          </a:p>
        </p:txBody>
      </p:sp>
      <p:sp>
        <p:nvSpPr>
          <p:cNvPr id="16" name="Shape 14"/>
          <p:cNvSpPr/>
          <p:nvPr/>
        </p:nvSpPr>
        <p:spPr>
          <a:xfrm>
            <a:off x="566928" y="3328416"/>
            <a:ext cx="5394960" cy="1481328"/>
          </a:xfrm>
          <a:prstGeom prst="roundRect">
            <a:avLst>
              <a:gd name="adj" fmla="val 2469"/>
            </a:avLst>
          </a:prstGeom>
          <a:solidFill>
            <a:srgbClr val="FAF3E0"/>
          </a:solidFill>
          <a:ln w="12700">
            <a:solidFill>
              <a:srgbClr val="FAF3E0"/>
            </a:solidFill>
            <a:prstDash val="solid"/>
          </a:ln>
          <a:effectLst>
            <a:outerShdw blurRad="101600" dist="12700" dir="5400000" algn="bl" rotWithShape="0">
              <a:srgbClr val="9AA8B5">
                <a:alpha val="16000"/>
              </a:srgbClr>
            </a:outerShdw>
          </a:effectLst>
        </p:spPr>
      </p:sp>
      <p:sp>
        <p:nvSpPr>
          <p:cNvPr id="17" name="Shape 15"/>
          <p:cNvSpPr/>
          <p:nvPr/>
        </p:nvSpPr>
        <p:spPr>
          <a:xfrm>
            <a:off x="804672" y="3547872"/>
            <a:ext cx="420624" cy="420624"/>
          </a:xfrm>
          <a:prstGeom prst="ellipse">
            <a:avLst/>
          </a:prstGeom>
          <a:solidFill>
            <a:srgbClr val="C9A227"/>
          </a:solidFill>
          <a:ln w="12700">
            <a:solidFill>
              <a:srgbClr val="C9A227"/>
            </a:solidFill>
            <a:prstDash val="solid"/>
          </a:ln>
        </p:spPr>
      </p:sp>
      <p:sp>
        <p:nvSpPr>
          <p:cNvPr id="18" name="Text 16"/>
          <p:cNvSpPr txBox="1"/>
          <p:nvPr/>
        </p:nvSpPr>
        <p:spPr>
          <a:xfrm>
            <a:off x="804672" y="3547872"/>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7"/>
          <p:cNvSpPr txBox="1"/>
          <p:nvPr/>
        </p:nvSpPr>
        <p:spPr>
          <a:xfrm>
            <a:off x="804672" y="4114800"/>
            <a:ext cx="4919472" cy="310896"/>
          </a:xfrm>
          <a:prstGeom prst="rect">
            <a:avLst/>
          </a:prstGeom>
          <a:noFill/>
          <a:ln/>
        </p:spPr>
        <p:txBody>
          <a:bodyPr wrap="square" lIns="0" tIns="0" rIns="0" bIns="0" rtlCol="0" anchor="t"/>
          <a:lstStyle/>
          <a:p>
            <a:pPr marL="0" indent="0">
              <a:buNone/>
            </a:pPr>
            <a:r>
              <a:rPr lang="en-US" sz="1400" b="1" dirty="0">
                <a:solidFill>
                  <a:srgbClr val="C9A227"/>
                </a:solidFill>
                <a:latin typeface="Calibri" pitchFamily="34" charset="0"/>
                <a:ea typeface="Calibri" pitchFamily="34" charset="-122"/>
                <a:cs typeface="Calibri" pitchFamily="34" charset="-120"/>
              </a:rPr>
              <a:t>Contraste y tamaño</a:t>
            </a:r>
            <a:endParaRPr lang="en-US" sz="1400" dirty="0"/>
          </a:p>
        </p:txBody>
      </p:sp>
      <p:sp>
        <p:nvSpPr>
          <p:cNvPr id="20" name="Text 18"/>
          <p:cNvSpPr txBox="1"/>
          <p:nvPr/>
        </p:nvSpPr>
        <p:spPr>
          <a:xfrm>
            <a:off x="804672" y="4480560"/>
            <a:ext cx="4919472" cy="146304"/>
          </a:xfrm>
          <a:prstGeom prst="rect">
            <a:avLst/>
          </a:prstGeom>
          <a:noFill/>
          <a:ln/>
        </p:spPr>
        <p:txBody>
          <a:bodyPr wrap="square" lIns="0" tIns="0" rIns="0" bIns="0" rtlCol="0" anchor="t"/>
          <a:lstStyle/>
          <a:p>
            <a:pPr marL="0" indent="0">
              <a:lnSpc>
                <a:spcPct val="106000"/>
              </a:lnSpc>
              <a:buNone/>
            </a:pPr>
            <a:r>
              <a:rPr lang="en-US" sz="1150" dirty="0">
                <a:solidFill>
                  <a:srgbClr val="1F2933"/>
                </a:solidFill>
                <a:latin typeface="Calibri" pitchFamily="34" charset="0"/>
                <a:ea typeface="Calibri" pitchFamily="34" charset="-122"/>
                <a:cs typeface="Calibri" pitchFamily="34" charset="-120"/>
              </a:rPr>
              <a:t>Texto oscuro sobre fondo claro, mínimo 14 puntos. Debe leerse a un brazo de distancia.</a:t>
            </a:r>
            <a:endParaRPr lang="en-US" sz="1150" dirty="0"/>
          </a:p>
        </p:txBody>
      </p:sp>
      <p:sp>
        <p:nvSpPr>
          <p:cNvPr id="21" name="Shape 19"/>
          <p:cNvSpPr/>
          <p:nvPr/>
        </p:nvSpPr>
        <p:spPr>
          <a:xfrm>
            <a:off x="6227064" y="3328416"/>
            <a:ext cx="5394960" cy="1481328"/>
          </a:xfrm>
          <a:prstGeom prst="roundRect">
            <a:avLst>
              <a:gd name="adj" fmla="val 2469"/>
            </a:avLst>
          </a:prstGeom>
          <a:solidFill>
            <a:srgbClr val="F1F4F8"/>
          </a:solidFill>
          <a:ln w="12700">
            <a:solidFill>
              <a:srgbClr val="F1F4F8"/>
            </a:solidFill>
            <a:prstDash val="solid"/>
          </a:ln>
          <a:effectLst>
            <a:outerShdw blurRad="101600" dist="12700" dir="5400000" algn="bl" rotWithShape="0">
              <a:srgbClr val="9AA8B5">
                <a:alpha val="16000"/>
              </a:srgbClr>
            </a:outerShdw>
          </a:effectLst>
        </p:spPr>
      </p:sp>
      <p:sp>
        <p:nvSpPr>
          <p:cNvPr id="22" name="Shape 20"/>
          <p:cNvSpPr/>
          <p:nvPr/>
        </p:nvSpPr>
        <p:spPr>
          <a:xfrm>
            <a:off x="6464808" y="3547872"/>
            <a:ext cx="420624" cy="420624"/>
          </a:xfrm>
          <a:prstGeom prst="ellipse">
            <a:avLst/>
          </a:prstGeom>
          <a:solidFill>
            <a:srgbClr val="1F3864"/>
          </a:solidFill>
          <a:ln w="12700">
            <a:solidFill>
              <a:srgbClr val="1F3864"/>
            </a:solidFill>
            <a:prstDash val="solid"/>
          </a:ln>
        </p:spPr>
      </p:sp>
      <p:sp>
        <p:nvSpPr>
          <p:cNvPr id="23" name="Text 21"/>
          <p:cNvSpPr txBox="1"/>
          <p:nvPr/>
        </p:nvSpPr>
        <p:spPr>
          <a:xfrm>
            <a:off x="6464808" y="3547872"/>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4" name="Text 22"/>
          <p:cNvSpPr txBox="1"/>
          <p:nvPr/>
        </p:nvSpPr>
        <p:spPr>
          <a:xfrm>
            <a:off x="6464808" y="4114800"/>
            <a:ext cx="4919472" cy="310896"/>
          </a:xfrm>
          <a:prstGeom prst="rect">
            <a:avLst/>
          </a:prstGeom>
          <a:noFill/>
          <a:ln/>
        </p:spPr>
        <p:txBody>
          <a:bodyPr wrap="square" lIns="0" tIns="0" rIns="0" bIns="0" rtlCol="0" anchor="t"/>
          <a:lstStyle/>
          <a:p>
            <a:pPr marL="0" indent="0">
              <a:buNone/>
            </a:pPr>
            <a:r>
              <a:rPr lang="en-US" sz="1400" b="1" dirty="0">
                <a:solidFill>
                  <a:srgbClr val="1F3864"/>
                </a:solidFill>
                <a:latin typeface="Calibri" pitchFamily="34" charset="0"/>
                <a:ea typeface="Calibri" pitchFamily="34" charset="-122"/>
                <a:cs typeface="Calibri" pitchFamily="34" charset="-120"/>
              </a:rPr>
              <a:t>Prueba del vistazo</a:t>
            </a:r>
            <a:endParaRPr lang="en-US" sz="1400" dirty="0"/>
          </a:p>
        </p:txBody>
      </p:sp>
      <p:sp>
        <p:nvSpPr>
          <p:cNvPr id="25" name="Text 23"/>
          <p:cNvSpPr txBox="1"/>
          <p:nvPr/>
        </p:nvSpPr>
        <p:spPr>
          <a:xfrm>
            <a:off x="6464808" y="4480560"/>
            <a:ext cx="4919472" cy="146304"/>
          </a:xfrm>
          <a:prstGeom prst="rect">
            <a:avLst/>
          </a:prstGeom>
          <a:noFill/>
          <a:ln/>
        </p:spPr>
        <p:txBody>
          <a:bodyPr wrap="square" lIns="0" tIns="0" rIns="0" bIns="0" rtlCol="0" anchor="t"/>
          <a:lstStyle/>
          <a:p>
            <a:pPr marL="0" indent="0">
              <a:lnSpc>
                <a:spcPct val="106000"/>
              </a:lnSpc>
              <a:buNone/>
            </a:pPr>
            <a:r>
              <a:rPr lang="en-US" sz="1150" dirty="0">
                <a:solidFill>
                  <a:srgbClr val="1F2933"/>
                </a:solidFill>
                <a:latin typeface="Calibri" pitchFamily="34" charset="0"/>
                <a:ea typeface="Calibri" pitchFamily="34" charset="-122"/>
                <a:cs typeface="Calibri" pitchFamily="34" charset="-120"/>
              </a:rPr>
              <a:t>Si en cinco segundos la persona no identifica qué hacer primero, rediseñe.</a:t>
            </a:r>
            <a:endParaRPr lang="en-US" sz="1150" dirty="0"/>
          </a:p>
        </p:txBody>
      </p:sp>
      <p:sp>
        <p:nvSpPr>
          <p:cNvPr id="26" name="Shape 24"/>
          <p:cNvSpPr/>
          <p:nvPr/>
        </p:nvSpPr>
        <p:spPr>
          <a:xfrm>
            <a:off x="566928" y="5029200"/>
            <a:ext cx="11055096" cy="786384"/>
          </a:xfrm>
          <a:prstGeom prst="roundRect">
            <a:avLst>
              <a:gd name="adj" fmla="val 5814"/>
            </a:avLst>
          </a:prstGeom>
          <a:solidFill>
            <a:srgbClr val="1B2A4A"/>
          </a:solidFill>
          <a:ln w="12700">
            <a:solidFill>
              <a:srgbClr val="1B2A4A"/>
            </a:solidFill>
            <a:prstDash val="solid"/>
          </a:ln>
        </p:spPr>
      </p:sp>
      <p:sp>
        <p:nvSpPr>
          <p:cNvPr id="27" name="Text 25"/>
          <p:cNvSpPr txBox="1"/>
          <p:nvPr/>
        </p:nvSpPr>
        <p:spPr>
          <a:xfrm>
            <a:off x="932688" y="5138928"/>
            <a:ext cx="10323576" cy="56692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Aplicación en RUTA: pegada junto a la computadora del laboratorio, junto al teléfono en la práctica de inglés o dentro del cuaderno de matemáticas.</a:t>
            </a:r>
            <a:endParaRPr lang="en-US" sz="15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29184"/>
            <a:ext cx="11055096" cy="256032"/>
          </a:xfrm>
          <a:prstGeom prst="rect">
            <a:avLst/>
          </a:prstGeom>
          <a:noFill/>
          <a:ln/>
        </p:spPr>
        <p:txBody>
          <a:bodyPr wrap="square" lIns="0" tIns="0" rIns="0" bIns="0" rtlCol="0" anchor="ctr"/>
          <a:lstStyle/>
          <a:p>
            <a:pPr marL="0" indent="0">
              <a:buNone/>
            </a:pPr>
            <a:r>
              <a:rPr lang="en-US" sz="1100" b="1" kern="0" spc="160" dirty="0">
                <a:solidFill>
                  <a:srgbClr val="2A9D8F"/>
                </a:solidFill>
                <a:latin typeface="Calibri" pitchFamily="34" charset="0"/>
                <a:ea typeface="Calibri" pitchFamily="34" charset="-122"/>
                <a:cs typeface="Calibri" pitchFamily="34" charset="-120"/>
              </a:rPr>
              <a:t>EL MOMENTO DECISIVO</a:t>
            </a:r>
            <a:endParaRPr lang="en-US" sz="1100" dirty="0"/>
          </a:p>
        </p:txBody>
      </p:sp>
      <p:sp>
        <p:nvSpPr>
          <p:cNvPr id="3" name="Text 1"/>
          <p:cNvSpPr txBox="1"/>
          <p:nvPr/>
        </p:nvSpPr>
        <p:spPr>
          <a:xfrm>
            <a:off x="566928" y="603504"/>
            <a:ext cx="11055096" cy="749808"/>
          </a:xfrm>
          <a:prstGeom prst="rect">
            <a:avLst/>
          </a:prstGeom>
          <a:noFill/>
          <a:ln/>
        </p:spPr>
        <p:txBody>
          <a:bodyPr wrap="square" lIns="0" tIns="0" rIns="0" bIns="0" rtlCol="0" anchor="t"/>
          <a:lstStyle/>
          <a:p>
            <a:pPr marL="0" indent="0">
              <a:buNone/>
            </a:pPr>
            <a:r>
              <a:rPr lang="en-US" sz="2900" b="1" dirty="0">
                <a:solidFill>
                  <a:srgbClr val="1B2A4A"/>
                </a:solidFill>
                <a:latin typeface="Cambria" pitchFamily="34" charset="0"/>
                <a:ea typeface="Cambria" pitchFamily="34" charset="-122"/>
                <a:cs typeface="Cambria" pitchFamily="34" charset="-120"/>
              </a:rPr>
              <a:t>Práctica inmediata: la tarea de transferencia</a:t>
            </a:r>
            <a:endParaRPr lang="en-US" sz="2900" dirty="0"/>
          </a:p>
        </p:txBody>
      </p:sp>
      <p:sp>
        <p:nvSpPr>
          <p:cNvPr id="4" name="Text 2"/>
          <p:cNvSpPr txBox="1"/>
          <p:nvPr/>
        </p:nvSpPr>
        <p:spPr>
          <a:xfrm>
            <a:off x="566928" y="6428232"/>
            <a:ext cx="7863840" cy="256032"/>
          </a:xfrm>
          <a:prstGeom prst="rect">
            <a:avLst/>
          </a:prstGeom>
          <a:noFill/>
          <a:ln/>
        </p:spPr>
        <p:txBody>
          <a:bodyPr wrap="square" lIns="0" tIns="0" rIns="0" bIns="0" rtlCol="0" anchor="ctr"/>
          <a:lstStyle/>
          <a:p>
            <a:pPr marL="0" indent="0">
              <a:buNone/>
            </a:pPr>
            <a:r>
              <a:rPr lang="en-US" sz="900" dirty="0">
                <a:solidFill>
                  <a:srgbClr val="5B6B7B"/>
                </a:solidFill>
                <a:latin typeface="Calibri" pitchFamily="34" charset="0"/>
                <a:ea typeface="Calibri" pitchFamily="34" charset="-122"/>
                <a:cs typeface="Calibri" pitchFamily="34" charset="-120"/>
              </a:rPr>
              <a:t>Microaprendizaje para adultos  ·  Proyecto RUTA — Inter Ponce</a:t>
            </a:r>
            <a:endParaRPr lang="en-US" sz="900" dirty="0"/>
          </a:p>
        </p:txBody>
      </p:sp>
      <p:sp>
        <p:nvSpPr>
          <p:cNvPr id="5" name="Text 3"/>
          <p:cNvSpPr txBox="1"/>
          <p:nvPr/>
        </p:nvSpPr>
        <p:spPr>
          <a:xfrm>
            <a:off x="10972800" y="6428232"/>
            <a:ext cx="649224" cy="256032"/>
          </a:xfrm>
          <a:prstGeom prst="rect">
            <a:avLst/>
          </a:prstGeom>
          <a:noFill/>
          <a:ln/>
        </p:spPr>
        <p:txBody>
          <a:bodyPr wrap="square" lIns="0" tIns="0" rIns="0" bIns="0" rtlCol="0" anchor="ctr"/>
          <a:lstStyle/>
          <a:p>
            <a:pPr marL="0" indent="0" algn="r">
              <a:buNone/>
            </a:pPr>
            <a:r>
              <a:rPr lang="en-US" sz="900" dirty="0">
                <a:solidFill>
                  <a:srgbClr val="5B6B7B"/>
                </a:solidFill>
                <a:latin typeface="Calibri" pitchFamily="34" charset="0"/>
                <a:ea typeface="Calibri" pitchFamily="34" charset="-122"/>
                <a:cs typeface="Calibri" pitchFamily="34" charset="-120"/>
              </a:rPr>
              <a:t>32</a:t>
            </a:r>
            <a:endParaRPr lang="en-US" sz="900" dirty="0"/>
          </a:p>
        </p:txBody>
      </p:sp>
      <p:sp>
        <p:nvSpPr>
          <p:cNvPr id="6" name="Shape 4"/>
          <p:cNvSpPr/>
          <p:nvPr/>
        </p:nvSpPr>
        <p:spPr>
          <a:xfrm>
            <a:off x="566928" y="1572768"/>
            <a:ext cx="11055096" cy="749808"/>
          </a:xfrm>
          <a:prstGeom prst="roundRect">
            <a:avLst>
              <a:gd name="adj" fmla="val 6098"/>
            </a:avLst>
          </a:prstGeom>
          <a:solidFill>
            <a:srgbClr val="1B2A4A"/>
          </a:solidFill>
          <a:ln w="12700">
            <a:solidFill>
              <a:srgbClr val="1B2A4A"/>
            </a:solidFill>
            <a:prstDash val="solid"/>
          </a:ln>
        </p:spPr>
      </p:sp>
      <p:sp>
        <p:nvSpPr>
          <p:cNvPr id="7" name="Text 5"/>
          <p:cNvSpPr txBox="1"/>
          <p:nvPr/>
        </p:nvSpPr>
        <p:spPr>
          <a:xfrm>
            <a:off x="932688" y="1682496"/>
            <a:ext cx="10323576" cy="530352"/>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La cápsula no termina cuando el participante entiende. Termina cuando hace.</a:t>
            </a:r>
            <a:endParaRPr lang="en-US" sz="1800" dirty="0"/>
          </a:p>
        </p:txBody>
      </p:sp>
      <p:sp>
        <p:nvSpPr>
          <p:cNvPr id="8" name="Shape 6"/>
          <p:cNvSpPr/>
          <p:nvPr/>
        </p:nvSpPr>
        <p:spPr>
          <a:xfrm>
            <a:off x="566928" y="2523744"/>
            <a:ext cx="2624328" cy="2331720"/>
          </a:xfrm>
          <a:prstGeom prst="roundRect">
            <a:avLst>
              <a:gd name="adj" fmla="val 1569"/>
            </a:avLst>
          </a:prstGeom>
          <a:solidFill>
            <a:srgbClr val="F1F4F8"/>
          </a:solidFill>
          <a:ln w="12700">
            <a:solidFill>
              <a:srgbClr val="F1F4F8"/>
            </a:solidFill>
            <a:prstDash val="solid"/>
          </a:ln>
          <a:effectLst>
            <a:outerShdw blurRad="101600" dist="12700" dir="5400000" algn="bl" rotWithShape="0">
              <a:srgbClr val="9AA8B5">
                <a:alpha val="16000"/>
              </a:srgbClr>
            </a:outerShdw>
          </a:effectLst>
        </p:spPr>
      </p:sp>
      <p:sp>
        <p:nvSpPr>
          <p:cNvPr id="9" name="Shape 7"/>
          <p:cNvSpPr/>
          <p:nvPr/>
        </p:nvSpPr>
        <p:spPr>
          <a:xfrm>
            <a:off x="804672" y="2743200"/>
            <a:ext cx="420624" cy="420624"/>
          </a:xfrm>
          <a:prstGeom prst="ellipse">
            <a:avLst/>
          </a:prstGeom>
          <a:solidFill>
            <a:srgbClr val="1B2A4A"/>
          </a:solidFill>
          <a:ln w="12700">
            <a:solidFill>
              <a:srgbClr val="1B2A4A"/>
            </a:solidFill>
            <a:prstDash val="solid"/>
          </a:ln>
        </p:spPr>
      </p:sp>
      <p:sp>
        <p:nvSpPr>
          <p:cNvPr id="10" name="Text 8"/>
          <p:cNvSpPr txBox="1"/>
          <p:nvPr/>
        </p:nvSpPr>
        <p:spPr>
          <a:xfrm>
            <a:off x="804672" y="2743200"/>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1" name="Text 9"/>
          <p:cNvSpPr txBox="1"/>
          <p:nvPr/>
        </p:nvSpPr>
        <p:spPr>
          <a:xfrm>
            <a:off x="804672" y="3310128"/>
            <a:ext cx="2148840" cy="512064"/>
          </a:xfrm>
          <a:prstGeom prst="rect">
            <a:avLst/>
          </a:prstGeom>
          <a:noFill/>
          <a:ln/>
        </p:spPr>
        <p:txBody>
          <a:bodyPr wrap="square" lIns="0" tIns="0" rIns="0" bIns="0" rtlCol="0" anchor="t"/>
          <a:lstStyle/>
          <a:p>
            <a:pPr marL="0" indent="0">
              <a:buNone/>
            </a:pPr>
            <a:r>
              <a:rPr lang="en-US" sz="1350" b="1" dirty="0">
                <a:solidFill>
                  <a:srgbClr val="1B2A4A"/>
                </a:solidFill>
                <a:latin typeface="Calibri" pitchFamily="34" charset="0"/>
                <a:ea typeface="Calibri" pitchFamily="34" charset="-122"/>
                <a:cs typeface="Calibri" pitchFamily="34" charset="-120"/>
              </a:rPr>
              <a:t>Ocurre dentro de la cápsula</a:t>
            </a:r>
            <a:endParaRPr lang="en-US" sz="1350" dirty="0"/>
          </a:p>
        </p:txBody>
      </p:sp>
      <p:sp>
        <p:nvSpPr>
          <p:cNvPr id="12" name="Text 10"/>
          <p:cNvSpPr txBox="1"/>
          <p:nvPr/>
        </p:nvSpPr>
        <p:spPr>
          <a:xfrm>
            <a:off x="804672" y="3877056"/>
            <a:ext cx="2148840" cy="795528"/>
          </a:xfrm>
          <a:prstGeom prst="rect">
            <a:avLst/>
          </a:prstGeom>
          <a:noFill/>
          <a:ln/>
        </p:spPr>
        <p:txBody>
          <a:bodyPr wrap="square" lIns="0" tIns="0" rIns="0" bIns="0" rtlCol="0" anchor="t"/>
          <a:lstStyle/>
          <a:p>
            <a:pPr marL="0" indent="0">
              <a:lnSpc>
                <a:spcPct val="106000"/>
              </a:lnSpc>
              <a:buNone/>
            </a:pPr>
            <a:r>
              <a:rPr lang="en-US" sz="1150" dirty="0">
                <a:solidFill>
                  <a:srgbClr val="1F2933"/>
                </a:solidFill>
                <a:latin typeface="Calibri" pitchFamily="34" charset="0"/>
                <a:ea typeface="Calibri" pitchFamily="34" charset="-122"/>
                <a:cs typeface="Calibri" pitchFamily="34" charset="-120"/>
              </a:rPr>
              <a:t>No es tarea para la casa. Se ejecuta ahora, con la explicación todavía fresca.</a:t>
            </a:r>
            <a:endParaRPr lang="en-US" sz="1150" dirty="0"/>
          </a:p>
        </p:txBody>
      </p:sp>
      <p:sp>
        <p:nvSpPr>
          <p:cNvPr id="13" name="Shape 11"/>
          <p:cNvSpPr/>
          <p:nvPr/>
        </p:nvSpPr>
        <p:spPr>
          <a:xfrm>
            <a:off x="3383280" y="2523744"/>
            <a:ext cx="2624328" cy="2331720"/>
          </a:xfrm>
          <a:prstGeom prst="roundRect">
            <a:avLst>
              <a:gd name="adj" fmla="val 1569"/>
            </a:avLst>
          </a:prstGeom>
          <a:solidFill>
            <a:srgbClr val="E7F2F0"/>
          </a:solidFill>
          <a:ln w="12700">
            <a:solidFill>
              <a:srgbClr val="E7F2F0"/>
            </a:solidFill>
            <a:prstDash val="solid"/>
          </a:ln>
          <a:effectLst>
            <a:outerShdw blurRad="101600" dist="12700" dir="5400000" algn="bl" rotWithShape="0">
              <a:srgbClr val="9AA8B5">
                <a:alpha val="16000"/>
              </a:srgbClr>
            </a:outerShdw>
          </a:effectLst>
        </p:spPr>
      </p:sp>
      <p:sp>
        <p:nvSpPr>
          <p:cNvPr id="14" name="Shape 12"/>
          <p:cNvSpPr/>
          <p:nvPr/>
        </p:nvSpPr>
        <p:spPr>
          <a:xfrm>
            <a:off x="3621024" y="2743200"/>
            <a:ext cx="420624" cy="420624"/>
          </a:xfrm>
          <a:prstGeom prst="ellipse">
            <a:avLst/>
          </a:prstGeom>
          <a:solidFill>
            <a:srgbClr val="2A9D8F"/>
          </a:solidFill>
          <a:ln w="12700">
            <a:solidFill>
              <a:srgbClr val="2A9D8F"/>
            </a:solidFill>
            <a:prstDash val="solid"/>
          </a:ln>
        </p:spPr>
      </p:sp>
      <p:sp>
        <p:nvSpPr>
          <p:cNvPr id="15" name="Text 13"/>
          <p:cNvSpPr txBox="1"/>
          <p:nvPr/>
        </p:nvSpPr>
        <p:spPr>
          <a:xfrm>
            <a:off x="3621024" y="2743200"/>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6" name="Text 14"/>
          <p:cNvSpPr txBox="1"/>
          <p:nvPr/>
        </p:nvSpPr>
        <p:spPr>
          <a:xfrm>
            <a:off x="3621024" y="3310128"/>
            <a:ext cx="2148840" cy="512064"/>
          </a:xfrm>
          <a:prstGeom prst="rect">
            <a:avLst/>
          </a:prstGeom>
          <a:noFill/>
          <a:ln/>
        </p:spPr>
        <p:txBody>
          <a:bodyPr wrap="square" lIns="0" tIns="0" rIns="0" bIns="0" rtlCol="0" anchor="t"/>
          <a:lstStyle/>
          <a:p>
            <a:pPr marL="0" indent="0">
              <a:buNone/>
            </a:pPr>
            <a:r>
              <a:rPr lang="en-US" sz="1350" b="1" dirty="0">
                <a:solidFill>
                  <a:srgbClr val="2A9D8F"/>
                </a:solidFill>
                <a:latin typeface="Calibri" pitchFamily="34" charset="0"/>
                <a:ea typeface="Calibri" pitchFamily="34" charset="-122"/>
                <a:cs typeface="Calibri" pitchFamily="34" charset="-120"/>
              </a:rPr>
              <a:t>Reproduce la condición real</a:t>
            </a:r>
            <a:endParaRPr lang="en-US" sz="1350" dirty="0"/>
          </a:p>
        </p:txBody>
      </p:sp>
      <p:sp>
        <p:nvSpPr>
          <p:cNvPr id="17" name="Text 15"/>
          <p:cNvSpPr txBox="1"/>
          <p:nvPr/>
        </p:nvSpPr>
        <p:spPr>
          <a:xfrm>
            <a:off x="3621024" y="3877056"/>
            <a:ext cx="2148840" cy="795528"/>
          </a:xfrm>
          <a:prstGeom prst="rect">
            <a:avLst/>
          </a:prstGeom>
          <a:noFill/>
          <a:ln/>
        </p:spPr>
        <p:txBody>
          <a:bodyPr wrap="square" lIns="0" tIns="0" rIns="0" bIns="0" rtlCol="0" anchor="t"/>
          <a:lstStyle/>
          <a:p>
            <a:pPr marL="0" indent="0">
              <a:lnSpc>
                <a:spcPct val="106000"/>
              </a:lnSpc>
              <a:buNone/>
            </a:pPr>
            <a:r>
              <a:rPr lang="en-US" sz="1150" dirty="0">
                <a:solidFill>
                  <a:srgbClr val="1F2933"/>
                </a:solidFill>
                <a:latin typeface="Calibri" pitchFamily="34" charset="0"/>
                <a:ea typeface="Calibri" pitchFamily="34" charset="-122"/>
                <a:cs typeface="Calibri" pitchFamily="34" charset="-120"/>
              </a:rPr>
              <a:t>Si la competencia dice «sin apoyo escrito», la práctica se hace sin apoyo escrito.</a:t>
            </a:r>
            <a:endParaRPr lang="en-US" sz="1150" dirty="0"/>
          </a:p>
        </p:txBody>
      </p:sp>
      <p:sp>
        <p:nvSpPr>
          <p:cNvPr id="18" name="Shape 16"/>
          <p:cNvSpPr/>
          <p:nvPr/>
        </p:nvSpPr>
        <p:spPr>
          <a:xfrm>
            <a:off x="6199632" y="2523744"/>
            <a:ext cx="2624328" cy="2331720"/>
          </a:xfrm>
          <a:prstGeom prst="roundRect">
            <a:avLst>
              <a:gd name="adj" fmla="val 1569"/>
            </a:avLst>
          </a:prstGeom>
          <a:solidFill>
            <a:srgbClr val="FAF3E0"/>
          </a:solidFill>
          <a:ln w="12700">
            <a:solidFill>
              <a:srgbClr val="FAF3E0"/>
            </a:solidFill>
            <a:prstDash val="solid"/>
          </a:ln>
          <a:effectLst>
            <a:outerShdw blurRad="101600" dist="12700" dir="5400000" algn="bl" rotWithShape="0">
              <a:srgbClr val="9AA8B5">
                <a:alpha val="16000"/>
              </a:srgbClr>
            </a:outerShdw>
          </a:effectLst>
        </p:spPr>
      </p:sp>
      <p:sp>
        <p:nvSpPr>
          <p:cNvPr id="19" name="Shape 17"/>
          <p:cNvSpPr/>
          <p:nvPr/>
        </p:nvSpPr>
        <p:spPr>
          <a:xfrm>
            <a:off x="6437376" y="2743200"/>
            <a:ext cx="420624" cy="420624"/>
          </a:xfrm>
          <a:prstGeom prst="ellipse">
            <a:avLst/>
          </a:prstGeom>
          <a:solidFill>
            <a:srgbClr val="C9A227"/>
          </a:solidFill>
          <a:ln w="12700">
            <a:solidFill>
              <a:srgbClr val="C9A227"/>
            </a:solidFill>
            <a:prstDash val="solid"/>
          </a:ln>
        </p:spPr>
      </p:sp>
      <p:sp>
        <p:nvSpPr>
          <p:cNvPr id="20" name="Text 18"/>
          <p:cNvSpPr txBox="1"/>
          <p:nvPr/>
        </p:nvSpPr>
        <p:spPr>
          <a:xfrm>
            <a:off x="6437376" y="2743200"/>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1" name="Text 19"/>
          <p:cNvSpPr txBox="1"/>
          <p:nvPr/>
        </p:nvSpPr>
        <p:spPr>
          <a:xfrm>
            <a:off x="6437376" y="3310128"/>
            <a:ext cx="2148840" cy="512064"/>
          </a:xfrm>
          <a:prstGeom prst="rect">
            <a:avLst/>
          </a:prstGeom>
          <a:noFill/>
          <a:ln/>
        </p:spPr>
        <p:txBody>
          <a:bodyPr wrap="square" lIns="0" tIns="0" rIns="0" bIns="0" rtlCol="0" anchor="t"/>
          <a:lstStyle/>
          <a:p>
            <a:pPr marL="0" indent="0">
              <a:buNone/>
            </a:pPr>
            <a:r>
              <a:rPr lang="en-US" sz="1350" b="1" dirty="0">
                <a:solidFill>
                  <a:srgbClr val="C9A227"/>
                </a:solidFill>
                <a:latin typeface="Calibri" pitchFamily="34" charset="0"/>
                <a:ea typeface="Calibri" pitchFamily="34" charset="-122"/>
                <a:cs typeface="Calibri" pitchFamily="34" charset="-120"/>
              </a:rPr>
              <a:t>Produce algo observable</a:t>
            </a:r>
            <a:endParaRPr lang="en-US" sz="1350" dirty="0"/>
          </a:p>
        </p:txBody>
      </p:sp>
      <p:sp>
        <p:nvSpPr>
          <p:cNvPr id="22" name="Text 20"/>
          <p:cNvSpPr txBox="1"/>
          <p:nvPr/>
        </p:nvSpPr>
        <p:spPr>
          <a:xfrm>
            <a:off x="6437376" y="3877056"/>
            <a:ext cx="2148840" cy="795528"/>
          </a:xfrm>
          <a:prstGeom prst="rect">
            <a:avLst/>
          </a:prstGeom>
          <a:noFill/>
          <a:ln/>
        </p:spPr>
        <p:txBody>
          <a:bodyPr wrap="square" lIns="0" tIns="0" rIns="0" bIns="0" rtlCol="0" anchor="t"/>
          <a:lstStyle/>
          <a:p>
            <a:pPr marL="0" indent="0">
              <a:lnSpc>
                <a:spcPct val="106000"/>
              </a:lnSpc>
              <a:buNone/>
            </a:pPr>
            <a:r>
              <a:rPr lang="en-US" sz="1150" dirty="0">
                <a:solidFill>
                  <a:srgbClr val="1F2933"/>
                </a:solidFill>
                <a:latin typeface="Calibri" pitchFamily="34" charset="0"/>
                <a:ea typeface="Calibri" pitchFamily="34" charset="-122"/>
                <a:cs typeface="Calibri" pitchFamily="34" charset="-120"/>
              </a:rPr>
              <a:t>Un cálculo, una grabación, un formulario, una demostración. Algo que exista después.</a:t>
            </a:r>
            <a:endParaRPr lang="en-US" sz="1150" dirty="0"/>
          </a:p>
        </p:txBody>
      </p:sp>
      <p:sp>
        <p:nvSpPr>
          <p:cNvPr id="23" name="Shape 21"/>
          <p:cNvSpPr/>
          <p:nvPr/>
        </p:nvSpPr>
        <p:spPr>
          <a:xfrm>
            <a:off x="9015984" y="2523744"/>
            <a:ext cx="2624328" cy="2331720"/>
          </a:xfrm>
          <a:prstGeom prst="roundRect">
            <a:avLst>
              <a:gd name="adj" fmla="val 1569"/>
            </a:avLst>
          </a:prstGeom>
          <a:solidFill>
            <a:srgbClr val="F1F4F8"/>
          </a:solidFill>
          <a:ln w="12700">
            <a:solidFill>
              <a:srgbClr val="F1F4F8"/>
            </a:solidFill>
            <a:prstDash val="solid"/>
          </a:ln>
          <a:effectLst>
            <a:outerShdw blurRad="101600" dist="12700" dir="5400000" algn="bl" rotWithShape="0">
              <a:srgbClr val="9AA8B5">
                <a:alpha val="16000"/>
              </a:srgbClr>
            </a:outerShdw>
          </a:effectLst>
        </p:spPr>
      </p:sp>
      <p:sp>
        <p:nvSpPr>
          <p:cNvPr id="24" name="Shape 22"/>
          <p:cNvSpPr/>
          <p:nvPr/>
        </p:nvSpPr>
        <p:spPr>
          <a:xfrm>
            <a:off x="9253728" y="2743200"/>
            <a:ext cx="420624" cy="420624"/>
          </a:xfrm>
          <a:prstGeom prst="ellipse">
            <a:avLst/>
          </a:prstGeom>
          <a:solidFill>
            <a:srgbClr val="1F3864"/>
          </a:solidFill>
          <a:ln w="12700">
            <a:solidFill>
              <a:srgbClr val="1F3864"/>
            </a:solidFill>
            <a:prstDash val="solid"/>
          </a:ln>
        </p:spPr>
      </p:sp>
      <p:sp>
        <p:nvSpPr>
          <p:cNvPr id="25" name="Text 23"/>
          <p:cNvSpPr txBox="1"/>
          <p:nvPr/>
        </p:nvSpPr>
        <p:spPr>
          <a:xfrm>
            <a:off x="9253728" y="2743200"/>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6" name="Text 24"/>
          <p:cNvSpPr txBox="1"/>
          <p:nvPr/>
        </p:nvSpPr>
        <p:spPr>
          <a:xfrm>
            <a:off x="9253728" y="3310128"/>
            <a:ext cx="2148840" cy="512064"/>
          </a:xfrm>
          <a:prstGeom prst="rect">
            <a:avLst/>
          </a:prstGeom>
          <a:noFill/>
          <a:ln/>
        </p:spPr>
        <p:txBody>
          <a:bodyPr wrap="square" lIns="0" tIns="0" rIns="0" bIns="0" rtlCol="0" anchor="t"/>
          <a:lstStyle/>
          <a:p>
            <a:pPr marL="0" indent="0">
              <a:buNone/>
            </a:pPr>
            <a:r>
              <a:rPr lang="en-US" sz="1350" b="1" dirty="0">
                <a:solidFill>
                  <a:srgbClr val="1F3864"/>
                </a:solidFill>
                <a:latin typeface="Calibri" pitchFamily="34" charset="0"/>
                <a:ea typeface="Calibri" pitchFamily="34" charset="-122"/>
                <a:cs typeface="Calibri" pitchFamily="34" charset="-120"/>
              </a:rPr>
              <a:t>Tiene retroalimentación inmediata</a:t>
            </a:r>
            <a:endParaRPr lang="en-US" sz="1350" dirty="0"/>
          </a:p>
        </p:txBody>
      </p:sp>
      <p:sp>
        <p:nvSpPr>
          <p:cNvPr id="27" name="Text 25"/>
          <p:cNvSpPr txBox="1"/>
          <p:nvPr/>
        </p:nvSpPr>
        <p:spPr>
          <a:xfrm>
            <a:off x="9253728" y="3877056"/>
            <a:ext cx="2148840" cy="795528"/>
          </a:xfrm>
          <a:prstGeom prst="rect">
            <a:avLst/>
          </a:prstGeom>
          <a:noFill/>
          <a:ln/>
        </p:spPr>
        <p:txBody>
          <a:bodyPr wrap="square" lIns="0" tIns="0" rIns="0" bIns="0" rtlCol="0" anchor="t"/>
          <a:lstStyle/>
          <a:p>
            <a:pPr marL="0" indent="0">
              <a:lnSpc>
                <a:spcPct val="106000"/>
              </a:lnSpc>
              <a:buNone/>
            </a:pPr>
            <a:r>
              <a:rPr lang="en-US" sz="1150" dirty="0">
                <a:solidFill>
                  <a:srgbClr val="1F2933"/>
                </a:solidFill>
                <a:latin typeface="Calibri" pitchFamily="34" charset="0"/>
                <a:ea typeface="Calibri" pitchFamily="34" charset="-122"/>
                <a:cs typeface="Calibri" pitchFamily="34" charset="-120"/>
              </a:rPr>
              <a:t>Respuesta modelo, lista de cotejo o par que revisa. Nunca «lo vemos la próxima semana».</a:t>
            </a:r>
            <a:endParaRPr lang="en-US" sz="1150" dirty="0"/>
          </a:p>
        </p:txBody>
      </p:sp>
      <p:sp>
        <p:nvSpPr>
          <p:cNvPr id="28" name="Shape 26"/>
          <p:cNvSpPr/>
          <p:nvPr/>
        </p:nvSpPr>
        <p:spPr>
          <a:xfrm>
            <a:off x="566928" y="5084064"/>
            <a:ext cx="11055096" cy="777240"/>
          </a:xfrm>
          <a:prstGeom prst="roundRect">
            <a:avLst>
              <a:gd name="adj" fmla="val 4706"/>
            </a:avLst>
          </a:prstGeom>
          <a:solidFill>
            <a:srgbClr val="E7F2F0"/>
          </a:solidFill>
          <a:ln w="12700">
            <a:solidFill>
              <a:srgbClr val="E7F2F0"/>
            </a:solidFill>
            <a:prstDash val="solid"/>
          </a:ln>
          <a:effectLst>
            <a:outerShdw blurRad="101600" dist="12700" dir="5400000" algn="bl" rotWithShape="0">
              <a:srgbClr val="9AA8B5">
                <a:alpha val="16000"/>
              </a:srgbClr>
            </a:outerShdw>
          </a:effectLst>
        </p:spPr>
      </p:sp>
      <p:sp>
        <p:nvSpPr>
          <p:cNvPr id="29" name="Text 27"/>
          <p:cNvSpPr txBox="1"/>
          <p:nvPr/>
        </p:nvSpPr>
        <p:spPr>
          <a:xfrm>
            <a:off x="804672" y="5303520"/>
            <a:ext cx="10579608" cy="374904"/>
          </a:xfrm>
          <a:prstGeom prst="rect">
            <a:avLst/>
          </a:prstGeom>
          <a:noFill/>
          <a:ln/>
        </p:spPr>
        <p:txBody>
          <a:bodyPr wrap="square" lIns="0" tIns="0" rIns="0" bIns="0" rtlCol="0" anchor="t"/>
          <a:lstStyle/>
          <a:p>
            <a:pPr marL="0" indent="0">
              <a:lnSpc>
                <a:spcPct val="106000"/>
              </a:lnSpc>
              <a:buNone/>
            </a:pPr>
            <a:r>
              <a:rPr lang="en-US" sz="1200" dirty="0">
                <a:solidFill>
                  <a:srgbClr val="1F2933"/>
                </a:solidFill>
                <a:latin typeface="Calibri" pitchFamily="34" charset="0"/>
                <a:ea typeface="Calibri" pitchFamily="34" charset="-122"/>
                <a:cs typeface="Calibri" pitchFamily="34" charset="-120"/>
              </a:rPr>
              <a:t>Ejemplo RUTA — Inglés conversacional: tras el modelado, el participante llama al celular de un compañero y solicita la cita médica. Dos turnos, 90 segundos, con lista de cotejo de cinco expresiones.</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29184"/>
            <a:ext cx="11055096" cy="256032"/>
          </a:xfrm>
          <a:prstGeom prst="rect">
            <a:avLst/>
          </a:prstGeom>
          <a:noFill/>
          <a:ln/>
        </p:spPr>
        <p:txBody>
          <a:bodyPr wrap="square" lIns="0" tIns="0" rIns="0" bIns="0" rtlCol="0" anchor="ctr"/>
          <a:lstStyle/>
          <a:p>
            <a:pPr marL="0" indent="0">
              <a:buNone/>
            </a:pPr>
            <a:r>
              <a:rPr lang="en-US" sz="1100" b="1" kern="0" spc="160" dirty="0">
                <a:solidFill>
                  <a:srgbClr val="2A9D8F"/>
                </a:solidFill>
                <a:latin typeface="Calibri" pitchFamily="34" charset="0"/>
                <a:ea typeface="Calibri" pitchFamily="34" charset="-122"/>
                <a:cs typeface="Calibri" pitchFamily="34" charset="-120"/>
              </a:rPr>
              <a:t>EVALUACIONES RÁPIDAS</a:t>
            </a:r>
            <a:endParaRPr lang="en-US" sz="1100" dirty="0"/>
          </a:p>
        </p:txBody>
      </p:sp>
      <p:sp>
        <p:nvSpPr>
          <p:cNvPr id="3" name="Text 1"/>
          <p:cNvSpPr txBox="1"/>
          <p:nvPr/>
        </p:nvSpPr>
        <p:spPr>
          <a:xfrm>
            <a:off x="566928" y="603504"/>
            <a:ext cx="11055096" cy="749808"/>
          </a:xfrm>
          <a:prstGeom prst="rect">
            <a:avLst/>
          </a:prstGeom>
          <a:noFill/>
          <a:ln/>
        </p:spPr>
        <p:txBody>
          <a:bodyPr wrap="square" lIns="0" tIns="0" rIns="0" bIns="0" rtlCol="0" anchor="t"/>
          <a:lstStyle/>
          <a:p>
            <a:pPr marL="0" indent="0">
              <a:buNone/>
            </a:pPr>
            <a:r>
              <a:rPr lang="en-US" sz="2900" b="1" dirty="0">
                <a:solidFill>
                  <a:srgbClr val="1B2A4A"/>
                </a:solidFill>
                <a:latin typeface="Cambria" pitchFamily="34" charset="0"/>
                <a:ea typeface="Cambria" pitchFamily="34" charset="-122"/>
                <a:cs typeface="Cambria" pitchFamily="34" charset="-120"/>
              </a:rPr>
              <a:t>Seis formatos de microevaluación para cerrar la cápsula</a:t>
            </a:r>
            <a:endParaRPr lang="en-US" sz="2900" dirty="0"/>
          </a:p>
        </p:txBody>
      </p:sp>
      <p:sp>
        <p:nvSpPr>
          <p:cNvPr id="4" name="Text 2"/>
          <p:cNvSpPr txBox="1"/>
          <p:nvPr/>
        </p:nvSpPr>
        <p:spPr>
          <a:xfrm>
            <a:off x="566928" y="6428232"/>
            <a:ext cx="7863840" cy="256032"/>
          </a:xfrm>
          <a:prstGeom prst="rect">
            <a:avLst/>
          </a:prstGeom>
          <a:noFill/>
          <a:ln/>
        </p:spPr>
        <p:txBody>
          <a:bodyPr wrap="square" lIns="0" tIns="0" rIns="0" bIns="0" rtlCol="0" anchor="ctr"/>
          <a:lstStyle/>
          <a:p>
            <a:pPr marL="0" indent="0">
              <a:buNone/>
            </a:pPr>
            <a:r>
              <a:rPr lang="en-US" sz="900" dirty="0">
                <a:solidFill>
                  <a:srgbClr val="5B6B7B"/>
                </a:solidFill>
                <a:latin typeface="Calibri" pitchFamily="34" charset="0"/>
                <a:ea typeface="Calibri" pitchFamily="34" charset="-122"/>
                <a:cs typeface="Calibri" pitchFamily="34" charset="-120"/>
              </a:rPr>
              <a:t>Microaprendizaje para adultos  ·  Proyecto RUTA — Inter Ponce</a:t>
            </a:r>
            <a:endParaRPr lang="en-US" sz="900" dirty="0"/>
          </a:p>
        </p:txBody>
      </p:sp>
      <p:sp>
        <p:nvSpPr>
          <p:cNvPr id="5" name="Text 3"/>
          <p:cNvSpPr txBox="1"/>
          <p:nvPr/>
        </p:nvSpPr>
        <p:spPr>
          <a:xfrm>
            <a:off x="10972800" y="6428232"/>
            <a:ext cx="649224" cy="256032"/>
          </a:xfrm>
          <a:prstGeom prst="rect">
            <a:avLst/>
          </a:prstGeom>
          <a:noFill/>
          <a:ln/>
        </p:spPr>
        <p:txBody>
          <a:bodyPr wrap="square" lIns="0" tIns="0" rIns="0" bIns="0" rtlCol="0" anchor="ctr"/>
          <a:lstStyle/>
          <a:p>
            <a:pPr marL="0" indent="0" algn="r">
              <a:buNone/>
            </a:pPr>
            <a:r>
              <a:rPr lang="en-US" sz="900" dirty="0">
                <a:solidFill>
                  <a:srgbClr val="5B6B7B"/>
                </a:solidFill>
                <a:latin typeface="Calibri" pitchFamily="34" charset="0"/>
                <a:ea typeface="Calibri" pitchFamily="34" charset="-122"/>
                <a:cs typeface="Calibri" pitchFamily="34" charset="-120"/>
              </a:rPr>
              <a:t>33</a:t>
            </a:r>
            <a:endParaRPr lang="en-US" sz="900" dirty="0"/>
          </a:p>
        </p:txBody>
      </p:sp>
      <p:sp>
        <p:nvSpPr>
          <p:cNvPr id="6" name="Shape 4"/>
          <p:cNvSpPr/>
          <p:nvPr/>
        </p:nvSpPr>
        <p:spPr>
          <a:xfrm>
            <a:off x="566928" y="1627632"/>
            <a:ext cx="3502152" cy="1920240"/>
          </a:xfrm>
          <a:prstGeom prst="roundRect">
            <a:avLst>
              <a:gd name="adj" fmla="val 1905"/>
            </a:avLst>
          </a:prstGeom>
          <a:solidFill>
            <a:srgbClr val="F1F4F8"/>
          </a:solidFill>
          <a:ln w="12700">
            <a:solidFill>
              <a:srgbClr val="F1F4F8"/>
            </a:solidFill>
            <a:prstDash val="solid"/>
          </a:ln>
          <a:effectLst>
            <a:outerShdw blurRad="101600" dist="12700" dir="5400000" algn="bl" rotWithShape="0">
              <a:srgbClr val="9AA8B5">
                <a:alpha val="16000"/>
              </a:srgbClr>
            </a:outerShdw>
          </a:effectLst>
        </p:spPr>
      </p:sp>
      <p:sp>
        <p:nvSpPr>
          <p:cNvPr id="7" name="Text 5"/>
          <p:cNvSpPr txBox="1"/>
          <p:nvPr/>
        </p:nvSpPr>
        <p:spPr>
          <a:xfrm>
            <a:off x="804672" y="1847088"/>
            <a:ext cx="3026664" cy="310896"/>
          </a:xfrm>
          <a:prstGeom prst="rect">
            <a:avLst/>
          </a:prstGeom>
          <a:noFill/>
          <a:ln/>
        </p:spPr>
        <p:txBody>
          <a:bodyPr wrap="square" lIns="0" tIns="0" rIns="0" bIns="0" rtlCol="0" anchor="t"/>
          <a:lstStyle/>
          <a:p>
            <a:pPr marL="0" indent="0">
              <a:buNone/>
            </a:pPr>
            <a:r>
              <a:rPr lang="en-US" sz="1400" b="1" dirty="0">
                <a:solidFill>
                  <a:srgbClr val="1B2A4A"/>
                </a:solidFill>
                <a:latin typeface="Calibri" pitchFamily="34" charset="0"/>
                <a:ea typeface="Calibri" pitchFamily="34" charset="-122"/>
                <a:cs typeface="Calibri" pitchFamily="34" charset="-120"/>
              </a:rPr>
              <a:t>Ticket de salida</a:t>
            </a:r>
            <a:endParaRPr lang="en-US" sz="1400" dirty="0"/>
          </a:p>
        </p:txBody>
      </p:sp>
      <p:sp>
        <p:nvSpPr>
          <p:cNvPr id="8" name="Text 6"/>
          <p:cNvSpPr txBox="1"/>
          <p:nvPr/>
        </p:nvSpPr>
        <p:spPr>
          <a:xfrm>
            <a:off x="804672" y="2212848"/>
            <a:ext cx="3026664" cy="1152144"/>
          </a:xfrm>
          <a:prstGeom prst="rect">
            <a:avLst/>
          </a:prstGeom>
          <a:noFill/>
          <a:ln/>
        </p:spPr>
        <p:txBody>
          <a:bodyPr wrap="square" lIns="0" tIns="0" rIns="0" bIns="0" rtlCol="0" anchor="t"/>
          <a:lstStyle/>
          <a:p>
            <a:pPr marL="0" indent="0">
              <a:lnSpc>
                <a:spcPct val="106000"/>
              </a:lnSpc>
              <a:buNone/>
            </a:pPr>
            <a:r>
              <a:rPr lang="en-US" sz="1150" dirty="0">
                <a:solidFill>
                  <a:srgbClr val="1F2933"/>
                </a:solidFill>
                <a:latin typeface="Calibri" pitchFamily="34" charset="0"/>
                <a:ea typeface="Calibri" pitchFamily="34" charset="-122"/>
                <a:cs typeface="Calibri" pitchFamily="34" charset="-120"/>
              </a:rPr>
              <a:t>Una pregunta de aplicación, respondida en una línea antes de cerrar.</a:t>
            </a:r>
            <a:endParaRPr lang="en-US" sz="1150" dirty="0"/>
          </a:p>
          <a:p>
            <a:pPr marL="0" indent="0">
              <a:lnSpc>
                <a:spcPct val="106000"/>
              </a:lnSpc>
              <a:buNone/>
            </a:pPr>
            <a:endParaRPr lang="en-US" sz="1150" dirty="0"/>
          </a:p>
          <a:p>
            <a:pPr marL="0" indent="0">
              <a:lnSpc>
                <a:spcPct val="106000"/>
              </a:lnSpc>
              <a:buNone/>
            </a:pPr>
            <a:r>
              <a:rPr lang="en-US" sz="1150" dirty="0">
                <a:solidFill>
                  <a:srgbClr val="1F2933"/>
                </a:solidFill>
                <a:latin typeface="Calibri" pitchFamily="34" charset="0"/>
                <a:ea typeface="Calibri" pitchFamily="34" charset="-122"/>
                <a:cs typeface="Calibri" pitchFamily="34" charset="-120"/>
              </a:rPr>
              <a:t>Tiempo: 1 min</a:t>
            </a:r>
            <a:endParaRPr lang="en-US" sz="1150" dirty="0"/>
          </a:p>
        </p:txBody>
      </p:sp>
      <p:sp>
        <p:nvSpPr>
          <p:cNvPr id="9" name="Shape 7"/>
          <p:cNvSpPr/>
          <p:nvPr/>
        </p:nvSpPr>
        <p:spPr>
          <a:xfrm>
            <a:off x="4343400" y="1627632"/>
            <a:ext cx="3502152" cy="1920240"/>
          </a:xfrm>
          <a:prstGeom prst="roundRect">
            <a:avLst>
              <a:gd name="adj" fmla="val 1905"/>
            </a:avLst>
          </a:prstGeom>
          <a:solidFill>
            <a:srgbClr val="F1F4F8"/>
          </a:solidFill>
          <a:ln w="12700">
            <a:solidFill>
              <a:srgbClr val="F1F4F8"/>
            </a:solidFill>
            <a:prstDash val="solid"/>
          </a:ln>
          <a:effectLst>
            <a:outerShdw blurRad="101600" dist="12700" dir="5400000" algn="bl" rotWithShape="0">
              <a:srgbClr val="9AA8B5">
                <a:alpha val="16000"/>
              </a:srgbClr>
            </a:outerShdw>
          </a:effectLst>
        </p:spPr>
      </p:sp>
      <p:sp>
        <p:nvSpPr>
          <p:cNvPr id="10" name="Text 8"/>
          <p:cNvSpPr txBox="1"/>
          <p:nvPr/>
        </p:nvSpPr>
        <p:spPr>
          <a:xfrm>
            <a:off x="4581144" y="1847088"/>
            <a:ext cx="3026664" cy="310896"/>
          </a:xfrm>
          <a:prstGeom prst="rect">
            <a:avLst/>
          </a:prstGeom>
          <a:noFill/>
          <a:ln/>
        </p:spPr>
        <p:txBody>
          <a:bodyPr wrap="square" lIns="0" tIns="0" rIns="0" bIns="0" rtlCol="0" anchor="t"/>
          <a:lstStyle/>
          <a:p>
            <a:pPr marL="0" indent="0">
              <a:buNone/>
            </a:pPr>
            <a:r>
              <a:rPr lang="en-US" sz="1400" b="1" dirty="0">
                <a:solidFill>
                  <a:srgbClr val="2A9D8F"/>
                </a:solidFill>
                <a:latin typeface="Calibri" pitchFamily="34" charset="0"/>
                <a:ea typeface="Calibri" pitchFamily="34" charset="-122"/>
                <a:cs typeface="Calibri" pitchFamily="34" charset="-120"/>
              </a:rPr>
              <a:t>Chequeo de tres ítems</a:t>
            </a:r>
            <a:endParaRPr lang="en-US" sz="1400" dirty="0"/>
          </a:p>
        </p:txBody>
      </p:sp>
      <p:sp>
        <p:nvSpPr>
          <p:cNvPr id="11" name="Text 9"/>
          <p:cNvSpPr txBox="1"/>
          <p:nvPr/>
        </p:nvSpPr>
        <p:spPr>
          <a:xfrm>
            <a:off x="4581144" y="2212848"/>
            <a:ext cx="3026664" cy="1152144"/>
          </a:xfrm>
          <a:prstGeom prst="rect">
            <a:avLst/>
          </a:prstGeom>
          <a:noFill/>
          <a:ln/>
        </p:spPr>
        <p:txBody>
          <a:bodyPr wrap="square" lIns="0" tIns="0" rIns="0" bIns="0" rtlCol="0" anchor="t"/>
          <a:lstStyle/>
          <a:p>
            <a:pPr marL="0" indent="0">
              <a:lnSpc>
                <a:spcPct val="106000"/>
              </a:lnSpc>
              <a:buNone/>
            </a:pPr>
            <a:r>
              <a:rPr lang="en-US" sz="1150" dirty="0">
                <a:solidFill>
                  <a:srgbClr val="1F2933"/>
                </a:solidFill>
                <a:latin typeface="Calibri" pitchFamily="34" charset="0"/>
                <a:ea typeface="Calibri" pitchFamily="34" charset="-122"/>
                <a:cs typeface="Calibri" pitchFamily="34" charset="-120"/>
              </a:rPr>
              <a:t>Tres reactivos con respuesta modelo al reverso. Autocorregible.</a:t>
            </a:r>
            <a:endParaRPr lang="en-US" sz="1150" dirty="0"/>
          </a:p>
          <a:p>
            <a:pPr marL="0" indent="0">
              <a:lnSpc>
                <a:spcPct val="106000"/>
              </a:lnSpc>
              <a:buNone/>
            </a:pPr>
            <a:endParaRPr lang="en-US" sz="1150" dirty="0"/>
          </a:p>
          <a:p>
            <a:pPr marL="0" indent="0">
              <a:lnSpc>
                <a:spcPct val="106000"/>
              </a:lnSpc>
              <a:buNone/>
            </a:pPr>
            <a:r>
              <a:rPr lang="en-US" sz="1150" dirty="0">
                <a:solidFill>
                  <a:srgbClr val="1F2933"/>
                </a:solidFill>
                <a:latin typeface="Calibri" pitchFamily="34" charset="0"/>
                <a:ea typeface="Calibri" pitchFamily="34" charset="-122"/>
                <a:cs typeface="Calibri" pitchFamily="34" charset="-120"/>
              </a:rPr>
              <a:t>Tiempo: 2 min</a:t>
            </a:r>
            <a:endParaRPr lang="en-US" sz="1150" dirty="0"/>
          </a:p>
        </p:txBody>
      </p:sp>
      <p:sp>
        <p:nvSpPr>
          <p:cNvPr id="12" name="Shape 10"/>
          <p:cNvSpPr/>
          <p:nvPr/>
        </p:nvSpPr>
        <p:spPr>
          <a:xfrm>
            <a:off x="8119872" y="1627632"/>
            <a:ext cx="3502152" cy="1920240"/>
          </a:xfrm>
          <a:prstGeom prst="roundRect">
            <a:avLst>
              <a:gd name="adj" fmla="val 1905"/>
            </a:avLst>
          </a:prstGeom>
          <a:solidFill>
            <a:srgbClr val="F1F4F8"/>
          </a:solidFill>
          <a:ln w="12700">
            <a:solidFill>
              <a:srgbClr val="F1F4F8"/>
            </a:solidFill>
            <a:prstDash val="solid"/>
          </a:ln>
          <a:effectLst>
            <a:outerShdw blurRad="101600" dist="12700" dir="5400000" algn="bl" rotWithShape="0">
              <a:srgbClr val="9AA8B5">
                <a:alpha val="16000"/>
              </a:srgbClr>
            </a:outerShdw>
          </a:effectLst>
        </p:spPr>
      </p:sp>
      <p:sp>
        <p:nvSpPr>
          <p:cNvPr id="13" name="Text 11"/>
          <p:cNvSpPr txBox="1"/>
          <p:nvPr/>
        </p:nvSpPr>
        <p:spPr>
          <a:xfrm>
            <a:off x="8357616" y="1847088"/>
            <a:ext cx="3026664" cy="310896"/>
          </a:xfrm>
          <a:prstGeom prst="rect">
            <a:avLst/>
          </a:prstGeom>
          <a:noFill/>
          <a:ln/>
        </p:spPr>
        <p:txBody>
          <a:bodyPr wrap="square" lIns="0" tIns="0" rIns="0" bIns="0" rtlCol="0" anchor="t"/>
          <a:lstStyle/>
          <a:p>
            <a:pPr marL="0" indent="0">
              <a:buNone/>
            </a:pPr>
            <a:r>
              <a:rPr lang="en-US" sz="1400" b="1" dirty="0">
                <a:solidFill>
                  <a:srgbClr val="C9A227"/>
                </a:solidFill>
                <a:latin typeface="Calibri" pitchFamily="34" charset="0"/>
                <a:ea typeface="Calibri" pitchFamily="34" charset="-122"/>
                <a:cs typeface="Calibri" pitchFamily="34" charset="-120"/>
              </a:rPr>
              <a:t>Demostración observada</a:t>
            </a:r>
            <a:endParaRPr lang="en-US" sz="1400" dirty="0"/>
          </a:p>
        </p:txBody>
      </p:sp>
      <p:sp>
        <p:nvSpPr>
          <p:cNvPr id="14" name="Text 12"/>
          <p:cNvSpPr txBox="1"/>
          <p:nvPr/>
        </p:nvSpPr>
        <p:spPr>
          <a:xfrm>
            <a:off x="8357616" y="2212848"/>
            <a:ext cx="3026664" cy="1152144"/>
          </a:xfrm>
          <a:prstGeom prst="rect">
            <a:avLst/>
          </a:prstGeom>
          <a:noFill/>
          <a:ln/>
        </p:spPr>
        <p:txBody>
          <a:bodyPr wrap="square" lIns="0" tIns="0" rIns="0" bIns="0" rtlCol="0" anchor="t"/>
          <a:lstStyle/>
          <a:p>
            <a:pPr marL="0" indent="0">
              <a:lnSpc>
                <a:spcPct val="106000"/>
              </a:lnSpc>
              <a:buNone/>
            </a:pPr>
            <a:r>
              <a:rPr lang="en-US" sz="1150" dirty="0">
                <a:solidFill>
                  <a:srgbClr val="1F2933"/>
                </a:solidFill>
                <a:latin typeface="Calibri" pitchFamily="34" charset="0"/>
                <a:ea typeface="Calibri" pitchFamily="34" charset="-122"/>
                <a:cs typeface="Calibri" pitchFamily="34" charset="-120"/>
              </a:rPr>
              <a:t>El participante ejecuta; el docente marca una lista de cotejo de cuatro criterios.</a:t>
            </a:r>
            <a:endParaRPr lang="en-US" sz="1150" dirty="0"/>
          </a:p>
          <a:p>
            <a:pPr marL="0" indent="0">
              <a:lnSpc>
                <a:spcPct val="106000"/>
              </a:lnSpc>
              <a:buNone/>
            </a:pPr>
            <a:endParaRPr lang="en-US" sz="1150" dirty="0"/>
          </a:p>
          <a:p>
            <a:pPr marL="0" indent="0">
              <a:lnSpc>
                <a:spcPct val="106000"/>
              </a:lnSpc>
              <a:buNone/>
            </a:pPr>
            <a:r>
              <a:rPr lang="en-US" sz="1150" dirty="0">
                <a:solidFill>
                  <a:srgbClr val="1F2933"/>
                </a:solidFill>
                <a:latin typeface="Calibri" pitchFamily="34" charset="0"/>
                <a:ea typeface="Calibri" pitchFamily="34" charset="-122"/>
                <a:cs typeface="Calibri" pitchFamily="34" charset="-120"/>
              </a:rPr>
              <a:t>Tiempo: 3 min</a:t>
            </a:r>
            <a:endParaRPr lang="en-US" sz="1150" dirty="0"/>
          </a:p>
        </p:txBody>
      </p:sp>
      <p:sp>
        <p:nvSpPr>
          <p:cNvPr id="15" name="Shape 13"/>
          <p:cNvSpPr/>
          <p:nvPr/>
        </p:nvSpPr>
        <p:spPr>
          <a:xfrm>
            <a:off x="566928" y="3785616"/>
            <a:ext cx="3502152" cy="1920240"/>
          </a:xfrm>
          <a:prstGeom prst="roundRect">
            <a:avLst>
              <a:gd name="adj" fmla="val 1905"/>
            </a:avLst>
          </a:prstGeom>
          <a:solidFill>
            <a:srgbClr val="E7F2F0"/>
          </a:solidFill>
          <a:ln w="12700">
            <a:solidFill>
              <a:srgbClr val="E7F2F0"/>
            </a:solidFill>
            <a:prstDash val="solid"/>
          </a:ln>
          <a:effectLst>
            <a:outerShdw blurRad="101600" dist="12700" dir="5400000" algn="bl" rotWithShape="0">
              <a:srgbClr val="9AA8B5">
                <a:alpha val="16000"/>
              </a:srgbClr>
            </a:outerShdw>
          </a:effectLst>
        </p:spPr>
      </p:sp>
      <p:sp>
        <p:nvSpPr>
          <p:cNvPr id="16" name="Text 14"/>
          <p:cNvSpPr txBox="1"/>
          <p:nvPr/>
        </p:nvSpPr>
        <p:spPr>
          <a:xfrm>
            <a:off x="804672" y="4005072"/>
            <a:ext cx="3026664" cy="310896"/>
          </a:xfrm>
          <a:prstGeom prst="rect">
            <a:avLst/>
          </a:prstGeom>
          <a:noFill/>
          <a:ln/>
        </p:spPr>
        <p:txBody>
          <a:bodyPr wrap="square" lIns="0" tIns="0" rIns="0" bIns="0" rtlCol="0" anchor="t"/>
          <a:lstStyle/>
          <a:p>
            <a:pPr marL="0" indent="0">
              <a:buNone/>
            </a:pPr>
            <a:r>
              <a:rPr lang="en-US" sz="1400" b="1" dirty="0">
                <a:solidFill>
                  <a:srgbClr val="1F3864"/>
                </a:solidFill>
                <a:latin typeface="Calibri" pitchFamily="34" charset="0"/>
                <a:ea typeface="Calibri" pitchFamily="34" charset="-122"/>
                <a:cs typeface="Calibri" pitchFamily="34" charset="-120"/>
              </a:rPr>
              <a:t>Explicación en 60 segundos</a:t>
            </a:r>
            <a:endParaRPr lang="en-US" sz="1400" dirty="0"/>
          </a:p>
        </p:txBody>
      </p:sp>
      <p:sp>
        <p:nvSpPr>
          <p:cNvPr id="17" name="Text 15"/>
          <p:cNvSpPr txBox="1"/>
          <p:nvPr/>
        </p:nvSpPr>
        <p:spPr>
          <a:xfrm>
            <a:off x="804672" y="4370832"/>
            <a:ext cx="3026664" cy="1152144"/>
          </a:xfrm>
          <a:prstGeom prst="rect">
            <a:avLst/>
          </a:prstGeom>
          <a:noFill/>
          <a:ln/>
        </p:spPr>
        <p:txBody>
          <a:bodyPr wrap="square" lIns="0" tIns="0" rIns="0" bIns="0" rtlCol="0" anchor="t"/>
          <a:lstStyle/>
          <a:p>
            <a:pPr marL="0" indent="0">
              <a:lnSpc>
                <a:spcPct val="106000"/>
              </a:lnSpc>
              <a:buNone/>
            </a:pPr>
            <a:r>
              <a:rPr lang="en-US" sz="1150" dirty="0">
                <a:solidFill>
                  <a:srgbClr val="1F2933"/>
                </a:solidFill>
                <a:latin typeface="Calibri" pitchFamily="34" charset="0"/>
                <a:ea typeface="Calibri" pitchFamily="34" charset="-122"/>
                <a:cs typeface="Calibri" pitchFamily="34" charset="-120"/>
              </a:rPr>
              <a:t>Explicar el procedimiento a un compañero, con cronómetro.</a:t>
            </a:r>
            <a:endParaRPr lang="en-US" sz="1150" dirty="0"/>
          </a:p>
          <a:p>
            <a:pPr marL="0" indent="0">
              <a:lnSpc>
                <a:spcPct val="106000"/>
              </a:lnSpc>
              <a:buNone/>
            </a:pPr>
            <a:endParaRPr lang="en-US" sz="1150" dirty="0"/>
          </a:p>
          <a:p>
            <a:pPr marL="0" indent="0">
              <a:lnSpc>
                <a:spcPct val="106000"/>
              </a:lnSpc>
              <a:buNone/>
            </a:pPr>
            <a:r>
              <a:rPr lang="en-US" sz="1150" dirty="0">
                <a:solidFill>
                  <a:srgbClr val="1F2933"/>
                </a:solidFill>
                <a:latin typeface="Calibri" pitchFamily="34" charset="0"/>
                <a:ea typeface="Calibri" pitchFamily="34" charset="-122"/>
                <a:cs typeface="Calibri" pitchFamily="34" charset="-120"/>
              </a:rPr>
              <a:t>Tiempo: 1 min</a:t>
            </a:r>
            <a:endParaRPr lang="en-US" sz="1150" dirty="0"/>
          </a:p>
        </p:txBody>
      </p:sp>
      <p:sp>
        <p:nvSpPr>
          <p:cNvPr id="18" name="Shape 16"/>
          <p:cNvSpPr/>
          <p:nvPr/>
        </p:nvSpPr>
        <p:spPr>
          <a:xfrm>
            <a:off x="4343400" y="3785616"/>
            <a:ext cx="3502152" cy="1920240"/>
          </a:xfrm>
          <a:prstGeom prst="roundRect">
            <a:avLst>
              <a:gd name="adj" fmla="val 1905"/>
            </a:avLst>
          </a:prstGeom>
          <a:solidFill>
            <a:srgbClr val="E7F2F0"/>
          </a:solidFill>
          <a:ln w="12700">
            <a:solidFill>
              <a:srgbClr val="E7F2F0"/>
            </a:solidFill>
            <a:prstDash val="solid"/>
          </a:ln>
          <a:effectLst>
            <a:outerShdw blurRad="101600" dist="12700" dir="5400000" algn="bl" rotWithShape="0">
              <a:srgbClr val="9AA8B5">
                <a:alpha val="16000"/>
              </a:srgbClr>
            </a:outerShdw>
          </a:effectLst>
        </p:spPr>
      </p:sp>
      <p:sp>
        <p:nvSpPr>
          <p:cNvPr id="19" name="Text 17"/>
          <p:cNvSpPr txBox="1"/>
          <p:nvPr/>
        </p:nvSpPr>
        <p:spPr>
          <a:xfrm>
            <a:off x="4581144" y="4005072"/>
            <a:ext cx="3026664" cy="310896"/>
          </a:xfrm>
          <a:prstGeom prst="rect">
            <a:avLst/>
          </a:prstGeom>
          <a:noFill/>
          <a:ln/>
        </p:spPr>
        <p:txBody>
          <a:bodyPr wrap="square" lIns="0" tIns="0" rIns="0" bIns="0" rtlCol="0" anchor="t"/>
          <a:lstStyle/>
          <a:p>
            <a:pPr marL="0" indent="0">
              <a:buNone/>
            </a:pPr>
            <a:r>
              <a:rPr lang="en-US" sz="1400" b="1" dirty="0">
                <a:solidFill>
                  <a:srgbClr val="1F7A6F"/>
                </a:solidFill>
                <a:latin typeface="Calibri" pitchFamily="34" charset="0"/>
                <a:ea typeface="Calibri" pitchFamily="34" charset="-122"/>
                <a:cs typeface="Calibri" pitchFamily="34" charset="-120"/>
              </a:rPr>
              <a:t>Autochequeo con semáforo</a:t>
            </a:r>
            <a:endParaRPr lang="en-US" sz="1400" dirty="0"/>
          </a:p>
        </p:txBody>
      </p:sp>
      <p:sp>
        <p:nvSpPr>
          <p:cNvPr id="20" name="Text 18"/>
          <p:cNvSpPr txBox="1"/>
          <p:nvPr/>
        </p:nvSpPr>
        <p:spPr>
          <a:xfrm>
            <a:off x="4581144" y="4370832"/>
            <a:ext cx="3026664" cy="1152144"/>
          </a:xfrm>
          <a:prstGeom prst="rect">
            <a:avLst/>
          </a:prstGeom>
          <a:noFill/>
          <a:ln/>
        </p:spPr>
        <p:txBody>
          <a:bodyPr wrap="square" lIns="0" tIns="0" rIns="0" bIns="0" rtlCol="0" anchor="t"/>
          <a:lstStyle/>
          <a:p>
            <a:pPr marL="0" indent="0">
              <a:lnSpc>
                <a:spcPct val="106000"/>
              </a:lnSpc>
              <a:buNone/>
            </a:pPr>
            <a:r>
              <a:rPr lang="en-US" sz="1150" dirty="0">
                <a:solidFill>
                  <a:srgbClr val="1F2933"/>
                </a:solidFill>
                <a:latin typeface="Calibri" pitchFamily="34" charset="0"/>
                <a:ea typeface="Calibri" pitchFamily="34" charset="-122"/>
                <a:cs typeface="Calibri" pitchFamily="34" charset="-120"/>
              </a:rPr>
              <a:t>Verde, amarillo o rojo sobre el propio dominio, con evidencia que lo sustente.</a:t>
            </a:r>
            <a:endParaRPr lang="en-US" sz="1150" dirty="0"/>
          </a:p>
          <a:p>
            <a:pPr marL="0" indent="0">
              <a:lnSpc>
                <a:spcPct val="106000"/>
              </a:lnSpc>
              <a:buNone/>
            </a:pPr>
            <a:endParaRPr lang="en-US" sz="1150" dirty="0"/>
          </a:p>
          <a:p>
            <a:pPr marL="0" indent="0">
              <a:lnSpc>
                <a:spcPct val="106000"/>
              </a:lnSpc>
              <a:buNone/>
            </a:pPr>
            <a:r>
              <a:rPr lang="en-US" sz="1150" dirty="0">
                <a:solidFill>
                  <a:srgbClr val="1F2933"/>
                </a:solidFill>
                <a:latin typeface="Calibri" pitchFamily="34" charset="0"/>
                <a:ea typeface="Calibri" pitchFamily="34" charset="-122"/>
                <a:cs typeface="Calibri" pitchFamily="34" charset="-120"/>
              </a:rPr>
              <a:t>Tiempo: 1 min</a:t>
            </a:r>
            <a:endParaRPr lang="en-US" sz="1150" dirty="0"/>
          </a:p>
        </p:txBody>
      </p:sp>
      <p:sp>
        <p:nvSpPr>
          <p:cNvPr id="21" name="Shape 19"/>
          <p:cNvSpPr/>
          <p:nvPr/>
        </p:nvSpPr>
        <p:spPr>
          <a:xfrm>
            <a:off x="8119872" y="3785616"/>
            <a:ext cx="3502152" cy="1920240"/>
          </a:xfrm>
          <a:prstGeom prst="roundRect">
            <a:avLst>
              <a:gd name="adj" fmla="val 1905"/>
            </a:avLst>
          </a:prstGeom>
          <a:solidFill>
            <a:srgbClr val="E7F2F0"/>
          </a:solidFill>
          <a:ln w="12700">
            <a:solidFill>
              <a:srgbClr val="E7F2F0"/>
            </a:solidFill>
            <a:prstDash val="solid"/>
          </a:ln>
          <a:effectLst>
            <a:outerShdw blurRad="101600" dist="12700" dir="5400000" algn="bl" rotWithShape="0">
              <a:srgbClr val="9AA8B5">
                <a:alpha val="16000"/>
              </a:srgbClr>
            </a:outerShdw>
          </a:effectLst>
        </p:spPr>
      </p:sp>
      <p:sp>
        <p:nvSpPr>
          <p:cNvPr id="22" name="Text 20"/>
          <p:cNvSpPr txBox="1"/>
          <p:nvPr/>
        </p:nvSpPr>
        <p:spPr>
          <a:xfrm>
            <a:off x="8357616" y="4005072"/>
            <a:ext cx="3026664" cy="310896"/>
          </a:xfrm>
          <a:prstGeom prst="rect">
            <a:avLst/>
          </a:prstGeom>
          <a:noFill/>
          <a:ln/>
        </p:spPr>
        <p:txBody>
          <a:bodyPr wrap="square" lIns="0" tIns="0" rIns="0" bIns="0" rtlCol="0" anchor="t"/>
          <a:lstStyle/>
          <a:p>
            <a:pPr marL="0" indent="0">
              <a:buNone/>
            </a:pPr>
            <a:r>
              <a:rPr lang="en-US" sz="1400" b="1" dirty="0">
                <a:solidFill>
                  <a:srgbClr val="C9A227"/>
                </a:solidFill>
                <a:latin typeface="Calibri" pitchFamily="34" charset="0"/>
                <a:ea typeface="Calibri" pitchFamily="34" charset="-122"/>
                <a:cs typeface="Calibri" pitchFamily="34" charset="-120"/>
              </a:rPr>
              <a:t>Producto a la carpeta</a:t>
            </a:r>
            <a:endParaRPr lang="en-US" sz="1400" dirty="0"/>
          </a:p>
        </p:txBody>
      </p:sp>
      <p:sp>
        <p:nvSpPr>
          <p:cNvPr id="23" name="Text 21"/>
          <p:cNvSpPr txBox="1"/>
          <p:nvPr/>
        </p:nvSpPr>
        <p:spPr>
          <a:xfrm>
            <a:off x="8357616" y="4370832"/>
            <a:ext cx="3026664" cy="1152144"/>
          </a:xfrm>
          <a:prstGeom prst="rect">
            <a:avLst/>
          </a:prstGeom>
          <a:noFill/>
          <a:ln/>
        </p:spPr>
        <p:txBody>
          <a:bodyPr wrap="square" lIns="0" tIns="0" rIns="0" bIns="0" rtlCol="0" anchor="t"/>
          <a:lstStyle/>
          <a:p>
            <a:pPr marL="0" indent="0">
              <a:lnSpc>
                <a:spcPct val="106000"/>
              </a:lnSpc>
              <a:buNone/>
            </a:pPr>
            <a:r>
              <a:rPr lang="en-US" sz="1150" dirty="0">
                <a:solidFill>
                  <a:srgbClr val="1F2933"/>
                </a:solidFill>
                <a:latin typeface="Calibri" pitchFamily="34" charset="0"/>
                <a:ea typeface="Calibri" pitchFamily="34" charset="-122"/>
                <a:cs typeface="Calibri" pitchFamily="34" charset="-120"/>
              </a:rPr>
              <a:t>La pieza producida se archiva en la carpeta de evidencias del participante.</a:t>
            </a:r>
            <a:endParaRPr lang="en-US" sz="1150" dirty="0"/>
          </a:p>
          <a:p>
            <a:pPr marL="0" indent="0">
              <a:lnSpc>
                <a:spcPct val="106000"/>
              </a:lnSpc>
              <a:buNone/>
            </a:pPr>
            <a:endParaRPr lang="en-US" sz="1150" dirty="0"/>
          </a:p>
          <a:p>
            <a:pPr marL="0" indent="0">
              <a:lnSpc>
                <a:spcPct val="106000"/>
              </a:lnSpc>
              <a:buNone/>
            </a:pPr>
            <a:r>
              <a:rPr lang="en-US" sz="1150" dirty="0">
                <a:solidFill>
                  <a:srgbClr val="1F2933"/>
                </a:solidFill>
                <a:latin typeface="Calibri" pitchFamily="34" charset="0"/>
                <a:ea typeface="Calibri" pitchFamily="34" charset="-122"/>
                <a:cs typeface="Calibri" pitchFamily="34" charset="-120"/>
              </a:rPr>
              <a:t>Tiempo: —</a:t>
            </a:r>
            <a:endParaRPr lang="en-US" sz="11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29184"/>
            <a:ext cx="11055096" cy="256032"/>
          </a:xfrm>
          <a:prstGeom prst="rect">
            <a:avLst/>
          </a:prstGeom>
          <a:noFill/>
          <a:ln/>
        </p:spPr>
        <p:txBody>
          <a:bodyPr wrap="square" lIns="0" tIns="0" rIns="0" bIns="0" rtlCol="0" anchor="ctr"/>
          <a:lstStyle/>
          <a:p>
            <a:pPr marL="0" indent="0">
              <a:buNone/>
            </a:pPr>
            <a:r>
              <a:rPr lang="en-US" sz="1100" b="1" kern="0" spc="160" dirty="0">
                <a:solidFill>
                  <a:srgbClr val="2A9D8F"/>
                </a:solidFill>
                <a:latin typeface="Calibri" pitchFamily="34" charset="0"/>
                <a:ea typeface="Calibri" pitchFamily="34" charset="-122"/>
                <a:cs typeface="Calibri" pitchFamily="34" charset="-120"/>
              </a:rPr>
              <a:t>CRITERIOS</a:t>
            </a:r>
            <a:endParaRPr lang="en-US" sz="1100" dirty="0"/>
          </a:p>
        </p:txBody>
      </p:sp>
      <p:sp>
        <p:nvSpPr>
          <p:cNvPr id="3" name="Text 1"/>
          <p:cNvSpPr txBox="1"/>
          <p:nvPr/>
        </p:nvSpPr>
        <p:spPr>
          <a:xfrm>
            <a:off x="566928" y="603504"/>
            <a:ext cx="11055096" cy="749808"/>
          </a:xfrm>
          <a:prstGeom prst="rect">
            <a:avLst/>
          </a:prstGeom>
          <a:noFill/>
          <a:ln/>
        </p:spPr>
        <p:txBody>
          <a:bodyPr wrap="square" lIns="0" tIns="0" rIns="0" bIns="0" rtlCol="0" anchor="t"/>
          <a:lstStyle/>
          <a:p>
            <a:pPr marL="0" indent="0">
              <a:buNone/>
            </a:pPr>
            <a:r>
              <a:rPr lang="en-US" sz="2900" b="1" dirty="0">
                <a:solidFill>
                  <a:srgbClr val="1B2A4A"/>
                </a:solidFill>
                <a:latin typeface="Cambria" pitchFamily="34" charset="0"/>
                <a:ea typeface="Cambria" pitchFamily="34" charset="-122"/>
                <a:cs typeface="Cambria" pitchFamily="34" charset="-120"/>
              </a:rPr>
              <a:t>Qué hace buena a una microevaluación</a:t>
            </a:r>
            <a:endParaRPr lang="en-US" sz="2900" dirty="0"/>
          </a:p>
        </p:txBody>
      </p:sp>
      <p:sp>
        <p:nvSpPr>
          <p:cNvPr id="4" name="Text 2"/>
          <p:cNvSpPr txBox="1"/>
          <p:nvPr/>
        </p:nvSpPr>
        <p:spPr>
          <a:xfrm>
            <a:off x="566928" y="6428232"/>
            <a:ext cx="7863840" cy="256032"/>
          </a:xfrm>
          <a:prstGeom prst="rect">
            <a:avLst/>
          </a:prstGeom>
          <a:noFill/>
          <a:ln/>
        </p:spPr>
        <p:txBody>
          <a:bodyPr wrap="square" lIns="0" tIns="0" rIns="0" bIns="0" rtlCol="0" anchor="ctr"/>
          <a:lstStyle/>
          <a:p>
            <a:pPr marL="0" indent="0">
              <a:buNone/>
            </a:pPr>
            <a:r>
              <a:rPr lang="en-US" sz="900" dirty="0">
                <a:solidFill>
                  <a:srgbClr val="5B6B7B"/>
                </a:solidFill>
                <a:latin typeface="Calibri" pitchFamily="34" charset="0"/>
                <a:ea typeface="Calibri" pitchFamily="34" charset="-122"/>
                <a:cs typeface="Calibri" pitchFamily="34" charset="-120"/>
              </a:rPr>
              <a:t>Microaprendizaje para adultos  ·  Proyecto RUTA — Inter Ponce</a:t>
            </a:r>
            <a:endParaRPr lang="en-US" sz="900" dirty="0"/>
          </a:p>
        </p:txBody>
      </p:sp>
      <p:sp>
        <p:nvSpPr>
          <p:cNvPr id="5" name="Text 3"/>
          <p:cNvSpPr txBox="1"/>
          <p:nvPr/>
        </p:nvSpPr>
        <p:spPr>
          <a:xfrm>
            <a:off x="10972800" y="6428232"/>
            <a:ext cx="649224" cy="256032"/>
          </a:xfrm>
          <a:prstGeom prst="rect">
            <a:avLst/>
          </a:prstGeom>
          <a:noFill/>
          <a:ln/>
        </p:spPr>
        <p:txBody>
          <a:bodyPr wrap="square" lIns="0" tIns="0" rIns="0" bIns="0" rtlCol="0" anchor="ctr"/>
          <a:lstStyle/>
          <a:p>
            <a:pPr marL="0" indent="0" algn="r">
              <a:buNone/>
            </a:pPr>
            <a:r>
              <a:rPr lang="en-US" sz="900" dirty="0">
                <a:solidFill>
                  <a:srgbClr val="5B6B7B"/>
                </a:solidFill>
                <a:latin typeface="Calibri" pitchFamily="34" charset="0"/>
                <a:ea typeface="Calibri" pitchFamily="34" charset="-122"/>
                <a:cs typeface="Calibri" pitchFamily="34" charset="-120"/>
              </a:rPr>
              <a:t>34</a:t>
            </a:r>
            <a:endParaRPr lang="en-US" sz="9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66928" y="1536192"/>
          <a:ext cx="11055096" cy="914400"/>
        </p:xfrm>
        <a:graphic>
          <a:graphicData uri="http://schemas.openxmlformats.org/drawingml/2006/table">
            <a:tbl>
              <a:tblPr/>
              <a:tblGrid>
                <a:gridCol w="2103120">
                  <a:extLst>
                    <a:ext uri="{9D8B030D-6E8A-4147-A177-3AD203B41FA5}">
                      <a16:colId xmlns:a16="http://schemas.microsoft.com/office/drawing/2014/main" val="20000"/>
                    </a:ext>
                  </a:extLst>
                </a:gridCol>
                <a:gridCol w="5120640">
                  <a:extLst>
                    <a:ext uri="{9D8B030D-6E8A-4147-A177-3AD203B41FA5}">
                      <a16:colId xmlns:a16="http://schemas.microsoft.com/office/drawing/2014/main" val="20001"/>
                    </a:ext>
                  </a:extLst>
                </a:gridCol>
                <a:gridCol w="3831336">
                  <a:extLst>
                    <a:ext uri="{9D8B030D-6E8A-4147-A177-3AD203B41FA5}">
                      <a16:colId xmlns:a16="http://schemas.microsoft.com/office/drawing/2014/main" val="20002"/>
                    </a:ext>
                  </a:extLst>
                </a:gridCol>
              </a:tblGrid>
              <a:tr h="512064">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Criterio</a:t>
                      </a:r>
                      <a:endParaRPr lang="en-US" sz="120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1B2A4A"/>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Qué significa</a:t>
                      </a:r>
                      <a:endParaRPr lang="en-US" sz="120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1B2A4A"/>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Señal de que se incumple</a:t>
                      </a:r>
                      <a:endParaRPr lang="en-US" sz="120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512064">
                <a:tc>
                  <a:txBody>
                    <a:bodyPr/>
                    <a:lstStyle/>
                    <a:p>
                      <a:pPr marL="0" indent="0">
                        <a:buNone/>
                      </a:pPr>
                      <a:r>
                        <a:rPr lang="en-US" sz="1150" b="1" dirty="0">
                          <a:solidFill>
                            <a:srgbClr val="1F2933"/>
                          </a:solidFill>
                          <a:latin typeface="Calibri" pitchFamily="34" charset="0"/>
                          <a:ea typeface="Calibri" pitchFamily="34" charset="-122"/>
                          <a:cs typeface="Calibri" pitchFamily="34" charset="-120"/>
                        </a:rPr>
                        <a:t>Alineación</a:t>
                      </a:r>
                      <a:endParaRPr lang="en-US" sz="11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150" dirty="0">
                          <a:solidFill>
                            <a:srgbClr val="1F2933"/>
                          </a:solidFill>
                          <a:latin typeface="Calibri" pitchFamily="34" charset="0"/>
                          <a:ea typeface="Calibri" pitchFamily="34" charset="-122"/>
                          <a:cs typeface="Calibri" pitchFamily="34" charset="-120"/>
                        </a:rPr>
                        <a:t>Mide exactamente el verbo y el criterio de la competencia declarada.</a:t>
                      </a:r>
                      <a:endParaRPr lang="en-US" sz="11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150" dirty="0">
                          <a:solidFill>
                            <a:srgbClr val="1F2933"/>
                          </a:solidFill>
                          <a:latin typeface="Calibri" pitchFamily="34" charset="0"/>
                          <a:ea typeface="Calibri" pitchFamily="34" charset="-122"/>
                          <a:cs typeface="Calibri" pitchFamily="34" charset="-120"/>
                        </a:rPr>
                        <a:t>La competencia dice «calculará» y el ítem pide definir.</a:t>
                      </a:r>
                      <a:endParaRPr lang="en-US" sz="11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12064">
                <a:tc>
                  <a:txBody>
                    <a:bodyPr/>
                    <a:lstStyle/>
                    <a:p>
                      <a:pPr marL="0" indent="0">
                        <a:buNone/>
                      </a:pPr>
                      <a:r>
                        <a:rPr lang="en-US" sz="1150" b="1" dirty="0">
                          <a:solidFill>
                            <a:srgbClr val="1F2933"/>
                          </a:solidFill>
                          <a:latin typeface="Calibri" pitchFamily="34" charset="0"/>
                          <a:ea typeface="Calibri" pitchFamily="34" charset="-122"/>
                          <a:cs typeface="Calibri" pitchFamily="34" charset="-120"/>
                        </a:rPr>
                        <a:t>Brevedad</a:t>
                      </a:r>
                      <a:endParaRPr lang="en-US" sz="11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1F4F8"/>
                    </a:solidFill>
                  </a:tcPr>
                </a:tc>
                <a:tc>
                  <a:txBody>
                    <a:bodyPr/>
                    <a:lstStyle/>
                    <a:p>
                      <a:pPr marL="0" indent="0">
                        <a:buNone/>
                      </a:pPr>
                      <a:r>
                        <a:rPr lang="en-US" sz="1150" dirty="0">
                          <a:solidFill>
                            <a:srgbClr val="1F2933"/>
                          </a:solidFill>
                          <a:latin typeface="Calibri" pitchFamily="34" charset="0"/>
                          <a:ea typeface="Calibri" pitchFamily="34" charset="-122"/>
                          <a:cs typeface="Calibri" pitchFamily="34" charset="-120"/>
                        </a:rPr>
                        <a:t>Se completa en tres minutos o menos, sin apurar al participante.</a:t>
                      </a:r>
                      <a:endParaRPr lang="en-US" sz="11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1F4F8"/>
                    </a:solidFill>
                  </a:tcPr>
                </a:tc>
                <a:tc>
                  <a:txBody>
                    <a:bodyPr/>
                    <a:lstStyle/>
                    <a:p>
                      <a:pPr marL="0" indent="0">
                        <a:buNone/>
                      </a:pPr>
                      <a:r>
                        <a:rPr lang="en-US" sz="1150" dirty="0">
                          <a:solidFill>
                            <a:srgbClr val="1F2933"/>
                          </a:solidFill>
                          <a:latin typeface="Calibri" pitchFamily="34" charset="0"/>
                          <a:ea typeface="Calibri" pitchFamily="34" charset="-122"/>
                          <a:cs typeface="Calibri" pitchFamily="34" charset="-120"/>
                        </a:rPr>
                        <a:t>El chequeo dura más que la práctica.</a:t>
                      </a:r>
                      <a:endParaRPr lang="en-US" sz="11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1F4F8"/>
                    </a:solidFill>
                  </a:tcPr>
                </a:tc>
                <a:extLst>
                  <a:ext uri="{0D108BD9-81ED-4DB2-BD59-A6C34878D82A}">
                    <a16:rowId xmlns:a16="http://schemas.microsoft.com/office/drawing/2014/main" val="10002"/>
                  </a:ext>
                </a:extLst>
              </a:tr>
              <a:tr h="512064">
                <a:tc>
                  <a:txBody>
                    <a:bodyPr/>
                    <a:lstStyle/>
                    <a:p>
                      <a:pPr marL="0" indent="0">
                        <a:buNone/>
                      </a:pPr>
                      <a:r>
                        <a:rPr lang="en-US" sz="1150" b="1" dirty="0">
                          <a:solidFill>
                            <a:srgbClr val="1F2933"/>
                          </a:solidFill>
                          <a:latin typeface="Calibri" pitchFamily="34" charset="0"/>
                          <a:ea typeface="Calibri" pitchFamily="34" charset="-122"/>
                          <a:cs typeface="Calibri" pitchFamily="34" charset="-120"/>
                        </a:rPr>
                        <a:t>Autonomía</a:t>
                      </a:r>
                      <a:endParaRPr lang="en-US" sz="11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150" dirty="0">
                          <a:solidFill>
                            <a:srgbClr val="1F2933"/>
                          </a:solidFill>
                          <a:latin typeface="Calibri" pitchFamily="34" charset="0"/>
                          <a:ea typeface="Calibri" pitchFamily="34" charset="-122"/>
                          <a:cs typeface="Calibri" pitchFamily="34" charset="-120"/>
                        </a:rPr>
                        <a:t>El participante puede saber si acertó sin esperar al docente.</a:t>
                      </a:r>
                      <a:endParaRPr lang="en-US" sz="11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150" dirty="0">
                          <a:solidFill>
                            <a:srgbClr val="1F2933"/>
                          </a:solidFill>
                          <a:latin typeface="Calibri" pitchFamily="34" charset="0"/>
                          <a:ea typeface="Calibri" pitchFamily="34" charset="-122"/>
                          <a:cs typeface="Calibri" pitchFamily="34" charset="-120"/>
                        </a:rPr>
                        <a:t>No hay respuesta modelo ni lista de cotejo.</a:t>
                      </a:r>
                      <a:endParaRPr lang="en-US" sz="11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12064">
                <a:tc>
                  <a:txBody>
                    <a:bodyPr/>
                    <a:lstStyle/>
                    <a:p>
                      <a:pPr marL="0" indent="0">
                        <a:buNone/>
                      </a:pPr>
                      <a:r>
                        <a:rPr lang="en-US" sz="1150" b="1" dirty="0">
                          <a:solidFill>
                            <a:srgbClr val="1F2933"/>
                          </a:solidFill>
                          <a:latin typeface="Calibri" pitchFamily="34" charset="0"/>
                          <a:ea typeface="Calibri" pitchFamily="34" charset="-122"/>
                          <a:cs typeface="Calibri" pitchFamily="34" charset="-120"/>
                        </a:rPr>
                        <a:t>Función formativa</a:t>
                      </a:r>
                      <a:endParaRPr lang="en-US" sz="11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1F4F8"/>
                    </a:solidFill>
                  </a:tcPr>
                </a:tc>
                <a:tc>
                  <a:txBody>
                    <a:bodyPr/>
                    <a:lstStyle/>
                    <a:p>
                      <a:pPr marL="0" indent="0">
                        <a:buNone/>
                      </a:pPr>
                      <a:r>
                        <a:rPr lang="en-US" sz="1150" dirty="0">
                          <a:solidFill>
                            <a:srgbClr val="1F2933"/>
                          </a:solidFill>
                          <a:latin typeface="Calibri" pitchFamily="34" charset="0"/>
                          <a:ea typeface="Calibri" pitchFamily="34" charset="-122"/>
                          <a:cs typeface="Calibri" pitchFamily="34" charset="-120"/>
                        </a:rPr>
                        <a:t>Consolida el aprendizaje al obligar a recuperar; no clasifica ni castiga.</a:t>
                      </a:r>
                      <a:endParaRPr lang="en-US" sz="11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1F4F8"/>
                    </a:solidFill>
                  </a:tcPr>
                </a:tc>
                <a:tc>
                  <a:txBody>
                    <a:bodyPr/>
                    <a:lstStyle/>
                    <a:p>
                      <a:pPr marL="0" indent="0">
                        <a:buNone/>
                      </a:pPr>
                      <a:r>
                        <a:rPr lang="en-US" sz="1150" dirty="0">
                          <a:solidFill>
                            <a:srgbClr val="1F2933"/>
                          </a:solidFill>
                          <a:latin typeface="Calibri" pitchFamily="34" charset="0"/>
                          <a:ea typeface="Calibri" pitchFamily="34" charset="-122"/>
                          <a:cs typeface="Calibri" pitchFamily="34" charset="-120"/>
                        </a:rPr>
                        <a:t>El resultado se usa solo para poner nota.</a:t>
                      </a:r>
                      <a:endParaRPr lang="en-US" sz="11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1F4F8"/>
                    </a:solidFill>
                  </a:tcPr>
                </a:tc>
                <a:extLst>
                  <a:ext uri="{0D108BD9-81ED-4DB2-BD59-A6C34878D82A}">
                    <a16:rowId xmlns:a16="http://schemas.microsoft.com/office/drawing/2014/main" val="10004"/>
                  </a:ext>
                </a:extLst>
              </a:tr>
              <a:tr h="512064">
                <a:tc>
                  <a:txBody>
                    <a:bodyPr/>
                    <a:lstStyle/>
                    <a:p>
                      <a:pPr marL="0" indent="0">
                        <a:buNone/>
                      </a:pPr>
                      <a:r>
                        <a:rPr lang="en-US" sz="1150" b="1" dirty="0">
                          <a:solidFill>
                            <a:srgbClr val="1F2933"/>
                          </a:solidFill>
                          <a:latin typeface="Calibri" pitchFamily="34" charset="0"/>
                          <a:ea typeface="Calibri" pitchFamily="34" charset="-122"/>
                          <a:cs typeface="Calibri" pitchFamily="34" charset="-120"/>
                        </a:rPr>
                        <a:t>Criterio explícito</a:t>
                      </a:r>
                      <a:endParaRPr lang="en-US" sz="11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150" dirty="0">
                          <a:solidFill>
                            <a:srgbClr val="1F2933"/>
                          </a:solidFill>
                          <a:latin typeface="Calibri" pitchFamily="34" charset="0"/>
                          <a:ea typeface="Calibri" pitchFamily="34" charset="-122"/>
                          <a:cs typeface="Calibri" pitchFamily="34" charset="-120"/>
                        </a:rPr>
                        <a:t>El umbral de logro se conoce desde el inicio: 70 % de ejecución.</a:t>
                      </a:r>
                      <a:endParaRPr lang="en-US" sz="11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150" dirty="0">
                          <a:solidFill>
                            <a:srgbClr val="1F2933"/>
                          </a:solidFill>
                          <a:latin typeface="Calibri" pitchFamily="34" charset="0"/>
                          <a:ea typeface="Calibri" pitchFamily="34" charset="-122"/>
                          <a:cs typeface="Calibri" pitchFamily="34" charset="-120"/>
                        </a:rPr>
                        <a:t>El participante no sabe qué es «suficiente».</a:t>
                      </a:r>
                      <a:endParaRPr lang="en-US" sz="11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12064">
                <a:tc>
                  <a:txBody>
                    <a:bodyPr/>
                    <a:lstStyle/>
                    <a:p>
                      <a:pPr marL="0" indent="0">
                        <a:buNone/>
                      </a:pPr>
                      <a:r>
                        <a:rPr lang="en-US" sz="1150" b="1" dirty="0">
                          <a:solidFill>
                            <a:srgbClr val="1F2933"/>
                          </a:solidFill>
                          <a:latin typeface="Calibri" pitchFamily="34" charset="0"/>
                          <a:ea typeface="Calibri" pitchFamily="34" charset="-122"/>
                          <a:cs typeface="Calibri" pitchFamily="34" charset="-120"/>
                        </a:rPr>
                        <a:t>Ruta de reenseñanza</a:t>
                      </a:r>
                      <a:endParaRPr lang="en-US" sz="11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1F4F8"/>
                    </a:solidFill>
                  </a:tcPr>
                </a:tc>
                <a:tc>
                  <a:txBody>
                    <a:bodyPr/>
                    <a:lstStyle/>
                    <a:p>
                      <a:pPr marL="0" indent="0">
                        <a:buNone/>
                      </a:pPr>
                      <a:r>
                        <a:rPr lang="en-US" sz="1150" dirty="0">
                          <a:solidFill>
                            <a:srgbClr val="1F2933"/>
                          </a:solidFill>
                          <a:latin typeface="Calibri" pitchFamily="34" charset="0"/>
                          <a:ea typeface="Calibri" pitchFamily="34" charset="-122"/>
                          <a:cs typeface="Calibri" pitchFamily="34" charset="-120"/>
                        </a:rPr>
                        <a:t>Si no alcanza el umbral, hay una acción definida, no una repetición idéntica.</a:t>
                      </a:r>
                      <a:endParaRPr lang="en-US" sz="11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1F4F8"/>
                    </a:solidFill>
                  </a:tcPr>
                </a:tc>
                <a:tc>
                  <a:txBody>
                    <a:bodyPr/>
                    <a:lstStyle/>
                    <a:p>
                      <a:pPr marL="0" indent="0">
                        <a:buNone/>
                      </a:pPr>
                      <a:r>
                        <a:rPr lang="en-US" sz="1150" dirty="0">
                          <a:solidFill>
                            <a:srgbClr val="1F2933"/>
                          </a:solidFill>
                          <a:latin typeface="Calibri" pitchFamily="34" charset="0"/>
                          <a:ea typeface="Calibri" pitchFamily="34" charset="-122"/>
                          <a:cs typeface="Calibri" pitchFamily="34" charset="-120"/>
                        </a:rPr>
                        <a:t>Se le pide «que lo estudie otra vez».</a:t>
                      </a:r>
                      <a:endParaRPr lang="en-US" sz="11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1F4F8"/>
                    </a:solidFill>
                  </a:tcPr>
                </a:tc>
                <a:extLst>
                  <a:ext uri="{0D108BD9-81ED-4DB2-BD59-A6C34878D82A}">
                    <a16:rowId xmlns:a16="http://schemas.microsoft.com/office/drawing/2014/main" val="10006"/>
                  </a:ext>
                </a:extLst>
              </a:tr>
            </a:tbl>
          </a:graphicData>
        </a:graphic>
      </p:graphicFrame>
      <p:sp>
        <p:nvSpPr>
          <p:cNvPr id="7" name="Shape 4"/>
          <p:cNvSpPr/>
          <p:nvPr/>
        </p:nvSpPr>
        <p:spPr>
          <a:xfrm>
            <a:off x="566928" y="5413248"/>
            <a:ext cx="11055096" cy="621792"/>
          </a:xfrm>
          <a:prstGeom prst="roundRect">
            <a:avLst>
              <a:gd name="adj" fmla="val 7353"/>
            </a:avLst>
          </a:prstGeom>
          <a:solidFill>
            <a:srgbClr val="FAF3E0"/>
          </a:solidFill>
          <a:ln w="12700">
            <a:solidFill>
              <a:srgbClr val="FAF3E0"/>
            </a:solidFill>
            <a:prstDash val="solid"/>
          </a:ln>
        </p:spPr>
      </p:sp>
      <p:sp>
        <p:nvSpPr>
          <p:cNvPr id="8" name="Text 5"/>
          <p:cNvSpPr txBox="1"/>
          <p:nvPr/>
        </p:nvSpPr>
        <p:spPr>
          <a:xfrm>
            <a:off x="932688" y="5522976"/>
            <a:ext cx="10323576" cy="402336"/>
          </a:xfrm>
          <a:prstGeom prst="rect">
            <a:avLst/>
          </a:prstGeom>
          <a:noFill/>
          <a:ln/>
        </p:spPr>
        <p:txBody>
          <a:bodyPr wrap="square" lIns="0" tIns="0" rIns="0" bIns="0" rtlCol="0" anchor="ctr"/>
          <a:lstStyle/>
          <a:p>
            <a:pPr marL="0" indent="0" algn="ctr">
              <a:buNone/>
            </a:pPr>
            <a:r>
              <a:rPr lang="en-US" sz="1400" b="1" dirty="0">
                <a:solidFill>
                  <a:srgbClr val="1B2A4A"/>
                </a:solidFill>
                <a:latin typeface="Cambria" pitchFamily="34" charset="0"/>
                <a:ea typeface="Cambria" pitchFamily="34" charset="-122"/>
                <a:cs typeface="Cambria" pitchFamily="34" charset="-120"/>
              </a:rPr>
              <a:t>Puntuación mínima de ejecución: 70 %, el mismo umbral de nuestra planilla de especificaciones. Coherencia entre instrumentos.</a:t>
            </a:r>
            <a:endParaRPr lang="en-US" sz="1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29184"/>
            <a:ext cx="11055096" cy="256032"/>
          </a:xfrm>
          <a:prstGeom prst="rect">
            <a:avLst/>
          </a:prstGeom>
          <a:noFill/>
          <a:ln/>
        </p:spPr>
        <p:txBody>
          <a:bodyPr wrap="square" lIns="0" tIns="0" rIns="0" bIns="0" rtlCol="0" anchor="ctr"/>
          <a:lstStyle/>
          <a:p>
            <a:pPr marL="0" indent="0">
              <a:buNone/>
            </a:pPr>
            <a:r>
              <a:rPr lang="en-US" sz="1100" b="1" kern="0" spc="160" dirty="0">
                <a:solidFill>
                  <a:srgbClr val="2A9D8F"/>
                </a:solidFill>
                <a:latin typeface="Calibri" pitchFamily="34" charset="0"/>
                <a:ea typeface="Calibri" pitchFamily="34" charset="-122"/>
                <a:cs typeface="Calibri" pitchFamily="34" charset="-120"/>
              </a:rPr>
              <a:t>PLANTILLAS B Y C</a:t>
            </a:r>
            <a:endParaRPr lang="en-US" sz="1100" dirty="0"/>
          </a:p>
        </p:txBody>
      </p:sp>
      <p:sp>
        <p:nvSpPr>
          <p:cNvPr id="3" name="Text 1"/>
          <p:cNvSpPr txBox="1"/>
          <p:nvPr/>
        </p:nvSpPr>
        <p:spPr>
          <a:xfrm>
            <a:off x="566928" y="603504"/>
            <a:ext cx="11055096" cy="749808"/>
          </a:xfrm>
          <a:prstGeom prst="rect">
            <a:avLst/>
          </a:prstGeom>
          <a:noFill/>
          <a:ln/>
        </p:spPr>
        <p:txBody>
          <a:bodyPr wrap="square" lIns="0" tIns="0" rIns="0" bIns="0" rtlCol="0" anchor="t"/>
          <a:lstStyle/>
          <a:p>
            <a:pPr marL="0" indent="0">
              <a:buNone/>
            </a:pPr>
            <a:r>
              <a:rPr lang="en-US" sz="2900" b="1" dirty="0">
                <a:solidFill>
                  <a:srgbClr val="1B2A4A"/>
                </a:solidFill>
                <a:latin typeface="Cambria" pitchFamily="34" charset="0"/>
                <a:ea typeface="Cambria" pitchFamily="34" charset="-122"/>
                <a:cs typeface="Cambria" pitchFamily="34" charset="-120"/>
              </a:rPr>
              <a:t>Guion de video breve y planilla de microevaluación</a:t>
            </a:r>
            <a:endParaRPr lang="en-US" sz="2900" dirty="0"/>
          </a:p>
        </p:txBody>
      </p:sp>
      <p:sp>
        <p:nvSpPr>
          <p:cNvPr id="4" name="Text 2"/>
          <p:cNvSpPr txBox="1"/>
          <p:nvPr/>
        </p:nvSpPr>
        <p:spPr>
          <a:xfrm>
            <a:off x="566928" y="6428232"/>
            <a:ext cx="7863840" cy="256032"/>
          </a:xfrm>
          <a:prstGeom prst="rect">
            <a:avLst/>
          </a:prstGeom>
          <a:noFill/>
          <a:ln/>
        </p:spPr>
        <p:txBody>
          <a:bodyPr wrap="square" lIns="0" tIns="0" rIns="0" bIns="0" rtlCol="0" anchor="ctr"/>
          <a:lstStyle/>
          <a:p>
            <a:pPr marL="0" indent="0">
              <a:buNone/>
            </a:pPr>
            <a:r>
              <a:rPr lang="en-US" sz="900" dirty="0">
                <a:solidFill>
                  <a:srgbClr val="5B6B7B"/>
                </a:solidFill>
                <a:latin typeface="Calibri" pitchFamily="34" charset="0"/>
                <a:ea typeface="Calibri" pitchFamily="34" charset="-122"/>
                <a:cs typeface="Calibri" pitchFamily="34" charset="-120"/>
              </a:rPr>
              <a:t>Microaprendizaje para adultos  ·  Proyecto RUTA — Inter Ponce</a:t>
            </a:r>
            <a:endParaRPr lang="en-US" sz="900" dirty="0"/>
          </a:p>
        </p:txBody>
      </p:sp>
      <p:sp>
        <p:nvSpPr>
          <p:cNvPr id="5" name="Text 3"/>
          <p:cNvSpPr txBox="1"/>
          <p:nvPr/>
        </p:nvSpPr>
        <p:spPr>
          <a:xfrm>
            <a:off x="10972800" y="6428232"/>
            <a:ext cx="649224" cy="256032"/>
          </a:xfrm>
          <a:prstGeom prst="rect">
            <a:avLst/>
          </a:prstGeom>
          <a:noFill/>
          <a:ln/>
        </p:spPr>
        <p:txBody>
          <a:bodyPr wrap="square" lIns="0" tIns="0" rIns="0" bIns="0" rtlCol="0" anchor="ctr"/>
          <a:lstStyle/>
          <a:p>
            <a:pPr marL="0" indent="0" algn="r">
              <a:buNone/>
            </a:pPr>
            <a:r>
              <a:rPr lang="en-US" sz="900" dirty="0">
                <a:solidFill>
                  <a:srgbClr val="5B6B7B"/>
                </a:solidFill>
                <a:latin typeface="Calibri" pitchFamily="34" charset="0"/>
                <a:ea typeface="Calibri" pitchFamily="34" charset="-122"/>
                <a:cs typeface="Calibri" pitchFamily="34" charset="-120"/>
              </a:rPr>
              <a:t>35</a:t>
            </a:r>
            <a:endParaRPr lang="en-US" sz="900" dirty="0"/>
          </a:p>
        </p:txBody>
      </p:sp>
      <p:sp>
        <p:nvSpPr>
          <p:cNvPr id="6" name="Shape 4"/>
          <p:cNvSpPr/>
          <p:nvPr/>
        </p:nvSpPr>
        <p:spPr>
          <a:xfrm>
            <a:off x="566928" y="1572768"/>
            <a:ext cx="5394960" cy="3931920"/>
          </a:xfrm>
          <a:prstGeom prst="roundRect">
            <a:avLst>
              <a:gd name="adj" fmla="val 930"/>
            </a:avLst>
          </a:prstGeom>
          <a:solidFill>
            <a:srgbClr val="F1F4F8"/>
          </a:solidFill>
          <a:ln w="12700">
            <a:solidFill>
              <a:srgbClr val="F1F4F8"/>
            </a:solidFill>
            <a:prstDash val="solid"/>
          </a:ln>
          <a:effectLst>
            <a:outerShdw blurRad="101600" dist="12700" dir="5400000" algn="bl" rotWithShape="0">
              <a:srgbClr val="9AA8B5">
                <a:alpha val="16000"/>
              </a:srgbClr>
            </a:outerShdw>
          </a:effectLst>
        </p:spPr>
      </p:sp>
      <p:sp>
        <p:nvSpPr>
          <p:cNvPr id="7" name="Text 5"/>
          <p:cNvSpPr txBox="1"/>
          <p:nvPr/>
        </p:nvSpPr>
        <p:spPr>
          <a:xfrm>
            <a:off x="804672" y="1792224"/>
            <a:ext cx="4919472" cy="310896"/>
          </a:xfrm>
          <a:prstGeom prst="rect">
            <a:avLst/>
          </a:prstGeom>
          <a:noFill/>
          <a:ln/>
        </p:spPr>
        <p:txBody>
          <a:bodyPr wrap="square" lIns="0" tIns="0" rIns="0" bIns="0" rtlCol="0" anchor="t"/>
          <a:lstStyle/>
          <a:p>
            <a:pPr marL="0" indent="0">
              <a:buNone/>
            </a:pPr>
            <a:r>
              <a:rPr lang="en-US" sz="1450" b="1" dirty="0">
                <a:solidFill>
                  <a:srgbClr val="1B2A4A"/>
                </a:solidFill>
                <a:latin typeface="Calibri" pitchFamily="34" charset="0"/>
                <a:ea typeface="Calibri" pitchFamily="34" charset="-122"/>
                <a:cs typeface="Calibri" pitchFamily="34" charset="-120"/>
              </a:rPr>
              <a:t>Plantilla B  —  Guion de video breve</a:t>
            </a:r>
            <a:endParaRPr lang="en-US" sz="1450" dirty="0"/>
          </a:p>
        </p:txBody>
      </p:sp>
      <p:sp>
        <p:nvSpPr>
          <p:cNvPr id="8" name="Text 6"/>
          <p:cNvSpPr txBox="1"/>
          <p:nvPr/>
        </p:nvSpPr>
        <p:spPr>
          <a:xfrm>
            <a:off x="841248" y="2157984"/>
            <a:ext cx="4882896" cy="3163824"/>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1F2933"/>
                </a:solidFill>
                <a:latin typeface="Calibri" pitchFamily="34" charset="0"/>
                <a:ea typeface="Calibri" pitchFamily="34" charset="-122"/>
                <a:cs typeface="Calibri" pitchFamily="34" charset="-120"/>
              </a:rPr>
              <a:t>Promesa (0:00–0:15): «Al terminar este video usted podrá ______».</a:t>
            </a:r>
            <a:endParaRPr lang="en-US" sz="1150" dirty="0"/>
          </a:p>
          <a:p>
            <a:pPr marL="342900" indent="-342900">
              <a:spcAft>
                <a:spcPts val="500"/>
              </a:spcAft>
              <a:buSzPct val="100000"/>
              <a:buChar char="•"/>
            </a:pPr>
            <a:r>
              <a:rPr lang="en-US" sz="1150" dirty="0">
                <a:solidFill>
                  <a:srgbClr val="1F2933"/>
                </a:solidFill>
                <a:latin typeface="Calibri" pitchFamily="34" charset="0"/>
                <a:ea typeface="Calibri" pitchFamily="34" charset="-122"/>
                <a:cs typeface="Calibri" pitchFamily="34" charset="-120"/>
              </a:rPr>
              <a:t>Situación (0:15–0:45): describa el problema real, sin definiciones.</a:t>
            </a:r>
            <a:endParaRPr lang="en-US" sz="1150" dirty="0"/>
          </a:p>
          <a:p>
            <a:pPr marL="342900" indent="-342900">
              <a:spcAft>
                <a:spcPts val="500"/>
              </a:spcAft>
              <a:buSzPct val="100000"/>
              <a:buChar char="•"/>
            </a:pPr>
            <a:r>
              <a:rPr lang="en-US" sz="1150" dirty="0">
                <a:solidFill>
                  <a:srgbClr val="1F2933"/>
                </a:solidFill>
                <a:latin typeface="Calibri" pitchFamily="34" charset="0"/>
                <a:ea typeface="Calibri" pitchFamily="34" charset="-122"/>
                <a:cs typeface="Calibri" pitchFamily="34" charset="-120"/>
              </a:rPr>
              <a:t>Procedimiento (0:45–2:15): paso 1 ___ · paso 2 ___ · paso 3 ___ (verbalice el porqué de cada uno).</a:t>
            </a:r>
            <a:endParaRPr lang="en-US" sz="1150" dirty="0"/>
          </a:p>
          <a:p>
            <a:pPr marL="342900" indent="-342900">
              <a:spcAft>
                <a:spcPts val="500"/>
              </a:spcAft>
              <a:buSzPct val="100000"/>
              <a:buChar char="•"/>
            </a:pPr>
            <a:r>
              <a:rPr lang="en-US" sz="1150" dirty="0">
                <a:solidFill>
                  <a:srgbClr val="1F2933"/>
                </a:solidFill>
                <a:latin typeface="Calibri" pitchFamily="34" charset="0"/>
                <a:ea typeface="Calibri" pitchFamily="34" charset="-122"/>
                <a:cs typeface="Calibri" pitchFamily="34" charset="-120"/>
              </a:rPr>
              <a:t>Encargo (2:15–2:45): «Ahora usted va a ______ y me lo envía por ______».</a:t>
            </a:r>
            <a:endParaRPr lang="en-US" sz="1150" dirty="0"/>
          </a:p>
          <a:p>
            <a:pPr marL="342900" indent="-342900">
              <a:spcAft>
                <a:spcPts val="500"/>
              </a:spcAft>
              <a:buSzPct val="100000"/>
              <a:buChar char="•"/>
            </a:pPr>
            <a:r>
              <a:rPr lang="en-US" sz="1150" dirty="0">
                <a:solidFill>
                  <a:srgbClr val="1F2933"/>
                </a:solidFill>
                <a:latin typeface="Calibri" pitchFamily="34" charset="0"/>
                <a:ea typeface="Calibri" pitchFamily="34" charset="-122"/>
                <a:cs typeface="Calibri" pitchFamily="34" charset="-120"/>
              </a:rPr>
              <a:t>Texto en pantalla: liste las palabras que deben aparecer escritas.</a:t>
            </a:r>
            <a:endParaRPr lang="en-US" sz="1150" dirty="0"/>
          </a:p>
          <a:p>
            <a:pPr marL="342900" indent="-342900">
              <a:spcAft>
                <a:spcPts val="500"/>
              </a:spcAft>
              <a:buSzPct val="100000"/>
              <a:buChar char="•"/>
            </a:pPr>
            <a:r>
              <a:rPr lang="en-US" sz="1150" dirty="0">
                <a:solidFill>
                  <a:srgbClr val="1F2933"/>
                </a:solidFill>
                <a:latin typeface="Calibri" pitchFamily="34" charset="0"/>
                <a:ea typeface="Calibri" pitchFamily="34" charset="-122"/>
                <a:cs typeface="Calibri" pitchFamily="34" charset="-120"/>
              </a:rPr>
              <a:t>Recursos: lugar, luz, apoyo visual y quién graba.</a:t>
            </a:r>
            <a:endParaRPr lang="en-US" sz="1150" dirty="0"/>
          </a:p>
        </p:txBody>
      </p:sp>
      <p:sp>
        <p:nvSpPr>
          <p:cNvPr id="9" name="Shape 7"/>
          <p:cNvSpPr/>
          <p:nvPr/>
        </p:nvSpPr>
        <p:spPr>
          <a:xfrm>
            <a:off x="6227064" y="1572768"/>
            <a:ext cx="5394960" cy="3931920"/>
          </a:xfrm>
          <a:prstGeom prst="roundRect">
            <a:avLst>
              <a:gd name="adj" fmla="val 930"/>
            </a:avLst>
          </a:prstGeom>
          <a:solidFill>
            <a:srgbClr val="E7F2F0"/>
          </a:solidFill>
          <a:ln w="12700">
            <a:solidFill>
              <a:srgbClr val="E7F2F0"/>
            </a:solidFill>
            <a:prstDash val="solid"/>
          </a:ln>
          <a:effectLst>
            <a:outerShdw blurRad="101600" dist="12700" dir="5400000" algn="bl" rotWithShape="0">
              <a:srgbClr val="9AA8B5">
                <a:alpha val="16000"/>
              </a:srgbClr>
            </a:outerShdw>
          </a:effectLst>
        </p:spPr>
      </p:sp>
      <p:sp>
        <p:nvSpPr>
          <p:cNvPr id="10" name="Text 8"/>
          <p:cNvSpPr txBox="1"/>
          <p:nvPr/>
        </p:nvSpPr>
        <p:spPr>
          <a:xfrm>
            <a:off x="6464808" y="1792224"/>
            <a:ext cx="4919472" cy="310896"/>
          </a:xfrm>
          <a:prstGeom prst="rect">
            <a:avLst/>
          </a:prstGeom>
          <a:noFill/>
          <a:ln/>
        </p:spPr>
        <p:txBody>
          <a:bodyPr wrap="square" lIns="0" tIns="0" rIns="0" bIns="0" rtlCol="0" anchor="t"/>
          <a:lstStyle/>
          <a:p>
            <a:pPr marL="0" indent="0">
              <a:buNone/>
            </a:pPr>
            <a:r>
              <a:rPr lang="en-US" sz="1450" b="1" dirty="0">
                <a:solidFill>
                  <a:srgbClr val="1B2A4A"/>
                </a:solidFill>
                <a:latin typeface="Calibri" pitchFamily="34" charset="0"/>
                <a:ea typeface="Calibri" pitchFamily="34" charset="-122"/>
                <a:cs typeface="Calibri" pitchFamily="34" charset="-120"/>
              </a:rPr>
              <a:t>Plantilla C  —  Planilla de microevaluación</a:t>
            </a:r>
            <a:endParaRPr lang="en-US" sz="1450" dirty="0"/>
          </a:p>
        </p:txBody>
      </p:sp>
      <p:sp>
        <p:nvSpPr>
          <p:cNvPr id="11" name="Text 9"/>
          <p:cNvSpPr txBox="1"/>
          <p:nvPr/>
        </p:nvSpPr>
        <p:spPr>
          <a:xfrm>
            <a:off x="6501384" y="2157984"/>
            <a:ext cx="4882896" cy="3163824"/>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1F2933"/>
                </a:solidFill>
                <a:latin typeface="Calibri" pitchFamily="34" charset="0"/>
                <a:ea typeface="Calibri" pitchFamily="34" charset="-122"/>
                <a:cs typeface="Calibri" pitchFamily="34" charset="-120"/>
              </a:rPr>
              <a:t>Competencia evaluada: copie textualmente la de la Plantilla A.</a:t>
            </a:r>
            <a:endParaRPr lang="en-US" sz="1150" dirty="0"/>
          </a:p>
          <a:p>
            <a:pPr marL="342900" indent="-342900">
              <a:spcAft>
                <a:spcPts val="500"/>
              </a:spcAft>
              <a:buSzPct val="100000"/>
              <a:buChar char="•"/>
            </a:pPr>
            <a:r>
              <a:rPr lang="en-US" sz="1150" dirty="0">
                <a:solidFill>
                  <a:srgbClr val="1F2933"/>
                </a:solidFill>
                <a:latin typeface="Calibri" pitchFamily="34" charset="0"/>
                <a:ea typeface="Calibri" pitchFamily="34" charset="-122"/>
                <a:cs typeface="Calibri" pitchFamily="34" charset="-120"/>
              </a:rPr>
              <a:t>Formato del chequeo: uno de los seis de la lámina 33.</a:t>
            </a:r>
            <a:endParaRPr lang="en-US" sz="1150" dirty="0"/>
          </a:p>
          <a:p>
            <a:pPr marL="342900" indent="-342900">
              <a:spcAft>
                <a:spcPts val="500"/>
              </a:spcAft>
              <a:buSzPct val="100000"/>
              <a:buChar char="•"/>
            </a:pPr>
            <a:r>
              <a:rPr lang="en-US" sz="1150" dirty="0">
                <a:solidFill>
                  <a:srgbClr val="1F2933"/>
                </a:solidFill>
                <a:latin typeface="Calibri" pitchFamily="34" charset="0"/>
                <a:ea typeface="Calibri" pitchFamily="34" charset="-122"/>
                <a:cs typeface="Calibri" pitchFamily="34" charset="-120"/>
              </a:rPr>
              <a:t>Cantidad de reactivos o criterios: ______ (recomendado: 3 o 4).</a:t>
            </a:r>
            <a:endParaRPr lang="en-US" sz="1150" dirty="0"/>
          </a:p>
          <a:p>
            <a:pPr marL="342900" indent="-342900">
              <a:spcAft>
                <a:spcPts val="500"/>
              </a:spcAft>
              <a:buSzPct val="100000"/>
              <a:buChar char="•"/>
            </a:pPr>
            <a:r>
              <a:rPr lang="en-US" sz="1150" dirty="0">
                <a:solidFill>
                  <a:srgbClr val="1F2933"/>
                </a:solidFill>
                <a:latin typeface="Calibri" pitchFamily="34" charset="0"/>
                <a:ea typeface="Calibri" pitchFamily="34" charset="-122"/>
                <a:cs typeface="Calibri" pitchFamily="34" charset="-120"/>
              </a:rPr>
              <a:t>Valor de cada uno y puntuación total: ______</a:t>
            </a:r>
            <a:endParaRPr lang="en-US" sz="1150" dirty="0"/>
          </a:p>
          <a:p>
            <a:pPr marL="342900" indent="-342900">
              <a:spcAft>
                <a:spcPts val="500"/>
              </a:spcAft>
              <a:buSzPct val="100000"/>
              <a:buChar char="•"/>
            </a:pPr>
            <a:r>
              <a:rPr lang="en-US" sz="1150" dirty="0">
                <a:solidFill>
                  <a:srgbClr val="1F2933"/>
                </a:solidFill>
                <a:latin typeface="Calibri" pitchFamily="34" charset="0"/>
                <a:ea typeface="Calibri" pitchFamily="34" charset="-122"/>
                <a:cs typeface="Calibri" pitchFamily="34" charset="-120"/>
              </a:rPr>
              <a:t>Puntuación mínima de ejecución: 70 % → ______ puntos.</a:t>
            </a:r>
            <a:endParaRPr lang="en-US" sz="1150" dirty="0"/>
          </a:p>
          <a:p>
            <a:pPr marL="342900" indent="-342900">
              <a:spcAft>
                <a:spcPts val="500"/>
              </a:spcAft>
              <a:buSzPct val="100000"/>
              <a:buChar char="•"/>
            </a:pPr>
            <a:r>
              <a:rPr lang="en-US" sz="1150" dirty="0">
                <a:solidFill>
                  <a:srgbClr val="1F2933"/>
                </a:solidFill>
                <a:latin typeface="Calibri" pitchFamily="34" charset="0"/>
                <a:ea typeface="Calibri" pitchFamily="34" charset="-122"/>
                <a:cs typeface="Calibri" pitchFamily="34" charset="-120"/>
              </a:rPr>
              <a:t>Respuesta modelo o lista de cotejo: escríbala antes de aplicar.</a:t>
            </a:r>
            <a:endParaRPr lang="en-US" sz="1150" dirty="0"/>
          </a:p>
          <a:p>
            <a:pPr marL="342900" indent="-342900">
              <a:spcAft>
                <a:spcPts val="500"/>
              </a:spcAft>
              <a:buSzPct val="100000"/>
              <a:buChar char="•"/>
            </a:pPr>
            <a:r>
              <a:rPr lang="en-US" sz="1150" dirty="0">
                <a:solidFill>
                  <a:srgbClr val="1F2933"/>
                </a:solidFill>
                <a:latin typeface="Calibri" pitchFamily="34" charset="0"/>
                <a:ea typeface="Calibri" pitchFamily="34" charset="-122"/>
                <a:cs typeface="Calibri" pitchFamily="34" charset="-120"/>
              </a:rPr>
              <a:t>Acción de reenseñanza si no alcanza el umbral: ______</a:t>
            </a:r>
            <a:endParaRPr lang="en-US" sz="11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29184"/>
            <a:ext cx="11055096" cy="256032"/>
          </a:xfrm>
          <a:prstGeom prst="rect">
            <a:avLst/>
          </a:prstGeom>
          <a:noFill/>
          <a:ln/>
        </p:spPr>
        <p:txBody>
          <a:bodyPr wrap="square" lIns="0" tIns="0" rIns="0" bIns="0" rtlCol="0" anchor="ctr"/>
          <a:lstStyle/>
          <a:p>
            <a:pPr marL="0" indent="0">
              <a:buNone/>
            </a:pPr>
            <a:r>
              <a:rPr lang="en-US" sz="1100" b="1" kern="0" spc="160" dirty="0">
                <a:solidFill>
                  <a:srgbClr val="2A9D8F"/>
                </a:solidFill>
                <a:latin typeface="Calibri" pitchFamily="34" charset="0"/>
                <a:ea typeface="Calibri" pitchFamily="34" charset="-122"/>
                <a:cs typeface="Calibri" pitchFamily="34" charset="-120"/>
              </a:rPr>
              <a:t>ACTIVIDAD 3  ·  25 MINUTOS</a:t>
            </a:r>
            <a:endParaRPr lang="en-US" sz="1100" dirty="0"/>
          </a:p>
        </p:txBody>
      </p:sp>
      <p:sp>
        <p:nvSpPr>
          <p:cNvPr id="3" name="Text 1"/>
          <p:cNvSpPr txBox="1"/>
          <p:nvPr/>
        </p:nvSpPr>
        <p:spPr>
          <a:xfrm>
            <a:off x="566928" y="603504"/>
            <a:ext cx="11055096" cy="749808"/>
          </a:xfrm>
          <a:prstGeom prst="rect">
            <a:avLst/>
          </a:prstGeom>
          <a:noFill/>
          <a:ln/>
        </p:spPr>
        <p:txBody>
          <a:bodyPr wrap="square" lIns="0" tIns="0" rIns="0" bIns="0" rtlCol="0" anchor="t"/>
          <a:lstStyle/>
          <a:p>
            <a:pPr marL="0" indent="0">
              <a:buNone/>
            </a:pPr>
            <a:r>
              <a:rPr lang="en-US" sz="2900" b="1" dirty="0">
                <a:solidFill>
                  <a:srgbClr val="1B2A4A"/>
                </a:solidFill>
                <a:latin typeface="Cambria" pitchFamily="34" charset="0"/>
                <a:ea typeface="Cambria" pitchFamily="34" charset="-122"/>
                <a:cs typeface="Cambria" pitchFamily="34" charset="-120"/>
              </a:rPr>
              <a:t>Producción: construyan la cápsula completa</a:t>
            </a:r>
            <a:endParaRPr lang="en-US" sz="2900" dirty="0"/>
          </a:p>
        </p:txBody>
      </p:sp>
      <p:sp>
        <p:nvSpPr>
          <p:cNvPr id="4" name="Text 2"/>
          <p:cNvSpPr txBox="1"/>
          <p:nvPr/>
        </p:nvSpPr>
        <p:spPr>
          <a:xfrm>
            <a:off x="566928" y="6428232"/>
            <a:ext cx="7863840" cy="256032"/>
          </a:xfrm>
          <a:prstGeom prst="rect">
            <a:avLst/>
          </a:prstGeom>
          <a:noFill/>
          <a:ln/>
        </p:spPr>
        <p:txBody>
          <a:bodyPr wrap="square" lIns="0" tIns="0" rIns="0" bIns="0" rtlCol="0" anchor="ctr"/>
          <a:lstStyle/>
          <a:p>
            <a:pPr marL="0" indent="0">
              <a:buNone/>
            </a:pPr>
            <a:r>
              <a:rPr lang="en-US" sz="900" dirty="0">
                <a:solidFill>
                  <a:srgbClr val="5B6B7B"/>
                </a:solidFill>
                <a:latin typeface="Calibri" pitchFamily="34" charset="0"/>
                <a:ea typeface="Calibri" pitchFamily="34" charset="-122"/>
                <a:cs typeface="Calibri" pitchFamily="34" charset="-120"/>
              </a:rPr>
              <a:t>Microaprendizaje para adultos  ·  Proyecto RUTA — Inter Ponce</a:t>
            </a:r>
            <a:endParaRPr lang="en-US" sz="900" dirty="0"/>
          </a:p>
        </p:txBody>
      </p:sp>
      <p:sp>
        <p:nvSpPr>
          <p:cNvPr id="5" name="Text 3"/>
          <p:cNvSpPr txBox="1"/>
          <p:nvPr/>
        </p:nvSpPr>
        <p:spPr>
          <a:xfrm>
            <a:off x="10972800" y="6428232"/>
            <a:ext cx="649224" cy="256032"/>
          </a:xfrm>
          <a:prstGeom prst="rect">
            <a:avLst/>
          </a:prstGeom>
          <a:noFill/>
          <a:ln/>
        </p:spPr>
        <p:txBody>
          <a:bodyPr wrap="square" lIns="0" tIns="0" rIns="0" bIns="0" rtlCol="0" anchor="ctr"/>
          <a:lstStyle/>
          <a:p>
            <a:pPr marL="0" indent="0" algn="r">
              <a:buNone/>
            </a:pPr>
            <a:r>
              <a:rPr lang="en-US" sz="900" dirty="0">
                <a:solidFill>
                  <a:srgbClr val="5B6B7B"/>
                </a:solidFill>
                <a:latin typeface="Calibri" pitchFamily="34" charset="0"/>
                <a:ea typeface="Calibri" pitchFamily="34" charset="-122"/>
                <a:cs typeface="Calibri" pitchFamily="34" charset="-120"/>
              </a:rPr>
              <a:t>36</a:t>
            </a:r>
            <a:endParaRPr lang="en-US" sz="900" dirty="0"/>
          </a:p>
        </p:txBody>
      </p:sp>
      <p:sp>
        <p:nvSpPr>
          <p:cNvPr id="6" name="Shape 4"/>
          <p:cNvSpPr/>
          <p:nvPr/>
        </p:nvSpPr>
        <p:spPr>
          <a:xfrm>
            <a:off x="566928" y="1627632"/>
            <a:ext cx="6675120" cy="3931920"/>
          </a:xfrm>
          <a:prstGeom prst="roundRect">
            <a:avLst>
              <a:gd name="adj" fmla="val 930"/>
            </a:avLst>
          </a:prstGeom>
          <a:solidFill>
            <a:srgbClr val="F1F4F8"/>
          </a:solidFill>
          <a:ln w="12700">
            <a:solidFill>
              <a:srgbClr val="F1F4F8"/>
            </a:solidFill>
            <a:prstDash val="solid"/>
          </a:ln>
          <a:effectLst>
            <a:outerShdw blurRad="101600" dist="12700" dir="5400000" algn="bl" rotWithShape="0">
              <a:srgbClr val="9AA8B5">
                <a:alpha val="16000"/>
              </a:srgbClr>
            </a:outerShdw>
          </a:effectLst>
        </p:spPr>
      </p:sp>
      <p:sp>
        <p:nvSpPr>
          <p:cNvPr id="7" name="Text 5"/>
          <p:cNvSpPr txBox="1"/>
          <p:nvPr/>
        </p:nvSpPr>
        <p:spPr>
          <a:xfrm>
            <a:off x="804672" y="1847088"/>
            <a:ext cx="6199632" cy="310896"/>
          </a:xfrm>
          <a:prstGeom prst="rect">
            <a:avLst/>
          </a:prstGeom>
          <a:noFill/>
          <a:ln/>
        </p:spPr>
        <p:txBody>
          <a:bodyPr wrap="square" lIns="0" tIns="0" rIns="0" bIns="0" rtlCol="0" anchor="t"/>
          <a:lstStyle/>
          <a:p>
            <a:pPr marL="0" indent="0">
              <a:buNone/>
            </a:pPr>
            <a:r>
              <a:rPr lang="en-US" sz="1450" b="1" dirty="0">
                <a:solidFill>
                  <a:srgbClr val="1B2A4A"/>
                </a:solidFill>
                <a:latin typeface="Calibri" pitchFamily="34" charset="0"/>
                <a:ea typeface="Calibri" pitchFamily="34" charset="-122"/>
                <a:cs typeface="Calibri" pitchFamily="34" charset="-120"/>
              </a:rPr>
              <a:t>Trabajo en equipo — Plantilla A, campos 7 al 12, más Plantilla C</a:t>
            </a:r>
            <a:endParaRPr lang="en-US" sz="1450" dirty="0"/>
          </a:p>
        </p:txBody>
      </p:sp>
      <p:sp>
        <p:nvSpPr>
          <p:cNvPr id="8" name="Text 6"/>
          <p:cNvSpPr txBox="1"/>
          <p:nvPr/>
        </p:nvSpPr>
        <p:spPr>
          <a:xfrm>
            <a:off x="841248" y="2212848"/>
            <a:ext cx="6163056" cy="3163824"/>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1F2933"/>
                </a:solidFill>
                <a:latin typeface="Calibri" pitchFamily="34" charset="0"/>
                <a:ea typeface="Calibri" pitchFamily="34" charset="-122"/>
                <a:cs typeface="Calibri" pitchFamily="34" charset="-120"/>
              </a:rPr>
              <a:t>Minutos 1 a 5: escriban el núcleo. Solo lo que la práctica exige; tachen todo lo demás.</a:t>
            </a:r>
            <a:endParaRPr lang="en-US" sz="1200" dirty="0"/>
          </a:p>
          <a:p>
            <a:pPr marL="342900" indent="-342900">
              <a:spcAft>
                <a:spcPts val="500"/>
              </a:spcAft>
              <a:buSzPct val="100000"/>
              <a:buChar char="•"/>
            </a:pPr>
            <a:r>
              <a:rPr lang="en-US" sz="1200" dirty="0">
                <a:solidFill>
                  <a:srgbClr val="1F2933"/>
                </a:solidFill>
                <a:latin typeface="Calibri" pitchFamily="34" charset="0"/>
                <a:ea typeface="Calibri" pitchFamily="34" charset="-122"/>
                <a:cs typeface="Calibri" pitchFamily="34" charset="-120"/>
              </a:rPr>
              <a:t>Minutos 6 a 12: redacten el modelado y produzcan el material en el formato elegido (página escrita, guion de video o guía visual).</a:t>
            </a:r>
            <a:endParaRPr lang="en-US" sz="1200" dirty="0"/>
          </a:p>
          <a:p>
            <a:pPr marL="342900" indent="-342900">
              <a:spcAft>
                <a:spcPts val="500"/>
              </a:spcAft>
              <a:buSzPct val="100000"/>
              <a:buChar char="•"/>
            </a:pPr>
            <a:r>
              <a:rPr lang="en-US" sz="1200" dirty="0">
                <a:solidFill>
                  <a:srgbClr val="1F2933"/>
                </a:solidFill>
                <a:latin typeface="Calibri" pitchFamily="34" charset="0"/>
                <a:ea typeface="Calibri" pitchFamily="34" charset="-122"/>
                <a:cs typeface="Calibri" pitchFamily="34" charset="-120"/>
              </a:rPr>
              <a:t>Minutos 13 a 18: diseñen la práctica inmediata verificando los cuatro criterios de la lámina 32.</a:t>
            </a:r>
            <a:endParaRPr lang="en-US" sz="1200" dirty="0"/>
          </a:p>
          <a:p>
            <a:pPr marL="342900" indent="-342900">
              <a:spcAft>
                <a:spcPts val="500"/>
              </a:spcAft>
              <a:buSzPct val="100000"/>
              <a:buChar char="•"/>
            </a:pPr>
            <a:r>
              <a:rPr lang="en-US" sz="1200" dirty="0">
                <a:solidFill>
                  <a:srgbClr val="1F2933"/>
                </a:solidFill>
                <a:latin typeface="Calibri" pitchFamily="34" charset="0"/>
                <a:ea typeface="Calibri" pitchFamily="34" charset="-122"/>
                <a:cs typeface="Calibri" pitchFamily="34" charset="-120"/>
              </a:rPr>
              <a:t>Minutos 19 a 23: completen la Plantilla C, incluida la respuesta modelo y la acción de reenseñanza.</a:t>
            </a:r>
            <a:endParaRPr lang="en-US" sz="1200" dirty="0"/>
          </a:p>
          <a:p>
            <a:pPr marL="342900" indent="-342900">
              <a:spcAft>
                <a:spcPts val="500"/>
              </a:spcAft>
              <a:buSzPct val="100000"/>
              <a:buChar char="•"/>
            </a:pPr>
            <a:r>
              <a:rPr lang="en-US" sz="1200" dirty="0">
                <a:solidFill>
                  <a:srgbClr val="1F2933"/>
                </a:solidFill>
                <a:latin typeface="Calibri" pitchFamily="34" charset="0"/>
                <a:ea typeface="Calibri" pitchFamily="34" charset="-122"/>
                <a:cs typeface="Calibri" pitchFamily="34" charset="-120"/>
              </a:rPr>
              <a:t>Minutos 24 a 25: marquen las tres decisiones DUA y ubiquen la cápsula en la ruta.</a:t>
            </a:r>
            <a:endParaRPr lang="en-US" sz="1200" dirty="0"/>
          </a:p>
        </p:txBody>
      </p:sp>
      <p:sp>
        <p:nvSpPr>
          <p:cNvPr id="9" name="Shape 7"/>
          <p:cNvSpPr/>
          <p:nvPr/>
        </p:nvSpPr>
        <p:spPr>
          <a:xfrm>
            <a:off x="7516368" y="1627632"/>
            <a:ext cx="4105656" cy="1828800"/>
          </a:xfrm>
          <a:prstGeom prst="roundRect">
            <a:avLst>
              <a:gd name="adj" fmla="val 2000"/>
            </a:avLst>
          </a:prstGeom>
          <a:solidFill>
            <a:srgbClr val="FAF3E0"/>
          </a:solidFill>
          <a:ln w="12700">
            <a:solidFill>
              <a:srgbClr val="FAF3E0"/>
            </a:solidFill>
            <a:prstDash val="solid"/>
          </a:ln>
          <a:effectLst>
            <a:outerShdw blurRad="101600" dist="12700" dir="5400000" algn="bl" rotWithShape="0">
              <a:srgbClr val="9AA8B5">
                <a:alpha val="16000"/>
              </a:srgbClr>
            </a:outerShdw>
          </a:effectLst>
        </p:spPr>
      </p:sp>
      <p:sp>
        <p:nvSpPr>
          <p:cNvPr id="10" name="Text 8"/>
          <p:cNvSpPr txBox="1"/>
          <p:nvPr/>
        </p:nvSpPr>
        <p:spPr>
          <a:xfrm>
            <a:off x="7754112" y="1847088"/>
            <a:ext cx="3630168" cy="310896"/>
          </a:xfrm>
          <a:prstGeom prst="rect">
            <a:avLst/>
          </a:prstGeom>
          <a:noFill/>
          <a:ln/>
        </p:spPr>
        <p:txBody>
          <a:bodyPr wrap="square" lIns="0" tIns="0" rIns="0" bIns="0" rtlCol="0" anchor="t"/>
          <a:lstStyle/>
          <a:p>
            <a:pPr marL="0" indent="0">
              <a:buNone/>
            </a:pPr>
            <a:r>
              <a:rPr lang="en-US" sz="1450" b="1" dirty="0">
                <a:solidFill>
                  <a:srgbClr val="1B2A4A"/>
                </a:solidFill>
                <a:latin typeface="Calibri" pitchFamily="34" charset="0"/>
                <a:ea typeface="Calibri" pitchFamily="34" charset="-122"/>
                <a:cs typeface="Calibri" pitchFamily="34" charset="-120"/>
              </a:rPr>
              <a:t>Si eligieron video</a:t>
            </a:r>
            <a:endParaRPr lang="en-US" sz="1450" dirty="0"/>
          </a:p>
        </p:txBody>
      </p:sp>
      <p:sp>
        <p:nvSpPr>
          <p:cNvPr id="11" name="Text 9"/>
          <p:cNvSpPr txBox="1"/>
          <p:nvPr/>
        </p:nvSpPr>
        <p:spPr>
          <a:xfrm>
            <a:off x="7754112" y="2212848"/>
            <a:ext cx="3630168" cy="1060704"/>
          </a:xfrm>
          <a:prstGeom prst="rect">
            <a:avLst/>
          </a:prstGeom>
          <a:noFill/>
          <a:ln/>
        </p:spPr>
        <p:txBody>
          <a:bodyPr wrap="square" lIns="0" tIns="0" rIns="0" bIns="0" rtlCol="0" anchor="t"/>
          <a:lstStyle/>
          <a:p>
            <a:pPr marL="0" indent="0">
              <a:lnSpc>
                <a:spcPct val="106000"/>
              </a:lnSpc>
              <a:buNone/>
            </a:pPr>
            <a:r>
              <a:rPr lang="en-US" sz="1200" dirty="0">
                <a:solidFill>
                  <a:srgbClr val="1F2933"/>
                </a:solidFill>
                <a:latin typeface="Calibri" pitchFamily="34" charset="0"/>
                <a:ea typeface="Calibri" pitchFamily="34" charset="-122"/>
                <a:cs typeface="Calibri" pitchFamily="34" charset="-120"/>
              </a:rPr>
              <a:t>Graben una toma de prueba de 30 segundos con el celular. No busquen la versión final: busquen comprobar audio, encuadre y ritmo.</a:t>
            </a:r>
            <a:endParaRPr lang="en-US" sz="1200" dirty="0"/>
          </a:p>
        </p:txBody>
      </p:sp>
      <p:sp>
        <p:nvSpPr>
          <p:cNvPr id="12" name="Shape 10"/>
          <p:cNvSpPr/>
          <p:nvPr/>
        </p:nvSpPr>
        <p:spPr>
          <a:xfrm>
            <a:off x="7516368" y="3730752"/>
            <a:ext cx="4105656" cy="1828800"/>
          </a:xfrm>
          <a:prstGeom prst="roundRect">
            <a:avLst>
              <a:gd name="adj" fmla="val 2000"/>
            </a:avLst>
          </a:prstGeom>
          <a:solidFill>
            <a:srgbClr val="1B2A4A"/>
          </a:solidFill>
          <a:ln w="12700">
            <a:solidFill>
              <a:srgbClr val="1B2A4A"/>
            </a:solidFill>
            <a:prstDash val="solid"/>
          </a:ln>
          <a:effectLst>
            <a:outerShdw blurRad="101600" dist="12700" dir="5400000" algn="bl" rotWithShape="0">
              <a:srgbClr val="9AA8B5">
                <a:alpha val="16000"/>
              </a:srgbClr>
            </a:outerShdw>
          </a:effectLst>
        </p:spPr>
      </p:sp>
      <p:sp>
        <p:nvSpPr>
          <p:cNvPr id="13" name="Text 11"/>
          <p:cNvSpPr txBox="1"/>
          <p:nvPr/>
        </p:nvSpPr>
        <p:spPr>
          <a:xfrm>
            <a:off x="7754112" y="3950208"/>
            <a:ext cx="3630168" cy="310896"/>
          </a:xfrm>
          <a:prstGeom prst="rect">
            <a:avLst/>
          </a:prstGeom>
          <a:noFill/>
          <a:ln/>
        </p:spPr>
        <p:txBody>
          <a:bodyPr wrap="square" lIns="0" tIns="0" rIns="0" bIns="0" rtlCol="0" anchor="t"/>
          <a:lstStyle/>
          <a:p>
            <a:pPr marL="0" indent="0">
              <a:buNone/>
            </a:pPr>
            <a:r>
              <a:rPr lang="en-US" sz="1450" b="1" dirty="0">
                <a:solidFill>
                  <a:srgbClr val="C9A227"/>
                </a:solidFill>
                <a:latin typeface="Calibri" pitchFamily="34" charset="0"/>
                <a:ea typeface="Calibri" pitchFamily="34" charset="-122"/>
                <a:cs typeface="Calibri" pitchFamily="34" charset="-120"/>
              </a:rPr>
              <a:t>Al terminar</a:t>
            </a:r>
            <a:endParaRPr lang="en-US" sz="1450" dirty="0"/>
          </a:p>
        </p:txBody>
      </p:sp>
      <p:sp>
        <p:nvSpPr>
          <p:cNvPr id="14" name="Text 12"/>
          <p:cNvSpPr txBox="1"/>
          <p:nvPr/>
        </p:nvSpPr>
        <p:spPr>
          <a:xfrm>
            <a:off x="7754112" y="4315968"/>
            <a:ext cx="3630168" cy="1060704"/>
          </a:xfrm>
          <a:prstGeom prst="rect">
            <a:avLst/>
          </a:prstGeom>
          <a:noFill/>
          <a:ln/>
        </p:spPr>
        <p:txBody>
          <a:bodyPr wrap="square" lIns="0" tIns="0" rIns="0" bIns="0" rtlCol="0" anchor="t"/>
          <a:lstStyle/>
          <a:p>
            <a:pPr marL="0" indent="0">
              <a:lnSpc>
                <a:spcPct val="106000"/>
              </a:lnSpc>
              <a:buNone/>
            </a:pPr>
            <a:r>
              <a:rPr lang="en-US" sz="1200" dirty="0">
                <a:solidFill>
                  <a:srgbClr val="D6E0EE"/>
                </a:solidFill>
                <a:latin typeface="Calibri" pitchFamily="34" charset="0"/>
                <a:ea typeface="Calibri" pitchFamily="34" charset="-122"/>
                <a:cs typeface="Calibri" pitchFamily="34" charset="-120"/>
              </a:rPr>
              <a:t>Cada equipo tiene una cápsula completa y evaluable. En el Módulo 4 la refinaremos con inteligencia artificial y la someteremos a verificación humana.</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B2A4A"/>
        </a:solidFill>
        <a:effectLst/>
      </p:bgPr>
    </p:bg>
    <p:spTree>
      <p:nvGrpSpPr>
        <p:cNvPr id="1" name=""/>
        <p:cNvGrpSpPr/>
        <p:nvPr/>
      </p:nvGrpSpPr>
      <p:grpSpPr>
        <a:xfrm>
          <a:off x="0" y="0"/>
          <a:ext cx="0" cy="0"/>
          <a:chOff x="0" y="0"/>
          <a:chExt cx="0" cy="0"/>
        </a:xfrm>
      </p:grpSpPr>
      <p:sp>
        <p:nvSpPr>
          <p:cNvPr id="2" name="Text 0"/>
          <p:cNvSpPr txBox="1"/>
          <p:nvPr/>
        </p:nvSpPr>
        <p:spPr>
          <a:xfrm>
            <a:off x="566928" y="1691640"/>
            <a:ext cx="2011680" cy="1371600"/>
          </a:xfrm>
          <a:prstGeom prst="rect">
            <a:avLst/>
          </a:prstGeom>
          <a:noFill/>
          <a:ln/>
        </p:spPr>
        <p:txBody>
          <a:bodyPr wrap="square" lIns="0" tIns="0" rIns="0" bIns="0" rtlCol="0" anchor="ctr"/>
          <a:lstStyle/>
          <a:p>
            <a:pPr marL="0" indent="0">
              <a:buNone/>
            </a:pPr>
            <a:r>
              <a:rPr lang="en-US" sz="9600" b="1" dirty="0">
                <a:solidFill>
                  <a:srgbClr val="C9A227"/>
                </a:solidFill>
                <a:latin typeface="Cambria" pitchFamily="34" charset="0"/>
                <a:ea typeface="Cambria" pitchFamily="34" charset="-122"/>
                <a:cs typeface="Cambria" pitchFamily="34" charset="-120"/>
              </a:rPr>
              <a:t>04</a:t>
            </a:r>
            <a:endParaRPr lang="en-US" sz="9600" dirty="0"/>
          </a:p>
        </p:txBody>
      </p:sp>
      <p:sp>
        <p:nvSpPr>
          <p:cNvPr id="3" name="Text 1"/>
          <p:cNvSpPr txBox="1"/>
          <p:nvPr/>
        </p:nvSpPr>
        <p:spPr>
          <a:xfrm>
            <a:off x="2331720" y="1783080"/>
            <a:ext cx="8686800" cy="137160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Producción asistida por IA</a:t>
            </a:r>
            <a:endParaRPr lang="en-US" sz="3400" dirty="0"/>
          </a:p>
        </p:txBody>
      </p:sp>
      <p:sp>
        <p:nvSpPr>
          <p:cNvPr id="4" name="Text 2"/>
          <p:cNvSpPr txBox="1"/>
          <p:nvPr/>
        </p:nvSpPr>
        <p:spPr>
          <a:xfrm>
            <a:off x="2331720" y="3200400"/>
            <a:ext cx="8686800" cy="822960"/>
          </a:xfrm>
          <a:prstGeom prst="rect">
            <a:avLst/>
          </a:prstGeom>
          <a:noFill/>
          <a:ln/>
        </p:spPr>
        <p:txBody>
          <a:bodyPr wrap="square" lIns="0" tIns="0" rIns="0" bIns="0" rtlCol="0" anchor="t"/>
          <a:lstStyle/>
          <a:p>
            <a:pPr marL="0" indent="0">
              <a:buNone/>
            </a:pPr>
            <a:r>
              <a:rPr lang="en-US" sz="1500" dirty="0">
                <a:solidFill>
                  <a:srgbClr val="C3D0E0"/>
                </a:solidFill>
                <a:latin typeface="Calibri" pitchFamily="34" charset="0"/>
                <a:ea typeface="Calibri" pitchFamily="34" charset="-122"/>
                <a:cs typeface="Calibri" pitchFamily="34" charset="-120"/>
              </a:rPr>
              <a:t>El modelo RC-TTF aplicado al microaprendizaje: generar guiones, guías visuales y microevaluaciones, y verificarlos con criterio profesional.</a:t>
            </a:r>
            <a:endParaRPr lang="en-US" sz="1500" dirty="0"/>
          </a:p>
        </p:txBody>
      </p:sp>
      <p:sp>
        <p:nvSpPr>
          <p:cNvPr id="5" name="Shape 3"/>
          <p:cNvSpPr/>
          <p:nvPr/>
        </p:nvSpPr>
        <p:spPr>
          <a:xfrm>
            <a:off x="2331720" y="4160520"/>
            <a:ext cx="2834640" cy="457200"/>
          </a:xfrm>
          <a:prstGeom prst="roundRect">
            <a:avLst>
              <a:gd name="adj" fmla="val 50000"/>
            </a:avLst>
          </a:prstGeom>
          <a:solidFill>
            <a:srgbClr val="2A9D8F"/>
          </a:solidFill>
          <a:ln w="12700">
            <a:solidFill>
              <a:srgbClr val="2A9D8F"/>
            </a:solidFill>
            <a:prstDash val="solid"/>
          </a:ln>
        </p:spPr>
      </p:sp>
      <p:sp>
        <p:nvSpPr>
          <p:cNvPr id="6" name="Text 4"/>
          <p:cNvSpPr txBox="1"/>
          <p:nvPr/>
        </p:nvSpPr>
        <p:spPr>
          <a:xfrm>
            <a:off x="2331720" y="4160520"/>
            <a:ext cx="283464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40 minutos</a:t>
            </a:r>
            <a:endParaRPr lang="en-US" sz="1300" dirty="0"/>
          </a:p>
        </p:txBody>
      </p:sp>
      <p:sp>
        <p:nvSpPr>
          <p:cNvPr id="7" name="Shape 5"/>
          <p:cNvSpPr/>
          <p:nvPr/>
        </p:nvSpPr>
        <p:spPr>
          <a:xfrm>
            <a:off x="9646920" y="5074920"/>
            <a:ext cx="365760" cy="365760"/>
          </a:xfrm>
          <a:prstGeom prst="roundRect">
            <a:avLst>
              <a:gd name="adj" fmla="val 12500"/>
            </a:avLst>
          </a:prstGeom>
          <a:solidFill>
            <a:srgbClr val="C9A227"/>
          </a:solidFill>
          <a:ln w="12700">
            <a:solidFill>
              <a:srgbClr val="C9A227"/>
            </a:solidFill>
            <a:prstDash val="solid"/>
          </a:ln>
        </p:spPr>
      </p:sp>
      <p:sp>
        <p:nvSpPr>
          <p:cNvPr id="8" name="Shape 6"/>
          <p:cNvSpPr/>
          <p:nvPr/>
        </p:nvSpPr>
        <p:spPr>
          <a:xfrm>
            <a:off x="10140696" y="5074920"/>
            <a:ext cx="365760" cy="365760"/>
          </a:xfrm>
          <a:prstGeom prst="roundRect">
            <a:avLst>
              <a:gd name="adj" fmla="val 12500"/>
            </a:avLst>
          </a:prstGeom>
          <a:solidFill>
            <a:srgbClr val="2A9D8F"/>
          </a:solidFill>
          <a:ln w="12700">
            <a:solidFill>
              <a:srgbClr val="2A9D8F"/>
            </a:solidFill>
            <a:prstDash val="solid"/>
          </a:ln>
        </p:spPr>
      </p:sp>
      <p:sp>
        <p:nvSpPr>
          <p:cNvPr id="9" name="Shape 7"/>
          <p:cNvSpPr/>
          <p:nvPr/>
        </p:nvSpPr>
        <p:spPr>
          <a:xfrm>
            <a:off x="10634472" y="5074920"/>
            <a:ext cx="365760" cy="365760"/>
          </a:xfrm>
          <a:prstGeom prst="roundRect">
            <a:avLst>
              <a:gd name="adj" fmla="val 12500"/>
            </a:avLst>
          </a:prstGeom>
          <a:solidFill>
            <a:srgbClr val="FFFFFF"/>
          </a:solidFill>
          <a:ln w="12700">
            <a:solidFill>
              <a:srgbClr val="FFFFFF"/>
            </a:solidFill>
            <a:prstDash val="solid"/>
          </a:ln>
        </p:spPr>
      </p:sp>
      <p:sp>
        <p:nvSpPr>
          <p:cNvPr id="10" name="Shape 8"/>
          <p:cNvSpPr/>
          <p:nvPr/>
        </p:nvSpPr>
        <p:spPr>
          <a:xfrm>
            <a:off x="9646920" y="5568696"/>
            <a:ext cx="365760" cy="365760"/>
          </a:xfrm>
          <a:prstGeom prst="roundRect">
            <a:avLst>
              <a:gd name="adj" fmla="val 12500"/>
            </a:avLst>
          </a:prstGeom>
          <a:solidFill>
            <a:srgbClr val="2A9D8F">
              <a:alpha val="55000"/>
            </a:srgbClr>
          </a:solidFill>
          <a:ln w="12700">
            <a:solidFill>
              <a:srgbClr val="2A9D8F"/>
            </a:solidFill>
            <a:prstDash val="solid"/>
          </a:ln>
        </p:spPr>
      </p:sp>
      <p:sp>
        <p:nvSpPr>
          <p:cNvPr id="11" name="Shape 9"/>
          <p:cNvSpPr/>
          <p:nvPr/>
        </p:nvSpPr>
        <p:spPr>
          <a:xfrm>
            <a:off x="10140696" y="5568696"/>
            <a:ext cx="365760" cy="365760"/>
          </a:xfrm>
          <a:prstGeom prst="roundRect">
            <a:avLst>
              <a:gd name="adj" fmla="val 12500"/>
            </a:avLst>
          </a:prstGeom>
          <a:solidFill>
            <a:srgbClr val="FFFFFF">
              <a:alpha val="55000"/>
            </a:srgbClr>
          </a:solidFill>
          <a:ln w="12700">
            <a:solidFill>
              <a:srgbClr val="FFFFFF"/>
            </a:solidFill>
            <a:prstDash val="solid"/>
          </a:ln>
        </p:spPr>
      </p:sp>
      <p:sp>
        <p:nvSpPr>
          <p:cNvPr id="12" name="Shape 10"/>
          <p:cNvSpPr/>
          <p:nvPr/>
        </p:nvSpPr>
        <p:spPr>
          <a:xfrm>
            <a:off x="10634472" y="5568696"/>
            <a:ext cx="365760" cy="365760"/>
          </a:xfrm>
          <a:prstGeom prst="roundRect">
            <a:avLst>
              <a:gd name="adj" fmla="val 12500"/>
            </a:avLst>
          </a:prstGeom>
          <a:solidFill>
            <a:srgbClr val="C9A227">
              <a:alpha val="55000"/>
            </a:srgbClr>
          </a:solidFill>
          <a:ln w="12700">
            <a:solidFill>
              <a:srgbClr val="C9A227"/>
            </a:solidFill>
            <a:prstDash val="solid"/>
          </a:ln>
        </p:spPr>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29184"/>
            <a:ext cx="11055096" cy="256032"/>
          </a:xfrm>
          <a:prstGeom prst="rect">
            <a:avLst/>
          </a:prstGeom>
          <a:noFill/>
          <a:ln/>
        </p:spPr>
        <p:txBody>
          <a:bodyPr wrap="square" lIns="0" tIns="0" rIns="0" bIns="0" rtlCol="0" anchor="ctr"/>
          <a:lstStyle/>
          <a:p>
            <a:pPr marL="0" indent="0">
              <a:buNone/>
            </a:pPr>
            <a:r>
              <a:rPr lang="en-US" sz="1100" b="1" kern="0" spc="160" dirty="0">
                <a:solidFill>
                  <a:srgbClr val="2A9D8F"/>
                </a:solidFill>
                <a:latin typeface="Calibri" pitchFamily="34" charset="0"/>
                <a:ea typeface="Calibri" pitchFamily="34" charset="-122"/>
                <a:cs typeface="Calibri" pitchFamily="34" charset="-120"/>
              </a:rPr>
              <a:t>MODELO DE PROMPTING</a:t>
            </a:r>
            <a:endParaRPr lang="en-US" sz="1100" dirty="0"/>
          </a:p>
        </p:txBody>
      </p:sp>
      <p:sp>
        <p:nvSpPr>
          <p:cNvPr id="3" name="Text 1"/>
          <p:cNvSpPr txBox="1"/>
          <p:nvPr/>
        </p:nvSpPr>
        <p:spPr>
          <a:xfrm>
            <a:off x="566928" y="603504"/>
            <a:ext cx="11055096" cy="749808"/>
          </a:xfrm>
          <a:prstGeom prst="rect">
            <a:avLst/>
          </a:prstGeom>
          <a:noFill/>
          <a:ln/>
        </p:spPr>
        <p:txBody>
          <a:bodyPr wrap="square" lIns="0" tIns="0" rIns="0" bIns="0" rtlCol="0" anchor="t"/>
          <a:lstStyle/>
          <a:p>
            <a:pPr marL="0" indent="0">
              <a:buNone/>
            </a:pPr>
            <a:r>
              <a:rPr lang="en-US" sz="2900" b="1" dirty="0">
                <a:solidFill>
                  <a:srgbClr val="1B2A4A"/>
                </a:solidFill>
                <a:latin typeface="Cambria" pitchFamily="34" charset="0"/>
                <a:ea typeface="Cambria" pitchFamily="34" charset="-122"/>
                <a:cs typeface="Cambria" pitchFamily="34" charset="-120"/>
              </a:rPr>
              <a:t>RC-TTF: cinco componentes para pedir bien</a:t>
            </a:r>
            <a:endParaRPr lang="en-US" sz="2900" dirty="0"/>
          </a:p>
        </p:txBody>
      </p:sp>
      <p:sp>
        <p:nvSpPr>
          <p:cNvPr id="4" name="Text 2"/>
          <p:cNvSpPr txBox="1"/>
          <p:nvPr/>
        </p:nvSpPr>
        <p:spPr>
          <a:xfrm>
            <a:off x="566928" y="6428232"/>
            <a:ext cx="7863840" cy="256032"/>
          </a:xfrm>
          <a:prstGeom prst="rect">
            <a:avLst/>
          </a:prstGeom>
          <a:noFill/>
          <a:ln/>
        </p:spPr>
        <p:txBody>
          <a:bodyPr wrap="square" lIns="0" tIns="0" rIns="0" bIns="0" rtlCol="0" anchor="ctr"/>
          <a:lstStyle/>
          <a:p>
            <a:pPr marL="0" indent="0">
              <a:buNone/>
            </a:pPr>
            <a:r>
              <a:rPr lang="en-US" sz="900" dirty="0">
                <a:solidFill>
                  <a:srgbClr val="5B6B7B"/>
                </a:solidFill>
                <a:latin typeface="Calibri" pitchFamily="34" charset="0"/>
                <a:ea typeface="Calibri" pitchFamily="34" charset="-122"/>
                <a:cs typeface="Calibri" pitchFamily="34" charset="-120"/>
              </a:rPr>
              <a:t>Microaprendizaje para adultos  ·  Proyecto RUTA — Inter Ponce</a:t>
            </a:r>
            <a:endParaRPr lang="en-US" sz="900" dirty="0"/>
          </a:p>
        </p:txBody>
      </p:sp>
      <p:sp>
        <p:nvSpPr>
          <p:cNvPr id="5" name="Text 3"/>
          <p:cNvSpPr txBox="1"/>
          <p:nvPr/>
        </p:nvSpPr>
        <p:spPr>
          <a:xfrm>
            <a:off x="10972800" y="6428232"/>
            <a:ext cx="649224" cy="256032"/>
          </a:xfrm>
          <a:prstGeom prst="rect">
            <a:avLst/>
          </a:prstGeom>
          <a:noFill/>
          <a:ln/>
        </p:spPr>
        <p:txBody>
          <a:bodyPr wrap="square" lIns="0" tIns="0" rIns="0" bIns="0" rtlCol="0" anchor="ctr"/>
          <a:lstStyle/>
          <a:p>
            <a:pPr marL="0" indent="0" algn="r">
              <a:buNone/>
            </a:pPr>
            <a:r>
              <a:rPr lang="en-US" sz="900" dirty="0">
                <a:solidFill>
                  <a:srgbClr val="5B6B7B"/>
                </a:solidFill>
                <a:latin typeface="Calibri" pitchFamily="34" charset="0"/>
                <a:ea typeface="Calibri" pitchFamily="34" charset="-122"/>
                <a:cs typeface="Calibri" pitchFamily="34" charset="-120"/>
              </a:rPr>
              <a:t>38</a:t>
            </a:r>
            <a:endParaRPr lang="en-US" sz="900" dirty="0"/>
          </a:p>
        </p:txBody>
      </p:sp>
      <p:sp>
        <p:nvSpPr>
          <p:cNvPr id="6" name="Shape 4"/>
          <p:cNvSpPr/>
          <p:nvPr/>
        </p:nvSpPr>
        <p:spPr>
          <a:xfrm>
            <a:off x="566928" y="1572768"/>
            <a:ext cx="2057400" cy="1920240"/>
          </a:xfrm>
          <a:prstGeom prst="roundRect">
            <a:avLst>
              <a:gd name="adj" fmla="val 1905"/>
            </a:avLst>
          </a:prstGeom>
          <a:solidFill>
            <a:srgbClr val="F1F4F8"/>
          </a:solidFill>
          <a:ln w="12700">
            <a:solidFill>
              <a:srgbClr val="F1F4F8"/>
            </a:solidFill>
            <a:prstDash val="solid"/>
          </a:ln>
          <a:effectLst>
            <a:outerShdw blurRad="101600" dist="12700" dir="5400000" algn="bl" rotWithShape="0">
              <a:srgbClr val="9AA8B5">
                <a:alpha val="16000"/>
              </a:srgbClr>
            </a:outerShdw>
          </a:effectLst>
        </p:spPr>
      </p:sp>
      <p:sp>
        <p:nvSpPr>
          <p:cNvPr id="7" name="Shape 5"/>
          <p:cNvSpPr/>
          <p:nvPr/>
        </p:nvSpPr>
        <p:spPr>
          <a:xfrm>
            <a:off x="804672" y="1792224"/>
            <a:ext cx="420624" cy="420624"/>
          </a:xfrm>
          <a:prstGeom prst="ellipse">
            <a:avLst/>
          </a:prstGeom>
          <a:solidFill>
            <a:srgbClr val="1B2A4A"/>
          </a:solidFill>
          <a:ln w="12700">
            <a:solidFill>
              <a:srgbClr val="1B2A4A"/>
            </a:solidFill>
            <a:prstDash val="solid"/>
          </a:ln>
        </p:spPr>
      </p:sp>
      <p:sp>
        <p:nvSpPr>
          <p:cNvPr id="8" name="Text 6"/>
          <p:cNvSpPr txBox="1"/>
          <p:nvPr/>
        </p:nvSpPr>
        <p:spPr>
          <a:xfrm>
            <a:off x="804672" y="1792224"/>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R</a:t>
            </a:r>
            <a:endParaRPr lang="en-US" sz="1500" dirty="0"/>
          </a:p>
        </p:txBody>
      </p:sp>
      <p:sp>
        <p:nvSpPr>
          <p:cNvPr id="9" name="Text 7"/>
          <p:cNvSpPr txBox="1"/>
          <p:nvPr/>
        </p:nvSpPr>
        <p:spPr>
          <a:xfrm>
            <a:off x="804672" y="2359152"/>
            <a:ext cx="1581912" cy="310896"/>
          </a:xfrm>
          <a:prstGeom prst="rect">
            <a:avLst/>
          </a:prstGeom>
          <a:noFill/>
          <a:ln/>
        </p:spPr>
        <p:txBody>
          <a:bodyPr wrap="square" lIns="0" tIns="0" rIns="0" bIns="0" rtlCol="0" anchor="t"/>
          <a:lstStyle/>
          <a:p>
            <a:pPr marL="0" indent="0">
              <a:buNone/>
            </a:pPr>
            <a:r>
              <a:rPr lang="en-US" sz="1500" b="1" dirty="0">
                <a:solidFill>
                  <a:srgbClr val="1B2A4A"/>
                </a:solidFill>
                <a:latin typeface="Calibri" pitchFamily="34" charset="0"/>
                <a:ea typeface="Calibri" pitchFamily="34" charset="-122"/>
                <a:cs typeface="Calibri" pitchFamily="34" charset="-120"/>
              </a:rPr>
              <a:t>Rol</a:t>
            </a:r>
            <a:endParaRPr lang="en-US" sz="1500" dirty="0"/>
          </a:p>
        </p:txBody>
      </p:sp>
      <p:sp>
        <p:nvSpPr>
          <p:cNvPr id="10" name="Text 8"/>
          <p:cNvSpPr txBox="1"/>
          <p:nvPr/>
        </p:nvSpPr>
        <p:spPr>
          <a:xfrm>
            <a:off x="804672" y="2724912"/>
            <a:ext cx="1581912" cy="585216"/>
          </a:xfrm>
          <a:prstGeom prst="rect">
            <a:avLst/>
          </a:prstGeom>
          <a:noFill/>
          <a:ln/>
        </p:spPr>
        <p:txBody>
          <a:bodyPr wrap="square" lIns="0" tIns="0" rIns="0" bIns="0" rtlCol="0" anchor="t"/>
          <a:lstStyle/>
          <a:p>
            <a:pPr marL="0" indent="0">
              <a:lnSpc>
                <a:spcPct val="106000"/>
              </a:lnSpc>
              <a:buNone/>
            </a:pPr>
            <a:r>
              <a:rPr lang="en-US" sz="1150" dirty="0">
                <a:solidFill>
                  <a:srgbClr val="1F2933"/>
                </a:solidFill>
                <a:latin typeface="Calibri" pitchFamily="34" charset="0"/>
                <a:ea typeface="Calibri" pitchFamily="34" charset="-122"/>
                <a:cs typeface="Calibri" pitchFamily="34" charset="-120"/>
              </a:rPr>
              <a:t>Quién debe ser la IA al responder.</a:t>
            </a:r>
            <a:endParaRPr lang="en-US" sz="1150" dirty="0"/>
          </a:p>
        </p:txBody>
      </p:sp>
      <p:sp>
        <p:nvSpPr>
          <p:cNvPr id="11" name="Shape 9"/>
          <p:cNvSpPr/>
          <p:nvPr/>
        </p:nvSpPr>
        <p:spPr>
          <a:xfrm>
            <a:off x="566928" y="3657600"/>
            <a:ext cx="2057400" cy="1417320"/>
          </a:xfrm>
          <a:prstGeom prst="roundRect">
            <a:avLst>
              <a:gd name="adj" fmla="val 2581"/>
            </a:avLst>
          </a:prstGeom>
          <a:solidFill>
            <a:srgbClr val="E7F2F0"/>
          </a:solidFill>
          <a:ln w="12700">
            <a:solidFill>
              <a:srgbClr val="E7F2F0"/>
            </a:solidFill>
            <a:prstDash val="solid"/>
          </a:ln>
          <a:effectLst>
            <a:outerShdw blurRad="101600" dist="12700" dir="5400000" algn="bl" rotWithShape="0">
              <a:srgbClr val="9AA8B5">
                <a:alpha val="16000"/>
              </a:srgbClr>
            </a:outerShdw>
          </a:effectLst>
        </p:spPr>
      </p:sp>
      <p:sp>
        <p:nvSpPr>
          <p:cNvPr id="12" name="Text 10"/>
          <p:cNvSpPr txBox="1"/>
          <p:nvPr/>
        </p:nvSpPr>
        <p:spPr>
          <a:xfrm>
            <a:off x="804672" y="3877056"/>
            <a:ext cx="1581912" cy="1014984"/>
          </a:xfrm>
          <a:prstGeom prst="rect">
            <a:avLst/>
          </a:prstGeom>
          <a:noFill/>
          <a:ln/>
        </p:spPr>
        <p:txBody>
          <a:bodyPr wrap="square" lIns="0" tIns="0" rIns="0" bIns="0" rtlCol="0" anchor="t"/>
          <a:lstStyle/>
          <a:p>
            <a:pPr marL="0" indent="0">
              <a:lnSpc>
                <a:spcPct val="106000"/>
              </a:lnSpc>
              <a:buNone/>
            </a:pPr>
            <a:r>
              <a:rPr lang="en-US" sz="1100" dirty="0">
                <a:solidFill>
                  <a:srgbClr val="1F2933"/>
                </a:solidFill>
                <a:latin typeface="Calibri" pitchFamily="34" charset="0"/>
                <a:ea typeface="Calibri" pitchFamily="34" charset="-122"/>
                <a:cs typeface="Calibri" pitchFamily="34" charset="-120"/>
              </a:rPr>
              <a:t>Actúa como diseñador instruccional de educación de adultos.</a:t>
            </a:r>
            <a:endParaRPr lang="en-US" sz="1100" dirty="0"/>
          </a:p>
        </p:txBody>
      </p:sp>
      <p:sp>
        <p:nvSpPr>
          <p:cNvPr id="13" name="Shape 11"/>
          <p:cNvSpPr/>
          <p:nvPr/>
        </p:nvSpPr>
        <p:spPr>
          <a:xfrm>
            <a:off x="2798064" y="1572768"/>
            <a:ext cx="2057400" cy="1920240"/>
          </a:xfrm>
          <a:prstGeom prst="roundRect">
            <a:avLst>
              <a:gd name="adj" fmla="val 1905"/>
            </a:avLst>
          </a:prstGeom>
          <a:solidFill>
            <a:srgbClr val="F1F4F8"/>
          </a:solidFill>
          <a:ln w="12700">
            <a:solidFill>
              <a:srgbClr val="F1F4F8"/>
            </a:solidFill>
            <a:prstDash val="solid"/>
          </a:ln>
          <a:effectLst>
            <a:outerShdw blurRad="101600" dist="12700" dir="5400000" algn="bl" rotWithShape="0">
              <a:srgbClr val="9AA8B5">
                <a:alpha val="16000"/>
              </a:srgbClr>
            </a:outerShdw>
          </a:effectLst>
        </p:spPr>
      </p:sp>
      <p:sp>
        <p:nvSpPr>
          <p:cNvPr id="14" name="Shape 12"/>
          <p:cNvSpPr/>
          <p:nvPr/>
        </p:nvSpPr>
        <p:spPr>
          <a:xfrm>
            <a:off x="3035808" y="1792224"/>
            <a:ext cx="420624" cy="420624"/>
          </a:xfrm>
          <a:prstGeom prst="ellipse">
            <a:avLst/>
          </a:prstGeom>
          <a:solidFill>
            <a:srgbClr val="2A9D8F"/>
          </a:solidFill>
          <a:ln w="12700">
            <a:solidFill>
              <a:srgbClr val="2A9D8F"/>
            </a:solidFill>
            <a:prstDash val="solid"/>
          </a:ln>
        </p:spPr>
      </p:sp>
      <p:sp>
        <p:nvSpPr>
          <p:cNvPr id="15" name="Text 13"/>
          <p:cNvSpPr txBox="1"/>
          <p:nvPr/>
        </p:nvSpPr>
        <p:spPr>
          <a:xfrm>
            <a:off x="3035808" y="1792224"/>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C</a:t>
            </a:r>
            <a:endParaRPr lang="en-US" sz="1500" dirty="0"/>
          </a:p>
        </p:txBody>
      </p:sp>
      <p:sp>
        <p:nvSpPr>
          <p:cNvPr id="16" name="Text 14"/>
          <p:cNvSpPr txBox="1"/>
          <p:nvPr/>
        </p:nvSpPr>
        <p:spPr>
          <a:xfrm>
            <a:off x="3035808" y="2359152"/>
            <a:ext cx="1581912" cy="310896"/>
          </a:xfrm>
          <a:prstGeom prst="rect">
            <a:avLst/>
          </a:prstGeom>
          <a:noFill/>
          <a:ln/>
        </p:spPr>
        <p:txBody>
          <a:bodyPr wrap="square" lIns="0" tIns="0" rIns="0" bIns="0" rtlCol="0" anchor="t"/>
          <a:lstStyle/>
          <a:p>
            <a:pPr marL="0" indent="0">
              <a:buNone/>
            </a:pPr>
            <a:r>
              <a:rPr lang="en-US" sz="1500" b="1" dirty="0">
                <a:solidFill>
                  <a:srgbClr val="2A9D8F"/>
                </a:solidFill>
                <a:latin typeface="Calibri" pitchFamily="34" charset="0"/>
                <a:ea typeface="Calibri" pitchFamily="34" charset="-122"/>
                <a:cs typeface="Calibri" pitchFamily="34" charset="-120"/>
              </a:rPr>
              <a:t>Contexto</a:t>
            </a:r>
            <a:endParaRPr lang="en-US" sz="1500" dirty="0"/>
          </a:p>
        </p:txBody>
      </p:sp>
      <p:sp>
        <p:nvSpPr>
          <p:cNvPr id="17" name="Text 15"/>
          <p:cNvSpPr txBox="1"/>
          <p:nvPr/>
        </p:nvSpPr>
        <p:spPr>
          <a:xfrm>
            <a:off x="3035808" y="2724912"/>
            <a:ext cx="1581912" cy="585216"/>
          </a:xfrm>
          <a:prstGeom prst="rect">
            <a:avLst/>
          </a:prstGeom>
          <a:noFill/>
          <a:ln/>
        </p:spPr>
        <p:txBody>
          <a:bodyPr wrap="square" lIns="0" tIns="0" rIns="0" bIns="0" rtlCol="0" anchor="t"/>
          <a:lstStyle/>
          <a:p>
            <a:pPr marL="0" indent="0">
              <a:lnSpc>
                <a:spcPct val="106000"/>
              </a:lnSpc>
              <a:buNone/>
            </a:pPr>
            <a:r>
              <a:rPr lang="en-US" sz="1150" dirty="0">
                <a:solidFill>
                  <a:srgbClr val="1F2933"/>
                </a:solidFill>
                <a:latin typeface="Calibri" pitchFamily="34" charset="0"/>
                <a:ea typeface="Calibri" pitchFamily="34" charset="-122"/>
                <a:cs typeface="Calibri" pitchFamily="34" charset="-120"/>
              </a:rPr>
              <a:t>Quién aprende, dónde y con qué restricciones.</a:t>
            </a:r>
            <a:endParaRPr lang="en-US" sz="1150" dirty="0"/>
          </a:p>
        </p:txBody>
      </p:sp>
      <p:sp>
        <p:nvSpPr>
          <p:cNvPr id="18" name="Shape 16"/>
          <p:cNvSpPr/>
          <p:nvPr/>
        </p:nvSpPr>
        <p:spPr>
          <a:xfrm>
            <a:off x="2798064" y="3657600"/>
            <a:ext cx="2057400" cy="1417320"/>
          </a:xfrm>
          <a:prstGeom prst="roundRect">
            <a:avLst>
              <a:gd name="adj" fmla="val 2581"/>
            </a:avLst>
          </a:prstGeom>
          <a:solidFill>
            <a:srgbClr val="E7F2F0"/>
          </a:solidFill>
          <a:ln w="12700">
            <a:solidFill>
              <a:srgbClr val="E7F2F0"/>
            </a:solidFill>
            <a:prstDash val="solid"/>
          </a:ln>
          <a:effectLst>
            <a:outerShdw blurRad="101600" dist="12700" dir="5400000" algn="bl" rotWithShape="0">
              <a:srgbClr val="9AA8B5">
                <a:alpha val="16000"/>
              </a:srgbClr>
            </a:outerShdw>
          </a:effectLst>
        </p:spPr>
      </p:sp>
      <p:sp>
        <p:nvSpPr>
          <p:cNvPr id="19" name="Text 17"/>
          <p:cNvSpPr txBox="1"/>
          <p:nvPr/>
        </p:nvSpPr>
        <p:spPr>
          <a:xfrm>
            <a:off x="3035808" y="3877056"/>
            <a:ext cx="1581912" cy="1014984"/>
          </a:xfrm>
          <a:prstGeom prst="rect">
            <a:avLst/>
          </a:prstGeom>
          <a:noFill/>
          <a:ln/>
        </p:spPr>
        <p:txBody>
          <a:bodyPr wrap="square" lIns="0" tIns="0" rIns="0" bIns="0" rtlCol="0" anchor="t"/>
          <a:lstStyle/>
          <a:p>
            <a:pPr marL="0" indent="0">
              <a:lnSpc>
                <a:spcPct val="106000"/>
              </a:lnSpc>
              <a:buNone/>
            </a:pPr>
            <a:r>
              <a:rPr lang="en-US" sz="1100" dirty="0">
                <a:solidFill>
                  <a:srgbClr val="1F2933"/>
                </a:solidFill>
                <a:latin typeface="Calibri" pitchFamily="34" charset="0"/>
                <a:ea typeface="Calibri" pitchFamily="34" charset="-122"/>
                <a:cs typeface="Calibri" pitchFamily="34" charset="-120"/>
              </a:rPr>
              <a:t>Adultos de un programa WIOA en Ponce, con conectividad intermitente.</a:t>
            </a:r>
            <a:endParaRPr lang="en-US" sz="1100" dirty="0"/>
          </a:p>
        </p:txBody>
      </p:sp>
      <p:sp>
        <p:nvSpPr>
          <p:cNvPr id="20" name="Shape 18"/>
          <p:cNvSpPr/>
          <p:nvPr/>
        </p:nvSpPr>
        <p:spPr>
          <a:xfrm>
            <a:off x="5029200" y="1572768"/>
            <a:ext cx="2057400" cy="1920240"/>
          </a:xfrm>
          <a:prstGeom prst="roundRect">
            <a:avLst>
              <a:gd name="adj" fmla="val 1905"/>
            </a:avLst>
          </a:prstGeom>
          <a:solidFill>
            <a:srgbClr val="F1F4F8"/>
          </a:solidFill>
          <a:ln w="12700">
            <a:solidFill>
              <a:srgbClr val="F1F4F8"/>
            </a:solidFill>
            <a:prstDash val="solid"/>
          </a:ln>
          <a:effectLst>
            <a:outerShdw blurRad="101600" dist="12700" dir="5400000" algn="bl" rotWithShape="0">
              <a:srgbClr val="9AA8B5">
                <a:alpha val="16000"/>
              </a:srgbClr>
            </a:outerShdw>
          </a:effectLst>
        </p:spPr>
      </p:sp>
      <p:sp>
        <p:nvSpPr>
          <p:cNvPr id="21" name="Shape 19"/>
          <p:cNvSpPr/>
          <p:nvPr/>
        </p:nvSpPr>
        <p:spPr>
          <a:xfrm>
            <a:off x="5266944" y="1792224"/>
            <a:ext cx="420624" cy="420624"/>
          </a:xfrm>
          <a:prstGeom prst="ellipse">
            <a:avLst/>
          </a:prstGeom>
          <a:solidFill>
            <a:srgbClr val="C9A227"/>
          </a:solidFill>
          <a:ln w="12700">
            <a:solidFill>
              <a:srgbClr val="C9A227"/>
            </a:solidFill>
            <a:prstDash val="solid"/>
          </a:ln>
        </p:spPr>
      </p:sp>
      <p:sp>
        <p:nvSpPr>
          <p:cNvPr id="22" name="Text 20"/>
          <p:cNvSpPr txBox="1"/>
          <p:nvPr/>
        </p:nvSpPr>
        <p:spPr>
          <a:xfrm>
            <a:off x="5266944" y="1792224"/>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T</a:t>
            </a:r>
            <a:endParaRPr lang="en-US" sz="1500" dirty="0"/>
          </a:p>
        </p:txBody>
      </p:sp>
      <p:sp>
        <p:nvSpPr>
          <p:cNvPr id="23" name="Text 21"/>
          <p:cNvSpPr txBox="1"/>
          <p:nvPr/>
        </p:nvSpPr>
        <p:spPr>
          <a:xfrm>
            <a:off x="5266944" y="2359152"/>
            <a:ext cx="1581912" cy="310896"/>
          </a:xfrm>
          <a:prstGeom prst="rect">
            <a:avLst/>
          </a:prstGeom>
          <a:noFill/>
          <a:ln/>
        </p:spPr>
        <p:txBody>
          <a:bodyPr wrap="square" lIns="0" tIns="0" rIns="0" bIns="0" rtlCol="0" anchor="t"/>
          <a:lstStyle/>
          <a:p>
            <a:pPr marL="0" indent="0">
              <a:buNone/>
            </a:pPr>
            <a:r>
              <a:rPr lang="en-US" sz="1500" b="1" dirty="0">
                <a:solidFill>
                  <a:srgbClr val="C9A227"/>
                </a:solidFill>
                <a:latin typeface="Calibri" pitchFamily="34" charset="0"/>
                <a:ea typeface="Calibri" pitchFamily="34" charset="-122"/>
                <a:cs typeface="Calibri" pitchFamily="34" charset="-120"/>
              </a:rPr>
              <a:t>Tarea</a:t>
            </a:r>
            <a:endParaRPr lang="en-US" sz="1500" dirty="0"/>
          </a:p>
        </p:txBody>
      </p:sp>
      <p:sp>
        <p:nvSpPr>
          <p:cNvPr id="24" name="Text 22"/>
          <p:cNvSpPr txBox="1"/>
          <p:nvPr/>
        </p:nvSpPr>
        <p:spPr>
          <a:xfrm>
            <a:off x="5266944" y="2724912"/>
            <a:ext cx="1581912" cy="585216"/>
          </a:xfrm>
          <a:prstGeom prst="rect">
            <a:avLst/>
          </a:prstGeom>
          <a:noFill/>
          <a:ln/>
        </p:spPr>
        <p:txBody>
          <a:bodyPr wrap="square" lIns="0" tIns="0" rIns="0" bIns="0" rtlCol="0" anchor="t"/>
          <a:lstStyle/>
          <a:p>
            <a:pPr marL="0" indent="0">
              <a:lnSpc>
                <a:spcPct val="106000"/>
              </a:lnSpc>
              <a:buNone/>
            </a:pPr>
            <a:r>
              <a:rPr lang="en-US" sz="1150" dirty="0">
                <a:solidFill>
                  <a:srgbClr val="1F2933"/>
                </a:solidFill>
                <a:latin typeface="Calibri" pitchFamily="34" charset="0"/>
                <a:ea typeface="Calibri" pitchFamily="34" charset="-122"/>
                <a:cs typeface="Calibri" pitchFamily="34" charset="-120"/>
              </a:rPr>
              <a:t>Qué debe producir, con qué límites.</a:t>
            </a:r>
            <a:endParaRPr lang="en-US" sz="1150" dirty="0"/>
          </a:p>
        </p:txBody>
      </p:sp>
      <p:sp>
        <p:nvSpPr>
          <p:cNvPr id="25" name="Shape 23"/>
          <p:cNvSpPr/>
          <p:nvPr/>
        </p:nvSpPr>
        <p:spPr>
          <a:xfrm>
            <a:off x="5029200" y="3657600"/>
            <a:ext cx="2057400" cy="1417320"/>
          </a:xfrm>
          <a:prstGeom prst="roundRect">
            <a:avLst>
              <a:gd name="adj" fmla="val 2581"/>
            </a:avLst>
          </a:prstGeom>
          <a:solidFill>
            <a:srgbClr val="E7F2F0"/>
          </a:solidFill>
          <a:ln w="12700">
            <a:solidFill>
              <a:srgbClr val="E7F2F0"/>
            </a:solidFill>
            <a:prstDash val="solid"/>
          </a:ln>
          <a:effectLst>
            <a:outerShdw blurRad="101600" dist="12700" dir="5400000" algn="bl" rotWithShape="0">
              <a:srgbClr val="9AA8B5">
                <a:alpha val="16000"/>
              </a:srgbClr>
            </a:outerShdw>
          </a:effectLst>
        </p:spPr>
      </p:sp>
      <p:sp>
        <p:nvSpPr>
          <p:cNvPr id="26" name="Text 24"/>
          <p:cNvSpPr txBox="1"/>
          <p:nvPr/>
        </p:nvSpPr>
        <p:spPr>
          <a:xfrm>
            <a:off x="5266944" y="3877056"/>
            <a:ext cx="1581912" cy="1014984"/>
          </a:xfrm>
          <a:prstGeom prst="rect">
            <a:avLst/>
          </a:prstGeom>
          <a:noFill/>
          <a:ln/>
        </p:spPr>
        <p:txBody>
          <a:bodyPr wrap="square" lIns="0" tIns="0" rIns="0" bIns="0" rtlCol="0" anchor="t"/>
          <a:lstStyle/>
          <a:p>
            <a:pPr marL="0" indent="0">
              <a:lnSpc>
                <a:spcPct val="106000"/>
              </a:lnSpc>
              <a:buNone/>
            </a:pPr>
            <a:r>
              <a:rPr lang="en-US" sz="1100" dirty="0">
                <a:solidFill>
                  <a:srgbClr val="1F2933"/>
                </a:solidFill>
                <a:latin typeface="Calibri" pitchFamily="34" charset="0"/>
                <a:ea typeface="Calibri" pitchFamily="34" charset="-122"/>
                <a:cs typeface="Calibri" pitchFamily="34" charset="-120"/>
              </a:rPr>
              <a:t>Redacta el guion de una cápsula de 10 minutos sobre suma de fracciones.</a:t>
            </a:r>
            <a:endParaRPr lang="en-US" sz="1100" dirty="0"/>
          </a:p>
        </p:txBody>
      </p:sp>
      <p:sp>
        <p:nvSpPr>
          <p:cNvPr id="27" name="Shape 25"/>
          <p:cNvSpPr/>
          <p:nvPr/>
        </p:nvSpPr>
        <p:spPr>
          <a:xfrm>
            <a:off x="7260336" y="1572768"/>
            <a:ext cx="2057400" cy="1920240"/>
          </a:xfrm>
          <a:prstGeom prst="roundRect">
            <a:avLst>
              <a:gd name="adj" fmla="val 1905"/>
            </a:avLst>
          </a:prstGeom>
          <a:solidFill>
            <a:srgbClr val="F1F4F8"/>
          </a:solidFill>
          <a:ln w="12700">
            <a:solidFill>
              <a:srgbClr val="F1F4F8"/>
            </a:solidFill>
            <a:prstDash val="solid"/>
          </a:ln>
          <a:effectLst>
            <a:outerShdw blurRad="101600" dist="12700" dir="5400000" algn="bl" rotWithShape="0">
              <a:srgbClr val="9AA8B5">
                <a:alpha val="16000"/>
              </a:srgbClr>
            </a:outerShdw>
          </a:effectLst>
        </p:spPr>
      </p:sp>
      <p:sp>
        <p:nvSpPr>
          <p:cNvPr id="28" name="Shape 26"/>
          <p:cNvSpPr/>
          <p:nvPr/>
        </p:nvSpPr>
        <p:spPr>
          <a:xfrm>
            <a:off x="7498080" y="1792224"/>
            <a:ext cx="420624" cy="420624"/>
          </a:xfrm>
          <a:prstGeom prst="ellipse">
            <a:avLst/>
          </a:prstGeom>
          <a:solidFill>
            <a:srgbClr val="1F3864"/>
          </a:solidFill>
          <a:ln w="12700">
            <a:solidFill>
              <a:srgbClr val="1F3864"/>
            </a:solidFill>
            <a:prstDash val="solid"/>
          </a:ln>
        </p:spPr>
      </p:sp>
      <p:sp>
        <p:nvSpPr>
          <p:cNvPr id="29" name="Text 27"/>
          <p:cNvSpPr txBox="1"/>
          <p:nvPr/>
        </p:nvSpPr>
        <p:spPr>
          <a:xfrm>
            <a:off x="7498080" y="1792224"/>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T</a:t>
            </a:r>
            <a:endParaRPr lang="en-US" sz="1500" dirty="0"/>
          </a:p>
        </p:txBody>
      </p:sp>
      <p:sp>
        <p:nvSpPr>
          <p:cNvPr id="30" name="Text 28"/>
          <p:cNvSpPr txBox="1"/>
          <p:nvPr/>
        </p:nvSpPr>
        <p:spPr>
          <a:xfrm>
            <a:off x="7498080" y="2359152"/>
            <a:ext cx="1581912" cy="310896"/>
          </a:xfrm>
          <a:prstGeom prst="rect">
            <a:avLst/>
          </a:prstGeom>
          <a:noFill/>
          <a:ln/>
        </p:spPr>
        <p:txBody>
          <a:bodyPr wrap="square" lIns="0" tIns="0" rIns="0" bIns="0" rtlCol="0" anchor="t"/>
          <a:lstStyle/>
          <a:p>
            <a:pPr marL="0" indent="0">
              <a:buNone/>
            </a:pPr>
            <a:r>
              <a:rPr lang="en-US" sz="1500" b="1" dirty="0">
                <a:solidFill>
                  <a:srgbClr val="1F3864"/>
                </a:solidFill>
                <a:latin typeface="Calibri" pitchFamily="34" charset="0"/>
                <a:ea typeface="Calibri" pitchFamily="34" charset="-122"/>
                <a:cs typeface="Calibri" pitchFamily="34" charset="-120"/>
              </a:rPr>
              <a:t>Tono</a:t>
            </a:r>
            <a:endParaRPr lang="en-US" sz="1500" dirty="0"/>
          </a:p>
        </p:txBody>
      </p:sp>
      <p:sp>
        <p:nvSpPr>
          <p:cNvPr id="31" name="Text 29"/>
          <p:cNvSpPr txBox="1"/>
          <p:nvPr/>
        </p:nvSpPr>
        <p:spPr>
          <a:xfrm>
            <a:off x="7498080" y="2724912"/>
            <a:ext cx="1581912" cy="585216"/>
          </a:xfrm>
          <a:prstGeom prst="rect">
            <a:avLst/>
          </a:prstGeom>
          <a:noFill/>
          <a:ln/>
        </p:spPr>
        <p:txBody>
          <a:bodyPr wrap="square" lIns="0" tIns="0" rIns="0" bIns="0" rtlCol="0" anchor="t"/>
          <a:lstStyle/>
          <a:p>
            <a:pPr marL="0" indent="0">
              <a:lnSpc>
                <a:spcPct val="106000"/>
              </a:lnSpc>
              <a:buNone/>
            </a:pPr>
            <a:r>
              <a:rPr lang="en-US" sz="1150" dirty="0">
                <a:solidFill>
                  <a:srgbClr val="1F2933"/>
                </a:solidFill>
                <a:latin typeface="Calibri" pitchFamily="34" charset="0"/>
                <a:ea typeface="Calibri" pitchFamily="34" charset="-122"/>
                <a:cs typeface="Calibri" pitchFamily="34" charset="-120"/>
              </a:rPr>
              <a:t>Con qué registro y nivel de lenguaje.</a:t>
            </a:r>
            <a:endParaRPr lang="en-US" sz="1150" dirty="0"/>
          </a:p>
        </p:txBody>
      </p:sp>
      <p:sp>
        <p:nvSpPr>
          <p:cNvPr id="32" name="Shape 30"/>
          <p:cNvSpPr/>
          <p:nvPr/>
        </p:nvSpPr>
        <p:spPr>
          <a:xfrm>
            <a:off x="7260336" y="3657600"/>
            <a:ext cx="2057400" cy="1417320"/>
          </a:xfrm>
          <a:prstGeom prst="roundRect">
            <a:avLst>
              <a:gd name="adj" fmla="val 2581"/>
            </a:avLst>
          </a:prstGeom>
          <a:solidFill>
            <a:srgbClr val="E7F2F0"/>
          </a:solidFill>
          <a:ln w="12700">
            <a:solidFill>
              <a:srgbClr val="E7F2F0"/>
            </a:solidFill>
            <a:prstDash val="solid"/>
          </a:ln>
          <a:effectLst>
            <a:outerShdw blurRad="101600" dist="12700" dir="5400000" algn="bl" rotWithShape="0">
              <a:srgbClr val="9AA8B5">
                <a:alpha val="16000"/>
              </a:srgbClr>
            </a:outerShdw>
          </a:effectLst>
        </p:spPr>
      </p:sp>
      <p:sp>
        <p:nvSpPr>
          <p:cNvPr id="33" name="Text 31"/>
          <p:cNvSpPr txBox="1"/>
          <p:nvPr/>
        </p:nvSpPr>
        <p:spPr>
          <a:xfrm>
            <a:off x="7498080" y="3877056"/>
            <a:ext cx="1581912" cy="1014984"/>
          </a:xfrm>
          <a:prstGeom prst="rect">
            <a:avLst/>
          </a:prstGeom>
          <a:noFill/>
          <a:ln/>
        </p:spPr>
        <p:txBody>
          <a:bodyPr wrap="square" lIns="0" tIns="0" rIns="0" bIns="0" rtlCol="0" anchor="t"/>
          <a:lstStyle/>
          <a:p>
            <a:pPr marL="0" indent="0">
              <a:lnSpc>
                <a:spcPct val="106000"/>
              </a:lnSpc>
              <a:buNone/>
            </a:pPr>
            <a:r>
              <a:rPr lang="en-US" sz="1100" dirty="0">
                <a:solidFill>
                  <a:srgbClr val="1F2933"/>
                </a:solidFill>
                <a:latin typeface="Calibri" pitchFamily="34" charset="0"/>
                <a:ea typeface="Calibri" pitchFamily="34" charset="-122"/>
                <a:cs typeface="Calibri" pitchFamily="34" charset="-120"/>
              </a:rPr>
              <a:t>Lenguaje llano, en español de Puerto Rico, sin tecnicismos innecesarios.</a:t>
            </a:r>
            <a:endParaRPr lang="en-US" sz="1100" dirty="0"/>
          </a:p>
        </p:txBody>
      </p:sp>
      <p:sp>
        <p:nvSpPr>
          <p:cNvPr id="34" name="Shape 32"/>
          <p:cNvSpPr/>
          <p:nvPr/>
        </p:nvSpPr>
        <p:spPr>
          <a:xfrm>
            <a:off x="9491472" y="1572768"/>
            <a:ext cx="2057400" cy="1920240"/>
          </a:xfrm>
          <a:prstGeom prst="roundRect">
            <a:avLst>
              <a:gd name="adj" fmla="val 1905"/>
            </a:avLst>
          </a:prstGeom>
          <a:solidFill>
            <a:srgbClr val="F1F4F8"/>
          </a:solidFill>
          <a:ln w="12700">
            <a:solidFill>
              <a:srgbClr val="F1F4F8"/>
            </a:solidFill>
            <a:prstDash val="solid"/>
          </a:ln>
          <a:effectLst>
            <a:outerShdw blurRad="101600" dist="12700" dir="5400000" algn="bl" rotWithShape="0">
              <a:srgbClr val="9AA8B5">
                <a:alpha val="16000"/>
              </a:srgbClr>
            </a:outerShdw>
          </a:effectLst>
        </p:spPr>
      </p:sp>
      <p:sp>
        <p:nvSpPr>
          <p:cNvPr id="35" name="Shape 33"/>
          <p:cNvSpPr/>
          <p:nvPr/>
        </p:nvSpPr>
        <p:spPr>
          <a:xfrm>
            <a:off x="9729216" y="1792224"/>
            <a:ext cx="420624" cy="420624"/>
          </a:xfrm>
          <a:prstGeom prst="ellipse">
            <a:avLst/>
          </a:prstGeom>
          <a:solidFill>
            <a:srgbClr val="1F7A6F"/>
          </a:solidFill>
          <a:ln w="12700">
            <a:solidFill>
              <a:srgbClr val="1F7A6F"/>
            </a:solidFill>
            <a:prstDash val="solid"/>
          </a:ln>
        </p:spPr>
      </p:sp>
      <p:sp>
        <p:nvSpPr>
          <p:cNvPr id="36" name="Text 34"/>
          <p:cNvSpPr txBox="1"/>
          <p:nvPr/>
        </p:nvSpPr>
        <p:spPr>
          <a:xfrm>
            <a:off x="9729216" y="1792224"/>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F</a:t>
            </a:r>
            <a:endParaRPr lang="en-US" sz="1500" dirty="0"/>
          </a:p>
        </p:txBody>
      </p:sp>
      <p:sp>
        <p:nvSpPr>
          <p:cNvPr id="37" name="Text 35"/>
          <p:cNvSpPr txBox="1"/>
          <p:nvPr/>
        </p:nvSpPr>
        <p:spPr>
          <a:xfrm>
            <a:off x="9729216" y="2359152"/>
            <a:ext cx="1581912" cy="310896"/>
          </a:xfrm>
          <a:prstGeom prst="rect">
            <a:avLst/>
          </a:prstGeom>
          <a:noFill/>
          <a:ln/>
        </p:spPr>
        <p:txBody>
          <a:bodyPr wrap="square" lIns="0" tIns="0" rIns="0" bIns="0" rtlCol="0" anchor="t"/>
          <a:lstStyle/>
          <a:p>
            <a:pPr marL="0" indent="0">
              <a:buNone/>
            </a:pPr>
            <a:r>
              <a:rPr lang="en-US" sz="1500" b="1" dirty="0">
                <a:solidFill>
                  <a:srgbClr val="1F7A6F"/>
                </a:solidFill>
                <a:latin typeface="Calibri" pitchFamily="34" charset="0"/>
                <a:ea typeface="Calibri" pitchFamily="34" charset="-122"/>
                <a:cs typeface="Calibri" pitchFamily="34" charset="-120"/>
              </a:rPr>
              <a:t>Formato</a:t>
            </a:r>
            <a:endParaRPr lang="en-US" sz="1500" dirty="0"/>
          </a:p>
        </p:txBody>
      </p:sp>
      <p:sp>
        <p:nvSpPr>
          <p:cNvPr id="38" name="Text 36"/>
          <p:cNvSpPr txBox="1"/>
          <p:nvPr/>
        </p:nvSpPr>
        <p:spPr>
          <a:xfrm>
            <a:off x="9729216" y="2724912"/>
            <a:ext cx="1581912" cy="585216"/>
          </a:xfrm>
          <a:prstGeom prst="rect">
            <a:avLst/>
          </a:prstGeom>
          <a:noFill/>
          <a:ln/>
        </p:spPr>
        <p:txBody>
          <a:bodyPr wrap="square" lIns="0" tIns="0" rIns="0" bIns="0" rtlCol="0" anchor="t"/>
          <a:lstStyle/>
          <a:p>
            <a:pPr marL="0" indent="0">
              <a:lnSpc>
                <a:spcPct val="106000"/>
              </a:lnSpc>
              <a:buNone/>
            </a:pPr>
            <a:r>
              <a:rPr lang="en-US" sz="1150" dirty="0">
                <a:solidFill>
                  <a:srgbClr val="1F2933"/>
                </a:solidFill>
                <a:latin typeface="Calibri" pitchFamily="34" charset="0"/>
                <a:ea typeface="Calibri" pitchFamily="34" charset="-122"/>
                <a:cs typeface="Calibri" pitchFamily="34" charset="-120"/>
              </a:rPr>
              <a:t>En qué estructura debe entregarlo.</a:t>
            </a:r>
            <a:endParaRPr lang="en-US" sz="1150" dirty="0"/>
          </a:p>
        </p:txBody>
      </p:sp>
      <p:sp>
        <p:nvSpPr>
          <p:cNvPr id="39" name="Shape 37"/>
          <p:cNvSpPr/>
          <p:nvPr/>
        </p:nvSpPr>
        <p:spPr>
          <a:xfrm>
            <a:off x="9491472" y="3657600"/>
            <a:ext cx="2057400" cy="1417320"/>
          </a:xfrm>
          <a:prstGeom prst="roundRect">
            <a:avLst>
              <a:gd name="adj" fmla="val 2581"/>
            </a:avLst>
          </a:prstGeom>
          <a:solidFill>
            <a:srgbClr val="E7F2F0"/>
          </a:solidFill>
          <a:ln w="12700">
            <a:solidFill>
              <a:srgbClr val="E7F2F0"/>
            </a:solidFill>
            <a:prstDash val="solid"/>
          </a:ln>
          <a:effectLst>
            <a:outerShdw blurRad="101600" dist="12700" dir="5400000" algn="bl" rotWithShape="0">
              <a:srgbClr val="9AA8B5">
                <a:alpha val="16000"/>
              </a:srgbClr>
            </a:outerShdw>
          </a:effectLst>
        </p:spPr>
      </p:sp>
      <p:sp>
        <p:nvSpPr>
          <p:cNvPr id="40" name="Text 38"/>
          <p:cNvSpPr txBox="1"/>
          <p:nvPr/>
        </p:nvSpPr>
        <p:spPr>
          <a:xfrm>
            <a:off x="9729216" y="3877056"/>
            <a:ext cx="1581912" cy="1014984"/>
          </a:xfrm>
          <a:prstGeom prst="rect">
            <a:avLst/>
          </a:prstGeom>
          <a:noFill/>
          <a:ln/>
        </p:spPr>
        <p:txBody>
          <a:bodyPr wrap="square" lIns="0" tIns="0" rIns="0" bIns="0" rtlCol="0" anchor="t"/>
          <a:lstStyle/>
          <a:p>
            <a:pPr marL="0" indent="0">
              <a:lnSpc>
                <a:spcPct val="106000"/>
              </a:lnSpc>
              <a:buNone/>
            </a:pPr>
            <a:r>
              <a:rPr lang="en-US" sz="1100" dirty="0">
                <a:solidFill>
                  <a:srgbClr val="1F2933"/>
                </a:solidFill>
                <a:latin typeface="Calibri" pitchFamily="34" charset="0"/>
                <a:ea typeface="Calibri" pitchFamily="34" charset="-122"/>
                <a:cs typeface="Calibri" pitchFamily="34" charset="-120"/>
              </a:rPr>
              <a:t>Tabla con los cinco momentos, su duración y el texto de cada uno.</a:t>
            </a:r>
            <a:endParaRPr lang="en-US" sz="1100" dirty="0"/>
          </a:p>
        </p:txBody>
      </p:sp>
      <p:sp>
        <p:nvSpPr>
          <p:cNvPr id="41" name="Shape 39"/>
          <p:cNvSpPr/>
          <p:nvPr/>
        </p:nvSpPr>
        <p:spPr>
          <a:xfrm>
            <a:off x="566928" y="5285232"/>
            <a:ext cx="11055096" cy="749808"/>
          </a:xfrm>
          <a:prstGeom prst="roundRect">
            <a:avLst>
              <a:gd name="adj" fmla="val 6098"/>
            </a:avLst>
          </a:prstGeom>
          <a:solidFill>
            <a:srgbClr val="1B2A4A"/>
          </a:solidFill>
          <a:ln w="12700">
            <a:solidFill>
              <a:srgbClr val="1B2A4A"/>
            </a:solidFill>
            <a:prstDash val="solid"/>
          </a:ln>
        </p:spPr>
      </p:sp>
      <p:sp>
        <p:nvSpPr>
          <p:cNvPr id="42" name="Text 40"/>
          <p:cNvSpPr txBox="1"/>
          <p:nvPr/>
        </p:nvSpPr>
        <p:spPr>
          <a:xfrm>
            <a:off x="932688" y="5394960"/>
            <a:ext cx="10323576" cy="530352"/>
          </a:xfrm>
          <a:prstGeom prst="rect">
            <a:avLst/>
          </a:prstGeom>
          <a:noFill/>
          <a:ln/>
        </p:spPr>
        <p:txBody>
          <a:bodyPr wrap="square" lIns="0" tIns="0" rIns="0" bIns="0" rtlCol="0" anchor="ctr"/>
          <a:lstStyle/>
          <a:p>
            <a:pPr marL="0" indent="0" algn="ctr">
              <a:buNone/>
            </a:pPr>
            <a:r>
              <a:rPr lang="en-US" sz="1450" b="1" dirty="0">
                <a:solidFill>
                  <a:srgbClr val="FFFFFF"/>
                </a:solidFill>
                <a:latin typeface="Cambria" pitchFamily="34" charset="0"/>
                <a:ea typeface="Cambria" pitchFamily="34" charset="-122"/>
                <a:cs typeface="Cambria" pitchFamily="34" charset="-120"/>
              </a:rPr>
              <a:t>En microaprendizaje, la precisión del prompt es la brevedad útil del producto: si no acoto, la IA devuelve una lección, no una cápsula.  ·  Modelo RC-TTF (Corraliza Montero, 2024)</a:t>
            </a:r>
            <a:endParaRPr lang="en-US" sz="14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29184"/>
            <a:ext cx="11055096" cy="256032"/>
          </a:xfrm>
          <a:prstGeom prst="rect">
            <a:avLst/>
          </a:prstGeom>
          <a:noFill/>
          <a:ln/>
        </p:spPr>
        <p:txBody>
          <a:bodyPr wrap="square" lIns="0" tIns="0" rIns="0" bIns="0" rtlCol="0" anchor="ctr"/>
          <a:lstStyle/>
          <a:p>
            <a:pPr marL="0" indent="0">
              <a:buNone/>
            </a:pPr>
            <a:r>
              <a:rPr lang="en-US" sz="1100" b="1" kern="0" spc="160" dirty="0">
                <a:solidFill>
                  <a:srgbClr val="2A9D8F"/>
                </a:solidFill>
                <a:latin typeface="Calibri" pitchFamily="34" charset="0"/>
                <a:ea typeface="Calibri" pitchFamily="34" charset="-122"/>
                <a:cs typeface="Calibri" pitchFamily="34" charset="-120"/>
              </a:rPr>
              <a:t>PROMPT MODELADO 1</a:t>
            </a:r>
            <a:endParaRPr lang="en-US" sz="1100" dirty="0"/>
          </a:p>
        </p:txBody>
      </p:sp>
      <p:sp>
        <p:nvSpPr>
          <p:cNvPr id="3" name="Text 1"/>
          <p:cNvSpPr txBox="1"/>
          <p:nvPr/>
        </p:nvSpPr>
        <p:spPr>
          <a:xfrm>
            <a:off x="566928" y="603504"/>
            <a:ext cx="11055096" cy="749808"/>
          </a:xfrm>
          <a:prstGeom prst="rect">
            <a:avLst/>
          </a:prstGeom>
          <a:noFill/>
          <a:ln/>
        </p:spPr>
        <p:txBody>
          <a:bodyPr wrap="square" lIns="0" tIns="0" rIns="0" bIns="0" rtlCol="0" anchor="t"/>
          <a:lstStyle/>
          <a:p>
            <a:pPr marL="0" indent="0">
              <a:buNone/>
            </a:pPr>
            <a:r>
              <a:rPr lang="en-US" sz="2900" b="1" dirty="0">
                <a:solidFill>
                  <a:srgbClr val="1B2A4A"/>
                </a:solidFill>
                <a:latin typeface="Cambria" pitchFamily="34" charset="0"/>
                <a:ea typeface="Cambria" pitchFamily="34" charset="-122"/>
                <a:cs typeface="Cambria" pitchFamily="34" charset="-120"/>
              </a:rPr>
              <a:t>Generar el guion de una cápsula de diez minutos</a:t>
            </a:r>
            <a:endParaRPr lang="en-US" sz="2900" dirty="0"/>
          </a:p>
        </p:txBody>
      </p:sp>
      <p:sp>
        <p:nvSpPr>
          <p:cNvPr id="4" name="Text 2"/>
          <p:cNvSpPr txBox="1"/>
          <p:nvPr/>
        </p:nvSpPr>
        <p:spPr>
          <a:xfrm>
            <a:off x="566928" y="6428232"/>
            <a:ext cx="7863840" cy="256032"/>
          </a:xfrm>
          <a:prstGeom prst="rect">
            <a:avLst/>
          </a:prstGeom>
          <a:noFill/>
          <a:ln/>
        </p:spPr>
        <p:txBody>
          <a:bodyPr wrap="square" lIns="0" tIns="0" rIns="0" bIns="0" rtlCol="0" anchor="ctr"/>
          <a:lstStyle/>
          <a:p>
            <a:pPr marL="0" indent="0">
              <a:buNone/>
            </a:pPr>
            <a:r>
              <a:rPr lang="en-US" sz="900" dirty="0">
                <a:solidFill>
                  <a:srgbClr val="5B6B7B"/>
                </a:solidFill>
                <a:latin typeface="Calibri" pitchFamily="34" charset="0"/>
                <a:ea typeface="Calibri" pitchFamily="34" charset="-122"/>
                <a:cs typeface="Calibri" pitchFamily="34" charset="-120"/>
              </a:rPr>
              <a:t>Microaprendizaje para adultos  ·  Proyecto RUTA — Inter Ponce</a:t>
            </a:r>
            <a:endParaRPr lang="en-US" sz="900" dirty="0"/>
          </a:p>
        </p:txBody>
      </p:sp>
      <p:sp>
        <p:nvSpPr>
          <p:cNvPr id="5" name="Text 3"/>
          <p:cNvSpPr txBox="1"/>
          <p:nvPr/>
        </p:nvSpPr>
        <p:spPr>
          <a:xfrm>
            <a:off x="10972800" y="6428232"/>
            <a:ext cx="649224" cy="256032"/>
          </a:xfrm>
          <a:prstGeom prst="rect">
            <a:avLst/>
          </a:prstGeom>
          <a:noFill/>
          <a:ln/>
        </p:spPr>
        <p:txBody>
          <a:bodyPr wrap="square" lIns="0" tIns="0" rIns="0" bIns="0" rtlCol="0" anchor="ctr"/>
          <a:lstStyle/>
          <a:p>
            <a:pPr marL="0" indent="0" algn="r">
              <a:buNone/>
            </a:pPr>
            <a:r>
              <a:rPr lang="en-US" sz="900" dirty="0">
                <a:solidFill>
                  <a:srgbClr val="5B6B7B"/>
                </a:solidFill>
                <a:latin typeface="Calibri" pitchFamily="34" charset="0"/>
                <a:ea typeface="Calibri" pitchFamily="34" charset="-122"/>
                <a:cs typeface="Calibri" pitchFamily="34" charset="-120"/>
              </a:rPr>
              <a:t>39</a:t>
            </a:r>
            <a:endParaRPr lang="en-US" sz="900" dirty="0"/>
          </a:p>
        </p:txBody>
      </p:sp>
      <p:sp>
        <p:nvSpPr>
          <p:cNvPr id="6" name="Shape 4"/>
          <p:cNvSpPr/>
          <p:nvPr/>
        </p:nvSpPr>
        <p:spPr>
          <a:xfrm>
            <a:off x="566928" y="1572768"/>
            <a:ext cx="6903720" cy="4169664"/>
          </a:xfrm>
          <a:prstGeom prst="roundRect">
            <a:avLst>
              <a:gd name="adj" fmla="val 877"/>
            </a:avLst>
          </a:prstGeom>
          <a:solidFill>
            <a:srgbClr val="12203A"/>
          </a:solidFill>
          <a:ln w="12700">
            <a:solidFill>
              <a:srgbClr val="12203A"/>
            </a:solidFill>
            <a:prstDash val="solid"/>
          </a:ln>
        </p:spPr>
      </p:sp>
      <p:sp>
        <p:nvSpPr>
          <p:cNvPr id="7" name="Text 5"/>
          <p:cNvSpPr txBox="1"/>
          <p:nvPr/>
        </p:nvSpPr>
        <p:spPr>
          <a:xfrm>
            <a:off x="804672" y="1719072"/>
            <a:ext cx="6428232" cy="237744"/>
          </a:xfrm>
          <a:prstGeom prst="rect">
            <a:avLst/>
          </a:prstGeom>
          <a:noFill/>
          <a:ln/>
        </p:spPr>
        <p:txBody>
          <a:bodyPr wrap="square" lIns="0" tIns="0" rIns="0" bIns="0" rtlCol="0" anchor="ctr"/>
          <a:lstStyle/>
          <a:p>
            <a:pPr marL="0" indent="0">
              <a:buNone/>
            </a:pPr>
            <a:r>
              <a:rPr lang="en-US" sz="1050" b="1" kern="0" spc="120" dirty="0">
                <a:solidFill>
                  <a:srgbClr val="C9A84C"/>
                </a:solidFill>
                <a:latin typeface="Calibri" pitchFamily="34" charset="0"/>
                <a:ea typeface="Calibri" pitchFamily="34" charset="-122"/>
                <a:cs typeface="Calibri" pitchFamily="34" charset="-120"/>
              </a:rPr>
              <a:t>PROMPT RC-TTF</a:t>
            </a:r>
            <a:endParaRPr lang="en-US" sz="1050" dirty="0"/>
          </a:p>
        </p:txBody>
      </p:sp>
      <p:sp>
        <p:nvSpPr>
          <p:cNvPr id="8" name="Text 6"/>
          <p:cNvSpPr txBox="1"/>
          <p:nvPr/>
        </p:nvSpPr>
        <p:spPr>
          <a:xfrm>
            <a:off x="804672" y="1993392"/>
            <a:ext cx="6428232" cy="3566160"/>
          </a:xfrm>
          <a:prstGeom prst="rect">
            <a:avLst/>
          </a:prstGeom>
          <a:noFill/>
          <a:ln/>
        </p:spPr>
        <p:txBody>
          <a:bodyPr wrap="square" lIns="0" tIns="0" rIns="0" bIns="0" rtlCol="0" anchor="t"/>
          <a:lstStyle/>
          <a:p>
            <a:pPr marL="0" indent="0">
              <a:lnSpc>
                <a:spcPct val="110000"/>
              </a:lnSpc>
              <a:buNone/>
            </a:pPr>
            <a:r>
              <a:rPr lang="en-US" sz="1000" dirty="0">
                <a:solidFill>
                  <a:srgbClr val="E8EEF6"/>
                </a:solidFill>
                <a:latin typeface="Courier New" pitchFamily="34" charset="0"/>
                <a:ea typeface="Courier New" pitchFamily="34" charset="-122"/>
                <a:cs typeface="Courier New" pitchFamily="34" charset="-120"/>
              </a:rPr>
              <a:t>[ROL] Actúa como diseñador instruccional especializado en</a:t>
            </a:r>
            <a:endParaRPr lang="en-US" sz="1000" dirty="0"/>
          </a:p>
          <a:p>
            <a:pPr marL="0" indent="0">
              <a:lnSpc>
                <a:spcPct val="110000"/>
              </a:lnSpc>
              <a:buNone/>
            </a:pPr>
            <a:r>
              <a:rPr lang="en-US" sz="1000" dirty="0">
                <a:solidFill>
                  <a:srgbClr val="E8EEF6"/>
                </a:solidFill>
                <a:latin typeface="Courier New" pitchFamily="34" charset="0"/>
                <a:ea typeface="Courier New" pitchFamily="34" charset="-122"/>
                <a:cs typeface="Courier New" pitchFamily="34" charset="-120"/>
              </a:rPr>
              <a:t>educación de adultos.</a:t>
            </a:r>
            <a:endParaRPr lang="en-US" sz="1000" dirty="0"/>
          </a:p>
          <a:p>
            <a:pPr marL="0" indent="0">
              <a:lnSpc>
                <a:spcPct val="110000"/>
              </a:lnSpc>
              <a:buNone/>
            </a:pPr>
            <a:endParaRPr lang="en-US" sz="1000" dirty="0"/>
          </a:p>
          <a:p>
            <a:pPr marL="0" indent="0">
              <a:lnSpc>
                <a:spcPct val="110000"/>
              </a:lnSpc>
              <a:buNone/>
            </a:pPr>
            <a:r>
              <a:rPr lang="en-US" sz="1000" dirty="0">
                <a:solidFill>
                  <a:srgbClr val="E8EEF6"/>
                </a:solidFill>
                <a:latin typeface="Courier New" pitchFamily="34" charset="0"/>
                <a:ea typeface="Courier New" pitchFamily="34" charset="-122"/>
                <a:cs typeface="Courier New" pitchFamily="34" charset="-120"/>
              </a:rPr>
              <a:t>[CONTEXTO] Participantes adultos de un programa WIOA en</a:t>
            </a:r>
            <a:endParaRPr lang="en-US" sz="1000" dirty="0"/>
          </a:p>
          <a:p>
            <a:pPr marL="0" indent="0">
              <a:lnSpc>
                <a:spcPct val="110000"/>
              </a:lnSpc>
              <a:buNone/>
            </a:pPr>
            <a:r>
              <a:rPr lang="en-US" sz="1000" dirty="0">
                <a:solidFill>
                  <a:srgbClr val="E8EEF6"/>
                </a:solidFill>
                <a:latin typeface="Courier New" pitchFamily="34" charset="0"/>
                <a:ea typeface="Courier New" pitchFamily="34" charset="-122"/>
                <a:cs typeface="Courier New" pitchFamily="34" charset="-120"/>
              </a:rPr>
              <a:t>Ponce, Puerto Rico. Escolaridad interrumpida, estudian</a:t>
            </a:r>
            <a:endParaRPr lang="en-US" sz="1000" dirty="0"/>
          </a:p>
          <a:p>
            <a:pPr marL="0" indent="0">
              <a:lnSpc>
                <a:spcPct val="110000"/>
              </a:lnSpc>
              <a:buNone/>
            </a:pPr>
            <a:r>
              <a:rPr lang="en-US" sz="1000" dirty="0">
                <a:solidFill>
                  <a:srgbClr val="E8EEF6"/>
                </a:solidFill>
                <a:latin typeface="Courier New" pitchFamily="34" charset="0"/>
                <a:ea typeface="Courier New" pitchFamily="34" charset="-122"/>
                <a:cs typeface="Courier New" pitchFamily="34" charset="-120"/>
              </a:rPr>
              <a:t>después de su jornada laboral, conectividad intermitente.</a:t>
            </a:r>
            <a:endParaRPr lang="en-US" sz="1000" dirty="0"/>
          </a:p>
          <a:p>
            <a:pPr marL="0" indent="0">
              <a:lnSpc>
                <a:spcPct val="110000"/>
              </a:lnSpc>
              <a:buNone/>
            </a:pPr>
            <a:endParaRPr lang="en-US" sz="1000" dirty="0"/>
          </a:p>
          <a:p>
            <a:pPr marL="0" indent="0">
              <a:lnSpc>
                <a:spcPct val="110000"/>
              </a:lnSpc>
              <a:buNone/>
            </a:pPr>
            <a:r>
              <a:rPr lang="en-US" sz="1000" dirty="0">
                <a:solidFill>
                  <a:srgbClr val="E8EEF6"/>
                </a:solidFill>
                <a:latin typeface="Courier New" pitchFamily="34" charset="0"/>
                <a:ea typeface="Courier New" pitchFamily="34" charset="-122"/>
                <a:cs typeface="Courier New" pitchFamily="34" charset="-120"/>
              </a:rPr>
              <a:t>[TAREA] Redacta el guion de una cápsula de 10 minutos para</a:t>
            </a:r>
            <a:endParaRPr lang="en-US" sz="1000" dirty="0"/>
          </a:p>
          <a:p>
            <a:pPr marL="0" indent="0">
              <a:lnSpc>
                <a:spcPct val="110000"/>
              </a:lnSpc>
              <a:buNone/>
            </a:pPr>
            <a:r>
              <a:rPr lang="en-US" sz="1000" dirty="0">
                <a:solidFill>
                  <a:srgbClr val="E8EEF6"/>
                </a:solidFill>
                <a:latin typeface="Courier New" pitchFamily="34" charset="0"/>
                <a:ea typeface="Courier New" pitchFamily="34" charset="-122"/>
                <a:cs typeface="Courier New" pitchFamily="34" charset="-120"/>
              </a:rPr>
              <a:t>la competencia: "Dadas cuatro sumas de fracciones con</a:t>
            </a:r>
            <a:endParaRPr lang="en-US" sz="1000" dirty="0"/>
          </a:p>
          <a:p>
            <a:pPr marL="0" indent="0">
              <a:lnSpc>
                <a:spcPct val="110000"/>
              </a:lnSpc>
              <a:buNone/>
            </a:pPr>
            <a:r>
              <a:rPr lang="en-US" sz="1000" dirty="0">
                <a:solidFill>
                  <a:srgbClr val="E8EEF6"/>
                </a:solidFill>
                <a:latin typeface="Courier New" pitchFamily="34" charset="0"/>
                <a:ea typeface="Courier New" pitchFamily="34" charset="-122"/>
                <a:cs typeface="Courier New" pitchFamily="34" charset="-120"/>
              </a:rPr>
              <a:t>distinto denominador, el participante determinará el</a:t>
            </a:r>
            <a:endParaRPr lang="en-US" sz="1000" dirty="0"/>
          </a:p>
          <a:p>
            <a:pPr marL="0" indent="0">
              <a:lnSpc>
                <a:spcPct val="110000"/>
              </a:lnSpc>
              <a:buNone/>
            </a:pPr>
            <a:r>
              <a:rPr lang="en-US" sz="1000" dirty="0">
                <a:solidFill>
                  <a:srgbClr val="E8EEF6"/>
                </a:solidFill>
                <a:latin typeface="Courier New" pitchFamily="34" charset="0"/>
                <a:ea typeface="Courier New" pitchFamily="34" charset="-122"/>
                <a:cs typeface="Courier New" pitchFamily="34" charset="-120"/>
              </a:rPr>
              <a:t>denominador común y resolverá tres de las cuatro</a:t>
            </a:r>
            <a:endParaRPr lang="en-US" sz="1000" dirty="0"/>
          </a:p>
          <a:p>
            <a:pPr marL="0" indent="0">
              <a:lnSpc>
                <a:spcPct val="110000"/>
              </a:lnSpc>
              <a:buNone/>
            </a:pPr>
            <a:r>
              <a:rPr lang="en-US" sz="1000" dirty="0">
                <a:solidFill>
                  <a:srgbClr val="E8EEF6"/>
                </a:solidFill>
                <a:latin typeface="Courier New" pitchFamily="34" charset="0"/>
                <a:ea typeface="Courier New" pitchFamily="34" charset="-122"/>
                <a:cs typeface="Courier New" pitchFamily="34" charset="-120"/>
              </a:rPr>
              <a:t>correctamente, en 10 minutos". Respeta esta dosificación:</a:t>
            </a:r>
            <a:endParaRPr lang="en-US" sz="1000" dirty="0"/>
          </a:p>
          <a:p>
            <a:pPr marL="0" indent="0">
              <a:lnSpc>
                <a:spcPct val="110000"/>
              </a:lnSpc>
              <a:buNone/>
            </a:pPr>
            <a:r>
              <a:rPr lang="en-US" sz="1000" dirty="0">
                <a:solidFill>
                  <a:srgbClr val="E8EEF6"/>
                </a:solidFill>
                <a:latin typeface="Courier New" pitchFamily="34" charset="0"/>
                <a:ea typeface="Courier New" pitchFamily="34" charset="-122"/>
                <a:cs typeface="Courier New" pitchFamily="34" charset="-120"/>
              </a:rPr>
              <a:t>gancho 1 min, núcleo 2.5, modelado 2, práctica 3.5,</a:t>
            </a:r>
            <a:endParaRPr lang="en-US" sz="1000" dirty="0"/>
          </a:p>
          <a:p>
            <a:pPr marL="0" indent="0">
              <a:lnSpc>
                <a:spcPct val="110000"/>
              </a:lnSpc>
              <a:buNone/>
            </a:pPr>
            <a:r>
              <a:rPr lang="en-US" sz="1000" dirty="0">
                <a:solidFill>
                  <a:srgbClr val="E8EEF6"/>
                </a:solidFill>
                <a:latin typeface="Courier New" pitchFamily="34" charset="0"/>
                <a:ea typeface="Courier New" pitchFamily="34" charset="-122"/>
                <a:cs typeface="Courier New" pitchFamily="34" charset="-120"/>
              </a:rPr>
              <a:t>chequeo 1. No introduzcas contenido fuera de la</a:t>
            </a:r>
            <a:endParaRPr lang="en-US" sz="1000" dirty="0"/>
          </a:p>
          <a:p>
            <a:pPr marL="0" indent="0">
              <a:lnSpc>
                <a:spcPct val="110000"/>
              </a:lnSpc>
              <a:buNone/>
            </a:pPr>
            <a:r>
              <a:rPr lang="en-US" sz="1000" dirty="0">
                <a:solidFill>
                  <a:srgbClr val="E8EEF6"/>
                </a:solidFill>
                <a:latin typeface="Courier New" pitchFamily="34" charset="0"/>
                <a:ea typeface="Courier New" pitchFamily="34" charset="-122"/>
                <a:cs typeface="Courier New" pitchFamily="34" charset="-120"/>
              </a:rPr>
              <a:t>competencia.</a:t>
            </a:r>
            <a:endParaRPr lang="en-US" sz="1000" dirty="0"/>
          </a:p>
          <a:p>
            <a:pPr marL="0" indent="0">
              <a:lnSpc>
                <a:spcPct val="110000"/>
              </a:lnSpc>
              <a:buNone/>
            </a:pPr>
            <a:endParaRPr lang="en-US" sz="1000" dirty="0"/>
          </a:p>
          <a:p>
            <a:pPr marL="0" indent="0">
              <a:lnSpc>
                <a:spcPct val="110000"/>
              </a:lnSpc>
              <a:buNone/>
            </a:pPr>
            <a:r>
              <a:rPr lang="en-US" sz="1000" dirty="0">
                <a:solidFill>
                  <a:srgbClr val="E8EEF6"/>
                </a:solidFill>
                <a:latin typeface="Courier New" pitchFamily="34" charset="0"/>
                <a:ea typeface="Courier New" pitchFamily="34" charset="-122"/>
                <a:cs typeface="Courier New" pitchFamily="34" charset="-120"/>
              </a:rPr>
              <a:t>[TONO] Español de Puerto Rico, lenguaje llano, trato de</a:t>
            </a:r>
            <a:endParaRPr lang="en-US" sz="1000" dirty="0"/>
          </a:p>
          <a:p>
            <a:pPr marL="0" indent="0">
              <a:lnSpc>
                <a:spcPct val="110000"/>
              </a:lnSpc>
              <a:buNone/>
            </a:pPr>
            <a:r>
              <a:rPr lang="en-US" sz="1000" dirty="0">
                <a:solidFill>
                  <a:srgbClr val="E8EEF6"/>
                </a:solidFill>
                <a:latin typeface="Courier New" pitchFamily="34" charset="0"/>
                <a:ea typeface="Courier New" pitchFamily="34" charset="-122"/>
                <a:cs typeface="Courier New" pitchFamily="34" charset="-120"/>
              </a:rPr>
              <a:t>usted, sin tecnicismos innecesarios.</a:t>
            </a:r>
            <a:endParaRPr lang="en-US" sz="1000" dirty="0"/>
          </a:p>
          <a:p>
            <a:pPr marL="0" indent="0">
              <a:lnSpc>
                <a:spcPct val="110000"/>
              </a:lnSpc>
              <a:buNone/>
            </a:pPr>
            <a:endParaRPr lang="en-US" sz="1000" dirty="0"/>
          </a:p>
          <a:p>
            <a:pPr marL="0" indent="0">
              <a:lnSpc>
                <a:spcPct val="110000"/>
              </a:lnSpc>
              <a:buNone/>
            </a:pPr>
            <a:r>
              <a:rPr lang="en-US" sz="1000" dirty="0">
                <a:solidFill>
                  <a:srgbClr val="E8EEF6"/>
                </a:solidFill>
                <a:latin typeface="Courier New" pitchFamily="34" charset="0"/>
                <a:ea typeface="Courier New" pitchFamily="34" charset="-122"/>
                <a:cs typeface="Courier New" pitchFamily="34" charset="-120"/>
              </a:rPr>
              <a:t>[FORMATO] Tabla de tres columnas: momento, duración y texto</a:t>
            </a:r>
            <a:endParaRPr lang="en-US" sz="1000" dirty="0"/>
          </a:p>
          <a:p>
            <a:pPr marL="0" indent="0">
              <a:lnSpc>
                <a:spcPct val="110000"/>
              </a:lnSpc>
              <a:buNone/>
            </a:pPr>
            <a:r>
              <a:rPr lang="en-US" sz="1000" dirty="0">
                <a:solidFill>
                  <a:srgbClr val="E8EEF6"/>
                </a:solidFill>
                <a:latin typeface="Courier New" pitchFamily="34" charset="0"/>
                <a:ea typeface="Courier New" pitchFamily="34" charset="-122"/>
                <a:cs typeface="Courier New" pitchFamily="34" charset="-120"/>
              </a:rPr>
              <a:t>literal. Al final, lista de los materiales necesarios.</a:t>
            </a:r>
            <a:endParaRPr lang="en-US" sz="1000" dirty="0"/>
          </a:p>
        </p:txBody>
      </p:sp>
      <p:sp>
        <p:nvSpPr>
          <p:cNvPr id="9" name="Shape 7"/>
          <p:cNvSpPr/>
          <p:nvPr/>
        </p:nvSpPr>
        <p:spPr>
          <a:xfrm>
            <a:off x="7735824" y="1572768"/>
            <a:ext cx="3886200" cy="2011680"/>
          </a:xfrm>
          <a:prstGeom prst="roundRect">
            <a:avLst>
              <a:gd name="adj" fmla="val 1818"/>
            </a:avLst>
          </a:prstGeom>
          <a:solidFill>
            <a:srgbClr val="E7F2F0"/>
          </a:solidFill>
          <a:ln w="12700">
            <a:solidFill>
              <a:srgbClr val="E7F2F0"/>
            </a:solidFill>
            <a:prstDash val="solid"/>
          </a:ln>
          <a:effectLst>
            <a:outerShdw blurRad="101600" dist="12700" dir="5400000" algn="bl" rotWithShape="0">
              <a:srgbClr val="9AA8B5">
                <a:alpha val="16000"/>
              </a:srgbClr>
            </a:outerShdw>
          </a:effectLst>
        </p:spPr>
      </p:sp>
      <p:sp>
        <p:nvSpPr>
          <p:cNvPr id="10" name="Text 8"/>
          <p:cNvSpPr txBox="1"/>
          <p:nvPr/>
        </p:nvSpPr>
        <p:spPr>
          <a:xfrm>
            <a:off x="7973568" y="1792224"/>
            <a:ext cx="3410712" cy="310896"/>
          </a:xfrm>
          <a:prstGeom prst="rect">
            <a:avLst/>
          </a:prstGeom>
          <a:noFill/>
          <a:ln/>
        </p:spPr>
        <p:txBody>
          <a:bodyPr wrap="square" lIns="0" tIns="0" rIns="0" bIns="0" rtlCol="0" anchor="t"/>
          <a:lstStyle/>
          <a:p>
            <a:pPr marL="0" indent="0">
              <a:buNone/>
            </a:pPr>
            <a:r>
              <a:rPr lang="en-US" sz="1450" b="1" dirty="0">
                <a:solidFill>
                  <a:srgbClr val="1B2A4A"/>
                </a:solidFill>
                <a:latin typeface="Calibri" pitchFamily="34" charset="0"/>
                <a:ea typeface="Calibri" pitchFamily="34" charset="-122"/>
                <a:cs typeface="Calibri" pitchFamily="34" charset="-120"/>
              </a:rPr>
              <a:t>Qué hace funcionar este prompt</a:t>
            </a:r>
            <a:endParaRPr lang="en-US" sz="1450" dirty="0"/>
          </a:p>
        </p:txBody>
      </p:sp>
      <p:sp>
        <p:nvSpPr>
          <p:cNvPr id="11" name="Text 9"/>
          <p:cNvSpPr txBox="1"/>
          <p:nvPr/>
        </p:nvSpPr>
        <p:spPr>
          <a:xfrm>
            <a:off x="8010144" y="2157984"/>
            <a:ext cx="3374136" cy="1243584"/>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1F2933"/>
                </a:solidFill>
                <a:latin typeface="Calibri" pitchFamily="34" charset="0"/>
                <a:ea typeface="Calibri" pitchFamily="34" charset="-122"/>
                <a:cs typeface="Calibri" pitchFamily="34" charset="-120"/>
              </a:rPr>
              <a:t>Pega la competencia textualmente, no la resume.</a:t>
            </a:r>
            <a:endParaRPr lang="en-US" sz="1150" dirty="0"/>
          </a:p>
          <a:p>
            <a:pPr marL="342900" indent="-342900">
              <a:spcAft>
                <a:spcPts val="500"/>
              </a:spcAft>
              <a:buSzPct val="100000"/>
              <a:buChar char="•"/>
            </a:pPr>
            <a:r>
              <a:rPr lang="en-US" sz="1150" dirty="0">
                <a:solidFill>
                  <a:srgbClr val="1F2933"/>
                </a:solidFill>
                <a:latin typeface="Calibri" pitchFamily="34" charset="0"/>
                <a:ea typeface="Calibri" pitchFamily="34" charset="-122"/>
                <a:cs typeface="Calibri" pitchFamily="34" charset="-120"/>
              </a:rPr>
              <a:t>Impone la dosificación minuto a minuto.</a:t>
            </a:r>
            <a:endParaRPr lang="en-US" sz="1150" dirty="0"/>
          </a:p>
          <a:p>
            <a:pPr marL="342900" indent="-342900">
              <a:spcAft>
                <a:spcPts val="500"/>
              </a:spcAft>
              <a:buSzPct val="100000"/>
              <a:buChar char="•"/>
            </a:pPr>
            <a:r>
              <a:rPr lang="en-US" sz="1150" dirty="0">
                <a:solidFill>
                  <a:srgbClr val="1F2933"/>
                </a:solidFill>
                <a:latin typeface="Calibri" pitchFamily="34" charset="0"/>
                <a:ea typeface="Calibri" pitchFamily="34" charset="-122"/>
                <a:cs typeface="Calibri" pitchFamily="34" charset="-120"/>
              </a:rPr>
              <a:t>Prohíbe explícitamente ampliar el alcance.</a:t>
            </a:r>
            <a:endParaRPr lang="en-US" sz="1150" dirty="0"/>
          </a:p>
        </p:txBody>
      </p:sp>
      <p:sp>
        <p:nvSpPr>
          <p:cNvPr id="12" name="Shape 10"/>
          <p:cNvSpPr/>
          <p:nvPr/>
        </p:nvSpPr>
        <p:spPr>
          <a:xfrm>
            <a:off x="7735824" y="3730752"/>
            <a:ext cx="3886200" cy="2011680"/>
          </a:xfrm>
          <a:prstGeom prst="roundRect">
            <a:avLst>
              <a:gd name="adj" fmla="val 1818"/>
            </a:avLst>
          </a:prstGeom>
          <a:solidFill>
            <a:srgbClr val="FAF3E0"/>
          </a:solidFill>
          <a:ln w="12700">
            <a:solidFill>
              <a:srgbClr val="FAF3E0"/>
            </a:solidFill>
            <a:prstDash val="solid"/>
          </a:ln>
          <a:effectLst>
            <a:outerShdw blurRad="101600" dist="12700" dir="5400000" algn="bl" rotWithShape="0">
              <a:srgbClr val="9AA8B5">
                <a:alpha val="16000"/>
              </a:srgbClr>
            </a:outerShdw>
          </a:effectLst>
        </p:spPr>
      </p:sp>
      <p:sp>
        <p:nvSpPr>
          <p:cNvPr id="13" name="Text 11"/>
          <p:cNvSpPr txBox="1"/>
          <p:nvPr/>
        </p:nvSpPr>
        <p:spPr>
          <a:xfrm>
            <a:off x="7973568" y="3950208"/>
            <a:ext cx="3410712" cy="310896"/>
          </a:xfrm>
          <a:prstGeom prst="rect">
            <a:avLst/>
          </a:prstGeom>
          <a:noFill/>
          <a:ln/>
        </p:spPr>
        <p:txBody>
          <a:bodyPr wrap="square" lIns="0" tIns="0" rIns="0" bIns="0" rtlCol="0" anchor="t"/>
          <a:lstStyle/>
          <a:p>
            <a:pPr marL="0" indent="0">
              <a:buNone/>
            </a:pPr>
            <a:r>
              <a:rPr lang="en-US" sz="1450" b="1" dirty="0">
                <a:solidFill>
                  <a:srgbClr val="1B2A4A"/>
                </a:solidFill>
                <a:latin typeface="Calibri" pitchFamily="34" charset="0"/>
                <a:ea typeface="Calibri" pitchFamily="34" charset="-122"/>
                <a:cs typeface="Calibri" pitchFamily="34" charset="-120"/>
              </a:rPr>
              <a:t>Qué revisar en la salida</a:t>
            </a:r>
            <a:endParaRPr lang="en-US" sz="1450" dirty="0"/>
          </a:p>
        </p:txBody>
      </p:sp>
      <p:sp>
        <p:nvSpPr>
          <p:cNvPr id="14" name="Text 12"/>
          <p:cNvSpPr txBox="1"/>
          <p:nvPr/>
        </p:nvSpPr>
        <p:spPr>
          <a:xfrm>
            <a:off x="8010144" y="4315968"/>
            <a:ext cx="3374136" cy="1243584"/>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1F2933"/>
                </a:solidFill>
                <a:latin typeface="Calibri" pitchFamily="34" charset="0"/>
                <a:ea typeface="Calibri" pitchFamily="34" charset="-122"/>
                <a:cs typeface="Calibri" pitchFamily="34" charset="-120"/>
              </a:rPr>
              <a:t>Que el modelado verbalice el porqué, no solo los pasos.</a:t>
            </a:r>
            <a:endParaRPr lang="en-US" sz="1150" dirty="0"/>
          </a:p>
          <a:p>
            <a:pPr marL="342900" indent="-342900">
              <a:spcAft>
                <a:spcPts val="500"/>
              </a:spcAft>
              <a:buSzPct val="100000"/>
              <a:buChar char="•"/>
            </a:pPr>
            <a:r>
              <a:rPr lang="en-US" sz="1150" dirty="0">
                <a:solidFill>
                  <a:srgbClr val="1F2933"/>
                </a:solidFill>
                <a:latin typeface="Calibri" pitchFamily="34" charset="0"/>
                <a:ea typeface="Calibri" pitchFamily="34" charset="-122"/>
                <a:cs typeface="Calibri" pitchFamily="34" charset="-120"/>
              </a:rPr>
              <a:t>Que la práctica sea del participante, no del docente.</a:t>
            </a:r>
            <a:endParaRPr lang="en-US" sz="1150" dirty="0"/>
          </a:p>
          <a:p>
            <a:pPr marL="342900" indent="-342900">
              <a:spcAft>
                <a:spcPts val="500"/>
              </a:spcAft>
              <a:buSzPct val="100000"/>
              <a:buChar char="•"/>
            </a:pPr>
            <a:r>
              <a:rPr lang="en-US" sz="1150" dirty="0">
                <a:solidFill>
                  <a:srgbClr val="1F2933"/>
                </a:solidFill>
                <a:latin typeface="Calibri" pitchFamily="34" charset="0"/>
                <a:ea typeface="Calibri" pitchFamily="34" charset="-122"/>
                <a:cs typeface="Calibri" pitchFamily="34" charset="-120"/>
              </a:rPr>
              <a:t>Que el vocabulario corresponda al nivel real del grupo.</a:t>
            </a:r>
            <a:endParaRPr lang="en-US" sz="11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29184"/>
            <a:ext cx="11055096" cy="256032"/>
          </a:xfrm>
          <a:prstGeom prst="rect">
            <a:avLst/>
          </a:prstGeom>
          <a:noFill/>
          <a:ln/>
        </p:spPr>
        <p:txBody>
          <a:bodyPr wrap="square" lIns="0" tIns="0" rIns="0" bIns="0" rtlCol="0" anchor="ctr"/>
          <a:lstStyle/>
          <a:p>
            <a:pPr marL="0" indent="0">
              <a:buNone/>
            </a:pPr>
            <a:r>
              <a:rPr lang="en-US" sz="1100" b="1" kern="0" spc="160" dirty="0">
                <a:solidFill>
                  <a:srgbClr val="2A9D8F"/>
                </a:solidFill>
                <a:latin typeface="Calibri" pitchFamily="34" charset="0"/>
                <a:ea typeface="Calibri" pitchFamily="34" charset="-122"/>
                <a:cs typeface="Calibri" pitchFamily="34" charset="-120"/>
              </a:rPr>
              <a:t>PROMPT MODELADO 2</a:t>
            </a:r>
            <a:endParaRPr lang="en-US" sz="1100" dirty="0"/>
          </a:p>
        </p:txBody>
      </p:sp>
      <p:sp>
        <p:nvSpPr>
          <p:cNvPr id="3" name="Text 1"/>
          <p:cNvSpPr txBox="1"/>
          <p:nvPr/>
        </p:nvSpPr>
        <p:spPr>
          <a:xfrm>
            <a:off x="566928" y="603504"/>
            <a:ext cx="11055096" cy="749808"/>
          </a:xfrm>
          <a:prstGeom prst="rect">
            <a:avLst/>
          </a:prstGeom>
          <a:noFill/>
          <a:ln/>
        </p:spPr>
        <p:txBody>
          <a:bodyPr wrap="square" lIns="0" tIns="0" rIns="0" bIns="0" rtlCol="0" anchor="t"/>
          <a:lstStyle/>
          <a:p>
            <a:pPr marL="0" indent="0">
              <a:buNone/>
            </a:pPr>
            <a:r>
              <a:rPr lang="en-US" sz="2900" b="1" dirty="0">
                <a:solidFill>
                  <a:srgbClr val="1B2A4A"/>
                </a:solidFill>
                <a:latin typeface="Cambria" pitchFamily="34" charset="0"/>
                <a:ea typeface="Cambria" pitchFamily="34" charset="-122"/>
                <a:cs typeface="Cambria" pitchFamily="34" charset="-120"/>
              </a:rPr>
              <a:t>Generar la microevaluación con su baremo</a:t>
            </a:r>
            <a:endParaRPr lang="en-US" sz="2900" dirty="0"/>
          </a:p>
        </p:txBody>
      </p:sp>
      <p:sp>
        <p:nvSpPr>
          <p:cNvPr id="4" name="Text 2"/>
          <p:cNvSpPr txBox="1"/>
          <p:nvPr/>
        </p:nvSpPr>
        <p:spPr>
          <a:xfrm>
            <a:off x="566928" y="6428232"/>
            <a:ext cx="7863840" cy="256032"/>
          </a:xfrm>
          <a:prstGeom prst="rect">
            <a:avLst/>
          </a:prstGeom>
          <a:noFill/>
          <a:ln/>
        </p:spPr>
        <p:txBody>
          <a:bodyPr wrap="square" lIns="0" tIns="0" rIns="0" bIns="0" rtlCol="0" anchor="ctr"/>
          <a:lstStyle/>
          <a:p>
            <a:pPr marL="0" indent="0">
              <a:buNone/>
            </a:pPr>
            <a:r>
              <a:rPr lang="en-US" sz="900" dirty="0">
                <a:solidFill>
                  <a:srgbClr val="5B6B7B"/>
                </a:solidFill>
                <a:latin typeface="Calibri" pitchFamily="34" charset="0"/>
                <a:ea typeface="Calibri" pitchFamily="34" charset="-122"/>
                <a:cs typeface="Calibri" pitchFamily="34" charset="-120"/>
              </a:rPr>
              <a:t>Microaprendizaje para adultos  ·  Proyecto RUTA — Inter Ponce</a:t>
            </a:r>
            <a:endParaRPr lang="en-US" sz="900" dirty="0"/>
          </a:p>
        </p:txBody>
      </p:sp>
      <p:sp>
        <p:nvSpPr>
          <p:cNvPr id="5" name="Text 3"/>
          <p:cNvSpPr txBox="1"/>
          <p:nvPr/>
        </p:nvSpPr>
        <p:spPr>
          <a:xfrm>
            <a:off x="10972800" y="6428232"/>
            <a:ext cx="649224" cy="256032"/>
          </a:xfrm>
          <a:prstGeom prst="rect">
            <a:avLst/>
          </a:prstGeom>
          <a:noFill/>
          <a:ln/>
        </p:spPr>
        <p:txBody>
          <a:bodyPr wrap="square" lIns="0" tIns="0" rIns="0" bIns="0" rtlCol="0" anchor="ctr"/>
          <a:lstStyle/>
          <a:p>
            <a:pPr marL="0" indent="0" algn="r">
              <a:buNone/>
            </a:pPr>
            <a:r>
              <a:rPr lang="en-US" sz="900" dirty="0">
                <a:solidFill>
                  <a:srgbClr val="5B6B7B"/>
                </a:solidFill>
                <a:latin typeface="Calibri" pitchFamily="34" charset="0"/>
                <a:ea typeface="Calibri" pitchFamily="34" charset="-122"/>
                <a:cs typeface="Calibri" pitchFamily="34" charset="-120"/>
              </a:rPr>
              <a:t>40</a:t>
            </a:r>
            <a:endParaRPr lang="en-US" sz="900" dirty="0"/>
          </a:p>
        </p:txBody>
      </p:sp>
      <p:sp>
        <p:nvSpPr>
          <p:cNvPr id="6" name="Shape 4"/>
          <p:cNvSpPr/>
          <p:nvPr/>
        </p:nvSpPr>
        <p:spPr>
          <a:xfrm>
            <a:off x="566928" y="1572768"/>
            <a:ext cx="6903720" cy="4169664"/>
          </a:xfrm>
          <a:prstGeom prst="roundRect">
            <a:avLst>
              <a:gd name="adj" fmla="val 877"/>
            </a:avLst>
          </a:prstGeom>
          <a:solidFill>
            <a:srgbClr val="12203A"/>
          </a:solidFill>
          <a:ln w="12700">
            <a:solidFill>
              <a:srgbClr val="12203A"/>
            </a:solidFill>
            <a:prstDash val="solid"/>
          </a:ln>
        </p:spPr>
      </p:sp>
      <p:sp>
        <p:nvSpPr>
          <p:cNvPr id="7" name="Text 5"/>
          <p:cNvSpPr txBox="1"/>
          <p:nvPr/>
        </p:nvSpPr>
        <p:spPr>
          <a:xfrm>
            <a:off x="804672" y="1719072"/>
            <a:ext cx="6428232" cy="237744"/>
          </a:xfrm>
          <a:prstGeom prst="rect">
            <a:avLst/>
          </a:prstGeom>
          <a:noFill/>
          <a:ln/>
        </p:spPr>
        <p:txBody>
          <a:bodyPr wrap="square" lIns="0" tIns="0" rIns="0" bIns="0" rtlCol="0" anchor="ctr"/>
          <a:lstStyle/>
          <a:p>
            <a:pPr marL="0" indent="0">
              <a:buNone/>
            </a:pPr>
            <a:r>
              <a:rPr lang="en-US" sz="1050" b="1" kern="0" spc="120" dirty="0">
                <a:solidFill>
                  <a:srgbClr val="C9A84C"/>
                </a:solidFill>
                <a:latin typeface="Calibri" pitchFamily="34" charset="0"/>
                <a:ea typeface="Calibri" pitchFamily="34" charset="-122"/>
                <a:cs typeface="Calibri" pitchFamily="34" charset="-120"/>
              </a:rPr>
              <a:t>PROMPT RC-TTF</a:t>
            </a:r>
            <a:endParaRPr lang="en-US" sz="1050" dirty="0"/>
          </a:p>
        </p:txBody>
      </p:sp>
      <p:sp>
        <p:nvSpPr>
          <p:cNvPr id="8" name="Text 6"/>
          <p:cNvSpPr txBox="1"/>
          <p:nvPr/>
        </p:nvSpPr>
        <p:spPr>
          <a:xfrm>
            <a:off x="804672" y="1993392"/>
            <a:ext cx="6428232" cy="3566160"/>
          </a:xfrm>
          <a:prstGeom prst="rect">
            <a:avLst/>
          </a:prstGeom>
          <a:noFill/>
          <a:ln/>
        </p:spPr>
        <p:txBody>
          <a:bodyPr wrap="square" lIns="0" tIns="0" rIns="0" bIns="0" rtlCol="0" anchor="t"/>
          <a:lstStyle/>
          <a:p>
            <a:pPr marL="0" indent="0">
              <a:lnSpc>
                <a:spcPct val="110000"/>
              </a:lnSpc>
              <a:buNone/>
            </a:pPr>
            <a:r>
              <a:rPr lang="en-US" sz="1000" dirty="0">
                <a:solidFill>
                  <a:srgbClr val="E8EEF6"/>
                </a:solidFill>
                <a:latin typeface="Courier New" pitchFamily="34" charset="0"/>
                <a:ea typeface="Courier New" pitchFamily="34" charset="-122"/>
                <a:cs typeface="Courier New" pitchFamily="34" charset="-120"/>
              </a:rPr>
              <a:t>[ROL] Actúa como especialista en assessment de educación de</a:t>
            </a:r>
            <a:endParaRPr lang="en-US" sz="1000" dirty="0"/>
          </a:p>
          <a:p>
            <a:pPr marL="0" indent="0">
              <a:lnSpc>
                <a:spcPct val="110000"/>
              </a:lnSpc>
              <a:buNone/>
            </a:pPr>
            <a:r>
              <a:rPr lang="en-US" sz="1000" dirty="0">
                <a:solidFill>
                  <a:srgbClr val="E8EEF6"/>
                </a:solidFill>
                <a:latin typeface="Courier New" pitchFamily="34" charset="0"/>
                <a:ea typeface="Courier New" pitchFamily="34" charset="-122"/>
                <a:cs typeface="Courier New" pitchFamily="34" charset="-120"/>
              </a:rPr>
              <a:t>adultos.</a:t>
            </a:r>
            <a:endParaRPr lang="en-US" sz="1000" dirty="0"/>
          </a:p>
          <a:p>
            <a:pPr marL="0" indent="0">
              <a:lnSpc>
                <a:spcPct val="110000"/>
              </a:lnSpc>
              <a:buNone/>
            </a:pPr>
            <a:endParaRPr lang="en-US" sz="1000" dirty="0"/>
          </a:p>
          <a:p>
            <a:pPr marL="0" indent="0">
              <a:lnSpc>
                <a:spcPct val="110000"/>
              </a:lnSpc>
              <a:buNone/>
            </a:pPr>
            <a:r>
              <a:rPr lang="en-US" sz="1000" dirty="0">
                <a:solidFill>
                  <a:srgbClr val="E8EEF6"/>
                </a:solidFill>
                <a:latin typeface="Courier New" pitchFamily="34" charset="0"/>
                <a:ea typeface="Courier New" pitchFamily="34" charset="-122"/>
                <a:cs typeface="Courier New" pitchFamily="34" charset="-120"/>
              </a:rPr>
              <a:t>[CONTEXTO] La cápsula que acabas de generar. El chequeo se</a:t>
            </a:r>
            <a:endParaRPr lang="en-US" sz="1000" dirty="0"/>
          </a:p>
          <a:p>
            <a:pPr marL="0" indent="0">
              <a:lnSpc>
                <a:spcPct val="110000"/>
              </a:lnSpc>
              <a:buNone/>
            </a:pPr>
            <a:r>
              <a:rPr lang="en-US" sz="1000" dirty="0">
                <a:solidFill>
                  <a:srgbClr val="E8EEF6"/>
                </a:solidFill>
                <a:latin typeface="Courier New" pitchFamily="34" charset="0"/>
                <a:ea typeface="Courier New" pitchFamily="34" charset="-122"/>
                <a:cs typeface="Courier New" pitchFamily="34" charset="-120"/>
              </a:rPr>
              <a:t>aplica en los últimos 2 minutos y debe ser autocorregible</a:t>
            </a:r>
            <a:endParaRPr lang="en-US" sz="1000" dirty="0"/>
          </a:p>
          <a:p>
            <a:pPr marL="0" indent="0">
              <a:lnSpc>
                <a:spcPct val="110000"/>
              </a:lnSpc>
              <a:buNone/>
            </a:pPr>
            <a:r>
              <a:rPr lang="en-US" sz="1000" dirty="0">
                <a:solidFill>
                  <a:srgbClr val="E8EEF6"/>
                </a:solidFill>
                <a:latin typeface="Courier New" pitchFamily="34" charset="0"/>
                <a:ea typeface="Courier New" pitchFamily="34" charset="-122"/>
                <a:cs typeface="Courier New" pitchFamily="34" charset="-120"/>
              </a:rPr>
              <a:t>por el propio participante.</a:t>
            </a:r>
            <a:endParaRPr lang="en-US" sz="1000" dirty="0"/>
          </a:p>
          <a:p>
            <a:pPr marL="0" indent="0">
              <a:lnSpc>
                <a:spcPct val="110000"/>
              </a:lnSpc>
              <a:buNone/>
            </a:pPr>
            <a:endParaRPr lang="en-US" sz="1000" dirty="0"/>
          </a:p>
          <a:p>
            <a:pPr marL="0" indent="0">
              <a:lnSpc>
                <a:spcPct val="110000"/>
              </a:lnSpc>
              <a:buNone/>
            </a:pPr>
            <a:r>
              <a:rPr lang="en-US" sz="1000" dirty="0">
                <a:solidFill>
                  <a:srgbClr val="E8EEF6"/>
                </a:solidFill>
                <a:latin typeface="Courier New" pitchFamily="34" charset="0"/>
                <a:ea typeface="Courier New" pitchFamily="34" charset="-122"/>
                <a:cs typeface="Courier New" pitchFamily="34" charset="-120"/>
              </a:rPr>
              <a:t>[TAREA] Construye 3 reactivos alineados al verbo</a:t>
            </a:r>
            <a:endParaRPr lang="en-US" sz="1000" dirty="0"/>
          </a:p>
          <a:p>
            <a:pPr marL="0" indent="0">
              <a:lnSpc>
                <a:spcPct val="110000"/>
              </a:lnSpc>
              <a:buNone/>
            </a:pPr>
            <a:r>
              <a:rPr lang="en-US" sz="1000" dirty="0">
                <a:solidFill>
                  <a:srgbClr val="E8EEF6"/>
                </a:solidFill>
                <a:latin typeface="Courier New" pitchFamily="34" charset="0"/>
                <a:ea typeface="Courier New" pitchFamily="34" charset="-122"/>
                <a:cs typeface="Courier New" pitchFamily="34" charset="-120"/>
              </a:rPr>
              <a:t>"determinará y resolverá". Uno de reconocimiento del</a:t>
            </a:r>
            <a:endParaRPr lang="en-US" sz="1000" dirty="0"/>
          </a:p>
          <a:p>
            <a:pPr marL="0" indent="0">
              <a:lnSpc>
                <a:spcPct val="110000"/>
              </a:lnSpc>
              <a:buNone/>
            </a:pPr>
            <a:r>
              <a:rPr lang="en-US" sz="1000" dirty="0">
                <a:solidFill>
                  <a:srgbClr val="E8EEF6"/>
                </a:solidFill>
                <a:latin typeface="Courier New" pitchFamily="34" charset="0"/>
                <a:ea typeface="Courier New" pitchFamily="34" charset="-122"/>
                <a:cs typeface="Courier New" pitchFamily="34" charset="-120"/>
              </a:rPr>
              <a:t>denominador común, uno de ejecución completa y uno de</a:t>
            </a:r>
            <a:endParaRPr lang="en-US" sz="1000" dirty="0"/>
          </a:p>
          <a:p>
            <a:pPr marL="0" indent="0">
              <a:lnSpc>
                <a:spcPct val="110000"/>
              </a:lnSpc>
              <a:buNone/>
            </a:pPr>
            <a:r>
              <a:rPr lang="en-US" sz="1000" dirty="0">
                <a:solidFill>
                  <a:srgbClr val="E8EEF6"/>
                </a:solidFill>
                <a:latin typeface="Courier New" pitchFamily="34" charset="0"/>
                <a:ea typeface="Courier New" pitchFamily="34" charset="-122"/>
                <a:cs typeface="Courier New" pitchFamily="34" charset="-120"/>
              </a:rPr>
              <a:t>aplicación a una situación de compra. Incluye la respuesta</a:t>
            </a:r>
            <a:endParaRPr lang="en-US" sz="1000" dirty="0"/>
          </a:p>
          <a:p>
            <a:pPr marL="0" indent="0">
              <a:lnSpc>
                <a:spcPct val="110000"/>
              </a:lnSpc>
              <a:buNone/>
            </a:pPr>
            <a:r>
              <a:rPr lang="en-US" sz="1000" dirty="0">
                <a:solidFill>
                  <a:srgbClr val="E8EEF6"/>
                </a:solidFill>
                <a:latin typeface="Courier New" pitchFamily="34" charset="0"/>
                <a:ea typeface="Courier New" pitchFamily="34" charset="-122"/>
                <a:cs typeface="Courier New" pitchFamily="34" charset="-120"/>
              </a:rPr>
              <a:t>modelo de cada uno con el procedimiento visible.</a:t>
            </a:r>
            <a:endParaRPr lang="en-US" sz="1000" dirty="0"/>
          </a:p>
          <a:p>
            <a:pPr marL="0" indent="0">
              <a:lnSpc>
                <a:spcPct val="110000"/>
              </a:lnSpc>
              <a:buNone/>
            </a:pPr>
            <a:endParaRPr lang="en-US" sz="1000" dirty="0"/>
          </a:p>
          <a:p>
            <a:pPr marL="0" indent="0">
              <a:lnSpc>
                <a:spcPct val="110000"/>
              </a:lnSpc>
              <a:buNone/>
            </a:pPr>
            <a:r>
              <a:rPr lang="en-US" sz="1000" dirty="0">
                <a:solidFill>
                  <a:srgbClr val="E8EEF6"/>
                </a:solidFill>
                <a:latin typeface="Courier New" pitchFamily="34" charset="0"/>
                <a:ea typeface="Courier New" pitchFamily="34" charset="-122"/>
                <a:cs typeface="Courier New" pitchFamily="34" charset="-120"/>
              </a:rPr>
              <a:t>[TONO] Claro y directo. Enunciados de una sola oración.</a:t>
            </a:r>
            <a:endParaRPr lang="en-US" sz="1000" dirty="0"/>
          </a:p>
          <a:p>
            <a:pPr marL="0" indent="0">
              <a:lnSpc>
                <a:spcPct val="110000"/>
              </a:lnSpc>
              <a:buNone/>
            </a:pPr>
            <a:endParaRPr lang="en-US" sz="1000" dirty="0"/>
          </a:p>
          <a:p>
            <a:pPr marL="0" indent="0">
              <a:lnSpc>
                <a:spcPct val="110000"/>
              </a:lnSpc>
              <a:buNone/>
            </a:pPr>
            <a:r>
              <a:rPr lang="en-US" sz="1000" dirty="0">
                <a:solidFill>
                  <a:srgbClr val="E8EEF6"/>
                </a:solidFill>
                <a:latin typeface="Courier New" pitchFamily="34" charset="0"/>
                <a:ea typeface="Courier New" pitchFamily="34" charset="-122"/>
                <a:cs typeface="Courier New" pitchFamily="34" charset="-120"/>
              </a:rPr>
              <a:t>[FORMATO] Para cada reactivo: enunciado, respuesta modelo,</a:t>
            </a:r>
            <a:endParaRPr lang="en-US" sz="1000" dirty="0"/>
          </a:p>
          <a:p>
            <a:pPr marL="0" indent="0">
              <a:lnSpc>
                <a:spcPct val="110000"/>
              </a:lnSpc>
              <a:buNone/>
            </a:pPr>
            <a:r>
              <a:rPr lang="en-US" sz="1000" dirty="0">
                <a:solidFill>
                  <a:srgbClr val="E8EEF6"/>
                </a:solidFill>
                <a:latin typeface="Courier New" pitchFamily="34" charset="0"/>
                <a:ea typeface="Courier New" pitchFamily="34" charset="-122"/>
                <a:cs typeface="Courier New" pitchFamily="34" charset="-120"/>
              </a:rPr>
              <a:t>valor en puntos. Al final, una tabla con puntuación total,</a:t>
            </a:r>
            <a:endParaRPr lang="en-US" sz="1000" dirty="0"/>
          </a:p>
          <a:p>
            <a:pPr marL="0" indent="0">
              <a:lnSpc>
                <a:spcPct val="110000"/>
              </a:lnSpc>
              <a:buNone/>
            </a:pPr>
            <a:r>
              <a:rPr lang="en-US" sz="1000" dirty="0">
                <a:solidFill>
                  <a:srgbClr val="E8EEF6"/>
                </a:solidFill>
                <a:latin typeface="Courier New" pitchFamily="34" charset="0"/>
                <a:ea typeface="Courier New" pitchFamily="34" charset="-122"/>
                <a:cs typeface="Courier New" pitchFamily="34" charset="-120"/>
              </a:rPr>
              <a:t>puntuación mínima de ejecución al 70 % y la acción de</a:t>
            </a:r>
            <a:endParaRPr lang="en-US" sz="1000" dirty="0"/>
          </a:p>
          <a:p>
            <a:pPr marL="0" indent="0">
              <a:lnSpc>
                <a:spcPct val="110000"/>
              </a:lnSpc>
              <a:buNone/>
            </a:pPr>
            <a:r>
              <a:rPr lang="en-US" sz="1000" dirty="0">
                <a:solidFill>
                  <a:srgbClr val="E8EEF6"/>
                </a:solidFill>
                <a:latin typeface="Courier New" pitchFamily="34" charset="0"/>
                <a:ea typeface="Courier New" pitchFamily="34" charset="-122"/>
                <a:cs typeface="Courier New" pitchFamily="34" charset="-120"/>
              </a:rPr>
              <a:t>reenseñanza sugerida si no se alcanza.</a:t>
            </a:r>
            <a:endParaRPr lang="en-US" sz="1000" dirty="0"/>
          </a:p>
        </p:txBody>
      </p:sp>
      <p:sp>
        <p:nvSpPr>
          <p:cNvPr id="9" name="Shape 7"/>
          <p:cNvSpPr/>
          <p:nvPr/>
        </p:nvSpPr>
        <p:spPr>
          <a:xfrm>
            <a:off x="7735824" y="1572768"/>
            <a:ext cx="3886200" cy="2011680"/>
          </a:xfrm>
          <a:prstGeom prst="roundRect">
            <a:avLst>
              <a:gd name="adj" fmla="val 1818"/>
            </a:avLst>
          </a:prstGeom>
          <a:solidFill>
            <a:srgbClr val="E7F2F0"/>
          </a:solidFill>
          <a:ln w="12700">
            <a:solidFill>
              <a:srgbClr val="E7F2F0"/>
            </a:solidFill>
            <a:prstDash val="solid"/>
          </a:ln>
          <a:effectLst>
            <a:outerShdw blurRad="101600" dist="12700" dir="5400000" algn="bl" rotWithShape="0">
              <a:srgbClr val="9AA8B5">
                <a:alpha val="16000"/>
              </a:srgbClr>
            </a:outerShdw>
          </a:effectLst>
        </p:spPr>
      </p:sp>
      <p:sp>
        <p:nvSpPr>
          <p:cNvPr id="10" name="Text 8"/>
          <p:cNvSpPr txBox="1"/>
          <p:nvPr/>
        </p:nvSpPr>
        <p:spPr>
          <a:xfrm>
            <a:off x="7973568" y="1792224"/>
            <a:ext cx="3410712" cy="310896"/>
          </a:xfrm>
          <a:prstGeom prst="rect">
            <a:avLst/>
          </a:prstGeom>
          <a:noFill/>
          <a:ln/>
        </p:spPr>
        <p:txBody>
          <a:bodyPr wrap="square" lIns="0" tIns="0" rIns="0" bIns="0" rtlCol="0" anchor="t"/>
          <a:lstStyle/>
          <a:p>
            <a:pPr marL="0" indent="0">
              <a:buNone/>
            </a:pPr>
            <a:r>
              <a:rPr lang="en-US" sz="1450" b="1" dirty="0">
                <a:solidFill>
                  <a:srgbClr val="1B2A4A"/>
                </a:solidFill>
                <a:latin typeface="Calibri" pitchFamily="34" charset="0"/>
                <a:ea typeface="Calibri" pitchFamily="34" charset="-122"/>
                <a:cs typeface="Calibri" pitchFamily="34" charset="-120"/>
              </a:rPr>
              <a:t>Lo que se le exige a la IA</a:t>
            </a:r>
            <a:endParaRPr lang="en-US" sz="1450" dirty="0"/>
          </a:p>
        </p:txBody>
      </p:sp>
      <p:sp>
        <p:nvSpPr>
          <p:cNvPr id="11" name="Text 9"/>
          <p:cNvSpPr txBox="1"/>
          <p:nvPr/>
        </p:nvSpPr>
        <p:spPr>
          <a:xfrm>
            <a:off x="8010144" y="2157984"/>
            <a:ext cx="3374136" cy="1243584"/>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1F2933"/>
                </a:solidFill>
                <a:latin typeface="Calibri" pitchFamily="34" charset="0"/>
                <a:ea typeface="Calibri" pitchFamily="34" charset="-122"/>
                <a:cs typeface="Calibri" pitchFamily="34" charset="-120"/>
              </a:rPr>
              <a:t>Alineación explícita al verbo de la competencia.</a:t>
            </a:r>
            <a:endParaRPr lang="en-US" sz="1150" dirty="0"/>
          </a:p>
          <a:p>
            <a:pPr marL="342900" indent="-342900">
              <a:spcAft>
                <a:spcPts val="500"/>
              </a:spcAft>
              <a:buSzPct val="100000"/>
              <a:buChar char="•"/>
            </a:pPr>
            <a:r>
              <a:rPr lang="en-US" sz="1150" dirty="0">
                <a:solidFill>
                  <a:srgbClr val="1F2933"/>
                </a:solidFill>
                <a:latin typeface="Calibri" pitchFamily="34" charset="0"/>
                <a:ea typeface="Calibri" pitchFamily="34" charset="-122"/>
                <a:cs typeface="Calibri" pitchFamily="34" charset="-120"/>
              </a:rPr>
              <a:t>Variedad de demanda cognitiva entre los tres reactivos.</a:t>
            </a:r>
            <a:endParaRPr lang="en-US" sz="1150" dirty="0"/>
          </a:p>
          <a:p>
            <a:pPr marL="342900" indent="-342900">
              <a:spcAft>
                <a:spcPts val="500"/>
              </a:spcAft>
              <a:buSzPct val="100000"/>
              <a:buChar char="•"/>
            </a:pPr>
            <a:r>
              <a:rPr lang="en-US" sz="1150" dirty="0">
                <a:solidFill>
                  <a:srgbClr val="1F2933"/>
                </a:solidFill>
                <a:latin typeface="Calibri" pitchFamily="34" charset="0"/>
                <a:ea typeface="Calibri" pitchFamily="34" charset="-122"/>
                <a:cs typeface="Calibri" pitchFamily="34" charset="-120"/>
              </a:rPr>
              <a:t>Respuesta modelo con el procedimiento visible.</a:t>
            </a:r>
            <a:endParaRPr lang="en-US" sz="1150" dirty="0"/>
          </a:p>
        </p:txBody>
      </p:sp>
      <p:sp>
        <p:nvSpPr>
          <p:cNvPr id="12" name="Shape 10"/>
          <p:cNvSpPr/>
          <p:nvPr/>
        </p:nvSpPr>
        <p:spPr>
          <a:xfrm>
            <a:off x="7735824" y="3730752"/>
            <a:ext cx="3886200" cy="2011680"/>
          </a:xfrm>
          <a:prstGeom prst="roundRect">
            <a:avLst>
              <a:gd name="adj" fmla="val 1818"/>
            </a:avLst>
          </a:prstGeom>
          <a:solidFill>
            <a:srgbClr val="FAF3E0"/>
          </a:solidFill>
          <a:ln w="12700">
            <a:solidFill>
              <a:srgbClr val="FAF3E0"/>
            </a:solidFill>
            <a:prstDash val="solid"/>
          </a:ln>
          <a:effectLst>
            <a:outerShdw blurRad="101600" dist="12700" dir="5400000" algn="bl" rotWithShape="0">
              <a:srgbClr val="9AA8B5">
                <a:alpha val="16000"/>
              </a:srgbClr>
            </a:outerShdw>
          </a:effectLst>
        </p:spPr>
      </p:sp>
      <p:sp>
        <p:nvSpPr>
          <p:cNvPr id="13" name="Text 11"/>
          <p:cNvSpPr txBox="1"/>
          <p:nvPr/>
        </p:nvSpPr>
        <p:spPr>
          <a:xfrm>
            <a:off x="7973568" y="3950208"/>
            <a:ext cx="3410712" cy="310896"/>
          </a:xfrm>
          <a:prstGeom prst="rect">
            <a:avLst/>
          </a:prstGeom>
          <a:noFill/>
          <a:ln/>
        </p:spPr>
        <p:txBody>
          <a:bodyPr wrap="square" lIns="0" tIns="0" rIns="0" bIns="0" rtlCol="0" anchor="t"/>
          <a:lstStyle/>
          <a:p>
            <a:pPr marL="0" indent="0">
              <a:buNone/>
            </a:pPr>
            <a:r>
              <a:rPr lang="en-US" sz="1450" b="1" dirty="0">
                <a:solidFill>
                  <a:srgbClr val="1B2A4A"/>
                </a:solidFill>
                <a:latin typeface="Calibri" pitchFamily="34" charset="0"/>
                <a:ea typeface="Calibri" pitchFamily="34" charset="-122"/>
                <a:cs typeface="Calibri" pitchFamily="34" charset="-120"/>
              </a:rPr>
              <a:t>Lo que la IA no puede decidir</a:t>
            </a:r>
            <a:endParaRPr lang="en-US" sz="1450" dirty="0"/>
          </a:p>
        </p:txBody>
      </p:sp>
      <p:sp>
        <p:nvSpPr>
          <p:cNvPr id="14" name="Text 12"/>
          <p:cNvSpPr txBox="1"/>
          <p:nvPr/>
        </p:nvSpPr>
        <p:spPr>
          <a:xfrm>
            <a:off x="8010144" y="4315968"/>
            <a:ext cx="3374136" cy="1243584"/>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1F2933"/>
                </a:solidFill>
                <a:latin typeface="Calibri" pitchFamily="34" charset="0"/>
                <a:ea typeface="Calibri" pitchFamily="34" charset="-122"/>
                <a:cs typeface="Calibri" pitchFamily="34" charset="-120"/>
              </a:rPr>
              <a:t>Si el nivel es el adecuado para su grupo real.</a:t>
            </a:r>
            <a:endParaRPr lang="en-US" sz="1150" dirty="0"/>
          </a:p>
          <a:p>
            <a:pPr marL="342900" indent="-342900">
              <a:spcAft>
                <a:spcPts val="500"/>
              </a:spcAft>
              <a:buSzPct val="100000"/>
              <a:buChar char="•"/>
            </a:pPr>
            <a:r>
              <a:rPr lang="en-US" sz="1150" dirty="0">
                <a:solidFill>
                  <a:srgbClr val="1F2933"/>
                </a:solidFill>
                <a:latin typeface="Calibri" pitchFamily="34" charset="0"/>
                <a:ea typeface="Calibri" pitchFamily="34" charset="-122"/>
                <a:cs typeface="Calibri" pitchFamily="34" charset="-120"/>
              </a:rPr>
              <a:t>Si el contexto de la situación es culturalmente pertinente.</a:t>
            </a:r>
            <a:endParaRPr lang="en-US" sz="1150" dirty="0"/>
          </a:p>
          <a:p>
            <a:pPr marL="342900" indent="-342900">
              <a:spcAft>
                <a:spcPts val="500"/>
              </a:spcAft>
              <a:buSzPct val="100000"/>
              <a:buChar char="•"/>
            </a:pPr>
            <a:r>
              <a:rPr lang="en-US" sz="1150" dirty="0">
                <a:solidFill>
                  <a:srgbClr val="1F2933"/>
                </a:solidFill>
                <a:latin typeface="Calibri" pitchFamily="34" charset="0"/>
                <a:ea typeface="Calibri" pitchFamily="34" charset="-122"/>
                <a:cs typeface="Calibri" pitchFamily="34" charset="-120"/>
              </a:rPr>
              <a:t>Si la acción de reenseñanza es viable con sus recursos.</a:t>
            </a:r>
            <a:endParaRPr lang="en-US" sz="11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29184"/>
            <a:ext cx="11055096" cy="256032"/>
          </a:xfrm>
          <a:prstGeom prst="rect">
            <a:avLst/>
          </a:prstGeom>
          <a:noFill/>
          <a:ln/>
        </p:spPr>
        <p:txBody>
          <a:bodyPr wrap="square" lIns="0" tIns="0" rIns="0" bIns="0" rtlCol="0" anchor="ctr"/>
          <a:lstStyle/>
          <a:p>
            <a:pPr marL="0" indent="0">
              <a:buNone/>
            </a:pPr>
            <a:r>
              <a:rPr lang="en-US" sz="1100" b="1" kern="0" spc="160" dirty="0">
                <a:solidFill>
                  <a:srgbClr val="2A9D8F"/>
                </a:solidFill>
                <a:latin typeface="Calibri" pitchFamily="34" charset="0"/>
                <a:ea typeface="Calibri" pitchFamily="34" charset="-122"/>
                <a:cs typeface="Calibri" pitchFamily="34" charset="-120"/>
              </a:rPr>
              <a:t>PROMPT MODELADO 3</a:t>
            </a:r>
            <a:endParaRPr lang="en-US" sz="1100" dirty="0"/>
          </a:p>
        </p:txBody>
      </p:sp>
      <p:sp>
        <p:nvSpPr>
          <p:cNvPr id="3" name="Text 1"/>
          <p:cNvSpPr txBox="1"/>
          <p:nvPr/>
        </p:nvSpPr>
        <p:spPr>
          <a:xfrm>
            <a:off x="566928" y="603504"/>
            <a:ext cx="11055096" cy="749808"/>
          </a:xfrm>
          <a:prstGeom prst="rect">
            <a:avLst/>
          </a:prstGeom>
          <a:noFill/>
          <a:ln/>
        </p:spPr>
        <p:txBody>
          <a:bodyPr wrap="square" lIns="0" tIns="0" rIns="0" bIns="0" rtlCol="0" anchor="t"/>
          <a:lstStyle/>
          <a:p>
            <a:pPr marL="0" indent="0">
              <a:buNone/>
            </a:pPr>
            <a:r>
              <a:rPr lang="en-US" sz="2900" b="1" dirty="0">
                <a:solidFill>
                  <a:srgbClr val="1B2A4A"/>
                </a:solidFill>
                <a:latin typeface="Cambria" pitchFamily="34" charset="0"/>
                <a:ea typeface="Cambria" pitchFamily="34" charset="-122"/>
                <a:cs typeface="Cambria" pitchFamily="34" charset="-120"/>
              </a:rPr>
              <a:t>Fragmentar un contenido extenso en una ruta de microunidades</a:t>
            </a:r>
            <a:endParaRPr lang="en-US" sz="2900" dirty="0"/>
          </a:p>
        </p:txBody>
      </p:sp>
      <p:sp>
        <p:nvSpPr>
          <p:cNvPr id="4" name="Text 2"/>
          <p:cNvSpPr txBox="1"/>
          <p:nvPr/>
        </p:nvSpPr>
        <p:spPr>
          <a:xfrm>
            <a:off x="566928" y="6428232"/>
            <a:ext cx="7863840" cy="256032"/>
          </a:xfrm>
          <a:prstGeom prst="rect">
            <a:avLst/>
          </a:prstGeom>
          <a:noFill/>
          <a:ln/>
        </p:spPr>
        <p:txBody>
          <a:bodyPr wrap="square" lIns="0" tIns="0" rIns="0" bIns="0" rtlCol="0" anchor="ctr"/>
          <a:lstStyle/>
          <a:p>
            <a:pPr marL="0" indent="0">
              <a:buNone/>
            </a:pPr>
            <a:r>
              <a:rPr lang="en-US" sz="900" dirty="0">
                <a:solidFill>
                  <a:srgbClr val="5B6B7B"/>
                </a:solidFill>
                <a:latin typeface="Calibri" pitchFamily="34" charset="0"/>
                <a:ea typeface="Calibri" pitchFamily="34" charset="-122"/>
                <a:cs typeface="Calibri" pitchFamily="34" charset="-120"/>
              </a:rPr>
              <a:t>Microaprendizaje para adultos  ·  Proyecto RUTA — Inter Ponce</a:t>
            </a:r>
            <a:endParaRPr lang="en-US" sz="900" dirty="0"/>
          </a:p>
        </p:txBody>
      </p:sp>
      <p:sp>
        <p:nvSpPr>
          <p:cNvPr id="5" name="Text 3"/>
          <p:cNvSpPr txBox="1"/>
          <p:nvPr/>
        </p:nvSpPr>
        <p:spPr>
          <a:xfrm>
            <a:off x="10972800" y="6428232"/>
            <a:ext cx="649224" cy="256032"/>
          </a:xfrm>
          <a:prstGeom prst="rect">
            <a:avLst/>
          </a:prstGeom>
          <a:noFill/>
          <a:ln/>
        </p:spPr>
        <p:txBody>
          <a:bodyPr wrap="square" lIns="0" tIns="0" rIns="0" bIns="0" rtlCol="0" anchor="ctr"/>
          <a:lstStyle/>
          <a:p>
            <a:pPr marL="0" indent="0" algn="r">
              <a:buNone/>
            </a:pPr>
            <a:r>
              <a:rPr lang="en-US" sz="900" dirty="0">
                <a:solidFill>
                  <a:srgbClr val="5B6B7B"/>
                </a:solidFill>
                <a:latin typeface="Calibri" pitchFamily="34" charset="0"/>
                <a:ea typeface="Calibri" pitchFamily="34" charset="-122"/>
                <a:cs typeface="Calibri" pitchFamily="34" charset="-120"/>
              </a:rPr>
              <a:t>41</a:t>
            </a:r>
            <a:endParaRPr lang="en-US" sz="900" dirty="0"/>
          </a:p>
        </p:txBody>
      </p:sp>
      <p:sp>
        <p:nvSpPr>
          <p:cNvPr id="6" name="Shape 4"/>
          <p:cNvSpPr/>
          <p:nvPr/>
        </p:nvSpPr>
        <p:spPr>
          <a:xfrm>
            <a:off x="566928" y="1572768"/>
            <a:ext cx="6903720" cy="4169664"/>
          </a:xfrm>
          <a:prstGeom prst="roundRect">
            <a:avLst>
              <a:gd name="adj" fmla="val 877"/>
            </a:avLst>
          </a:prstGeom>
          <a:solidFill>
            <a:srgbClr val="12203A"/>
          </a:solidFill>
          <a:ln w="12700">
            <a:solidFill>
              <a:srgbClr val="12203A"/>
            </a:solidFill>
            <a:prstDash val="solid"/>
          </a:ln>
        </p:spPr>
      </p:sp>
      <p:sp>
        <p:nvSpPr>
          <p:cNvPr id="7" name="Text 5"/>
          <p:cNvSpPr txBox="1"/>
          <p:nvPr/>
        </p:nvSpPr>
        <p:spPr>
          <a:xfrm>
            <a:off x="804672" y="1719072"/>
            <a:ext cx="6428232" cy="237744"/>
          </a:xfrm>
          <a:prstGeom prst="rect">
            <a:avLst/>
          </a:prstGeom>
          <a:noFill/>
          <a:ln/>
        </p:spPr>
        <p:txBody>
          <a:bodyPr wrap="square" lIns="0" tIns="0" rIns="0" bIns="0" rtlCol="0" anchor="ctr"/>
          <a:lstStyle/>
          <a:p>
            <a:pPr marL="0" indent="0">
              <a:buNone/>
            </a:pPr>
            <a:r>
              <a:rPr lang="en-US" sz="1050" b="1" kern="0" spc="120" dirty="0">
                <a:solidFill>
                  <a:srgbClr val="C9A84C"/>
                </a:solidFill>
                <a:latin typeface="Calibri" pitchFamily="34" charset="0"/>
                <a:ea typeface="Calibri" pitchFamily="34" charset="-122"/>
                <a:cs typeface="Calibri" pitchFamily="34" charset="-120"/>
              </a:rPr>
              <a:t>PROMPT RC-TTF</a:t>
            </a:r>
            <a:endParaRPr lang="en-US" sz="1050" dirty="0"/>
          </a:p>
        </p:txBody>
      </p:sp>
      <p:sp>
        <p:nvSpPr>
          <p:cNvPr id="8" name="Text 6"/>
          <p:cNvSpPr txBox="1"/>
          <p:nvPr/>
        </p:nvSpPr>
        <p:spPr>
          <a:xfrm>
            <a:off x="804672" y="1993392"/>
            <a:ext cx="6428232" cy="3566160"/>
          </a:xfrm>
          <a:prstGeom prst="rect">
            <a:avLst/>
          </a:prstGeom>
          <a:noFill/>
          <a:ln/>
        </p:spPr>
        <p:txBody>
          <a:bodyPr wrap="square" lIns="0" tIns="0" rIns="0" bIns="0" rtlCol="0" anchor="t"/>
          <a:lstStyle/>
          <a:p>
            <a:pPr marL="0" indent="0">
              <a:lnSpc>
                <a:spcPct val="110000"/>
              </a:lnSpc>
              <a:buNone/>
            </a:pPr>
            <a:r>
              <a:rPr lang="en-US" sz="1000" dirty="0">
                <a:solidFill>
                  <a:srgbClr val="E8EEF6"/>
                </a:solidFill>
                <a:latin typeface="Courier New" pitchFamily="34" charset="0"/>
                <a:ea typeface="Courier New" pitchFamily="34" charset="-122"/>
                <a:cs typeface="Courier New" pitchFamily="34" charset="-120"/>
              </a:rPr>
              <a:t>[ROL] Actúa como diseñador de rutas de aprendizaje para</a:t>
            </a:r>
            <a:endParaRPr lang="en-US" sz="1000" dirty="0"/>
          </a:p>
          <a:p>
            <a:pPr marL="0" indent="0">
              <a:lnSpc>
                <a:spcPct val="110000"/>
              </a:lnSpc>
              <a:buNone/>
            </a:pPr>
            <a:r>
              <a:rPr lang="en-US" sz="1000" dirty="0">
                <a:solidFill>
                  <a:srgbClr val="E8EEF6"/>
                </a:solidFill>
                <a:latin typeface="Courier New" pitchFamily="34" charset="0"/>
                <a:ea typeface="Courier New" pitchFamily="34" charset="-122"/>
                <a:cs typeface="Courier New" pitchFamily="34" charset="-120"/>
              </a:rPr>
              <a:t>adultos.</a:t>
            </a:r>
            <a:endParaRPr lang="en-US" sz="1000" dirty="0"/>
          </a:p>
          <a:p>
            <a:pPr marL="0" indent="0">
              <a:lnSpc>
                <a:spcPct val="110000"/>
              </a:lnSpc>
              <a:buNone/>
            </a:pPr>
            <a:endParaRPr lang="en-US" sz="1000" dirty="0"/>
          </a:p>
          <a:p>
            <a:pPr marL="0" indent="0">
              <a:lnSpc>
                <a:spcPct val="110000"/>
              </a:lnSpc>
              <a:buNone/>
            </a:pPr>
            <a:r>
              <a:rPr lang="en-US" sz="1000" dirty="0">
                <a:solidFill>
                  <a:srgbClr val="E8EEF6"/>
                </a:solidFill>
                <a:latin typeface="Courier New" pitchFamily="34" charset="0"/>
                <a:ea typeface="Courier New" pitchFamily="34" charset="-122"/>
                <a:cs typeface="Courier New" pitchFamily="34" charset="-120"/>
              </a:rPr>
              <a:t>[CONTEXTO] Tengo un módulo de 3 horas sobre "llenar la</a:t>
            </a:r>
            <a:endParaRPr lang="en-US" sz="1000" dirty="0"/>
          </a:p>
          <a:p>
            <a:pPr marL="0" indent="0">
              <a:lnSpc>
                <a:spcPct val="110000"/>
              </a:lnSpc>
              <a:buNone/>
            </a:pPr>
            <a:r>
              <a:rPr lang="en-US" sz="1000" dirty="0">
                <a:solidFill>
                  <a:srgbClr val="E8EEF6"/>
                </a:solidFill>
                <a:latin typeface="Courier New" pitchFamily="34" charset="0"/>
                <a:ea typeface="Courier New" pitchFamily="34" charset="-122"/>
                <a:cs typeface="Courier New" pitchFamily="34" charset="-120"/>
              </a:rPr>
              <a:t>solicitud de empleo en línea" que hoy se da en una sola</a:t>
            </a:r>
            <a:endParaRPr lang="en-US" sz="1000" dirty="0"/>
          </a:p>
          <a:p>
            <a:pPr marL="0" indent="0">
              <a:lnSpc>
                <a:spcPct val="110000"/>
              </a:lnSpc>
              <a:buNone/>
            </a:pPr>
            <a:r>
              <a:rPr lang="en-US" sz="1000" dirty="0">
                <a:solidFill>
                  <a:srgbClr val="E8EEF6"/>
                </a:solidFill>
                <a:latin typeface="Courier New" pitchFamily="34" charset="0"/>
                <a:ea typeface="Courier New" pitchFamily="34" charset="-122"/>
                <a:cs typeface="Courier New" pitchFamily="34" charset="-120"/>
              </a:rPr>
              <a:t>sesión y del que los participantes retienen poco.</a:t>
            </a:r>
            <a:endParaRPr lang="en-US" sz="1000" dirty="0"/>
          </a:p>
          <a:p>
            <a:pPr marL="0" indent="0">
              <a:lnSpc>
                <a:spcPct val="110000"/>
              </a:lnSpc>
              <a:buNone/>
            </a:pPr>
            <a:endParaRPr lang="en-US" sz="1000" dirty="0"/>
          </a:p>
          <a:p>
            <a:pPr marL="0" indent="0">
              <a:lnSpc>
                <a:spcPct val="110000"/>
              </a:lnSpc>
              <a:buNone/>
            </a:pPr>
            <a:r>
              <a:rPr lang="en-US" sz="1000" dirty="0">
                <a:solidFill>
                  <a:srgbClr val="E8EEF6"/>
                </a:solidFill>
                <a:latin typeface="Courier New" pitchFamily="34" charset="0"/>
                <a:ea typeface="Courier New" pitchFamily="34" charset="-122"/>
                <a:cs typeface="Courier New" pitchFamily="34" charset="-120"/>
              </a:rPr>
              <a:t>[TAREA] Divídelo en 4 microunidades de 10 minutos. Cada una</a:t>
            </a:r>
            <a:endParaRPr lang="en-US" sz="1000" dirty="0"/>
          </a:p>
          <a:p>
            <a:pPr marL="0" indent="0">
              <a:lnSpc>
                <a:spcPct val="110000"/>
              </a:lnSpc>
              <a:buNone/>
            </a:pPr>
            <a:r>
              <a:rPr lang="en-US" sz="1000" dirty="0">
                <a:solidFill>
                  <a:srgbClr val="E8EEF6"/>
                </a:solidFill>
                <a:latin typeface="Courier New" pitchFamily="34" charset="0"/>
                <a:ea typeface="Courier New" pitchFamily="34" charset="-122"/>
                <a:cs typeface="Courier New" pitchFamily="34" charset="-120"/>
              </a:rPr>
              <a:t>debe tener una sola competencia observable con condición,</a:t>
            </a:r>
            <a:endParaRPr lang="en-US" sz="1000" dirty="0"/>
          </a:p>
          <a:p>
            <a:pPr marL="0" indent="0">
              <a:lnSpc>
                <a:spcPct val="110000"/>
              </a:lnSpc>
              <a:buNone/>
            </a:pPr>
            <a:r>
              <a:rPr lang="en-US" sz="1000" dirty="0">
                <a:solidFill>
                  <a:srgbClr val="E8EEF6"/>
                </a:solidFill>
                <a:latin typeface="Courier New" pitchFamily="34" charset="0"/>
                <a:ea typeface="Courier New" pitchFamily="34" charset="-122"/>
                <a:cs typeface="Courier New" pitchFamily="34" charset="-120"/>
              </a:rPr>
              <a:t>verbo, objeto y criterio. Distribúyelas en los días 1, 3, 7</a:t>
            </a:r>
            <a:endParaRPr lang="en-US" sz="1000" dirty="0"/>
          </a:p>
          <a:p>
            <a:pPr marL="0" indent="0">
              <a:lnSpc>
                <a:spcPct val="110000"/>
              </a:lnSpc>
              <a:buNone/>
            </a:pPr>
            <a:r>
              <a:rPr lang="en-US" sz="1000" dirty="0">
                <a:solidFill>
                  <a:srgbClr val="E8EEF6"/>
                </a:solidFill>
                <a:latin typeface="Courier New" pitchFamily="34" charset="0"/>
                <a:ea typeface="Courier New" pitchFamily="34" charset="-122"/>
                <a:cs typeface="Courier New" pitchFamily="34" charset="-120"/>
              </a:rPr>
              <a:t>y 14, e indica qué recupera cada una de las anteriores sin</a:t>
            </a:r>
            <a:endParaRPr lang="en-US" sz="1000" dirty="0"/>
          </a:p>
          <a:p>
            <a:pPr marL="0" indent="0">
              <a:lnSpc>
                <a:spcPct val="110000"/>
              </a:lnSpc>
              <a:buNone/>
            </a:pPr>
            <a:r>
              <a:rPr lang="en-US" sz="1000" dirty="0">
                <a:solidFill>
                  <a:srgbClr val="E8EEF6"/>
                </a:solidFill>
                <a:latin typeface="Courier New" pitchFamily="34" charset="0"/>
                <a:ea typeface="Courier New" pitchFamily="34" charset="-122"/>
                <a:cs typeface="Courier New" pitchFamily="34" charset="-120"/>
              </a:rPr>
              <a:t>volver a explicarlas. Señala cuál de las seis funciones de</a:t>
            </a:r>
            <a:endParaRPr lang="en-US" sz="1000" dirty="0"/>
          </a:p>
          <a:p>
            <a:pPr marL="0" indent="0">
              <a:lnSpc>
                <a:spcPct val="110000"/>
              </a:lnSpc>
              <a:buNone/>
            </a:pPr>
            <a:r>
              <a:rPr lang="en-US" sz="1000" dirty="0">
                <a:solidFill>
                  <a:srgbClr val="E8EEF6"/>
                </a:solidFill>
                <a:latin typeface="Courier New" pitchFamily="34" charset="0"/>
                <a:ea typeface="Courier New" pitchFamily="34" charset="-122"/>
                <a:cs typeface="Courier New" pitchFamily="34" charset="-120"/>
              </a:rPr>
              <a:t>microaprendizaje cumple cada unidad.</a:t>
            </a:r>
            <a:endParaRPr lang="en-US" sz="1000" dirty="0"/>
          </a:p>
          <a:p>
            <a:pPr marL="0" indent="0">
              <a:lnSpc>
                <a:spcPct val="110000"/>
              </a:lnSpc>
              <a:buNone/>
            </a:pPr>
            <a:endParaRPr lang="en-US" sz="1000" dirty="0"/>
          </a:p>
          <a:p>
            <a:pPr marL="0" indent="0">
              <a:lnSpc>
                <a:spcPct val="110000"/>
              </a:lnSpc>
              <a:buNone/>
            </a:pPr>
            <a:r>
              <a:rPr lang="en-US" sz="1000" dirty="0">
                <a:solidFill>
                  <a:srgbClr val="E8EEF6"/>
                </a:solidFill>
                <a:latin typeface="Courier New" pitchFamily="34" charset="0"/>
                <a:ea typeface="Courier New" pitchFamily="34" charset="-122"/>
                <a:cs typeface="Courier New" pitchFamily="34" charset="-120"/>
              </a:rPr>
              <a:t>[TONO] Técnico pero legible para un docente sin formación en</a:t>
            </a:r>
            <a:endParaRPr lang="en-US" sz="1000" dirty="0"/>
          </a:p>
          <a:p>
            <a:pPr marL="0" indent="0">
              <a:lnSpc>
                <a:spcPct val="110000"/>
              </a:lnSpc>
              <a:buNone/>
            </a:pPr>
            <a:r>
              <a:rPr lang="en-US" sz="1000" dirty="0">
                <a:solidFill>
                  <a:srgbClr val="E8EEF6"/>
                </a:solidFill>
                <a:latin typeface="Courier New" pitchFamily="34" charset="0"/>
                <a:ea typeface="Courier New" pitchFamily="34" charset="-122"/>
                <a:cs typeface="Courier New" pitchFamily="34" charset="-120"/>
              </a:rPr>
              <a:t>diseño instruccional.</a:t>
            </a:r>
            <a:endParaRPr lang="en-US" sz="1000" dirty="0"/>
          </a:p>
          <a:p>
            <a:pPr marL="0" indent="0">
              <a:lnSpc>
                <a:spcPct val="110000"/>
              </a:lnSpc>
              <a:buNone/>
            </a:pPr>
            <a:endParaRPr lang="en-US" sz="1000" dirty="0"/>
          </a:p>
          <a:p>
            <a:pPr marL="0" indent="0">
              <a:lnSpc>
                <a:spcPct val="110000"/>
              </a:lnSpc>
              <a:buNone/>
            </a:pPr>
            <a:r>
              <a:rPr lang="en-US" sz="1000" dirty="0">
                <a:solidFill>
                  <a:srgbClr val="E8EEF6"/>
                </a:solidFill>
                <a:latin typeface="Courier New" pitchFamily="34" charset="0"/>
                <a:ea typeface="Courier New" pitchFamily="34" charset="-122"/>
                <a:cs typeface="Courier New" pitchFamily="34" charset="-120"/>
              </a:rPr>
              <a:t>[FORMATO] Tabla: día, competencia observable, función,</a:t>
            </a:r>
            <a:endParaRPr lang="en-US" sz="1000" dirty="0"/>
          </a:p>
          <a:p>
            <a:pPr marL="0" indent="0">
              <a:lnSpc>
                <a:spcPct val="110000"/>
              </a:lnSpc>
              <a:buNone/>
            </a:pPr>
            <a:r>
              <a:rPr lang="en-US" sz="1000" dirty="0">
                <a:solidFill>
                  <a:srgbClr val="E8EEF6"/>
                </a:solidFill>
                <a:latin typeface="Courier New" pitchFamily="34" charset="0"/>
                <a:ea typeface="Courier New" pitchFamily="34" charset="-122"/>
                <a:cs typeface="Courier New" pitchFamily="34" charset="-120"/>
              </a:rPr>
              <a:t>formato sugerido y qué recupera de las unidades previas.</a:t>
            </a:r>
            <a:endParaRPr lang="en-US" sz="1000" dirty="0"/>
          </a:p>
        </p:txBody>
      </p:sp>
      <p:sp>
        <p:nvSpPr>
          <p:cNvPr id="9" name="Shape 7"/>
          <p:cNvSpPr/>
          <p:nvPr/>
        </p:nvSpPr>
        <p:spPr>
          <a:xfrm>
            <a:off x="7735824" y="1572768"/>
            <a:ext cx="3886200" cy="2011680"/>
          </a:xfrm>
          <a:prstGeom prst="roundRect">
            <a:avLst>
              <a:gd name="adj" fmla="val 1818"/>
            </a:avLst>
          </a:prstGeom>
          <a:solidFill>
            <a:srgbClr val="E7F2F0"/>
          </a:solidFill>
          <a:ln w="12700">
            <a:solidFill>
              <a:srgbClr val="E7F2F0"/>
            </a:solidFill>
            <a:prstDash val="solid"/>
          </a:ln>
          <a:effectLst>
            <a:outerShdw blurRad="101600" dist="12700" dir="5400000" algn="bl" rotWithShape="0">
              <a:srgbClr val="9AA8B5">
                <a:alpha val="16000"/>
              </a:srgbClr>
            </a:outerShdw>
          </a:effectLst>
        </p:spPr>
      </p:sp>
      <p:sp>
        <p:nvSpPr>
          <p:cNvPr id="10" name="Text 8"/>
          <p:cNvSpPr txBox="1"/>
          <p:nvPr/>
        </p:nvSpPr>
        <p:spPr>
          <a:xfrm>
            <a:off x="7973568" y="1792224"/>
            <a:ext cx="3410712" cy="310896"/>
          </a:xfrm>
          <a:prstGeom prst="rect">
            <a:avLst/>
          </a:prstGeom>
          <a:noFill/>
          <a:ln/>
        </p:spPr>
        <p:txBody>
          <a:bodyPr wrap="square" lIns="0" tIns="0" rIns="0" bIns="0" rtlCol="0" anchor="t"/>
          <a:lstStyle/>
          <a:p>
            <a:pPr marL="0" indent="0">
              <a:buNone/>
            </a:pPr>
            <a:r>
              <a:rPr lang="en-US" sz="1450" b="1" dirty="0">
                <a:solidFill>
                  <a:srgbClr val="1B2A4A"/>
                </a:solidFill>
                <a:latin typeface="Calibri" pitchFamily="34" charset="0"/>
                <a:ea typeface="Calibri" pitchFamily="34" charset="-122"/>
                <a:cs typeface="Calibri" pitchFamily="34" charset="-120"/>
              </a:rPr>
              <a:t>El uso más rentable de la IA</a:t>
            </a:r>
            <a:endParaRPr lang="en-US" sz="1450" dirty="0"/>
          </a:p>
        </p:txBody>
      </p:sp>
      <p:sp>
        <p:nvSpPr>
          <p:cNvPr id="11" name="Text 9"/>
          <p:cNvSpPr txBox="1"/>
          <p:nvPr/>
        </p:nvSpPr>
        <p:spPr>
          <a:xfrm>
            <a:off x="7973568" y="2157984"/>
            <a:ext cx="3410712" cy="1243584"/>
          </a:xfrm>
          <a:prstGeom prst="rect">
            <a:avLst/>
          </a:prstGeom>
          <a:noFill/>
          <a:ln/>
        </p:spPr>
        <p:txBody>
          <a:bodyPr wrap="square" lIns="0" tIns="0" rIns="0" bIns="0" rtlCol="0" anchor="t"/>
          <a:lstStyle/>
          <a:p>
            <a:pPr marL="0" indent="0">
              <a:lnSpc>
                <a:spcPct val="106000"/>
              </a:lnSpc>
              <a:buNone/>
            </a:pPr>
            <a:r>
              <a:rPr lang="en-US" sz="1150" dirty="0">
                <a:solidFill>
                  <a:srgbClr val="1F2933"/>
                </a:solidFill>
                <a:latin typeface="Calibri" pitchFamily="34" charset="0"/>
                <a:ea typeface="Calibri" pitchFamily="34" charset="-122"/>
                <a:cs typeface="Calibri" pitchFamily="34" charset="-120"/>
              </a:rPr>
              <a:t>Fragmentar es la tarea más lenta del rediseño y la que la IA acelera con mayor fidelidad, porque las reglas de fragmentación son explícitas y verificables.</a:t>
            </a:r>
            <a:endParaRPr lang="en-US" sz="1150" dirty="0"/>
          </a:p>
        </p:txBody>
      </p:sp>
      <p:sp>
        <p:nvSpPr>
          <p:cNvPr id="12" name="Shape 10"/>
          <p:cNvSpPr/>
          <p:nvPr/>
        </p:nvSpPr>
        <p:spPr>
          <a:xfrm>
            <a:off x="7735824" y="3730752"/>
            <a:ext cx="3886200" cy="2011680"/>
          </a:xfrm>
          <a:prstGeom prst="roundRect">
            <a:avLst>
              <a:gd name="adj" fmla="val 1818"/>
            </a:avLst>
          </a:prstGeom>
          <a:solidFill>
            <a:srgbClr val="FAF3E0"/>
          </a:solidFill>
          <a:ln w="12700">
            <a:solidFill>
              <a:srgbClr val="FAF3E0"/>
            </a:solidFill>
            <a:prstDash val="solid"/>
          </a:ln>
          <a:effectLst>
            <a:outerShdw blurRad="101600" dist="12700" dir="5400000" algn="bl" rotWithShape="0">
              <a:srgbClr val="9AA8B5">
                <a:alpha val="16000"/>
              </a:srgbClr>
            </a:outerShdw>
          </a:effectLst>
        </p:spPr>
      </p:sp>
      <p:sp>
        <p:nvSpPr>
          <p:cNvPr id="13" name="Text 11"/>
          <p:cNvSpPr txBox="1"/>
          <p:nvPr/>
        </p:nvSpPr>
        <p:spPr>
          <a:xfrm>
            <a:off x="7973568" y="3950208"/>
            <a:ext cx="3410712" cy="310896"/>
          </a:xfrm>
          <a:prstGeom prst="rect">
            <a:avLst/>
          </a:prstGeom>
          <a:noFill/>
          <a:ln/>
        </p:spPr>
        <p:txBody>
          <a:bodyPr wrap="square" lIns="0" tIns="0" rIns="0" bIns="0" rtlCol="0" anchor="t"/>
          <a:lstStyle/>
          <a:p>
            <a:pPr marL="0" indent="0">
              <a:buNone/>
            </a:pPr>
            <a:r>
              <a:rPr lang="en-US" sz="1450" b="1" dirty="0">
                <a:solidFill>
                  <a:srgbClr val="1B2A4A"/>
                </a:solidFill>
                <a:latin typeface="Calibri" pitchFamily="34" charset="0"/>
                <a:ea typeface="Calibri" pitchFamily="34" charset="-122"/>
                <a:cs typeface="Calibri" pitchFamily="34" charset="-120"/>
              </a:rPr>
              <a:t>Advertencia</a:t>
            </a:r>
            <a:endParaRPr lang="en-US" sz="1450" dirty="0"/>
          </a:p>
        </p:txBody>
      </p:sp>
      <p:sp>
        <p:nvSpPr>
          <p:cNvPr id="14" name="Text 12"/>
          <p:cNvSpPr txBox="1"/>
          <p:nvPr/>
        </p:nvSpPr>
        <p:spPr>
          <a:xfrm>
            <a:off x="7973568" y="4315968"/>
            <a:ext cx="3410712" cy="1243584"/>
          </a:xfrm>
          <a:prstGeom prst="rect">
            <a:avLst/>
          </a:prstGeom>
          <a:noFill/>
          <a:ln/>
        </p:spPr>
        <p:txBody>
          <a:bodyPr wrap="square" lIns="0" tIns="0" rIns="0" bIns="0" rtlCol="0" anchor="t"/>
          <a:lstStyle/>
          <a:p>
            <a:pPr marL="0" indent="0">
              <a:lnSpc>
                <a:spcPct val="106000"/>
              </a:lnSpc>
              <a:buNone/>
            </a:pPr>
            <a:r>
              <a:rPr lang="en-US" sz="1150" dirty="0">
                <a:solidFill>
                  <a:srgbClr val="1F2933"/>
                </a:solidFill>
                <a:latin typeface="Calibri" pitchFamily="34" charset="0"/>
                <a:ea typeface="Calibri" pitchFamily="34" charset="-122"/>
                <a:cs typeface="Calibri" pitchFamily="34" charset="-120"/>
              </a:rPr>
              <a:t>La IA propondrá una división plausible, no necesariamente la correcta para su grupo. Usted decide qué va primero según lo que sus participantes ya dominan.</a:t>
            </a:r>
            <a:endParaRPr lang="en-US" sz="11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29184"/>
            <a:ext cx="11055096" cy="256032"/>
          </a:xfrm>
          <a:prstGeom prst="rect">
            <a:avLst/>
          </a:prstGeom>
          <a:noFill/>
          <a:ln/>
        </p:spPr>
        <p:txBody>
          <a:bodyPr wrap="square" lIns="0" tIns="0" rIns="0" bIns="0" rtlCol="0" anchor="ctr"/>
          <a:lstStyle/>
          <a:p>
            <a:pPr marL="0" indent="0">
              <a:buNone/>
            </a:pPr>
            <a:r>
              <a:rPr lang="en-US" sz="1100" b="1" kern="0" spc="160" dirty="0">
                <a:solidFill>
                  <a:srgbClr val="2A9D8F"/>
                </a:solidFill>
                <a:latin typeface="Calibri" pitchFamily="34" charset="0"/>
                <a:ea typeface="Calibri" pitchFamily="34" charset="-122"/>
                <a:cs typeface="Calibri" pitchFamily="34" charset="-120"/>
              </a:rPr>
              <a:t>CRITERIO PROFESIONAL</a:t>
            </a:r>
            <a:endParaRPr lang="en-US" sz="1100" dirty="0"/>
          </a:p>
        </p:txBody>
      </p:sp>
      <p:sp>
        <p:nvSpPr>
          <p:cNvPr id="3" name="Text 1"/>
          <p:cNvSpPr txBox="1"/>
          <p:nvPr/>
        </p:nvSpPr>
        <p:spPr>
          <a:xfrm>
            <a:off x="566928" y="603504"/>
            <a:ext cx="11055096" cy="749808"/>
          </a:xfrm>
          <a:prstGeom prst="rect">
            <a:avLst/>
          </a:prstGeom>
          <a:noFill/>
          <a:ln/>
        </p:spPr>
        <p:txBody>
          <a:bodyPr wrap="square" lIns="0" tIns="0" rIns="0" bIns="0" rtlCol="0" anchor="t"/>
          <a:lstStyle/>
          <a:p>
            <a:pPr marL="0" indent="0">
              <a:buNone/>
            </a:pPr>
            <a:r>
              <a:rPr lang="en-US" sz="2900" b="1" dirty="0">
                <a:solidFill>
                  <a:srgbClr val="1B2A4A"/>
                </a:solidFill>
                <a:latin typeface="Cambria" pitchFamily="34" charset="0"/>
                <a:ea typeface="Cambria" pitchFamily="34" charset="-122"/>
                <a:cs typeface="Cambria" pitchFamily="34" charset="-120"/>
              </a:rPr>
              <a:t>Cinco controles de verificación humana</a:t>
            </a:r>
            <a:endParaRPr lang="en-US" sz="2900" dirty="0"/>
          </a:p>
        </p:txBody>
      </p:sp>
      <p:sp>
        <p:nvSpPr>
          <p:cNvPr id="4" name="Text 2"/>
          <p:cNvSpPr txBox="1"/>
          <p:nvPr/>
        </p:nvSpPr>
        <p:spPr>
          <a:xfrm>
            <a:off x="566928" y="6428232"/>
            <a:ext cx="7863840" cy="256032"/>
          </a:xfrm>
          <a:prstGeom prst="rect">
            <a:avLst/>
          </a:prstGeom>
          <a:noFill/>
          <a:ln/>
        </p:spPr>
        <p:txBody>
          <a:bodyPr wrap="square" lIns="0" tIns="0" rIns="0" bIns="0" rtlCol="0" anchor="ctr"/>
          <a:lstStyle/>
          <a:p>
            <a:pPr marL="0" indent="0">
              <a:buNone/>
            </a:pPr>
            <a:r>
              <a:rPr lang="en-US" sz="900" dirty="0">
                <a:solidFill>
                  <a:srgbClr val="5B6B7B"/>
                </a:solidFill>
                <a:latin typeface="Calibri" pitchFamily="34" charset="0"/>
                <a:ea typeface="Calibri" pitchFamily="34" charset="-122"/>
                <a:cs typeface="Calibri" pitchFamily="34" charset="-120"/>
              </a:rPr>
              <a:t>Microaprendizaje para adultos  ·  Proyecto RUTA — Inter Ponce</a:t>
            </a:r>
            <a:endParaRPr lang="en-US" sz="900" dirty="0"/>
          </a:p>
        </p:txBody>
      </p:sp>
      <p:sp>
        <p:nvSpPr>
          <p:cNvPr id="5" name="Text 3"/>
          <p:cNvSpPr txBox="1"/>
          <p:nvPr/>
        </p:nvSpPr>
        <p:spPr>
          <a:xfrm>
            <a:off x="10972800" y="6428232"/>
            <a:ext cx="649224" cy="256032"/>
          </a:xfrm>
          <a:prstGeom prst="rect">
            <a:avLst/>
          </a:prstGeom>
          <a:noFill/>
          <a:ln/>
        </p:spPr>
        <p:txBody>
          <a:bodyPr wrap="square" lIns="0" tIns="0" rIns="0" bIns="0" rtlCol="0" anchor="ctr"/>
          <a:lstStyle/>
          <a:p>
            <a:pPr marL="0" indent="0" algn="r">
              <a:buNone/>
            </a:pPr>
            <a:r>
              <a:rPr lang="en-US" sz="900" dirty="0">
                <a:solidFill>
                  <a:srgbClr val="5B6B7B"/>
                </a:solidFill>
                <a:latin typeface="Calibri" pitchFamily="34" charset="0"/>
                <a:ea typeface="Calibri" pitchFamily="34" charset="-122"/>
                <a:cs typeface="Calibri" pitchFamily="34" charset="-120"/>
              </a:rPr>
              <a:t>42</a:t>
            </a:r>
            <a:endParaRPr lang="en-US" sz="900" dirty="0"/>
          </a:p>
        </p:txBody>
      </p:sp>
      <p:sp>
        <p:nvSpPr>
          <p:cNvPr id="6" name="Shape 4"/>
          <p:cNvSpPr/>
          <p:nvPr/>
        </p:nvSpPr>
        <p:spPr>
          <a:xfrm>
            <a:off x="566928" y="1572768"/>
            <a:ext cx="2057400" cy="2670048"/>
          </a:xfrm>
          <a:prstGeom prst="roundRect">
            <a:avLst>
              <a:gd name="adj" fmla="val 1778"/>
            </a:avLst>
          </a:prstGeom>
          <a:solidFill>
            <a:srgbClr val="F1F4F8"/>
          </a:solidFill>
          <a:ln w="12700">
            <a:solidFill>
              <a:srgbClr val="F1F4F8"/>
            </a:solidFill>
            <a:prstDash val="solid"/>
          </a:ln>
          <a:effectLst>
            <a:outerShdw blurRad="101600" dist="12700" dir="5400000" algn="bl" rotWithShape="0">
              <a:srgbClr val="9AA8B5">
                <a:alpha val="16000"/>
              </a:srgbClr>
            </a:outerShdw>
          </a:effectLst>
        </p:spPr>
      </p:sp>
      <p:sp>
        <p:nvSpPr>
          <p:cNvPr id="7" name="Shape 5"/>
          <p:cNvSpPr/>
          <p:nvPr/>
        </p:nvSpPr>
        <p:spPr>
          <a:xfrm>
            <a:off x="804672" y="1792224"/>
            <a:ext cx="420624" cy="420624"/>
          </a:xfrm>
          <a:prstGeom prst="ellipse">
            <a:avLst/>
          </a:prstGeom>
          <a:solidFill>
            <a:srgbClr val="1B2A4A"/>
          </a:solidFill>
          <a:ln w="12700">
            <a:solidFill>
              <a:srgbClr val="1B2A4A"/>
            </a:solidFill>
            <a:prstDash val="solid"/>
          </a:ln>
        </p:spPr>
      </p:sp>
      <p:sp>
        <p:nvSpPr>
          <p:cNvPr id="8" name="Text 6"/>
          <p:cNvSpPr txBox="1"/>
          <p:nvPr/>
        </p:nvSpPr>
        <p:spPr>
          <a:xfrm>
            <a:off x="804672" y="1792224"/>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7"/>
          <p:cNvSpPr txBox="1"/>
          <p:nvPr/>
        </p:nvSpPr>
        <p:spPr>
          <a:xfrm>
            <a:off x="804672" y="2359152"/>
            <a:ext cx="1581912" cy="310896"/>
          </a:xfrm>
          <a:prstGeom prst="rect">
            <a:avLst/>
          </a:prstGeom>
          <a:noFill/>
          <a:ln/>
        </p:spPr>
        <p:txBody>
          <a:bodyPr wrap="square" lIns="0" tIns="0" rIns="0" bIns="0" rtlCol="0" anchor="t"/>
          <a:lstStyle/>
          <a:p>
            <a:pPr marL="0" indent="0">
              <a:buNone/>
            </a:pPr>
            <a:r>
              <a:rPr lang="en-US" sz="1400" b="1" dirty="0">
                <a:solidFill>
                  <a:srgbClr val="1B2A4A"/>
                </a:solidFill>
                <a:latin typeface="Calibri" pitchFamily="34" charset="0"/>
                <a:ea typeface="Calibri" pitchFamily="34" charset="-122"/>
                <a:cs typeface="Calibri" pitchFamily="34" charset="-120"/>
              </a:rPr>
              <a:t>Alineación</a:t>
            </a:r>
            <a:endParaRPr lang="en-US" sz="1400" dirty="0"/>
          </a:p>
        </p:txBody>
      </p:sp>
      <p:sp>
        <p:nvSpPr>
          <p:cNvPr id="10" name="Text 8"/>
          <p:cNvSpPr txBox="1"/>
          <p:nvPr/>
        </p:nvSpPr>
        <p:spPr>
          <a:xfrm>
            <a:off x="804672" y="2724912"/>
            <a:ext cx="1581912" cy="1335024"/>
          </a:xfrm>
          <a:prstGeom prst="rect">
            <a:avLst/>
          </a:prstGeom>
          <a:noFill/>
          <a:ln/>
        </p:spPr>
        <p:txBody>
          <a:bodyPr wrap="square" lIns="0" tIns="0" rIns="0" bIns="0" rtlCol="0" anchor="t"/>
          <a:lstStyle/>
          <a:p>
            <a:pPr marL="0" indent="0">
              <a:lnSpc>
                <a:spcPct val="106000"/>
              </a:lnSpc>
              <a:buNone/>
            </a:pPr>
            <a:r>
              <a:rPr lang="en-US" sz="1150" dirty="0">
                <a:solidFill>
                  <a:srgbClr val="1F2933"/>
                </a:solidFill>
                <a:latin typeface="Calibri" pitchFamily="34" charset="0"/>
                <a:ea typeface="Calibri" pitchFamily="34" charset="-122"/>
                <a:cs typeface="Calibri" pitchFamily="34" charset="-120"/>
              </a:rPr>
              <a:t>¿Cada elemento sirve a la competencia declarada, o hay contenido añadido?</a:t>
            </a:r>
            <a:endParaRPr lang="en-US" sz="1150" dirty="0"/>
          </a:p>
        </p:txBody>
      </p:sp>
      <p:sp>
        <p:nvSpPr>
          <p:cNvPr id="11" name="Shape 9"/>
          <p:cNvSpPr/>
          <p:nvPr/>
        </p:nvSpPr>
        <p:spPr>
          <a:xfrm>
            <a:off x="2798064" y="1572768"/>
            <a:ext cx="2057400" cy="2670048"/>
          </a:xfrm>
          <a:prstGeom prst="roundRect">
            <a:avLst>
              <a:gd name="adj" fmla="val 1778"/>
            </a:avLst>
          </a:prstGeom>
          <a:solidFill>
            <a:srgbClr val="E7F2F0"/>
          </a:solidFill>
          <a:ln w="12700">
            <a:solidFill>
              <a:srgbClr val="E7F2F0"/>
            </a:solidFill>
            <a:prstDash val="solid"/>
          </a:ln>
          <a:effectLst>
            <a:outerShdw blurRad="101600" dist="12700" dir="5400000" algn="bl" rotWithShape="0">
              <a:srgbClr val="9AA8B5">
                <a:alpha val="16000"/>
              </a:srgbClr>
            </a:outerShdw>
          </a:effectLst>
        </p:spPr>
      </p:sp>
      <p:sp>
        <p:nvSpPr>
          <p:cNvPr id="12" name="Shape 10"/>
          <p:cNvSpPr/>
          <p:nvPr/>
        </p:nvSpPr>
        <p:spPr>
          <a:xfrm>
            <a:off x="3035808" y="1792224"/>
            <a:ext cx="420624" cy="420624"/>
          </a:xfrm>
          <a:prstGeom prst="ellipse">
            <a:avLst/>
          </a:prstGeom>
          <a:solidFill>
            <a:srgbClr val="2A9D8F"/>
          </a:solidFill>
          <a:ln w="12700">
            <a:solidFill>
              <a:srgbClr val="2A9D8F"/>
            </a:solidFill>
            <a:prstDash val="solid"/>
          </a:ln>
        </p:spPr>
      </p:sp>
      <p:sp>
        <p:nvSpPr>
          <p:cNvPr id="13" name="Text 11"/>
          <p:cNvSpPr txBox="1"/>
          <p:nvPr/>
        </p:nvSpPr>
        <p:spPr>
          <a:xfrm>
            <a:off x="3035808" y="1792224"/>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4" name="Text 12"/>
          <p:cNvSpPr txBox="1"/>
          <p:nvPr/>
        </p:nvSpPr>
        <p:spPr>
          <a:xfrm>
            <a:off x="3035808" y="2359152"/>
            <a:ext cx="1581912" cy="310896"/>
          </a:xfrm>
          <a:prstGeom prst="rect">
            <a:avLst/>
          </a:prstGeom>
          <a:noFill/>
          <a:ln/>
        </p:spPr>
        <p:txBody>
          <a:bodyPr wrap="square" lIns="0" tIns="0" rIns="0" bIns="0" rtlCol="0" anchor="t"/>
          <a:lstStyle/>
          <a:p>
            <a:pPr marL="0" indent="0">
              <a:buNone/>
            </a:pPr>
            <a:r>
              <a:rPr lang="en-US" sz="1400" b="1" dirty="0">
                <a:solidFill>
                  <a:srgbClr val="2A9D8F"/>
                </a:solidFill>
                <a:latin typeface="Calibri" pitchFamily="34" charset="0"/>
                <a:ea typeface="Calibri" pitchFamily="34" charset="-122"/>
                <a:cs typeface="Calibri" pitchFamily="34" charset="-120"/>
              </a:rPr>
              <a:t>Exactitud</a:t>
            </a:r>
            <a:endParaRPr lang="en-US" sz="1400" dirty="0"/>
          </a:p>
        </p:txBody>
      </p:sp>
      <p:sp>
        <p:nvSpPr>
          <p:cNvPr id="15" name="Text 13"/>
          <p:cNvSpPr txBox="1"/>
          <p:nvPr/>
        </p:nvSpPr>
        <p:spPr>
          <a:xfrm>
            <a:off x="3035808" y="2724912"/>
            <a:ext cx="1581912" cy="1335024"/>
          </a:xfrm>
          <a:prstGeom prst="rect">
            <a:avLst/>
          </a:prstGeom>
          <a:noFill/>
          <a:ln/>
        </p:spPr>
        <p:txBody>
          <a:bodyPr wrap="square" lIns="0" tIns="0" rIns="0" bIns="0" rtlCol="0" anchor="t"/>
          <a:lstStyle/>
          <a:p>
            <a:pPr marL="0" indent="0">
              <a:lnSpc>
                <a:spcPct val="106000"/>
              </a:lnSpc>
              <a:buNone/>
            </a:pPr>
            <a:r>
              <a:rPr lang="en-US" sz="1150" dirty="0">
                <a:solidFill>
                  <a:srgbClr val="1F2933"/>
                </a:solidFill>
                <a:latin typeface="Calibri" pitchFamily="34" charset="0"/>
                <a:ea typeface="Calibri" pitchFamily="34" charset="-122"/>
                <a:cs typeface="Calibri" pitchFamily="34" charset="-120"/>
              </a:rPr>
              <a:t>¿Los datos, procedimientos y ejemplos son correctos? Verifique todo cálculo y toda referencia.</a:t>
            </a:r>
            <a:endParaRPr lang="en-US" sz="1150" dirty="0"/>
          </a:p>
        </p:txBody>
      </p:sp>
      <p:sp>
        <p:nvSpPr>
          <p:cNvPr id="16" name="Shape 14"/>
          <p:cNvSpPr/>
          <p:nvPr/>
        </p:nvSpPr>
        <p:spPr>
          <a:xfrm>
            <a:off x="5029200" y="1572768"/>
            <a:ext cx="2057400" cy="2670048"/>
          </a:xfrm>
          <a:prstGeom prst="roundRect">
            <a:avLst>
              <a:gd name="adj" fmla="val 1778"/>
            </a:avLst>
          </a:prstGeom>
          <a:solidFill>
            <a:srgbClr val="F1F4F8"/>
          </a:solidFill>
          <a:ln w="12700">
            <a:solidFill>
              <a:srgbClr val="F1F4F8"/>
            </a:solidFill>
            <a:prstDash val="solid"/>
          </a:ln>
          <a:effectLst>
            <a:outerShdw blurRad="101600" dist="12700" dir="5400000" algn="bl" rotWithShape="0">
              <a:srgbClr val="9AA8B5">
                <a:alpha val="16000"/>
              </a:srgbClr>
            </a:outerShdw>
          </a:effectLst>
        </p:spPr>
      </p:sp>
      <p:sp>
        <p:nvSpPr>
          <p:cNvPr id="17" name="Shape 15"/>
          <p:cNvSpPr/>
          <p:nvPr/>
        </p:nvSpPr>
        <p:spPr>
          <a:xfrm>
            <a:off x="5266944" y="1792224"/>
            <a:ext cx="420624" cy="420624"/>
          </a:xfrm>
          <a:prstGeom prst="ellipse">
            <a:avLst/>
          </a:prstGeom>
          <a:solidFill>
            <a:srgbClr val="C9A227"/>
          </a:solidFill>
          <a:ln w="12700">
            <a:solidFill>
              <a:srgbClr val="C9A227"/>
            </a:solidFill>
            <a:prstDash val="solid"/>
          </a:ln>
        </p:spPr>
      </p:sp>
      <p:sp>
        <p:nvSpPr>
          <p:cNvPr id="18" name="Text 16"/>
          <p:cNvSpPr txBox="1"/>
          <p:nvPr/>
        </p:nvSpPr>
        <p:spPr>
          <a:xfrm>
            <a:off x="5266944" y="1792224"/>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7"/>
          <p:cNvSpPr txBox="1"/>
          <p:nvPr/>
        </p:nvSpPr>
        <p:spPr>
          <a:xfrm>
            <a:off x="5266944" y="2359152"/>
            <a:ext cx="1581912" cy="310896"/>
          </a:xfrm>
          <a:prstGeom prst="rect">
            <a:avLst/>
          </a:prstGeom>
          <a:noFill/>
          <a:ln/>
        </p:spPr>
        <p:txBody>
          <a:bodyPr wrap="square" lIns="0" tIns="0" rIns="0" bIns="0" rtlCol="0" anchor="t"/>
          <a:lstStyle/>
          <a:p>
            <a:pPr marL="0" indent="0">
              <a:buNone/>
            </a:pPr>
            <a:r>
              <a:rPr lang="en-US" sz="1400" b="1" dirty="0">
                <a:solidFill>
                  <a:srgbClr val="C9A227"/>
                </a:solidFill>
                <a:latin typeface="Calibri" pitchFamily="34" charset="0"/>
                <a:ea typeface="Calibri" pitchFamily="34" charset="-122"/>
                <a:cs typeface="Calibri" pitchFamily="34" charset="-120"/>
              </a:rPr>
              <a:t>Pertinencia cultural</a:t>
            </a:r>
            <a:endParaRPr lang="en-US" sz="1400" dirty="0"/>
          </a:p>
        </p:txBody>
      </p:sp>
      <p:sp>
        <p:nvSpPr>
          <p:cNvPr id="20" name="Text 18"/>
          <p:cNvSpPr txBox="1"/>
          <p:nvPr/>
        </p:nvSpPr>
        <p:spPr>
          <a:xfrm>
            <a:off x="5266944" y="2724912"/>
            <a:ext cx="1581912" cy="1335024"/>
          </a:xfrm>
          <a:prstGeom prst="rect">
            <a:avLst/>
          </a:prstGeom>
          <a:noFill/>
          <a:ln/>
        </p:spPr>
        <p:txBody>
          <a:bodyPr wrap="square" lIns="0" tIns="0" rIns="0" bIns="0" rtlCol="0" anchor="t"/>
          <a:lstStyle/>
          <a:p>
            <a:pPr marL="0" indent="0">
              <a:lnSpc>
                <a:spcPct val="106000"/>
              </a:lnSpc>
              <a:buNone/>
            </a:pPr>
            <a:r>
              <a:rPr lang="en-US" sz="1150" dirty="0">
                <a:solidFill>
                  <a:srgbClr val="1F2933"/>
                </a:solidFill>
                <a:latin typeface="Calibri" pitchFamily="34" charset="0"/>
                <a:ea typeface="Calibri" pitchFamily="34" charset="-122"/>
                <a:cs typeface="Calibri" pitchFamily="34" charset="-120"/>
              </a:rPr>
              <a:t>¿Los ejemplos corresponden a la vida de nuestros participantes en Puerto Rico?</a:t>
            </a:r>
            <a:endParaRPr lang="en-US" sz="1150" dirty="0"/>
          </a:p>
        </p:txBody>
      </p:sp>
      <p:sp>
        <p:nvSpPr>
          <p:cNvPr id="21" name="Shape 19"/>
          <p:cNvSpPr/>
          <p:nvPr/>
        </p:nvSpPr>
        <p:spPr>
          <a:xfrm>
            <a:off x="7260336" y="1572768"/>
            <a:ext cx="2057400" cy="2670048"/>
          </a:xfrm>
          <a:prstGeom prst="roundRect">
            <a:avLst>
              <a:gd name="adj" fmla="val 1778"/>
            </a:avLst>
          </a:prstGeom>
          <a:solidFill>
            <a:srgbClr val="E7F2F0"/>
          </a:solidFill>
          <a:ln w="12700">
            <a:solidFill>
              <a:srgbClr val="E7F2F0"/>
            </a:solidFill>
            <a:prstDash val="solid"/>
          </a:ln>
          <a:effectLst>
            <a:outerShdw blurRad="101600" dist="12700" dir="5400000" algn="bl" rotWithShape="0">
              <a:srgbClr val="9AA8B5">
                <a:alpha val="16000"/>
              </a:srgbClr>
            </a:outerShdw>
          </a:effectLst>
        </p:spPr>
      </p:sp>
      <p:sp>
        <p:nvSpPr>
          <p:cNvPr id="22" name="Shape 20"/>
          <p:cNvSpPr/>
          <p:nvPr/>
        </p:nvSpPr>
        <p:spPr>
          <a:xfrm>
            <a:off x="7498080" y="1792224"/>
            <a:ext cx="420624" cy="420624"/>
          </a:xfrm>
          <a:prstGeom prst="ellipse">
            <a:avLst/>
          </a:prstGeom>
          <a:solidFill>
            <a:srgbClr val="1F3864"/>
          </a:solidFill>
          <a:ln w="12700">
            <a:solidFill>
              <a:srgbClr val="1F3864"/>
            </a:solidFill>
            <a:prstDash val="solid"/>
          </a:ln>
        </p:spPr>
      </p:sp>
      <p:sp>
        <p:nvSpPr>
          <p:cNvPr id="23" name="Text 21"/>
          <p:cNvSpPr txBox="1"/>
          <p:nvPr/>
        </p:nvSpPr>
        <p:spPr>
          <a:xfrm>
            <a:off x="7498080" y="1792224"/>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4" name="Text 22"/>
          <p:cNvSpPr txBox="1"/>
          <p:nvPr/>
        </p:nvSpPr>
        <p:spPr>
          <a:xfrm>
            <a:off x="7498080" y="2359152"/>
            <a:ext cx="1581912" cy="310896"/>
          </a:xfrm>
          <a:prstGeom prst="rect">
            <a:avLst/>
          </a:prstGeom>
          <a:noFill/>
          <a:ln/>
        </p:spPr>
        <p:txBody>
          <a:bodyPr wrap="square" lIns="0" tIns="0" rIns="0" bIns="0" rtlCol="0" anchor="t"/>
          <a:lstStyle/>
          <a:p>
            <a:pPr marL="0" indent="0">
              <a:buNone/>
            </a:pPr>
            <a:r>
              <a:rPr lang="en-US" sz="1400" b="1" dirty="0">
                <a:solidFill>
                  <a:srgbClr val="1F3864"/>
                </a:solidFill>
                <a:latin typeface="Calibri" pitchFamily="34" charset="0"/>
                <a:ea typeface="Calibri" pitchFamily="34" charset="-122"/>
                <a:cs typeface="Calibri" pitchFamily="34" charset="-120"/>
              </a:rPr>
              <a:t>Nivel de lenguaje</a:t>
            </a:r>
            <a:endParaRPr lang="en-US" sz="1400" dirty="0"/>
          </a:p>
        </p:txBody>
      </p:sp>
      <p:sp>
        <p:nvSpPr>
          <p:cNvPr id="25" name="Text 23"/>
          <p:cNvSpPr txBox="1"/>
          <p:nvPr/>
        </p:nvSpPr>
        <p:spPr>
          <a:xfrm>
            <a:off x="7498080" y="2724912"/>
            <a:ext cx="1581912" cy="1335024"/>
          </a:xfrm>
          <a:prstGeom prst="rect">
            <a:avLst/>
          </a:prstGeom>
          <a:noFill/>
          <a:ln/>
        </p:spPr>
        <p:txBody>
          <a:bodyPr wrap="square" lIns="0" tIns="0" rIns="0" bIns="0" rtlCol="0" anchor="t"/>
          <a:lstStyle/>
          <a:p>
            <a:pPr marL="0" indent="0">
              <a:lnSpc>
                <a:spcPct val="106000"/>
              </a:lnSpc>
              <a:buNone/>
            </a:pPr>
            <a:r>
              <a:rPr lang="en-US" sz="1150" dirty="0">
                <a:solidFill>
                  <a:srgbClr val="1F2933"/>
                </a:solidFill>
                <a:latin typeface="Calibri" pitchFamily="34" charset="0"/>
                <a:ea typeface="Calibri" pitchFamily="34" charset="-122"/>
                <a:cs typeface="Calibri" pitchFamily="34" charset="-120"/>
              </a:rPr>
              <a:t>¿El vocabulario es alcanzable para el grupo real, no para el grupo ideal?</a:t>
            </a:r>
            <a:endParaRPr lang="en-US" sz="1150" dirty="0"/>
          </a:p>
        </p:txBody>
      </p:sp>
      <p:sp>
        <p:nvSpPr>
          <p:cNvPr id="26" name="Shape 24"/>
          <p:cNvSpPr/>
          <p:nvPr/>
        </p:nvSpPr>
        <p:spPr>
          <a:xfrm>
            <a:off x="9491472" y="1572768"/>
            <a:ext cx="2057400" cy="2670048"/>
          </a:xfrm>
          <a:prstGeom prst="roundRect">
            <a:avLst>
              <a:gd name="adj" fmla="val 1778"/>
            </a:avLst>
          </a:prstGeom>
          <a:solidFill>
            <a:srgbClr val="F1F4F8"/>
          </a:solidFill>
          <a:ln w="12700">
            <a:solidFill>
              <a:srgbClr val="F1F4F8"/>
            </a:solidFill>
            <a:prstDash val="solid"/>
          </a:ln>
          <a:effectLst>
            <a:outerShdw blurRad="101600" dist="12700" dir="5400000" algn="bl" rotWithShape="0">
              <a:srgbClr val="9AA8B5">
                <a:alpha val="16000"/>
              </a:srgbClr>
            </a:outerShdw>
          </a:effectLst>
        </p:spPr>
      </p:sp>
      <p:sp>
        <p:nvSpPr>
          <p:cNvPr id="27" name="Shape 25"/>
          <p:cNvSpPr/>
          <p:nvPr/>
        </p:nvSpPr>
        <p:spPr>
          <a:xfrm>
            <a:off x="9729216" y="1792224"/>
            <a:ext cx="420624" cy="420624"/>
          </a:xfrm>
          <a:prstGeom prst="ellipse">
            <a:avLst/>
          </a:prstGeom>
          <a:solidFill>
            <a:srgbClr val="1F7A6F"/>
          </a:solidFill>
          <a:ln w="12700">
            <a:solidFill>
              <a:srgbClr val="1F7A6F"/>
            </a:solidFill>
            <a:prstDash val="solid"/>
          </a:ln>
        </p:spPr>
      </p:sp>
      <p:sp>
        <p:nvSpPr>
          <p:cNvPr id="28" name="Text 26"/>
          <p:cNvSpPr txBox="1"/>
          <p:nvPr/>
        </p:nvSpPr>
        <p:spPr>
          <a:xfrm>
            <a:off x="9729216" y="1792224"/>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9" name="Text 27"/>
          <p:cNvSpPr txBox="1"/>
          <p:nvPr/>
        </p:nvSpPr>
        <p:spPr>
          <a:xfrm>
            <a:off x="9729216" y="2359152"/>
            <a:ext cx="1581912" cy="310896"/>
          </a:xfrm>
          <a:prstGeom prst="rect">
            <a:avLst/>
          </a:prstGeom>
          <a:noFill/>
          <a:ln/>
        </p:spPr>
        <p:txBody>
          <a:bodyPr wrap="square" lIns="0" tIns="0" rIns="0" bIns="0" rtlCol="0" anchor="t"/>
          <a:lstStyle/>
          <a:p>
            <a:pPr marL="0" indent="0">
              <a:buNone/>
            </a:pPr>
            <a:r>
              <a:rPr lang="en-US" sz="1400" b="1" dirty="0">
                <a:solidFill>
                  <a:srgbClr val="1F7A6F"/>
                </a:solidFill>
                <a:latin typeface="Calibri" pitchFamily="34" charset="0"/>
                <a:ea typeface="Calibri" pitchFamily="34" charset="-122"/>
                <a:cs typeface="Calibri" pitchFamily="34" charset="-120"/>
              </a:rPr>
              <a:t>Accesibilidad</a:t>
            </a:r>
            <a:endParaRPr lang="en-US" sz="1400" dirty="0"/>
          </a:p>
        </p:txBody>
      </p:sp>
      <p:sp>
        <p:nvSpPr>
          <p:cNvPr id="30" name="Text 28"/>
          <p:cNvSpPr txBox="1"/>
          <p:nvPr/>
        </p:nvSpPr>
        <p:spPr>
          <a:xfrm>
            <a:off x="9729216" y="2724912"/>
            <a:ext cx="1581912" cy="1335024"/>
          </a:xfrm>
          <a:prstGeom prst="rect">
            <a:avLst/>
          </a:prstGeom>
          <a:noFill/>
          <a:ln/>
        </p:spPr>
        <p:txBody>
          <a:bodyPr wrap="square" lIns="0" tIns="0" rIns="0" bIns="0" rtlCol="0" anchor="t"/>
          <a:lstStyle/>
          <a:p>
            <a:pPr marL="0" indent="0">
              <a:lnSpc>
                <a:spcPct val="106000"/>
              </a:lnSpc>
              <a:buNone/>
            </a:pPr>
            <a:r>
              <a:rPr lang="en-US" sz="1150" dirty="0">
                <a:solidFill>
                  <a:srgbClr val="1F2933"/>
                </a:solidFill>
                <a:latin typeface="Calibri" pitchFamily="34" charset="0"/>
                <a:ea typeface="Calibri" pitchFamily="34" charset="-122"/>
                <a:cs typeface="Calibri" pitchFamily="34" charset="-120"/>
              </a:rPr>
              <a:t>¿Se cumplen las tres decisiones DUA? ¿Funciona sin conexión?</a:t>
            </a:r>
            <a:endParaRPr lang="en-US" sz="1150" dirty="0"/>
          </a:p>
        </p:txBody>
      </p:sp>
      <p:sp>
        <p:nvSpPr>
          <p:cNvPr id="31" name="Shape 29"/>
          <p:cNvSpPr/>
          <p:nvPr/>
        </p:nvSpPr>
        <p:spPr>
          <a:xfrm>
            <a:off x="566928" y="4443984"/>
            <a:ext cx="5394960" cy="1325880"/>
          </a:xfrm>
          <a:prstGeom prst="roundRect">
            <a:avLst>
              <a:gd name="adj" fmla="val 2759"/>
            </a:avLst>
          </a:prstGeom>
          <a:solidFill>
            <a:srgbClr val="1B2A4A"/>
          </a:solidFill>
          <a:ln w="12700">
            <a:solidFill>
              <a:srgbClr val="1B2A4A"/>
            </a:solidFill>
            <a:prstDash val="solid"/>
          </a:ln>
          <a:effectLst>
            <a:outerShdw blurRad="101600" dist="12700" dir="5400000" algn="bl" rotWithShape="0">
              <a:srgbClr val="9AA8B5">
                <a:alpha val="16000"/>
              </a:srgbClr>
            </a:outerShdw>
          </a:effectLst>
        </p:spPr>
      </p:sp>
      <p:sp>
        <p:nvSpPr>
          <p:cNvPr id="32" name="Text 30"/>
          <p:cNvSpPr txBox="1"/>
          <p:nvPr/>
        </p:nvSpPr>
        <p:spPr>
          <a:xfrm>
            <a:off x="804672" y="4663440"/>
            <a:ext cx="4919472" cy="310896"/>
          </a:xfrm>
          <a:prstGeom prst="rect">
            <a:avLst/>
          </a:prstGeom>
          <a:noFill/>
          <a:ln/>
        </p:spPr>
        <p:txBody>
          <a:bodyPr wrap="square" lIns="0" tIns="0" rIns="0" bIns="0" rtlCol="0" anchor="t"/>
          <a:lstStyle/>
          <a:p>
            <a:pPr marL="0" indent="0">
              <a:buNone/>
            </a:pPr>
            <a:r>
              <a:rPr lang="en-US" sz="1300" b="1" dirty="0">
                <a:solidFill>
                  <a:srgbClr val="C9A227"/>
                </a:solidFill>
                <a:latin typeface="Calibri" pitchFamily="34" charset="0"/>
                <a:ea typeface="Calibri" pitchFamily="34" charset="-122"/>
                <a:cs typeface="Calibri" pitchFamily="34" charset="-120"/>
              </a:rPr>
              <a:t>Límites éticos no negociables</a:t>
            </a:r>
            <a:endParaRPr lang="en-US" sz="1300" dirty="0"/>
          </a:p>
        </p:txBody>
      </p:sp>
      <p:sp>
        <p:nvSpPr>
          <p:cNvPr id="33" name="Text 31"/>
          <p:cNvSpPr txBox="1"/>
          <p:nvPr/>
        </p:nvSpPr>
        <p:spPr>
          <a:xfrm>
            <a:off x="804672" y="5029200"/>
            <a:ext cx="4919472" cy="557784"/>
          </a:xfrm>
          <a:prstGeom prst="rect">
            <a:avLst/>
          </a:prstGeom>
          <a:noFill/>
          <a:ln/>
        </p:spPr>
        <p:txBody>
          <a:bodyPr wrap="square" lIns="0" tIns="0" rIns="0" bIns="0" rtlCol="0" anchor="t"/>
          <a:lstStyle/>
          <a:p>
            <a:pPr marL="0" indent="0">
              <a:lnSpc>
                <a:spcPct val="106000"/>
              </a:lnSpc>
              <a:buNone/>
            </a:pPr>
            <a:r>
              <a:rPr lang="en-US" sz="1150" dirty="0">
                <a:solidFill>
                  <a:srgbClr val="D6E0EE"/>
                </a:solidFill>
                <a:latin typeface="Calibri" pitchFamily="34" charset="0"/>
                <a:ea typeface="Calibri" pitchFamily="34" charset="-122"/>
                <a:cs typeface="Calibri" pitchFamily="34" charset="-120"/>
              </a:rPr>
              <a:t>No se introducen datos personales de participantes. No se atribuye a la IA lo que no verificó. Toda cifra, cita o código de expectativa se comprueba en la fuente oficial.</a:t>
            </a:r>
            <a:endParaRPr lang="en-US" sz="1150" dirty="0"/>
          </a:p>
        </p:txBody>
      </p:sp>
      <p:sp>
        <p:nvSpPr>
          <p:cNvPr id="34" name="Shape 32"/>
          <p:cNvSpPr/>
          <p:nvPr/>
        </p:nvSpPr>
        <p:spPr>
          <a:xfrm>
            <a:off x="6227064" y="4443984"/>
            <a:ext cx="5394960" cy="1325880"/>
          </a:xfrm>
          <a:prstGeom prst="roundRect">
            <a:avLst>
              <a:gd name="adj" fmla="val 2759"/>
            </a:avLst>
          </a:prstGeom>
          <a:solidFill>
            <a:srgbClr val="FAF3E0"/>
          </a:solidFill>
          <a:ln w="12700">
            <a:solidFill>
              <a:srgbClr val="FAF3E0"/>
            </a:solidFill>
            <a:prstDash val="solid"/>
          </a:ln>
          <a:effectLst>
            <a:outerShdw blurRad="101600" dist="12700" dir="5400000" algn="bl" rotWithShape="0">
              <a:srgbClr val="9AA8B5">
                <a:alpha val="16000"/>
              </a:srgbClr>
            </a:outerShdw>
          </a:effectLst>
        </p:spPr>
      </p:sp>
      <p:sp>
        <p:nvSpPr>
          <p:cNvPr id="35" name="Text 33"/>
          <p:cNvSpPr txBox="1"/>
          <p:nvPr/>
        </p:nvSpPr>
        <p:spPr>
          <a:xfrm>
            <a:off x="6464808" y="4663440"/>
            <a:ext cx="4919472" cy="310896"/>
          </a:xfrm>
          <a:prstGeom prst="rect">
            <a:avLst/>
          </a:prstGeom>
          <a:noFill/>
          <a:ln/>
        </p:spPr>
        <p:txBody>
          <a:bodyPr wrap="square" lIns="0" tIns="0" rIns="0" bIns="0" rtlCol="0" anchor="t"/>
          <a:lstStyle/>
          <a:p>
            <a:pPr marL="0" indent="0">
              <a:buNone/>
            </a:pPr>
            <a:r>
              <a:rPr lang="en-US" sz="1300" b="1" dirty="0">
                <a:solidFill>
                  <a:srgbClr val="1B2A4A"/>
                </a:solidFill>
                <a:latin typeface="Calibri" pitchFamily="34" charset="0"/>
                <a:ea typeface="Calibri" pitchFamily="34" charset="-122"/>
                <a:cs typeface="Calibri" pitchFamily="34" charset="-120"/>
              </a:rPr>
              <a:t>La regla que resume el módulo</a:t>
            </a:r>
            <a:endParaRPr lang="en-US" sz="1300" dirty="0"/>
          </a:p>
        </p:txBody>
      </p:sp>
      <p:sp>
        <p:nvSpPr>
          <p:cNvPr id="36" name="Text 34"/>
          <p:cNvSpPr txBox="1"/>
          <p:nvPr/>
        </p:nvSpPr>
        <p:spPr>
          <a:xfrm>
            <a:off x="6464808" y="5029200"/>
            <a:ext cx="4919472" cy="557784"/>
          </a:xfrm>
          <a:prstGeom prst="rect">
            <a:avLst/>
          </a:prstGeom>
          <a:noFill/>
          <a:ln/>
        </p:spPr>
        <p:txBody>
          <a:bodyPr wrap="square" lIns="0" tIns="0" rIns="0" bIns="0" rtlCol="0" anchor="t"/>
          <a:lstStyle/>
          <a:p>
            <a:pPr marL="0" indent="0">
              <a:lnSpc>
                <a:spcPct val="106000"/>
              </a:lnSpc>
              <a:buNone/>
            </a:pPr>
            <a:r>
              <a:rPr lang="en-US" sz="1150" dirty="0">
                <a:solidFill>
                  <a:srgbClr val="1F2933"/>
                </a:solidFill>
                <a:latin typeface="Calibri" pitchFamily="34" charset="0"/>
                <a:ea typeface="Calibri" pitchFamily="34" charset="-122"/>
                <a:cs typeface="Calibri" pitchFamily="34" charset="-120"/>
              </a:rPr>
              <a:t>La inteligencia artificial redacta más rápido de lo que usted escribe, pero no conoce a su grupo. La decisión pedagógica no se delega.</a:t>
            </a:r>
            <a:endParaRPr lang="en-US" sz="11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29184"/>
            <a:ext cx="11055096" cy="256032"/>
          </a:xfrm>
          <a:prstGeom prst="rect">
            <a:avLst/>
          </a:prstGeom>
          <a:noFill/>
          <a:ln/>
        </p:spPr>
        <p:txBody>
          <a:bodyPr wrap="square" lIns="0" tIns="0" rIns="0" bIns="0" rtlCol="0" anchor="ctr"/>
          <a:lstStyle/>
          <a:p>
            <a:pPr marL="0" indent="0">
              <a:buNone/>
            </a:pPr>
            <a:r>
              <a:rPr lang="en-US" sz="1100" b="1" kern="0" spc="160" dirty="0">
                <a:solidFill>
                  <a:srgbClr val="2A9D8F"/>
                </a:solidFill>
                <a:latin typeface="Calibri" pitchFamily="34" charset="0"/>
                <a:ea typeface="Calibri" pitchFamily="34" charset="-122"/>
                <a:cs typeface="Calibri" pitchFamily="34" charset="-120"/>
              </a:rPr>
              <a:t>ACTIVIDAD 4  ·  15 MINUTOS</a:t>
            </a:r>
            <a:endParaRPr lang="en-US" sz="1100" dirty="0"/>
          </a:p>
        </p:txBody>
      </p:sp>
      <p:sp>
        <p:nvSpPr>
          <p:cNvPr id="3" name="Text 1"/>
          <p:cNvSpPr txBox="1"/>
          <p:nvPr/>
        </p:nvSpPr>
        <p:spPr>
          <a:xfrm>
            <a:off x="566928" y="603504"/>
            <a:ext cx="11055096" cy="749808"/>
          </a:xfrm>
          <a:prstGeom prst="rect">
            <a:avLst/>
          </a:prstGeom>
          <a:noFill/>
          <a:ln/>
        </p:spPr>
        <p:txBody>
          <a:bodyPr wrap="square" lIns="0" tIns="0" rIns="0" bIns="0" rtlCol="0" anchor="t"/>
          <a:lstStyle/>
          <a:p>
            <a:pPr marL="0" indent="0">
              <a:buNone/>
            </a:pPr>
            <a:r>
              <a:rPr lang="en-US" sz="2900" b="1" dirty="0">
                <a:solidFill>
                  <a:srgbClr val="1B2A4A"/>
                </a:solidFill>
                <a:latin typeface="Cambria" pitchFamily="34" charset="0"/>
                <a:ea typeface="Cambria" pitchFamily="34" charset="-122"/>
                <a:cs typeface="Cambria" pitchFamily="34" charset="-120"/>
              </a:rPr>
              <a:t>Refinar la cápsula con IA y verificarla</a:t>
            </a:r>
            <a:endParaRPr lang="en-US" sz="2900" dirty="0"/>
          </a:p>
        </p:txBody>
      </p:sp>
      <p:sp>
        <p:nvSpPr>
          <p:cNvPr id="4" name="Text 2"/>
          <p:cNvSpPr txBox="1"/>
          <p:nvPr/>
        </p:nvSpPr>
        <p:spPr>
          <a:xfrm>
            <a:off x="566928" y="6428232"/>
            <a:ext cx="7863840" cy="256032"/>
          </a:xfrm>
          <a:prstGeom prst="rect">
            <a:avLst/>
          </a:prstGeom>
          <a:noFill/>
          <a:ln/>
        </p:spPr>
        <p:txBody>
          <a:bodyPr wrap="square" lIns="0" tIns="0" rIns="0" bIns="0" rtlCol="0" anchor="ctr"/>
          <a:lstStyle/>
          <a:p>
            <a:pPr marL="0" indent="0">
              <a:buNone/>
            </a:pPr>
            <a:r>
              <a:rPr lang="en-US" sz="900" dirty="0">
                <a:solidFill>
                  <a:srgbClr val="5B6B7B"/>
                </a:solidFill>
                <a:latin typeface="Calibri" pitchFamily="34" charset="0"/>
                <a:ea typeface="Calibri" pitchFamily="34" charset="-122"/>
                <a:cs typeface="Calibri" pitchFamily="34" charset="-120"/>
              </a:rPr>
              <a:t>Microaprendizaje para adultos  ·  Proyecto RUTA — Inter Ponce</a:t>
            </a:r>
            <a:endParaRPr lang="en-US" sz="900" dirty="0"/>
          </a:p>
        </p:txBody>
      </p:sp>
      <p:sp>
        <p:nvSpPr>
          <p:cNvPr id="5" name="Text 3"/>
          <p:cNvSpPr txBox="1"/>
          <p:nvPr/>
        </p:nvSpPr>
        <p:spPr>
          <a:xfrm>
            <a:off x="10972800" y="6428232"/>
            <a:ext cx="649224" cy="256032"/>
          </a:xfrm>
          <a:prstGeom prst="rect">
            <a:avLst/>
          </a:prstGeom>
          <a:noFill/>
          <a:ln/>
        </p:spPr>
        <p:txBody>
          <a:bodyPr wrap="square" lIns="0" tIns="0" rIns="0" bIns="0" rtlCol="0" anchor="ctr"/>
          <a:lstStyle/>
          <a:p>
            <a:pPr marL="0" indent="0" algn="r">
              <a:buNone/>
            </a:pPr>
            <a:r>
              <a:rPr lang="en-US" sz="900" dirty="0">
                <a:solidFill>
                  <a:srgbClr val="5B6B7B"/>
                </a:solidFill>
                <a:latin typeface="Calibri" pitchFamily="34" charset="0"/>
                <a:ea typeface="Calibri" pitchFamily="34" charset="-122"/>
                <a:cs typeface="Calibri" pitchFamily="34" charset="-120"/>
              </a:rPr>
              <a:t>43</a:t>
            </a:r>
            <a:endParaRPr lang="en-US" sz="900" dirty="0"/>
          </a:p>
        </p:txBody>
      </p:sp>
      <p:sp>
        <p:nvSpPr>
          <p:cNvPr id="6" name="Shape 4"/>
          <p:cNvSpPr/>
          <p:nvPr/>
        </p:nvSpPr>
        <p:spPr>
          <a:xfrm>
            <a:off x="566928" y="1627632"/>
            <a:ext cx="6675120" cy="3749040"/>
          </a:xfrm>
          <a:prstGeom prst="roundRect">
            <a:avLst>
              <a:gd name="adj" fmla="val 976"/>
            </a:avLst>
          </a:prstGeom>
          <a:solidFill>
            <a:srgbClr val="F1F4F8"/>
          </a:solidFill>
          <a:ln w="12700">
            <a:solidFill>
              <a:srgbClr val="F1F4F8"/>
            </a:solidFill>
            <a:prstDash val="solid"/>
          </a:ln>
          <a:effectLst>
            <a:outerShdw blurRad="101600" dist="12700" dir="5400000" algn="bl" rotWithShape="0">
              <a:srgbClr val="9AA8B5">
                <a:alpha val="16000"/>
              </a:srgbClr>
            </a:outerShdw>
          </a:effectLst>
        </p:spPr>
      </p:sp>
      <p:sp>
        <p:nvSpPr>
          <p:cNvPr id="7" name="Text 5"/>
          <p:cNvSpPr txBox="1"/>
          <p:nvPr/>
        </p:nvSpPr>
        <p:spPr>
          <a:xfrm>
            <a:off x="804672" y="1847088"/>
            <a:ext cx="6199632" cy="310896"/>
          </a:xfrm>
          <a:prstGeom prst="rect">
            <a:avLst/>
          </a:prstGeom>
          <a:noFill/>
          <a:ln/>
        </p:spPr>
        <p:txBody>
          <a:bodyPr wrap="square" lIns="0" tIns="0" rIns="0" bIns="0" rtlCol="0" anchor="t"/>
          <a:lstStyle/>
          <a:p>
            <a:pPr marL="0" indent="0">
              <a:buNone/>
            </a:pPr>
            <a:r>
              <a:rPr lang="en-US" sz="1450" b="1" dirty="0">
                <a:solidFill>
                  <a:srgbClr val="1B2A4A"/>
                </a:solidFill>
                <a:latin typeface="Calibri" pitchFamily="34" charset="0"/>
                <a:ea typeface="Calibri" pitchFamily="34" charset="-122"/>
                <a:cs typeface="Calibri" pitchFamily="34" charset="-120"/>
              </a:rPr>
              <a:t>Trabajo en equipo</a:t>
            </a:r>
            <a:endParaRPr lang="en-US" sz="1450" dirty="0"/>
          </a:p>
        </p:txBody>
      </p:sp>
      <p:sp>
        <p:nvSpPr>
          <p:cNvPr id="8" name="Text 6"/>
          <p:cNvSpPr txBox="1"/>
          <p:nvPr/>
        </p:nvSpPr>
        <p:spPr>
          <a:xfrm>
            <a:off x="841248" y="2212848"/>
            <a:ext cx="6163056" cy="2980944"/>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1F2933"/>
                </a:solidFill>
                <a:latin typeface="Calibri" pitchFamily="34" charset="0"/>
                <a:ea typeface="Calibri" pitchFamily="34" charset="-122"/>
                <a:cs typeface="Calibri" pitchFamily="34" charset="-120"/>
              </a:rPr>
              <a:t>Minutos 1 a 4: escriban su propio prompt RC-TTF usando la competencia textual de su Plantilla A. Escríbanlo antes de tocar el teclado.</a:t>
            </a:r>
            <a:endParaRPr lang="en-US" sz="1250" dirty="0"/>
          </a:p>
          <a:p>
            <a:pPr marL="342900" indent="-342900">
              <a:spcAft>
                <a:spcPts val="500"/>
              </a:spcAft>
              <a:buSzPct val="100000"/>
              <a:buChar char="•"/>
            </a:pPr>
            <a:r>
              <a:rPr lang="en-US" sz="1250" dirty="0">
                <a:solidFill>
                  <a:srgbClr val="1F2933"/>
                </a:solidFill>
                <a:latin typeface="Calibri" pitchFamily="34" charset="0"/>
                <a:ea typeface="Calibri" pitchFamily="34" charset="-122"/>
                <a:cs typeface="Calibri" pitchFamily="34" charset="-120"/>
              </a:rPr>
              <a:t>Minutos 5 a 9: ejecútenlo y generen una variante de su cápsula o de su microevaluación.</a:t>
            </a:r>
            <a:endParaRPr lang="en-US" sz="1250" dirty="0"/>
          </a:p>
          <a:p>
            <a:pPr marL="342900" indent="-342900">
              <a:spcAft>
                <a:spcPts val="500"/>
              </a:spcAft>
              <a:buSzPct val="100000"/>
              <a:buChar char="•"/>
            </a:pPr>
            <a:r>
              <a:rPr lang="en-US" sz="1250" dirty="0">
                <a:solidFill>
                  <a:srgbClr val="1F2933"/>
                </a:solidFill>
                <a:latin typeface="Calibri" pitchFamily="34" charset="0"/>
                <a:ea typeface="Calibri" pitchFamily="34" charset="-122"/>
                <a:cs typeface="Calibri" pitchFamily="34" charset="-120"/>
              </a:rPr>
              <a:t>Minutos 10 a 14: apliquen los cinco controles de verificación. Marquen con rojo todo lo que no pasa.</a:t>
            </a:r>
            <a:endParaRPr lang="en-US" sz="1250" dirty="0"/>
          </a:p>
          <a:p>
            <a:pPr marL="342900" indent="-342900">
              <a:spcAft>
                <a:spcPts val="500"/>
              </a:spcAft>
              <a:buSzPct val="100000"/>
              <a:buChar char="•"/>
            </a:pPr>
            <a:r>
              <a:rPr lang="en-US" sz="1250" dirty="0">
                <a:solidFill>
                  <a:srgbClr val="1F2933"/>
                </a:solidFill>
                <a:latin typeface="Calibri" pitchFamily="34" charset="0"/>
                <a:ea typeface="Calibri" pitchFamily="34" charset="-122"/>
                <a:cs typeface="Calibri" pitchFamily="34" charset="-120"/>
              </a:rPr>
              <a:t>Minuto 15: decidan qué se queda de la versión con IA y qué se queda de la versión propia. Justifiquen con una razón pedagógica.</a:t>
            </a:r>
            <a:endParaRPr lang="en-US" sz="1250" dirty="0"/>
          </a:p>
        </p:txBody>
      </p:sp>
      <p:sp>
        <p:nvSpPr>
          <p:cNvPr id="9" name="Shape 7"/>
          <p:cNvSpPr/>
          <p:nvPr/>
        </p:nvSpPr>
        <p:spPr>
          <a:xfrm>
            <a:off x="7516368" y="1627632"/>
            <a:ext cx="4105656" cy="1783080"/>
          </a:xfrm>
          <a:prstGeom prst="roundRect">
            <a:avLst>
              <a:gd name="adj" fmla="val 2051"/>
            </a:avLst>
          </a:prstGeom>
          <a:solidFill>
            <a:srgbClr val="FAF3E0"/>
          </a:solidFill>
          <a:ln w="12700">
            <a:solidFill>
              <a:srgbClr val="FAF3E0"/>
            </a:solidFill>
            <a:prstDash val="solid"/>
          </a:ln>
          <a:effectLst>
            <a:outerShdw blurRad="101600" dist="12700" dir="5400000" algn="bl" rotWithShape="0">
              <a:srgbClr val="9AA8B5">
                <a:alpha val="16000"/>
              </a:srgbClr>
            </a:outerShdw>
          </a:effectLst>
        </p:spPr>
      </p:sp>
      <p:sp>
        <p:nvSpPr>
          <p:cNvPr id="10" name="Text 8"/>
          <p:cNvSpPr txBox="1"/>
          <p:nvPr/>
        </p:nvSpPr>
        <p:spPr>
          <a:xfrm>
            <a:off x="7754112" y="1847088"/>
            <a:ext cx="3630168" cy="310896"/>
          </a:xfrm>
          <a:prstGeom prst="rect">
            <a:avLst/>
          </a:prstGeom>
          <a:noFill/>
          <a:ln/>
        </p:spPr>
        <p:txBody>
          <a:bodyPr wrap="square" lIns="0" tIns="0" rIns="0" bIns="0" rtlCol="0" anchor="t"/>
          <a:lstStyle/>
          <a:p>
            <a:pPr marL="0" indent="0">
              <a:buNone/>
            </a:pPr>
            <a:r>
              <a:rPr lang="en-US" sz="1450" b="1" dirty="0">
                <a:solidFill>
                  <a:srgbClr val="1B2A4A"/>
                </a:solidFill>
                <a:latin typeface="Calibri" pitchFamily="34" charset="0"/>
                <a:ea typeface="Calibri" pitchFamily="34" charset="-122"/>
                <a:cs typeface="Calibri" pitchFamily="34" charset="-120"/>
              </a:rPr>
              <a:t>Si no hay conexión</a:t>
            </a:r>
            <a:endParaRPr lang="en-US" sz="1450" dirty="0"/>
          </a:p>
        </p:txBody>
      </p:sp>
      <p:sp>
        <p:nvSpPr>
          <p:cNvPr id="11" name="Text 9"/>
          <p:cNvSpPr txBox="1"/>
          <p:nvPr/>
        </p:nvSpPr>
        <p:spPr>
          <a:xfrm>
            <a:off x="7754112" y="2212848"/>
            <a:ext cx="3630168" cy="1014984"/>
          </a:xfrm>
          <a:prstGeom prst="rect">
            <a:avLst/>
          </a:prstGeom>
          <a:noFill/>
          <a:ln/>
        </p:spPr>
        <p:txBody>
          <a:bodyPr wrap="square" lIns="0" tIns="0" rIns="0" bIns="0" rtlCol="0" anchor="t"/>
          <a:lstStyle/>
          <a:p>
            <a:pPr marL="0" indent="0">
              <a:lnSpc>
                <a:spcPct val="106000"/>
              </a:lnSpc>
              <a:buNone/>
            </a:pPr>
            <a:r>
              <a:rPr lang="en-US" sz="1200" dirty="0">
                <a:solidFill>
                  <a:srgbClr val="1F2933"/>
                </a:solidFill>
                <a:latin typeface="Calibri" pitchFamily="34" charset="0"/>
                <a:ea typeface="Calibri" pitchFamily="34" charset="-122"/>
                <a:cs typeface="Calibri" pitchFamily="34" charset="-120"/>
              </a:rPr>
              <a:t>Redacten el prompt completo igual y sometan su propia cápsula a los cinco controles. El valor del ejercicio está en la verificación, no en la generación.</a:t>
            </a:r>
            <a:endParaRPr lang="en-US" sz="1200" dirty="0"/>
          </a:p>
        </p:txBody>
      </p:sp>
      <p:sp>
        <p:nvSpPr>
          <p:cNvPr id="12" name="Shape 10"/>
          <p:cNvSpPr/>
          <p:nvPr/>
        </p:nvSpPr>
        <p:spPr>
          <a:xfrm>
            <a:off x="7516368" y="3685032"/>
            <a:ext cx="4105656" cy="1691640"/>
          </a:xfrm>
          <a:prstGeom prst="roundRect">
            <a:avLst>
              <a:gd name="adj" fmla="val 2162"/>
            </a:avLst>
          </a:prstGeom>
          <a:solidFill>
            <a:srgbClr val="1B2A4A"/>
          </a:solidFill>
          <a:ln w="12700">
            <a:solidFill>
              <a:srgbClr val="1B2A4A"/>
            </a:solidFill>
            <a:prstDash val="solid"/>
          </a:ln>
          <a:effectLst>
            <a:outerShdw blurRad="101600" dist="12700" dir="5400000" algn="bl" rotWithShape="0">
              <a:srgbClr val="9AA8B5">
                <a:alpha val="16000"/>
              </a:srgbClr>
            </a:outerShdw>
          </a:effectLst>
        </p:spPr>
      </p:sp>
      <p:sp>
        <p:nvSpPr>
          <p:cNvPr id="13" name="Text 11"/>
          <p:cNvSpPr txBox="1"/>
          <p:nvPr/>
        </p:nvSpPr>
        <p:spPr>
          <a:xfrm>
            <a:off x="7754112" y="3904488"/>
            <a:ext cx="3630168" cy="310896"/>
          </a:xfrm>
          <a:prstGeom prst="rect">
            <a:avLst/>
          </a:prstGeom>
          <a:noFill/>
          <a:ln/>
        </p:spPr>
        <p:txBody>
          <a:bodyPr wrap="square" lIns="0" tIns="0" rIns="0" bIns="0" rtlCol="0" anchor="t"/>
          <a:lstStyle/>
          <a:p>
            <a:pPr marL="0" indent="0">
              <a:buNone/>
            </a:pPr>
            <a:r>
              <a:rPr lang="en-US" sz="1450" b="1" dirty="0">
                <a:solidFill>
                  <a:srgbClr val="C9A227"/>
                </a:solidFill>
                <a:latin typeface="Calibri" pitchFamily="34" charset="0"/>
                <a:ea typeface="Calibri" pitchFamily="34" charset="-122"/>
                <a:cs typeface="Calibri" pitchFamily="34" charset="-120"/>
              </a:rPr>
              <a:t>Producto final del taller</a:t>
            </a:r>
            <a:endParaRPr lang="en-US" sz="1450" dirty="0"/>
          </a:p>
        </p:txBody>
      </p:sp>
      <p:sp>
        <p:nvSpPr>
          <p:cNvPr id="14" name="Text 12"/>
          <p:cNvSpPr txBox="1"/>
          <p:nvPr/>
        </p:nvSpPr>
        <p:spPr>
          <a:xfrm>
            <a:off x="7754112" y="4270248"/>
            <a:ext cx="3630168" cy="923544"/>
          </a:xfrm>
          <a:prstGeom prst="rect">
            <a:avLst/>
          </a:prstGeom>
          <a:noFill/>
          <a:ln/>
        </p:spPr>
        <p:txBody>
          <a:bodyPr wrap="square" lIns="0" tIns="0" rIns="0" bIns="0" rtlCol="0" anchor="t"/>
          <a:lstStyle/>
          <a:p>
            <a:pPr marL="0" indent="0">
              <a:lnSpc>
                <a:spcPct val="106000"/>
              </a:lnSpc>
              <a:buNone/>
            </a:pPr>
            <a:r>
              <a:rPr lang="en-US" sz="1200" dirty="0">
                <a:solidFill>
                  <a:srgbClr val="D6E0EE"/>
                </a:solidFill>
                <a:latin typeface="Calibri" pitchFamily="34" charset="0"/>
                <a:ea typeface="Calibri" pitchFamily="34" charset="-122"/>
                <a:cs typeface="Calibri" pitchFamily="34" charset="-120"/>
              </a:rPr>
              <a:t>Una cápsula educativa completa, verificada, con su microevaluación y su lugar en una ruta de cuatro momentos.</a:t>
            </a:r>
            <a:endParaRPr lang="en-US" sz="1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29184"/>
            <a:ext cx="11055096" cy="256032"/>
          </a:xfrm>
          <a:prstGeom prst="rect">
            <a:avLst/>
          </a:prstGeom>
          <a:noFill/>
          <a:ln/>
        </p:spPr>
        <p:txBody>
          <a:bodyPr wrap="square" lIns="0" tIns="0" rIns="0" bIns="0" rtlCol="0" anchor="ctr"/>
          <a:lstStyle/>
          <a:p>
            <a:pPr marL="0" indent="0">
              <a:buNone/>
            </a:pPr>
            <a:r>
              <a:rPr lang="en-US" sz="1100" b="1" kern="0" spc="160" dirty="0">
                <a:solidFill>
                  <a:srgbClr val="2A9D8F"/>
                </a:solidFill>
                <a:latin typeface="Calibri" pitchFamily="34" charset="0"/>
                <a:ea typeface="Calibri" pitchFamily="34" charset="-122"/>
                <a:cs typeface="Calibri" pitchFamily="34" charset="-120"/>
              </a:rPr>
              <a:t>CIERRE  ·  10 MINUTOS</a:t>
            </a:r>
            <a:endParaRPr lang="en-US" sz="1100" dirty="0"/>
          </a:p>
        </p:txBody>
      </p:sp>
      <p:sp>
        <p:nvSpPr>
          <p:cNvPr id="3" name="Text 1"/>
          <p:cNvSpPr txBox="1"/>
          <p:nvPr/>
        </p:nvSpPr>
        <p:spPr>
          <a:xfrm>
            <a:off x="566928" y="603504"/>
            <a:ext cx="11055096" cy="749808"/>
          </a:xfrm>
          <a:prstGeom prst="rect">
            <a:avLst/>
          </a:prstGeom>
          <a:noFill/>
          <a:ln/>
        </p:spPr>
        <p:txBody>
          <a:bodyPr wrap="square" lIns="0" tIns="0" rIns="0" bIns="0" rtlCol="0" anchor="t"/>
          <a:lstStyle/>
          <a:p>
            <a:pPr marL="0" indent="0">
              <a:buNone/>
            </a:pPr>
            <a:r>
              <a:rPr lang="en-US" sz="2900" b="1" dirty="0">
                <a:solidFill>
                  <a:srgbClr val="1B2A4A"/>
                </a:solidFill>
                <a:latin typeface="Cambria" pitchFamily="34" charset="0"/>
                <a:ea typeface="Cambria" pitchFamily="34" charset="-122"/>
                <a:cs typeface="Cambria" pitchFamily="34" charset="-120"/>
              </a:rPr>
              <a:t>Micro-exposiciones: tres minutos por equipo</a:t>
            </a:r>
            <a:endParaRPr lang="en-US" sz="2900" dirty="0"/>
          </a:p>
        </p:txBody>
      </p:sp>
      <p:sp>
        <p:nvSpPr>
          <p:cNvPr id="4" name="Text 2"/>
          <p:cNvSpPr txBox="1"/>
          <p:nvPr/>
        </p:nvSpPr>
        <p:spPr>
          <a:xfrm>
            <a:off x="566928" y="6428232"/>
            <a:ext cx="7863840" cy="256032"/>
          </a:xfrm>
          <a:prstGeom prst="rect">
            <a:avLst/>
          </a:prstGeom>
          <a:noFill/>
          <a:ln/>
        </p:spPr>
        <p:txBody>
          <a:bodyPr wrap="square" lIns="0" tIns="0" rIns="0" bIns="0" rtlCol="0" anchor="ctr"/>
          <a:lstStyle/>
          <a:p>
            <a:pPr marL="0" indent="0">
              <a:buNone/>
            </a:pPr>
            <a:r>
              <a:rPr lang="en-US" sz="900" dirty="0">
                <a:solidFill>
                  <a:srgbClr val="5B6B7B"/>
                </a:solidFill>
                <a:latin typeface="Calibri" pitchFamily="34" charset="0"/>
                <a:ea typeface="Calibri" pitchFamily="34" charset="-122"/>
                <a:cs typeface="Calibri" pitchFamily="34" charset="-120"/>
              </a:rPr>
              <a:t>Microaprendizaje para adultos  ·  Proyecto RUTA — Inter Ponce</a:t>
            </a:r>
            <a:endParaRPr lang="en-US" sz="900" dirty="0"/>
          </a:p>
        </p:txBody>
      </p:sp>
      <p:sp>
        <p:nvSpPr>
          <p:cNvPr id="5" name="Text 3"/>
          <p:cNvSpPr txBox="1"/>
          <p:nvPr/>
        </p:nvSpPr>
        <p:spPr>
          <a:xfrm>
            <a:off x="10972800" y="6428232"/>
            <a:ext cx="649224" cy="256032"/>
          </a:xfrm>
          <a:prstGeom prst="rect">
            <a:avLst/>
          </a:prstGeom>
          <a:noFill/>
          <a:ln/>
        </p:spPr>
        <p:txBody>
          <a:bodyPr wrap="square" lIns="0" tIns="0" rIns="0" bIns="0" rtlCol="0" anchor="ctr"/>
          <a:lstStyle/>
          <a:p>
            <a:pPr marL="0" indent="0" algn="r">
              <a:buNone/>
            </a:pPr>
            <a:r>
              <a:rPr lang="en-US" sz="900" dirty="0">
                <a:solidFill>
                  <a:srgbClr val="5B6B7B"/>
                </a:solidFill>
                <a:latin typeface="Calibri" pitchFamily="34" charset="0"/>
                <a:ea typeface="Calibri" pitchFamily="34" charset="-122"/>
                <a:cs typeface="Calibri" pitchFamily="34" charset="-120"/>
              </a:rPr>
              <a:t>44</a:t>
            </a:r>
            <a:endParaRPr lang="en-US" sz="900" dirty="0"/>
          </a:p>
        </p:txBody>
      </p:sp>
      <p:sp>
        <p:nvSpPr>
          <p:cNvPr id="6" name="Shape 4"/>
          <p:cNvSpPr/>
          <p:nvPr/>
        </p:nvSpPr>
        <p:spPr>
          <a:xfrm>
            <a:off x="566928" y="1627632"/>
            <a:ext cx="5394960" cy="1737360"/>
          </a:xfrm>
          <a:prstGeom prst="roundRect">
            <a:avLst>
              <a:gd name="adj" fmla="val 2105"/>
            </a:avLst>
          </a:prstGeom>
          <a:solidFill>
            <a:srgbClr val="F1F4F8"/>
          </a:solidFill>
          <a:ln w="12700">
            <a:solidFill>
              <a:srgbClr val="F1F4F8"/>
            </a:solidFill>
            <a:prstDash val="solid"/>
          </a:ln>
          <a:effectLst>
            <a:outerShdw blurRad="101600" dist="12700" dir="5400000" algn="bl" rotWithShape="0">
              <a:srgbClr val="9AA8B5">
                <a:alpha val="16000"/>
              </a:srgbClr>
            </a:outerShdw>
          </a:effectLst>
        </p:spPr>
      </p:sp>
      <p:sp>
        <p:nvSpPr>
          <p:cNvPr id="7" name="Text 5"/>
          <p:cNvSpPr txBox="1"/>
          <p:nvPr/>
        </p:nvSpPr>
        <p:spPr>
          <a:xfrm>
            <a:off x="804672" y="1847088"/>
            <a:ext cx="4919472" cy="310896"/>
          </a:xfrm>
          <a:prstGeom prst="rect">
            <a:avLst/>
          </a:prstGeom>
          <a:noFill/>
          <a:ln/>
        </p:spPr>
        <p:txBody>
          <a:bodyPr wrap="square" lIns="0" tIns="0" rIns="0" bIns="0" rtlCol="0" anchor="t"/>
          <a:lstStyle/>
          <a:p>
            <a:pPr marL="0" indent="0">
              <a:buNone/>
            </a:pPr>
            <a:r>
              <a:rPr lang="en-US" sz="1450" b="1" dirty="0">
                <a:solidFill>
                  <a:srgbClr val="1B2A4A"/>
                </a:solidFill>
                <a:latin typeface="Calibri" pitchFamily="34" charset="0"/>
                <a:ea typeface="Calibri" pitchFamily="34" charset="-122"/>
                <a:cs typeface="Calibri" pitchFamily="34" charset="-120"/>
              </a:rPr>
              <a:t>Protocolo de la presentación</a:t>
            </a:r>
            <a:endParaRPr lang="en-US" sz="1450" dirty="0"/>
          </a:p>
        </p:txBody>
      </p:sp>
      <p:sp>
        <p:nvSpPr>
          <p:cNvPr id="8" name="Text 6"/>
          <p:cNvSpPr txBox="1"/>
          <p:nvPr/>
        </p:nvSpPr>
        <p:spPr>
          <a:xfrm>
            <a:off x="841248" y="2212848"/>
            <a:ext cx="4882896" cy="969264"/>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1F2933"/>
                </a:solidFill>
                <a:latin typeface="Calibri" pitchFamily="34" charset="0"/>
                <a:ea typeface="Calibri" pitchFamily="34" charset="-122"/>
                <a:cs typeface="Calibri" pitchFamily="34" charset="-120"/>
              </a:rPr>
              <a:t>Minuto 1: lea la competencia observable, textualmente.</a:t>
            </a:r>
            <a:endParaRPr lang="en-US" sz="1200" dirty="0"/>
          </a:p>
          <a:p>
            <a:pPr marL="342900" indent="-342900">
              <a:spcAft>
                <a:spcPts val="500"/>
              </a:spcAft>
              <a:buSzPct val="100000"/>
              <a:buChar char="•"/>
            </a:pPr>
            <a:r>
              <a:rPr lang="en-US" sz="1200" dirty="0">
                <a:solidFill>
                  <a:srgbClr val="1F2933"/>
                </a:solidFill>
                <a:latin typeface="Calibri" pitchFamily="34" charset="0"/>
                <a:ea typeface="Calibri" pitchFamily="34" charset="-122"/>
                <a:cs typeface="Calibri" pitchFamily="34" charset="-120"/>
              </a:rPr>
              <a:t>Minuto 2: muestre el material producido.</a:t>
            </a:r>
            <a:endParaRPr lang="en-US" sz="1200" dirty="0"/>
          </a:p>
          <a:p>
            <a:pPr marL="342900" indent="-342900">
              <a:spcAft>
                <a:spcPts val="500"/>
              </a:spcAft>
              <a:buSzPct val="100000"/>
              <a:buChar char="•"/>
            </a:pPr>
            <a:r>
              <a:rPr lang="en-US" sz="1200" dirty="0">
                <a:solidFill>
                  <a:srgbClr val="1F2933"/>
                </a:solidFill>
                <a:latin typeface="Calibri" pitchFamily="34" charset="0"/>
                <a:ea typeface="Calibri" pitchFamily="34" charset="-122"/>
                <a:cs typeface="Calibri" pitchFamily="34" charset="-120"/>
              </a:rPr>
              <a:t>Minuto 3: explique la microevaluación y su acción de reenseñanza.</a:t>
            </a:r>
            <a:endParaRPr lang="en-US" sz="1200" dirty="0"/>
          </a:p>
        </p:txBody>
      </p:sp>
      <p:sp>
        <p:nvSpPr>
          <p:cNvPr id="9" name="Shape 7"/>
          <p:cNvSpPr/>
          <p:nvPr/>
        </p:nvSpPr>
        <p:spPr>
          <a:xfrm>
            <a:off x="6227064" y="1627632"/>
            <a:ext cx="5394960" cy="1737360"/>
          </a:xfrm>
          <a:prstGeom prst="roundRect">
            <a:avLst>
              <a:gd name="adj" fmla="val 2105"/>
            </a:avLst>
          </a:prstGeom>
          <a:solidFill>
            <a:srgbClr val="E7F2F0"/>
          </a:solidFill>
          <a:ln w="12700">
            <a:solidFill>
              <a:srgbClr val="E7F2F0"/>
            </a:solidFill>
            <a:prstDash val="solid"/>
          </a:ln>
          <a:effectLst>
            <a:outerShdw blurRad="101600" dist="12700" dir="5400000" algn="bl" rotWithShape="0">
              <a:srgbClr val="9AA8B5">
                <a:alpha val="16000"/>
              </a:srgbClr>
            </a:outerShdw>
          </a:effectLst>
        </p:spPr>
      </p:sp>
      <p:sp>
        <p:nvSpPr>
          <p:cNvPr id="10" name="Text 8"/>
          <p:cNvSpPr txBox="1"/>
          <p:nvPr/>
        </p:nvSpPr>
        <p:spPr>
          <a:xfrm>
            <a:off x="6464808" y="1847088"/>
            <a:ext cx="4919472" cy="310896"/>
          </a:xfrm>
          <a:prstGeom prst="rect">
            <a:avLst/>
          </a:prstGeom>
          <a:noFill/>
          <a:ln/>
        </p:spPr>
        <p:txBody>
          <a:bodyPr wrap="square" lIns="0" tIns="0" rIns="0" bIns="0" rtlCol="0" anchor="t"/>
          <a:lstStyle/>
          <a:p>
            <a:pPr marL="0" indent="0">
              <a:buNone/>
            </a:pPr>
            <a:r>
              <a:rPr lang="en-US" sz="1450" b="1" dirty="0">
                <a:solidFill>
                  <a:srgbClr val="1B2A4A"/>
                </a:solidFill>
                <a:latin typeface="Calibri" pitchFamily="34" charset="0"/>
                <a:ea typeface="Calibri" pitchFamily="34" charset="-122"/>
                <a:cs typeface="Calibri" pitchFamily="34" charset="-120"/>
              </a:rPr>
              <a:t>Cómo escucha el grupo</a:t>
            </a:r>
            <a:endParaRPr lang="en-US" sz="1450" dirty="0"/>
          </a:p>
        </p:txBody>
      </p:sp>
      <p:sp>
        <p:nvSpPr>
          <p:cNvPr id="11" name="Text 9"/>
          <p:cNvSpPr txBox="1"/>
          <p:nvPr/>
        </p:nvSpPr>
        <p:spPr>
          <a:xfrm>
            <a:off x="6501384" y="2212848"/>
            <a:ext cx="4882896" cy="969264"/>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1F2933"/>
                </a:solidFill>
                <a:latin typeface="Calibri" pitchFamily="34" charset="0"/>
                <a:ea typeface="Calibri" pitchFamily="34" charset="-122"/>
                <a:cs typeface="Calibri" pitchFamily="34" charset="-120"/>
              </a:rPr>
              <a:t>Aplique las tres pruebas de la lámina 16: observabilidad, dosificación, utilidad.</a:t>
            </a:r>
            <a:endParaRPr lang="en-US" sz="1200" dirty="0"/>
          </a:p>
          <a:p>
            <a:pPr marL="342900" indent="-342900">
              <a:spcAft>
                <a:spcPts val="500"/>
              </a:spcAft>
              <a:buSzPct val="100000"/>
              <a:buChar char="•"/>
            </a:pPr>
            <a:r>
              <a:rPr lang="en-US" sz="1200" dirty="0">
                <a:solidFill>
                  <a:srgbClr val="1F2933"/>
                </a:solidFill>
                <a:latin typeface="Calibri" pitchFamily="34" charset="0"/>
                <a:ea typeface="Calibri" pitchFamily="34" charset="-122"/>
                <a:cs typeface="Calibri" pitchFamily="34" charset="-120"/>
              </a:rPr>
              <a:t>Una sola pregunta por equipo oyente. Pregunta, no consejo.</a:t>
            </a:r>
            <a:endParaRPr lang="en-US" sz="12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566928" y="3657600"/>
          <a:ext cx="11055096" cy="914400"/>
        </p:xfrm>
        <a:graphic>
          <a:graphicData uri="http://schemas.openxmlformats.org/drawingml/2006/table">
            <a:tbl>
              <a:tblPr/>
              <a:tblGrid>
                <a:gridCol w="8860536">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tblGrid>
              <a:tr h="420624">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Las siete preguntas de Hug como lista de cotejo final</a:t>
                      </a:r>
                      <a:endParaRPr lang="en-US" sz="11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1B2A4A"/>
                    </a:solidFill>
                  </a:tcPr>
                </a:tc>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Sí</a:t>
                      </a:r>
                      <a:endParaRPr lang="en-US" sz="11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1B2A4A"/>
                    </a:solidFill>
                  </a:tcPr>
                </a:tc>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No</a:t>
                      </a:r>
                      <a:endParaRPr lang="en-US" sz="11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420624">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¿El esfuerzo real cabe en el tiempo del participante?  ·  ¿El contenido es un asunto acotado?</a:t>
                      </a:r>
                      <a:endParaRPr lang="en-US" sz="110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FFFFF"/>
                    </a:solidFill>
                  </a:tcPr>
                </a:tc>
                <a:tc>
                  <a:txBody>
                    <a:bodyPr/>
                    <a:lstStyle/>
                    <a:p>
                      <a:pPr marL="0" indent="0">
                        <a:buNone/>
                      </a:pPr>
                      <a:endParaRPr lang="en-US" sz="110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FFFFF"/>
                    </a:solidFill>
                  </a:tcPr>
                </a:tc>
                <a:tc>
                  <a:txBody>
                    <a:bodyPr/>
                    <a:lstStyle/>
                    <a:p>
                      <a:pPr marL="0" indent="0">
                        <a:buNone/>
                      </a:pPr>
                      <a:endParaRPr lang="en-US" sz="110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0624">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¿Está ubicada en la ruta?  ·  ¿La forma corresponde a la destreza?</a:t>
                      </a:r>
                      <a:endParaRPr lang="en-US" sz="110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1F4F8"/>
                    </a:solidFill>
                  </a:tcPr>
                </a:tc>
                <a:tc>
                  <a:txBody>
                    <a:bodyPr/>
                    <a:lstStyle/>
                    <a:p>
                      <a:pPr marL="0" indent="0">
                        <a:buNone/>
                      </a:pPr>
                      <a:endParaRPr lang="en-US" sz="110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1F4F8"/>
                    </a:solidFill>
                  </a:tcPr>
                </a:tc>
                <a:tc>
                  <a:txBody>
                    <a:bodyPr/>
                    <a:lstStyle/>
                    <a:p>
                      <a:pPr marL="0" indent="0">
                        <a:buNone/>
                      </a:pPr>
                      <a:endParaRPr lang="en-US" sz="110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1F4F8"/>
                    </a:solidFill>
                  </a:tcPr>
                </a:tc>
                <a:extLst>
                  <a:ext uri="{0D108BD9-81ED-4DB2-BD59-A6C34878D82A}">
                    <a16:rowId xmlns:a16="http://schemas.microsoft.com/office/drawing/2014/main" val="10002"/>
                  </a:ext>
                </a:extLst>
              </a:tr>
              <a:tr h="420624">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¿El proceso se integra al flujo del curso?  ·  ¿La medialidad es accesible para todos?</a:t>
                      </a:r>
                      <a:endParaRPr lang="en-US" sz="110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FFFFF"/>
                    </a:solidFill>
                  </a:tcPr>
                </a:tc>
                <a:tc>
                  <a:txBody>
                    <a:bodyPr/>
                    <a:lstStyle/>
                    <a:p>
                      <a:pPr marL="0" indent="0">
                        <a:buNone/>
                      </a:pPr>
                      <a:endParaRPr lang="en-US" sz="110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FFFFF"/>
                    </a:solidFill>
                  </a:tcPr>
                </a:tc>
                <a:tc>
                  <a:txBody>
                    <a:bodyPr/>
                    <a:lstStyle/>
                    <a:p>
                      <a:pPr marL="0" indent="0">
                        <a:buNone/>
                      </a:pPr>
                      <a:endParaRPr lang="en-US" sz="110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0624">
                <a:tc>
                  <a:txBody>
                    <a:bodyPr/>
                    <a:lstStyle/>
                    <a:p>
                      <a:pPr marL="0" indent="0">
                        <a:buNone/>
                      </a:pPr>
                      <a:r>
                        <a:rPr lang="en-US" sz="1100" dirty="0">
                          <a:solidFill>
                            <a:srgbClr val="1F2933"/>
                          </a:solidFill>
                          <a:latin typeface="Calibri" pitchFamily="34" charset="0"/>
                          <a:ea typeface="Calibri" pitchFamily="34" charset="-122"/>
                          <a:cs typeface="Calibri" pitchFamily="34" charset="-120"/>
                        </a:rPr>
                        <a:t>¿El tipo de aprendizaje corresponde a la función elegida?</a:t>
                      </a:r>
                      <a:endParaRPr lang="en-US" sz="110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1F4F8"/>
                    </a:solidFill>
                  </a:tcPr>
                </a:tc>
                <a:tc>
                  <a:txBody>
                    <a:bodyPr/>
                    <a:lstStyle/>
                    <a:p>
                      <a:pPr marL="0" indent="0">
                        <a:buNone/>
                      </a:pPr>
                      <a:endParaRPr lang="en-US" sz="110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1F4F8"/>
                    </a:solidFill>
                  </a:tcPr>
                </a:tc>
                <a:tc>
                  <a:txBody>
                    <a:bodyPr/>
                    <a:lstStyle/>
                    <a:p>
                      <a:pPr marL="0" indent="0">
                        <a:buNone/>
                      </a:pPr>
                      <a:endParaRPr lang="en-US" sz="110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1F4F8"/>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29184"/>
            <a:ext cx="11055096" cy="256032"/>
          </a:xfrm>
          <a:prstGeom prst="rect">
            <a:avLst/>
          </a:prstGeom>
          <a:noFill/>
          <a:ln/>
        </p:spPr>
        <p:txBody>
          <a:bodyPr wrap="square" lIns="0" tIns="0" rIns="0" bIns="0" rtlCol="0" anchor="ctr"/>
          <a:lstStyle/>
          <a:p>
            <a:pPr marL="0" indent="0">
              <a:buNone/>
            </a:pPr>
            <a:r>
              <a:rPr lang="en-US" sz="1100" b="1" kern="0" spc="160" dirty="0">
                <a:solidFill>
                  <a:srgbClr val="2A9D8F"/>
                </a:solidFill>
                <a:latin typeface="Calibri" pitchFamily="34" charset="0"/>
                <a:ea typeface="Calibri" pitchFamily="34" charset="-122"/>
                <a:cs typeface="Calibri" pitchFamily="34" charset="-120"/>
              </a:rPr>
              <a:t>EVALUACIÓN DEL PRODUCTO</a:t>
            </a:r>
            <a:endParaRPr lang="en-US" sz="1100" dirty="0"/>
          </a:p>
        </p:txBody>
      </p:sp>
      <p:sp>
        <p:nvSpPr>
          <p:cNvPr id="3" name="Text 1"/>
          <p:cNvSpPr txBox="1"/>
          <p:nvPr/>
        </p:nvSpPr>
        <p:spPr>
          <a:xfrm>
            <a:off x="566928" y="603504"/>
            <a:ext cx="11055096" cy="749808"/>
          </a:xfrm>
          <a:prstGeom prst="rect">
            <a:avLst/>
          </a:prstGeom>
          <a:noFill/>
          <a:ln/>
        </p:spPr>
        <p:txBody>
          <a:bodyPr wrap="square" lIns="0" tIns="0" rIns="0" bIns="0" rtlCol="0" anchor="t"/>
          <a:lstStyle/>
          <a:p>
            <a:pPr marL="0" indent="0">
              <a:buNone/>
            </a:pPr>
            <a:r>
              <a:rPr lang="en-US" sz="2900" b="1" dirty="0">
                <a:solidFill>
                  <a:srgbClr val="1B2A4A"/>
                </a:solidFill>
                <a:latin typeface="Cambria" pitchFamily="34" charset="0"/>
                <a:ea typeface="Cambria" pitchFamily="34" charset="-122"/>
                <a:cs typeface="Cambria" pitchFamily="34" charset="-120"/>
              </a:rPr>
              <a:t>Rúbrica de la cápsula de microaprendizaje</a:t>
            </a:r>
            <a:endParaRPr lang="en-US" sz="2900" dirty="0"/>
          </a:p>
        </p:txBody>
      </p:sp>
      <p:sp>
        <p:nvSpPr>
          <p:cNvPr id="4" name="Text 2"/>
          <p:cNvSpPr txBox="1"/>
          <p:nvPr/>
        </p:nvSpPr>
        <p:spPr>
          <a:xfrm>
            <a:off x="566928" y="6428232"/>
            <a:ext cx="7863840" cy="256032"/>
          </a:xfrm>
          <a:prstGeom prst="rect">
            <a:avLst/>
          </a:prstGeom>
          <a:noFill/>
          <a:ln/>
        </p:spPr>
        <p:txBody>
          <a:bodyPr wrap="square" lIns="0" tIns="0" rIns="0" bIns="0" rtlCol="0" anchor="ctr"/>
          <a:lstStyle/>
          <a:p>
            <a:pPr marL="0" indent="0">
              <a:buNone/>
            </a:pPr>
            <a:r>
              <a:rPr lang="en-US" sz="900" dirty="0">
                <a:solidFill>
                  <a:srgbClr val="5B6B7B"/>
                </a:solidFill>
                <a:latin typeface="Calibri" pitchFamily="34" charset="0"/>
                <a:ea typeface="Calibri" pitchFamily="34" charset="-122"/>
                <a:cs typeface="Calibri" pitchFamily="34" charset="-120"/>
              </a:rPr>
              <a:t>Microaprendizaje para adultos  ·  Proyecto RUTA — Inter Ponce</a:t>
            </a:r>
            <a:endParaRPr lang="en-US" sz="900" dirty="0"/>
          </a:p>
        </p:txBody>
      </p:sp>
      <p:sp>
        <p:nvSpPr>
          <p:cNvPr id="5" name="Text 3"/>
          <p:cNvSpPr txBox="1"/>
          <p:nvPr/>
        </p:nvSpPr>
        <p:spPr>
          <a:xfrm>
            <a:off x="10972800" y="6428232"/>
            <a:ext cx="649224" cy="256032"/>
          </a:xfrm>
          <a:prstGeom prst="rect">
            <a:avLst/>
          </a:prstGeom>
          <a:noFill/>
          <a:ln/>
        </p:spPr>
        <p:txBody>
          <a:bodyPr wrap="square" lIns="0" tIns="0" rIns="0" bIns="0" rtlCol="0" anchor="ctr"/>
          <a:lstStyle/>
          <a:p>
            <a:pPr marL="0" indent="0" algn="r">
              <a:buNone/>
            </a:pPr>
            <a:r>
              <a:rPr lang="en-US" sz="900" dirty="0">
                <a:solidFill>
                  <a:srgbClr val="5B6B7B"/>
                </a:solidFill>
                <a:latin typeface="Calibri" pitchFamily="34" charset="0"/>
                <a:ea typeface="Calibri" pitchFamily="34" charset="-122"/>
                <a:cs typeface="Calibri" pitchFamily="34" charset="-120"/>
              </a:rPr>
              <a:t>45</a:t>
            </a:r>
            <a:endParaRPr lang="en-US" sz="9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566928" y="1517904"/>
          <a:ext cx="11055096" cy="914400"/>
        </p:xfrm>
        <a:graphic>
          <a:graphicData uri="http://schemas.openxmlformats.org/drawingml/2006/table">
            <a:tbl>
              <a:tblPr/>
              <a:tblGrid>
                <a:gridCol w="2148840">
                  <a:extLst>
                    <a:ext uri="{9D8B030D-6E8A-4147-A177-3AD203B41FA5}">
                      <a16:colId xmlns:a16="http://schemas.microsoft.com/office/drawing/2014/main" val="20000"/>
                    </a:ext>
                  </a:extLst>
                </a:gridCol>
                <a:gridCol w="2395728">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2157984">
                  <a:extLst>
                    <a:ext uri="{9D8B030D-6E8A-4147-A177-3AD203B41FA5}">
                      <a16:colId xmlns:a16="http://schemas.microsoft.com/office/drawing/2014/main" val="20003"/>
                    </a:ext>
                  </a:extLst>
                </a:gridCol>
                <a:gridCol w="2157984">
                  <a:extLst>
                    <a:ext uri="{9D8B030D-6E8A-4147-A177-3AD203B41FA5}">
                      <a16:colId xmlns:a16="http://schemas.microsoft.com/office/drawing/2014/main" val="20004"/>
                    </a:ext>
                  </a:extLst>
                </a:gridCol>
              </a:tblGrid>
              <a:tr h="768096">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Criterio</a:t>
                      </a:r>
                      <a:endParaRPr lang="en-US" sz="100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1B2A4A"/>
                    </a:solidFill>
                  </a:tcPr>
                </a:tc>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Ejemplar  (4)</a:t>
                      </a:r>
                      <a:endParaRPr lang="en-US" sz="100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1B2A4A"/>
                    </a:solidFill>
                  </a:tcPr>
                </a:tc>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Competente  (3)</a:t>
                      </a:r>
                      <a:endParaRPr lang="en-US" sz="100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1B2A4A"/>
                    </a:solidFill>
                  </a:tcPr>
                </a:tc>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En desarrollo  (2)</a:t>
                      </a:r>
                      <a:endParaRPr lang="en-US" sz="100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1B2A4A"/>
                    </a:solidFill>
                  </a:tcPr>
                </a:tc>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Inicial  (1)</a:t>
                      </a:r>
                      <a:endParaRPr lang="en-US" sz="100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768096">
                <a:tc>
                  <a:txBody>
                    <a:bodyPr/>
                    <a:lstStyle/>
                    <a:p>
                      <a:pPr marL="0" indent="0">
                        <a:buNone/>
                      </a:pPr>
                      <a:r>
                        <a:rPr lang="en-US" sz="950" b="1" dirty="0">
                          <a:solidFill>
                            <a:srgbClr val="1F2933"/>
                          </a:solidFill>
                          <a:latin typeface="Calibri" pitchFamily="34" charset="0"/>
                          <a:ea typeface="Calibri" pitchFamily="34" charset="-122"/>
                          <a:cs typeface="Calibri" pitchFamily="34" charset="-120"/>
                        </a:rPr>
                        <a:t>Pertinencia andragógica</a:t>
                      </a:r>
                      <a:endParaRPr lang="en-US" sz="9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950" dirty="0">
                          <a:solidFill>
                            <a:srgbClr val="1F2933"/>
                          </a:solidFill>
                          <a:latin typeface="Calibri" pitchFamily="34" charset="0"/>
                          <a:ea typeface="Calibri" pitchFamily="34" charset="-122"/>
                          <a:cs typeface="Calibri" pitchFamily="34" charset="-120"/>
                        </a:rPr>
                        <a:t>Responde a una necesidad real y de uso inmediato; el gancho parte de la experiencia del adulto.</a:t>
                      </a:r>
                      <a:endParaRPr lang="en-US" sz="9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950" dirty="0">
                          <a:solidFill>
                            <a:srgbClr val="1F2933"/>
                          </a:solidFill>
                          <a:latin typeface="Calibri" pitchFamily="34" charset="0"/>
                          <a:ea typeface="Calibri" pitchFamily="34" charset="-122"/>
                          <a:cs typeface="Calibri" pitchFamily="34" charset="-120"/>
                        </a:rPr>
                        <a:t>Responde a una necesidad real; el gancho es pertinente aunque general.</a:t>
                      </a:r>
                      <a:endParaRPr lang="en-US" sz="9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950" dirty="0">
                          <a:solidFill>
                            <a:srgbClr val="1F2933"/>
                          </a:solidFill>
                          <a:latin typeface="Calibri" pitchFamily="34" charset="0"/>
                          <a:ea typeface="Calibri" pitchFamily="34" charset="-122"/>
                          <a:cs typeface="Calibri" pitchFamily="34" charset="-120"/>
                        </a:rPr>
                        <a:t>La utilidad se declara pero no se evidencia en el diseño.</a:t>
                      </a:r>
                      <a:endParaRPr lang="en-US" sz="9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950" dirty="0">
                          <a:solidFill>
                            <a:srgbClr val="1F2933"/>
                          </a:solidFill>
                          <a:latin typeface="Calibri" pitchFamily="34" charset="0"/>
                          <a:ea typeface="Calibri" pitchFamily="34" charset="-122"/>
                          <a:cs typeface="Calibri" pitchFamily="34" charset="-120"/>
                        </a:rPr>
                        <a:t>El contenido se organiza desde la lógica del tema, no del participante.</a:t>
                      </a:r>
                      <a:endParaRPr lang="en-US" sz="9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68096">
                <a:tc>
                  <a:txBody>
                    <a:bodyPr/>
                    <a:lstStyle/>
                    <a:p>
                      <a:pPr marL="0" indent="0">
                        <a:buNone/>
                      </a:pPr>
                      <a:r>
                        <a:rPr lang="en-US" sz="950" b="1" dirty="0">
                          <a:solidFill>
                            <a:srgbClr val="1F2933"/>
                          </a:solidFill>
                          <a:latin typeface="Calibri" pitchFamily="34" charset="0"/>
                          <a:ea typeface="Calibri" pitchFamily="34" charset="-122"/>
                          <a:cs typeface="Calibri" pitchFamily="34" charset="-120"/>
                        </a:rPr>
                        <a:t>Focalización y competencia observable</a:t>
                      </a:r>
                      <a:endParaRPr lang="en-US" sz="9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1F4F8"/>
                    </a:solidFill>
                  </a:tcPr>
                </a:tc>
                <a:tc>
                  <a:txBody>
                    <a:bodyPr/>
                    <a:lstStyle/>
                    <a:p>
                      <a:pPr marL="0" indent="0">
                        <a:buNone/>
                      </a:pPr>
                      <a:r>
                        <a:rPr lang="en-US" sz="950" dirty="0">
                          <a:solidFill>
                            <a:srgbClr val="1F2933"/>
                          </a:solidFill>
                          <a:latin typeface="Calibri" pitchFamily="34" charset="0"/>
                          <a:ea typeface="Calibri" pitchFamily="34" charset="-122"/>
                          <a:cs typeface="Calibri" pitchFamily="34" charset="-120"/>
                        </a:rPr>
                        <a:t>Una sola competencia con condición, verbo observable, objeto y criterio; cumple la regla 1-1-1.</a:t>
                      </a:r>
                      <a:endParaRPr lang="en-US" sz="9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1F4F8"/>
                    </a:solidFill>
                  </a:tcPr>
                </a:tc>
                <a:tc>
                  <a:txBody>
                    <a:bodyPr/>
                    <a:lstStyle/>
                    <a:p>
                      <a:pPr marL="0" indent="0">
                        <a:buNone/>
                      </a:pPr>
                      <a:r>
                        <a:rPr lang="en-US" sz="950" dirty="0">
                          <a:solidFill>
                            <a:srgbClr val="1F2933"/>
                          </a:solidFill>
                          <a:latin typeface="Calibri" pitchFamily="34" charset="0"/>
                          <a:ea typeface="Calibri" pitchFamily="34" charset="-122"/>
                          <a:cs typeface="Calibri" pitchFamily="34" charset="-120"/>
                        </a:rPr>
                        <a:t>Competencia observable con criterio; algún componente implícito.</a:t>
                      </a:r>
                      <a:endParaRPr lang="en-US" sz="9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1F4F8"/>
                    </a:solidFill>
                  </a:tcPr>
                </a:tc>
                <a:tc>
                  <a:txBody>
                    <a:bodyPr/>
                    <a:lstStyle/>
                    <a:p>
                      <a:pPr marL="0" indent="0">
                        <a:buNone/>
                      </a:pPr>
                      <a:r>
                        <a:rPr lang="en-US" sz="950" dirty="0">
                          <a:solidFill>
                            <a:srgbClr val="1F2933"/>
                          </a:solidFill>
                          <a:latin typeface="Calibri" pitchFamily="34" charset="0"/>
                          <a:ea typeface="Calibri" pitchFamily="34" charset="-122"/>
                          <a:cs typeface="Calibri" pitchFamily="34" charset="-120"/>
                        </a:rPr>
                        <a:t>Objetivo redactado, pero con verbo no observable o sin criterio.</a:t>
                      </a:r>
                      <a:endParaRPr lang="en-US" sz="9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1F4F8"/>
                    </a:solidFill>
                  </a:tcPr>
                </a:tc>
                <a:tc>
                  <a:txBody>
                    <a:bodyPr/>
                    <a:lstStyle/>
                    <a:p>
                      <a:pPr marL="0" indent="0">
                        <a:buNone/>
                      </a:pPr>
                      <a:r>
                        <a:rPr lang="en-US" sz="950" dirty="0">
                          <a:solidFill>
                            <a:srgbClr val="1F2933"/>
                          </a:solidFill>
                          <a:latin typeface="Calibri" pitchFamily="34" charset="0"/>
                          <a:ea typeface="Calibri" pitchFamily="34" charset="-122"/>
                          <a:cs typeface="Calibri" pitchFamily="34" charset="-120"/>
                        </a:rPr>
                        <a:t>Enuncia un tema en lugar de una competencia.</a:t>
                      </a:r>
                      <a:endParaRPr lang="en-US" sz="9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1F4F8"/>
                    </a:solidFill>
                  </a:tcPr>
                </a:tc>
                <a:extLst>
                  <a:ext uri="{0D108BD9-81ED-4DB2-BD59-A6C34878D82A}">
                    <a16:rowId xmlns:a16="http://schemas.microsoft.com/office/drawing/2014/main" val="10002"/>
                  </a:ext>
                </a:extLst>
              </a:tr>
              <a:tr h="768096">
                <a:tc>
                  <a:txBody>
                    <a:bodyPr/>
                    <a:lstStyle/>
                    <a:p>
                      <a:pPr marL="0" indent="0">
                        <a:buNone/>
                      </a:pPr>
                      <a:r>
                        <a:rPr lang="en-US" sz="950" b="1" dirty="0">
                          <a:solidFill>
                            <a:srgbClr val="1F2933"/>
                          </a:solidFill>
                          <a:latin typeface="Calibri" pitchFamily="34" charset="0"/>
                          <a:ea typeface="Calibri" pitchFamily="34" charset="-122"/>
                          <a:cs typeface="Calibri" pitchFamily="34" charset="-120"/>
                        </a:rPr>
                        <a:t>Diseño del contenido y accesibilidad</a:t>
                      </a:r>
                      <a:endParaRPr lang="en-US" sz="9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950" dirty="0">
                          <a:solidFill>
                            <a:srgbClr val="1F2933"/>
                          </a:solidFill>
                          <a:latin typeface="Calibri" pitchFamily="34" charset="0"/>
                          <a:ea typeface="Calibri" pitchFamily="34" charset="-122"/>
                          <a:cs typeface="Calibri" pitchFamily="34" charset="-120"/>
                        </a:rPr>
                        <a:t>Cinco momentos con dosificación adecuada y las tres decisiones DUA explícitas.</a:t>
                      </a:r>
                      <a:endParaRPr lang="en-US" sz="9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950" dirty="0">
                          <a:solidFill>
                            <a:srgbClr val="1F2933"/>
                          </a:solidFill>
                          <a:latin typeface="Calibri" pitchFamily="34" charset="0"/>
                          <a:ea typeface="Calibri" pitchFamily="34" charset="-122"/>
                          <a:cs typeface="Calibri" pitchFamily="34" charset="-120"/>
                        </a:rPr>
                        <a:t>Cinco momentos presentes; al menos dos decisiones DUA.</a:t>
                      </a:r>
                      <a:endParaRPr lang="en-US" sz="9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950" dirty="0">
                          <a:solidFill>
                            <a:srgbClr val="1F2933"/>
                          </a:solidFill>
                          <a:latin typeface="Calibri" pitchFamily="34" charset="0"/>
                          <a:ea typeface="Calibri" pitchFamily="34" charset="-122"/>
                          <a:cs typeface="Calibri" pitchFamily="34" charset="-120"/>
                        </a:rPr>
                        <a:t>Faltan momentos o el núcleo desplaza a la práctica.</a:t>
                      </a:r>
                      <a:endParaRPr lang="en-US" sz="9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950" dirty="0">
                          <a:solidFill>
                            <a:srgbClr val="1F2933"/>
                          </a:solidFill>
                          <a:latin typeface="Calibri" pitchFamily="34" charset="0"/>
                          <a:ea typeface="Calibri" pitchFamily="34" charset="-122"/>
                          <a:cs typeface="Calibri" pitchFamily="34" charset="-120"/>
                        </a:rPr>
                        <a:t>Contenido expositivo sin estructura de cápsula.</a:t>
                      </a:r>
                      <a:endParaRPr lang="en-US" sz="9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68096">
                <a:tc>
                  <a:txBody>
                    <a:bodyPr/>
                    <a:lstStyle/>
                    <a:p>
                      <a:pPr marL="0" indent="0">
                        <a:buNone/>
                      </a:pPr>
                      <a:r>
                        <a:rPr lang="en-US" sz="950" b="1" dirty="0">
                          <a:solidFill>
                            <a:srgbClr val="1F2933"/>
                          </a:solidFill>
                          <a:latin typeface="Calibri" pitchFamily="34" charset="0"/>
                          <a:ea typeface="Calibri" pitchFamily="34" charset="-122"/>
                          <a:cs typeface="Calibri" pitchFamily="34" charset="-120"/>
                        </a:rPr>
                        <a:t>Práctica y microevaluación</a:t>
                      </a:r>
                      <a:endParaRPr lang="en-US" sz="9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1F4F8"/>
                    </a:solidFill>
                  </a:tcPr>
                </a:tc>
                <a:tc>
                  <a:txBody>
                    <a:bodyPr/>
                    <a:lstStyle/>
                    <a:p>
                      <a:pPr marL="0" indent="0">
                        <a:buNone/>
                      </a:pPr>
                      <a:r>
                        <a:rPr lang="en-US" sz="950" dirty="0">
                          <a:solidFill>
                            <a:srgbClr val="1F2933"/>
                          </a:solidFill>
                          <a:latin typeface="Calibri" pitchFamily="34" charset="0"/>
                          <a:ea typeface="Calibri" pitchFamily="34" charset="-122"/>
                          <a:cs typeface="Calibri" pitchFamily="34" charset="-120"/>
                        </a:rPr>
                        <a:t>Práctica dentro de la cápsula, evidencia observable, respuesta modelo y acción de reenseñanza definida.</a:t>
                      </a:r>
                      <a:endParaRPr lang="en-US" sz="9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1F4F8"/>
                    </a:solidFill>
                  </a:tcPr>
                </a:tc>
                <a:tc>
                  <a:txBody>
                    <a:bodyPr/>
                    <a:lstStyle/>
                    <a:p>
                      <a:pPr marL="0" indent="0">
                        <a:buNone/>
                      </a:pPr>
                      <a:r>
                        <a:rPr lang="en-US" sz="950" dirty="0">
                          <a:solidFill>
                            <a:srgbClr val="1F2933"/>
                          </a:solidFill>
                          <a:latin typeface="Calibri" pitchFamily="34" charset="0"/>
                          <a:ea typeface="Calibri" pitchFamily="34" charset="-122"/>
                          <a:cs typeface="Calibri" pitchFamily="34" charset="-120"/>
                        </a:rPr>
                        <a:t>Práctica y chequeo alineados; falta la acción de reenseñanza.</a:t>
                      </a:r>
                      <a:endParaRPr lang="en-US" sz="9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1F4F8"/>
                    </a:solidFill>
                  </a:tcPr>
                </a:tc>
                <a:tc>
                  <a:txBody>
                    <a:bodyPr/>
                    <a:lstStyle/>
                    <a:p>
                      <a:pPr marL="0" indent="0">
                        <a:buNone/>
                      </a:pPr>
                      <a:r>
                        <a:rPr lang="en-US" sz="950" dirty="0">
                          <a:solidFill>
                            <a:srgbClr val="1F2933"/>
                          </a:solidFill>
                          <a:latin typeface="Calibri" pitchFamily="34" charset="0"/>
                          <a:ea typeface="Calibri" pitchFamily="34" charset="-122"/>
                          <a:cs typeface="Calibri" pitchFamily="34" charset="-120"/>
                        </a:rPr>
                        <a:t>Hay práctica o chequeo, pero no ambos, o no están alineados.</a:t>
                      </a:r>
                      <a:endParaRPr lang="en-US" sz="9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1F4F8"/>
                    </a:solidFill>
                  </a:tcPr>
                </a:tc>
                <a:tc>
                  <a:txBody>
                    <a:bodyPr/>
                    <a:lstStyle/>
                    <a:p>
                      <a:pPr marL="0" indent="0">
                        <a:buNone/>
                      </a:pPr>
                      <a:r>
                        <a:rPr lang="en-US" sz="950" dirty="0">
                          <a:solidFill>
                            <a:srgbClr val="1F2933"/>
                          </a:solidFill>
                          <a:latin typeface="Calibri" pitchFamily="34" charset="0"/>
                          <a:ea typeface="Calibri" pitchFamily="34" charset="-122"/>
                          <a:cs typeface="Calibri" pitchFamily="34" charset="-120"/>
                        </a:rPr>
                        <a:t>No hay práctica ni evidencia de logro.</a:t>
                      </a:r>
                      <a:endParaRPr lang="en-US" sz="950" dirty="0">
                        <a:latin typeface="Calibri" charset="0"/>
                        <a:ea typeface="Calibri" charset="0"/>
                        <a:cs typeface="Calibri" charset="0"/>
                      </a:endParaRPr>
                    </a:p>
                  </a:txBody>
                  <a:tcPr marT="54864" marB="54864" anchor="ctr">
                    <a:lnL w="9525" cap="flat" cmpd="sng" algn="ctr">
                      <a:solidFill>
                        <a:srgbClr val="D9E0E8"/>
                      </a:solidFill>
                      <a:prstDash val="solid"/>
                      <a:round/>
                      <a:headEnd type="none" w="med" len="med"/>
                      <a:tailEnd type="none" w="med" len="med"/>
                    </a:lnL>
                    <a:lnR w="9525" cap="flat" cmpd="sng" algn="ctr">
                      <a:solidFill>
                        <a:srgbClr val="D9E0E8"/>
                      </a:solidFill>
                      <a:prstDash val="solid"/>
                      <a:round/>
                      <a:headEnd type="none" w="med" len="med"/>
                      <a:tailEnd type="none" w="med" len="med"/>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1F4F8"/>
                    </a:solidFill>
                  </a:tcPr>
                </a:tc>
                <a:extLst>
                  <a:ext uri="{0D108BD9-81ED-4DB2-BD59-A6C34878D82A}">
                    <a16:rowId xmlns:a16="http://schemas.microsoft.com/office/drawing/2014/main" val="10004"/>
                  </a:ext>
                </a:extLst>
              </a:tr>
            </a:tbl>
          </a:graphicData>
        </a:graphic>
      </p:graphicFrame>
      <p:sp>
        <p:nvSpPr>
          <p:cNvPr id="7" name="Text 4"/>
          <p:cNvSpPr txBox="1"/>
          <p:nvPr/>
        </p:nvSpPr>
        <p:spPr>
          <a:xfrm>
            <a:off x="566928" y="5632704"/>
            <a:ext cx="11055096" cy="292608"/>
          </a:xfrm>
          <a:prstGeom prst="rect">
            <a:avLst/>
          </a:prstGeom>
          <a:noFill/>
          <a:ln/>
        </p:spPr>
        <p:txBody>
          <a:bodyPr wrap="square" lIns="0" tIns="0" rIns="0" bIns="0" rtlCol="0" anchor="ctr"/>
          <a:lstStyle/>
          <a:p>
            <a:pPr marL="0" indent="0">
              <a:buNone/>
            </a:pPr>
            <a:r>
              <a:rPr lang="en-US" sz="1150" i="1" dirty="0">
                <a:solidFill>
                  <a:srgbClr val="1B2A4A"/>
                </a:solidFill>
                <a:latin typeface="Calibri" pitchFamily="34" charset="0"/>
                <a:ea typeface="Calibri" pitchFamily="34" charset="-122"/>
                <a:cs typeface="Calibri" pitchFamily="34" charset="-120"/>
              </a:rPr>
              <a:t>Puntuación total: 16 puntos  ·  Puntuación mínima de ejecución: 70 % = 12 puntos  ·  Uso formativo: identifique el criterio más bajo y rediseñe solo ese componente.</a:t>
            </a:r>
            <a:endParaRPr lang="en-US" sz="11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29184"/>
            <a:ext cx="11055096" cy="256032"/>
          </a:xfrm>
          <a:prstGeom prst="rect">
            <a:avLst/>
          </a:prstGeom>
          <a:noFill/>
          <a:ln/>
        </p:spPr>
        <p:txBody>
          <a:bodyPr wrap="square" lIns="0" tIns="0" rIns="0" bIns="0" rtlCol="0" anchor="ctr"/>
          <a:lstStyle/>
          <a:p>
            <a:pPr marL="0" indent="0">
              <a:buNone/>
            </a:pPr>
            <a:r>
              <a:rPr lang="en-US" sz="1100" b="1" kern="0" spc="160" dirty="0">
                <a:solidFill>
                  <a:srgbClr val="2A9D8F"/>
                </a:solidFill>
                <a:latin typeface="Calibri" pitchFamily="34" charset="0"/>
                <a:ea typeface="Calibri" pitchFamily="34" charset="-122"/>
                <a:cs typeface="Calibri" pitchFamily="34" charset="-120"/>
              </a:rPr>
              <a:t>COMPROMISO</a:t>
            </a:r>
            <a:endParaRPr lang="en-US" sz="1100" dirty="0"/>
          </a:p>
        </p:txBody>
      </p:sp>
      <p:sp>
        <p:nvSpPr>
          <p:cNvPr id="3" name="Text 1"/>
          <p:cNvSpPr txBox="1"/>
          <p:nvPr/>
        </p:nvSpPr>
        <p:spPr>
          <a:xfrm>
            <a:off x="566928" y="603504"/>
            <a:ext cx="11055096" cy="749808"/>
          </a:xfrm>
          <a:prstGeom prst="rect">
            <a:avLst/>
          </a:prstGeom>
          <a:noFill/>
          <a:ln/>
        </p:spPr>
        <p:txBody>
          <a:bodyPr wrap="square" lIns="0" tIns="0" rIns="0" bIns="0" rtlCol="0" anchor="t"/>
          <a:lstStyle/>
          <a:p>
            <a:pPr marL="0" indent="0">
              <a:buNone/>
            </a:pPr>
            <a:r>
              <a:rPr lang="en-US" sz="2900" b="1" dirty="0">
                <a:solidFill>
                  <a:srgbClr val="1B2A4A"/>
                </a:solidFill>
                <a:latin typeface="Cambria" pitchFamily="34" charset="0"/>
                <a:ea typeface="Cambria" pitchFamily="34" charset="-122"/>
                <a:cs typeface="Cambria" pitchFamily="34" charset="-120"/>
              </a:rPr>
              <a:t>Plan de implementación de catorce días y ticket de salida</a:t>
            </a:r>
            <a:endParaRPr lang="en-US" sz="2900" dirty="0"/>
          </a:p>
        </p:txBody>
      </p:sp>
      <p:sp>
        <p:nvSpPr>
          <p:cNvPr id="4" name="Text 2"/>
          <p:cNvSpPr txBox="1"/>
          <p:nvPr/>
        </p:nvSpPr>
        <p:spPr>
          <a:xfrm>
            <a:off x="566928" y="6428232"/>
            <a:ext cx="7863840" cy="256032"/>
          </a:xfrm>
          <a:prstGeom prst="rect">
            <a:avLst/>
          </a:prstGeom>
          <a:noFill/>
          <a:ln/>
        </p:spPr>
        <p:txBody>
          <a:bodyPr wrap="square" lIns="0" tIns="0" rIns="0" bIns="0" rtlCol="0" anchor="ctr"/>
          <a:lstStyle/>
          <a:p>
            <a:pPr marL="0" indent="0">
              <a:buNone/>
            </a:pPr>
            <a:r>
              <a:rPr lang="en-US" sz="900" dirty="0">
                <a:solidFill>
                  <a:srgbClr val="5B6B7B"/>
                </a:solidFill>
                <a:latin typeface="Calibri" pitchFamily="34" charset="0"/>
                <a:ea typeface="Calibri" pitchFamily="34" charset="-122"/>
                <a:cs typeface="Calibri" pitchFamily="34" charset="-120"/>
              </a:rPr>
              <a:t>Microaprendizaje para adultos  ·  Proyecto RUTA — Inter Ponce</a:t>
            </a:r>
            <a:endParaRPr lang="en-US" sz="900" dirty="0"/>
          </a:p>
        </p:txBody>
      </p:sp>
      <p:sp>
        <p:nvSpPr>
          <p:cNvPr id="5" name="Text 3"/>
          <p:cNvSpPr txBox="1"/>
          <p:nvPr/>
        </p:nvSpPr>
        <p:spPr>
          <a:xfrm>
            <a:off x="10972800" y="6428232"/>
            <a:ext cx="649224" cy="256032"/>
          </a:xfrm>
          <a:prstGeom prst="rect">
            <a:avLst/>
          </a:prstGeom>
          <a:noFill/>
          <a:ln/>
        </p:spPr>
        <p:txBody>
          <a:bodyPr wrap="square" lIns="0" tIns="0" rIns="0" bIns="0" rtlCol="0" anchor="ctr"/>
          <a:lstStyle/>
          <a:p>
            <a:pPr marL="0" indent="0" algn="r">
              <a:buNone/>
            </a:pPr>
            <a:r>
              <a:rPr lang="en-US" sz="900" dirty="0">
                <a:solidFill>
                  <a:srgbClr val="5B6B7B"/>
                </a:solidFill>
                <a:latin typeface="Calibri" pitchFamily="34" charset="0"/>
                <a:ea typeface="Calibri" pitchFamily="34" charset="-122"/>
                <a:cs typeface="Calibri" pitchFamily="34" charset="-120"/>
              </a:rPr>
              <a:t>46</a:t>
            </a:r>
            <a:endParaRPr lang="en-US" sz="900" dirty="0"/>
          </a:p>
        </p:txBody>
      </p:sp>
      <p:sp>
        <p:nvSpPr>
          <p:cNvPr id="6" name="Shape 4"/>
          <p:cNvSpPr/>
          <p:nvPr/>
        </p:nvSpPr>
        <p:spPr>
          <a:xfrm>
            <a:off x="566928" y="1627632"/>
            <a:ext cx="2624328" cy="457200"/>
          </a:xfrm>
          <a:prstGeom prst="roundRect">
            <a:avLst>
              <a:gd name="adj" fmla="val 8000"/>
            </a:avLst>
          </a:prstGeom>
          <a:solidFill>
            <a:srgbClr val="1B2A4A"/>
          </a:solidFill>
          <a:ln w="12700">
            <a:solidFill>
              <a:srgbClr val="1B2A4A"/>
            </a:solidFill>
            <a:prstDash val="solid"/>
          </a:ln>
        </p:spPr>
      </p:sp>
      <p:sp>
        <p:nvSpPr>
          <p:cNvPr id="7" name="Text 5"/>
          <p:cNvSpPr txBox="1"/>
          <p:nvPr/>
        </p:nvSpPr>
        <p:spPr>
          <a:xfrm>
            <a:off x="566928" y="1627632"/>
            <a:ext cx="2624328"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Días 1–2</a:t>
            </a:r>
            <a:endParaRPr lang="en-US" sz="1400" dirty="0"/>
          </a:p>
        </p:txBody>
      </p:sp>
      <p:sp>
        <p:nvSpPr>
          <p:cNvPr id="8" name="Shape 6"/>
          <p:cNvSpPr/>
          <p:nvPr/>
        </p:nvSpPr>
        <p:spPr>
          <a:xfrm>
            <a:off x="566928" y="2194560"/>
            <a:ext cx="2624328" cy="1463040"/>
          </a:xfrm>
          <a:prstGeom prst="roundRect">
            <a:avLst>
              <a:gd name="adj" fmla="val 2500"/>
            </a:avLst>
          </a:prstGeom>
          <a:solidFill>
            <a:srgbClr val="F1F4F8"/>
          </a:solidFill>
          <a:ln w="12700">
            <a:solidFill>
              <a:srgbClr val="F1F4F8"/>
            </a:solidFill>
            <a:prstDash val="solid"/>
          </a:ln>
          <a:effectLst>
            <a:outerShdw blurRad="101600" dist="12700" dir="5400000" algn="bl" rotWithShape="0">
              <a:srgbClr val="9AA8B5">
                <a:alpha val="16000"/>
              </a:srgbClr>
            </a:outerShdw>
          </a:effectLst>
        </p:spPr>
      </p:sp>
      <p:sp>
        <p:nvSpPr>
          <p:cNvPr id="9" name="Text 7"/>
          <p:cNvSpPr txBox="1"/>
          <p:nvPr/>
        </p:nvSpPr>
        <p:spPr>
          <a:xfrm>
            <a:off x="804672" y="2414016"/>
            <a:ext cx="2148840" cy="1060704"/>
          </a:xfrm>
          <a:prstGeom prst="rect">
            <a:avLst/>
          </a:prstGeom>
          <a:noFill/>
          <a:ln/>
        </p:spPr>
        <p:txBody>
          <a:bodyPr wrap="square" lIns="0" tIns="0" rIns="0" bIns="0" rtlCol="0" anchor="t"/>
          <a:lstStyle/>
          <a:p>
            <a:pPr marL="0" indent="0">
              <a:lnSpc>
                <a:spcPct val="106000"/>
              </a:lnSpc>
              <a:buNone/>
            </a:pPr>
            <a:r>
              <a:rPr lang="en-US" sz="1200" dirty="0">
                <a:solidFill>
                  <a:srgbClr val="1F2933"/>
                </a:solidFill>
                <a:latin typeface="Calibri" pitchFamily="34" charset="0"/>
                <a:ea typeface="Calibri" pitchFamily="34" charset="-122"/>
                <a:cs typeface="Calibri" pitchFamily="34" charset="-120"/>
              </a:rPr>
              <a:t>Aplique la cápsula que diseñó hoy con un grupo real.</a:t>
            </a:r>
            <a:endParaRPr lang="en-US" sz="1200" dirty="0"/>
          </a:p>
        </p:txBody>
      </p:sp>
      <p:sp>
        <p:nvSpPr>
          <p:cNvPr id="10" name="Shape 8"/>
          <p:cNvSpPr/>
          <p:nvPr/>
        </p:nvSpPr>
        <p:spPr>
          <a:xfrm>
            <a:off x="3383280" y="1627632"/>
            <a:ext cx="2624328" cy="457200"/>
          </a:xfrm>
          <a:prstGeom prst="roundRect">
            <a:avLst>
              <a:gd name="adj" fmla="val 8000"/>
            </a:avLst>
          </a:prstGeom>
          <a:solidFill>
            <a:srgbClr val="2A9D8F"/>
          </a:solidFill>
          <a:ln w="12700">
            <a:solidFill>
              <a:srgbClr val="2A9D8F"/>
            </a:solidFill>
            <a:prstDash val="solid"/>
          </a:ln>
        </p:spPr>
      </p:sp>
      <p:sp>
        <p:nvSpPr>
          <p:cNvPr id="11" name="Text 9"/>
          <p:cNvSpPr txBox="1"/>
          <p:nvPr/>
        </p:nvSpPr>
        <p:spPr>
          <a:xfrm>
            <a:off x="3383280" y="1627632"/>
            <a:ext cx="2624328"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Días 3–5</a:t>
            </a:r>
            <a:endParaRPr lang="en-US" sz="1400" dirty="0"/>
          </a:p>
        </p:txBody>
      </p:sp>
      <p:sp>
        <p:nvSpPr>
          <p:cNvPr id="12" name="Shape 10"/>
          <p:cNvSpPr/>
          <p:nvPr/>
        </p:nvSpPr>
        <p:spPr>
          <a:xfrm>
            <a:off x="3383280" y="2194560"/>
            <a:ext cx="2624328" cy="1463040"/>
          </a:xfrm>
          <a:prstGeom prst="roundRect">
            <a:avLst>
              <a:gd name="adj" fmla="val 2500"/>
            </a:avLst>
          </a:prstGeom>
          <a:solidFill>
            <a:srgbClr val="F1F4F8"/>
          </a:solidFill>
          <a:ln w="12700">
            <a:solidFill>
              <a:srgbClr val="F1F4F8"/>
            </a:solidFill>
            <a:prstDash val="solid"/>
          </a:ln>
          <a:effectLst>
            <a:outerShdw blurRad="101600" dist="12700" dir="5400000" algn="bl" rotWithShape="0">
              <a:srgbClr val="9AA8B5">
                <a:alpha val="16000"/>
              </a:srgbClr>
            </a:outerShdw>
          </a:effectLst>
        </p:spPr>
      </p:sp>
      <p:sp>
        <p:nvSpPr>
          <p:cNvPr id="13" name="Text 11"/>
          <p:cNvSpPr txBox="1"/>
          <p:nvPr/>
        </p:nvSpPr>
        <p:spPr>
          <a:xfrm>
            <a:off x="3621024" y="2414016"/>
            <a:ext cx="2148840" cy="1060704"/>
          </a:xfrm>
          <a:prstGeom prst="rect">
            <a:avLst/>
          </a:prstGeom>
          <a:noFill/>
          <a:ln/>
        </p:spPr>
        <p:txBody>
          <a:bodyPr wrap="square" lIns="0" tIns="0" rIns="0" bIns="0" rtlCol="0" anchor="t"/>
          <a:lstStyle/>
          <a:p>
            <a:pPr marL="0" indent="0">
              <a:lnSpc>
                <a:spcPct val="106000"/>
              </a:lnSpc>
              <a:buNone/>
            </a:pPr>
            <a:r>
              <a:rPr lang="en-US" sz="1200" dirty="0">
                <a:solidFill>
                  <a:srgbClr val="1F2933"/>
                </a:solidFill>
                <a:latin typeface="Calibri" pitchFamily="34" charset="0"/>
                <a:ea typeface="Calibri" pitchFamily="34" charset="-122"/>
                <a:cs typeface="Calibri" pitchFamily="34" charset="-120"/>
              </a:rPr>
              <a:t>Registre el resultado de la microevaluación y ejecute la acción de reenseñanza.</a:t>
            </a:r>
            <a:endParaRPr lang="en-US" sz="1200" dirty="0"/>
          </a:p>
        </p:txBody>
      </p:sp>
      <p:sp>
        <p:nvSpPr>
          <p:cNvPr id="14" name="Shape 12"/>
          <p:cNvSpPr/>
          <p:nvPr/>
        </p:nvSpPr>
        <p:spPr>
          <a:xfrm>
            <a:off x="6199632" y="1627632"/>
            <a:ext cx="2624328" cy="457200"/>
          </a:xfrm>
          <a:prstGeom prst="roundRect">
            <a:avLst>
              <a:gd name="adj" fmla="val 8000"/>
            </a:avLst>
          </a:prstGeom>
          <a:solidFill>
            <a:srgbClr val="C9A227"/>
          </a:solidFill>
          <a:ln w="12700">
            <a:solidFill>
              <a:srgbClr val="C9A227"/>
            </a:solidFill>
            <a:prstDash val="solid"/>
          </a:ln>
        </p:spPr>
      </p:sp>
      <p:sp>
        <p:nvSpPr>
          <p:cNvPr id="15" name="Text 13"/>
          <p:cNvSpPr txBox="1"/>
          <p:nvPr/>
        </p:nvSpPr>
        <p:spPr>
          <a:xfrm>
            <a:off x="6199632" y="1627632"/>
            <a:ext cx="2624328"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Días 6–9</a:t>
            </a:r>
            <a:endParaRPr lang="en-US" sz="1400" dirty="0"/>
          </a:p>
        </p:txBody>
      </p:sp>
      <p:sp>
        <p:nvSpPr>
          <p:cNvPr id="16" name="Shape 14"/>
          <p:cNvSpPr/>
          <p:nvPr/>
        </p:nvSpPr>
        <p:spPr>
          <a:xfrm>
            <a:off x="6199632" y="2194560"/>
            <a:ext cx="2624328" cy="1463040"/>
          </a:xfrm>
          <a:prstGeom prst="roundRect">
            <a:avLst>
              <a:gd name="adj" fmla="val 2500"/>
            </a:avLst>
          </a:prstGeom>
          <a:solidFill>
            <a:srgbClr val="F1F4F8"/>
          </a:solidFill>
          <a:ln w="12700">
            <a:solidFill>
              <a:srgbClr val="F1F4F8"/>
            </a:solidFill>
            <a:prstDash val="solid"/>
          </a:ln>
          <a:effectLst>
            <a:outerShdw blurRad="101600" dist="12700" dir="5400000" algn="bl" rotWithShape="0">
              <a:srgbClr val="9AA8B5">
                <a:alpha val="16000"/>
              </a:srgbClr>
            </a:outerShdw>
          </a:effectLst>
        </p:spPr>
      </p:sp>
      <p:sp>
        <p:nvSpPr>
          <p:cNvPr id="17" name="Text 15"/>
          <p:cNvSpPr txBox="1"/>
          <p:nvPr/>
        </p:nvSpPr>
        <p:spPr>
          <a:xfrm>
            <a:off x="6437376" y="2414016"/>
            <a:ext cx="2148840" cy="1060704"/>
          </a:xfrm>
          <a:prstGeom prst="rect">
            <a:avLst/>
          </a:prstGeom>
          <a:noFill/>
          <a:ln/>
        </p:spPr>
        <p:txBody>
          <a:bodyPr wrap="square" lIns="0" tIns="0" rIns="0" bIns="0" rtlCol="0" anchor="t"/>
          <a:lstStyle/>
          <a:p>
            <a:pPr marL="0" indent="0">
              <a:lnSpc>
                <a:spcPct val="106000"/>
              </a:lnSpc>
              <a:buNone/>
            </a:pPr>
            <a:r>
              <a:rPr lang="en-US" sz="1200" dirty="0">
                <a:solidFill>
                  <a:srgbClr val="1F2933"/>
                </a:solidFill>
                <a:latin typeface="Calibri" pitchFamily="34" charset="0"/>
                <a:ea typeface="Calibri" pitchFamily="34" charset="-122"/>
                <a:cs typeface="Calibri" pitchFamily="34" charset="-120"/>
              </a:rPr>
              <a:t>Produzca la segunda cápsula de la ruta: recupera la primera sin volver a explicarla.</a:t>
            </a:r>
            <a:endParaRPr lang="en-US" sz="1200" dirty="0"/>
          </a:p>
        </p:txBody>
      </p:sp>
      <p:sp>
        <p:nvSpPr>
          <p:cNvPr id="18" name="Shape 16"/>
          <p:cNvSpPr/>
          <p:nvPr/>
        </p:nvSpPr>
        <p:spPr>
          <a:xfrm>
            <a:off x="9015984" y="1627632"/>
            <a:ext cx="2624328" cy="457200"/>
          </a:xfrm>
          <a:prstGeom prst="roundRect">
            <a:avLst>
              <a:gd name="adj" fmla="val 8000"/>
            </a:avLst>
          </a:prstGeom>
          <a:solidFill>
            <a:srgbClr val="1F3864"/>
          </a:solidFill>
          <a:ln w="12700">
            <a:solidFill>
              <a:srgbClr val="1F3864"/>
            </a:solidFill>
            <a:prstDash val="solid"/>
          </a:ln>
        </p:spPr>
      </p:sp>
      <p:sp>
        <p:nvSpPr>
          <p:cNvPr id="19" name="Text 17"/>
          <p:cNvSpPr txBox="1"/>
          <p:nvPr/>
        </p:nvSpPr>
        <p:spPr>
          <a:xfrm>
            <a:off x="9015984" y="1627632"/>
            <a:ext cx="2624328"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Días 10–14</a:t>
            </a:r>
            <a:endParaRPr lang="en-US" sz="1400" dirty="0"/>
          </a:p>
        </p:txBody>
      </p:sp>
      <p:sp>
        <p:nvSpPr>
          <p:cNvPr id="20" name="Shape 18"/>
          <p:cNvSpPr/>
          <p:nvPr/>
        </p:nvSpPr>
        <p:spPr>
          <a:xfrm>
            <a:off x="9015984" y="2194560"/>
            <a:ext cx="2624328" cy="1463040"/>
          </a:xfrm>
          <a:prstGeom prst="roundRect">
            <a:avLst>
              <a:gd name="adj" fmla="val 2500"/>
            </a:avLst>
          </a:prstGeom>
          <a:solidFill>
            <a:srgbClr val="F1F4F8"/>
          </a:solidFill>
          <a:ln w="12700">
            <a:solidFill>
              <a:srgbClr val="F1F4F8"/>
            </a:solidFill>
            <a:prstDash val="solid"/>
          </a:ln>
          <a:effectLst>
            <a:outerShdw blurRad="101600" dist="12700" dir="5400000" algn="bl" rotWithShape="0">
              <a:srgbClr val="9AA8B5">
                <a:alpha val="16000"/>
              </a:srgbClr>
            </a:outerShdw>
          </a:effectLst>
        </p:spPr>
      </p:sp>
      <p:sp>
        <p:nvSpPr>
          <p:cNvPr id="21" name="Text 19"/>
          <p:cNvSpPr txBox="1"/>
          <p:nvPr/>
        </p:nvSpPr>
        <p:spPr>
          <a:xfrm>
            <a:off x="9253728" y="2414016"/>
            <a:ext cx="2148840" cy="1060704"/>
          </a:xfrm>
          <a:prstGeom prst="rect">
            <a:avLst/>
          </a:prstGeom>
          <a:noFill/>
          <a:ln/>
        </p:spPr>
        <p:txBody>
          <a:bodyPr wrap="square" lIns="0" tIns="0" rIns="0" bIns="0" rtlCol="0" anchor="t"/>
          <a:lstStyle/>
          <a:p>
            <a:pPr marL="0" indent="0">
              <a:lnSpc>
                <a:spcPct val="106000"/>
              </a:lnSpc>
              <a:buNone/>
            </a:pPr>
            <a:r>
              <a:rPr lang="en-US" sz="1200" dirty="0">
                <a:solidFill>
                  <a:srgbClr val="1F2933"/>
                </a:solidFill>
                <a:latin typeface="Calibri" pitchFamily="34" charset="0"/>
                <a:ea typeface="Calibri" pitchFamily="34" charset="-122"/>
                <a:cs typeface="Calibri" pitchFamily="34" charset="-120"/>
              </a:rPr>
              <a:t>Aplique el chequeo acumulativo y comparta un hallazgo con el equipo del programa.</a:t>
            </a:r>
            <a:endParaRPr lang="en-US" sz="1200" dirty="0"/>
          </a:p>
        </p:txBody>
      </p:sp>
      <p:sp>
        <p:nvSpPr>
          <p:cNvPr id="22" name="Shape 20"/>
          <p:cNvSpPr/>
          <p:nvPr/>
        </p:nvSpPr>
        <p:spPr>
          <a:xfrm>
            <a:off x="566928" y="3931920"/>
            <a:ext cx="11055096" cy="1783080"/>
          </a:xfrm>
          <a:prstGeom prst="roundRect">
            <a:avLst>
              <a:gd name="adj" fmla="val 2051"/>
            </a:avLst>
          </a:prstGeom>
          <a:solidFill>
            <a:srgbClr val="E7F2F0"/>
          </a:solidFill>
          <a:ln w="12700">
            <a:solidFill>
              <a:srgbClr val="E7F2F0"/>
            </a:solidFill>
            <a:prstDash val="solid"/>
          </a:ln>
          <a:effectLst>
            <a:outerShdw blurRad="101600" dist="12700" dir="5400000" algn="bl" rotWithShape="0">
              <a:srgbClr val="9AA8B5">
                <a:alpha val="16000"/>
              </a:srgbClr>
            </a:outerShdw>
          </a:effectLst>
        </p:spPr>
      </p:sp>
      <p:sp>
        <p:nvSpPr>
          <p:cNvPr id="23" name="Text 21"/>
          <p:cNvSpPr txBox="1"/>
          <p:nvPr/>
        </p:nvSpPr>
        <p:spPr>
          <a:xfrm>
            <a:off x="804672" y="4151376"/>
            <a:ext cx="10579608" cy="310896"/>
          </a:xfrm>
          <a:prstGeom prst="rect">
            <a:avLst/>
          </a:prstGeom>
          <a:noFill/>
          <a:ln/>
        </p:spPr>
        <p:txBody>
          <a:bodyPr wrap="square" lIns="0" tIns="0" rIns="0" bIns="0" rtlCol="0" anchor="t"/>
          <a:lstStyle/>
          <a:p>
            <a:pPr marL="0" indent="0">
              <a:buNone/>
            </a:pPr>
            <a:r>
              <a:rPr lang="en-US" sz="1450" b="1" dirty="0">
                <a:solidFill>
                  <a:srgbClr val="1B2A4A"/>
                </a:solidFill>
                <a:latin typeface="Calibri" pitchFamily="34" charset="0"/>
                <a:ea typeface="Calibri" pitchFamily="34" charset="-122"/>
                <a:cs typeface="Calibri" pitchFamily="34" charset="-120"/>
              </a:rPr>
              <a:t>Ticket de salida del taller  —  responda en una línea cada una antes de irse</a:t>
            </a:r>
            <a:endParaRPr lang="en-US" sz="1450" dirty="0"/>
          </a:p>
        </p:txBody>
      </p:sp>
      <p:sp>
        <p:nvSpPr>
          <p:cNvPr id="24" name="Text 22"/>
          <p:cNvSpPr txBox="1"/>
          <p:nvPr/>
        </p:nvSpPr>
        <p:spPr>
          <a:xfrm>
            <a:off x="841248" y="4517136"/>
            <a:ext cx="10543032" cy="1014984"/>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1F2933"/>
                </a:solidFill>
                <a:latin typeface="Calibri" pitchFamily="34" charset="0"/>
                <a:ea typeface="Calibri" pitchFamily="34" charset="-122"/>
                <a:cs typeface="Calibri" pitchFamily="34" charset="-120"/>
              </a:rPr>
              <a:t>¿Qué puede hacer usted hoy que no podía hacer a las ocho de la mañana?</a:t>
            </a:r>
            <a:endParaRPr lang="en-US" sz="1250" dirty="0"/>
          </a:p>
          <a:p>
            <a:pPr marL="342900" indent="-342900">
              <a:spcAft>
                <a:spcPts val="500"/>
              </a:spcAft>
              <a:buSzPct val="100000"/>
              <a:buChar char="•"/>
            </a:pPr>
            <a:r>
              <a:rPr lang="en-US" sz="1250" dirty="0">
                <a:solidFill>
                  <a:srgbClr val="1F2933"/>
                </a:solidFill>
                <a:latin typeface="Calibri" pitchFamily="34" charset="0"/>
                <a:ea typeface="Calibri" pitchFamily="34" charset="-122"/>
                <a:cs typeface="Calibri" pitchFamily="34" charset="-120"/>
              </a:rPr>
              <a:t>¿Cuál es el primer contenido de su curso que va a convertir en microunidad, y qué día lo aplica?</a:t>
            </a:r>
            <a:endParaRPr lang="en-US" sz="1250" dirty="0"/>
          </a:p>
          <a:p>
            <a:pPr marL="342900" indent="-342900">
              <a:spcAft>
                <a:spcPts val="500"/>
              </a:spcAft>
              <a:buSzPct val="100000"/>
              <a:buChar char="•"/>
            </a:pPr>
            <a:r>
              <a:rPr lang="en-US" sz="1250" dirty="0">
                <a:solidFill>
                  <a:srgbClr val="1F2933"/>
                </a:solidFill>
                <a:latin typeface="Calibri" pitchFamily="34" charset="0"/>
                <a:ea typeface="Calibri" pitchFamily="34" charset="-122"/>
                <a:cs typeface="Calibri" pitchFamily="34" charset="-120"/>
              </a:rPr>
              <a:t>¿Qué necesita del Proyecto para lograrlo: tiempo, equipo, acompañamiento o materiales?</a:t>
            </a:r>
            <a:endParaRPr lang="en-US" sz="12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29184"/>
            <a:ext cx="11055096" cy="256032"/>
          </a:xfrm>
          <a:prstGeom prst="rect">
            <a:avLst/>
          </a:prstGeom>
          <a:noFill/>
          <a:ln/>
        </p:spPr>
        <p:txBody>
          <a:bodyPr wrap="square" lIns="0" tIns="0" rIns="0" bIns="0" rtlCol="0" anchor="ctr"/>
          <a:lstStyle/>
          <a:p>
            <a:pPr marL="0" indent="0">
              <a:buNone/>
            </a:pPr>
            <a:r>
              <a:rPr lang="en-US" sz="1100" b="1" kern="0" spc="160" dirty="0">
                <a:solidFill>
                  <a:srgbClr val="2A9D8F"/>
                </a:solidFill>
                <a:latin typeface="Calibri" pitchFamily="34" charset="0"/>
                <a:ea typeface="Calibri" pitchFamily="34" charset="-122"/>
                <a:cs typeface="Calibri" pitchFamily="34" charset="-120"/>
              </a:rPr>
              <a:t>REFERENCIAS</a:t>
            </a:r>
            <a:endParaRPr lang="en-US" sz="1100" dirty="0"/>
          </a:p>
        </p:txBody>
      </p:sp>
      <p:sp>
        <p:nvSpPr>
          <p:cNvPr id="3" name="Text 1"/>
          <p:cNvSpPr txBox="1"/>
          <p:nvPr/>
        </p:nvSpPr>
        <p:spPr>
          <a:xfrm>
            <a:off x="566928" y="603504"/>
            <a:ext cx="11055096" cy="749808"/>
          </a:xfrm>
          <a:prstGeom prst="rect">
            <a:avLst/>
          </a:prstGeom>
          <a:noFill/>
          <a:ln/>
        </p:spPr>
        <p:txBody>
          <a:bodyPr wrap="square" lIns="0" tIns="0" rIns="0" bIns="0" rtlCol="0" anchor="t"/>
          <a:lstStyle/>
          <a:p>
            <a:pPr marL="0" indent="0">
              <a:buNone/>
            </a:pPr>
            <a:r>
              <a:rPr lang="en-US" sz="2900" b="1" dirty="0">
                <a:solidFill>
                  <a:srgbClr val="1B2A4A"/>
                </a:solidFill>
                <a:latin typeface="Cambria" pitchFamily="34" charset="0"/>
                <a:ea typeface="Cambria" pitchFamily="34" charset="-122"/>
                <a:cs typeface="Cambria" pitchFamily="34" charset="-120"/>
              </a:rPr>
              <a:t>Fuentes consultadas  ·  APA 7.ª edición</a:t>
            </a:r>
            <a:endParaRPr lang="en-US" sz="2900" dirty="0"/>
          </a:p>
        </p:txBody>
      </p:sp>
      <p:sp>
        <p:nvSpPr>
          <p:cNvPr id="4" name="Text 2"/>
          <p:cNvSpPr txBox="1"/>
          <p:nvPr/>
        </p:nvSpPr>
        <p:spPr>
          <a:xfrm>
            <a:off x="566928" y="6428232"/>
            <a:ext cx="7863840" cy="256032"/>
          </a:xfrm>
          <a:prstGeom prst="rect">
            <a:avLst/>
          </a:prstGeom>
          <a:noFill/>
          <a:ln/>
        </p:spPr>
        <p:txBody>
          <a:bodyPr wrap="square" lIns="0" tIns="0" rIns="0" bIns="0" rtlCol="0" anchor="ctr"/>
          <a:lstStyle/>
          <a:p>
            <a:pPr marL="0" indent="0">
              <a:buNone/>
            </a:pPr>
            <a:r>
              <a:rPr lang="en-US" sz="900" dirty="0">
                <a:solidFill>
                  <a:srgbClr val="5B6B7B"/>
                </a:solidFill>
                <a:latin typeface="Calibri" pitchFamily="34" charset="0"/>
                <a:ea typeface="Calibri" pitchFamily="34" charset="-122"/>
                <a:cs typeface="Calibri" pitchFamily="34" charset="-120"/>
              </a:rPr>
              <a:t>Microaprendizaje para adultos  ·  Proyecto RUTA — Inter Ponce</a:t>
            </a:r>
            <a:endParaRPr lang="en-US" sz="900" dirty="0"/>
          </a:p>
        </p:txBody>
      </p:sp>
      <p:sp>
        <p:nvSpPr>
          <p:cNvPr id="5" name="Text 3"/>
          <p:cNvSpPr txBox="1"/>
          <p:nvPr/>
        </p:nvSpPr>
        <p:spPr>
          <a:xfrm>
            <a:off x="10972800" y="6428232"/>
            <a:ext cx="649224" cy="256032"/>
          </a:xfrm>
          <a:prstGeom prst="rect">
            <a:avLst/>
          </a:prstGeom>
          <a:noFill/>
          <a:ln/>
        </p:spPr>
        <p:txBody>
          <a:bodyPr wrap="square" lIns="0" tIns="0" rIns="0" bIns="0" rtlCol="0" anchor="ctr"/>
          <a:lstStyle/>
          <a:p>
            <a:pPr marL="0" indent="0" algn="r">
              <a:buNone/>
            </a:pPr>
            <a:r>
              <a:rPr lang="en-US" sz="900" dirty="0">
                <a:solidFill>
                  <a:srgbClr val="5B6B7B"/>
                </a:solidFill>
                <a:latin typeface="Calibri" pitchFamily="34" charset="0"/>
                <a:ea typeface="Calibri" pitchFamily="34" charset="-122"/>
                <a:cs typeface="Calibri" pitchFamily="34" charset="-120"/>
              </a:rPr>
              <a:t>47</a:t>
            </a:r>
            <a:endParaRPr lang="en-US" sz="900" dirty="0"/>
          </a:p>
        </p:txBody>
      </p:sp>
      <p:sp>
        <p:nvSpPr>
          <p:cNvPr id="6" name="Text 4"/>
          <p:cNvSpPr txBox="1"/>
          <p:nvPr/>
        </p:nvSpPr>
        <p:spPr>
          <a:xfrm>
            <a:off x="566928" y="1572768"/>
            <a:ext cx="11055096" cy="4480560"/>
          </a:xfrm>
          <a:prstGeom prst="rect">
            <a:avLst/>
          </a:prstGeom>
          <a:noFill/>
          <a:ln/>
        </p:spPr>
        <p:txBody>
          <a:bodyPr wrap="square" lIns="0" tIns="0" rIns="0" bIns="0" rtlCol="0" anchor="t"/>
          <a:lstStyle/>
          <a:p>
            <a:pPr marL="0" indent="0">
              <a:lnSpc>
                <a:spcPct val="100000"/>
              </a:lnSpc>
              <a:spcAft>
                <a:spcPts val="700"/>
              </a:spcAft>
              <a:buNone/>
            </a:pPr>
            <a:r>
              <a:rPr lang="en-US" sz="1100" dirty="0">
                <a:solidFill>
                  <a:srgbClr val="1F2933"/>
                </a:solidFill>
                <a:latin typeface="Calibri" pitchFamily="34" charset="0"/>
                <a:ea typeface="Calibri" pitchFamily="34" charset="-122"/>
                <a:cs typeface="Calibri" pitchFamily="34" charset="-120"/>
              </a:rPr>
              <a:t>Balasundaram, S., Mathew, J., &amp; Nair, S. (2024). Microlearning and learning performance in higher education: A post-test control group study. Journal of Learning for Development, 11(1), 1–14.</a:t>
            </a:r>
            <a:endParaRPr lang="en-US" sz="1100" dirty="0"/>
          </a:p>
          <a:p>
            <a:pPr marL="0" indent="0">
              <a:lnSpc>
                <a:spcPct val="100000"/>
              </a:lnSpc>
              <a:spcAft>
                <a:spcPts val="700"/>
              </a:spcAft>
              <a:buNone/>
            </a:pPr>
            <a:r>
              <a:rPr lang="en-US" sz="1100" dirty="0">
                <a:solidFill>
                  <a:srgbClr val="1F2933"/>
                </a:solidFill>
                <a:latin typeface="Calibri" pitchFamily="34" charset="0"/>
                <a:ea typeface="Calibri" pitchFamily="34" charset="-122"/>
                <a:cs typeface="Calibri" pitchFamily="34" charset="-120"/>
              </a:rPr>
              <a:t>CAST. (2024). Universal Design for Learning guidelines version 3.0. https://udlguidelines.cast.org</a:t>
            </a:r>
            <a:endParaRPr lang="en-US" sz="1100" dirty="0"/>
          </a:p>
          <a:p>
            <a:pPr marL="0" indent="0">
              <a:lnSpc>
                <a:spcPct val="100000"/>
              </a:lnSpc>
              <a:spcAft>
                <a:spcPts val="700"/>
              </a:spcAft>
              <a:buNone/>
            </a:pPr>
            <a:r>
              <a:rPr lang="en-US" sz="1100" dirty="0">
                <a:solidFill>
                  <a:srgbClr val="1F2933"/>
                </a:solidFill>
                <a:latin typeface="Calibri" pitchFamily="34" charset="0"/>
                <a:ea typeface="Calibri" pitchFamily="34" charset="-122"/>
                <a:cs typeface="Calibri" pitchFamily="34" charset="-120"/>
              </a:rPr>
              <a:t>Corraliza Montero, H. J. (2024). Modelo RC-TTF: Rol, Contexto, Tarea, Tono y Formato para la interacción con inteligencia artificial en contextos educativos [Modelo pedagógico propio].</a:t>
            </a:r>
            <a:endParaRPr lang="en-US" sz="1100" dirty="0"/>
          </a:p>
          <a:p>
            <a:pPr marL="0" indent="0">
              <a:lnSpc>
                <a:spcPct val="100000"/>
              </a:lnSpc>
              <a:spcAft>
                <a:spcPts val="700"/>
              </a:spcAft>
              <a:buNone/>
            </a:pPr>
            <a:r>
              <a:rPr lang="en-US" sz="1100" dirty="0">
                <a:solidFill>
                  <a:srgbClr val="1F2933"/>
                </a:solidFill>
                <a:latin typeface="Calibri" pitchFamily="34" charset="0"/>
                <a:ea typeface="Calibri" pitchFamily="34" charset="-122"/>
                <a:cs typeface="Calibri" pitchFamily="34" charset="-120"/>
              </a:rPr>
              <a:t>Hase, S., &amp; Kenyon, C. (2013). Self-determined learning: Heutagogy in action. Bloomsbury Academic.</a:t>
            </a:r>
            <a:endParaRPr lang="en-US" sz="1100" dirty="0"/>
          </a:p>
          <a:p>
            <a:pPr marL="0" indent="0">
              <a:lnSpc>
                <a:spcPct val="100000"/>
              </a:lnSpc>
              <a:spcAft>
                <a:spcPts val="700"/>
              </a:spcAft>
              <a:buNone/>
            </a:pPr>
            <a:r>
              <a:rPr lang="en-US" sz="1100" dirty="0">
                <a:solidFill>
                  <a:srgbClr val="1F2933"/>
                </a:solidFill>
                <a:latin typeface="Calibri" pitchFamily="34" charset="0"/>
                <a:ea typeface="Calibri" pitchFamily="34" charset="-122"/>
                <a:cs typeface="Calibri" pitchFamily="34" charset="-120"/>
              </a:rPr>
              <a:t>Hug, T. (2006). Microlearning: A new pedagogical challenge (Introductory note). En T. Hug, M. Lindner y P. A. Bruck (Eds.), Microlearning: Emerging concepts, practices and technologies after e-learning (pp. 7–11). Innsbruck University Press.</a:t>
            </a:r>
            <a:endParaRPr lang="en-US" sz="1100" dirty="0"/>
          </a:p>
          <a:p>
            <a:pPr marL="0" indent="0">
              <a:lnSpc>
                <a:spcPct val="100000"/>
              </a:lnSpc>
              <a:spcAft>
                <a:spcPts val="700"/>
              </a:spcAft>
              <a:buNone/>
            </a:pPr>
            <a:r>
              <a:rPr lang="en-US" sz="1100" dirty="0">
                <a:solidFill>
                  <a:srgbClr val="1F2933"/>
                </a:solidFill>
                <a:latin typeface="Calibri" pitchFamily="34" charset="0"/>
                <a:ea typeface="Calibri" pitchFamily="34" charset="-122"/>
                <a:cs typeface="Calibri" pitchFamily="34" charset="-120"/>
              </a:rPr>
              <a:t>Kapp, K. M., &amp; Defelice, R. A. (2019). Microlearning: Short and sweet. ATD Press.</a:t>
            </a:r>
            <a:endParaRPr lang="en-US" sz="1100" dirty="0"/>
          </a:p>
          <a:p>
            <a:pPr marL="0" indent="0">
              <a:lnSpc>
                <a:spcPct val="100000"/>
              </a:lnSpc>
              <a:spcAft>
                <a:spcPts val="700"/>
              </a:spcAft>
              <a:buNone/>
            </a:pPr>
            <a:r>
              <a:rPr lang="en-US" sz="1100" dirty="0">
                <a:solidFill>
                  <a:srgbClr val="1F2933"/>
                </a:solidFill>
                <a:latin typeface="Calibri" pitchFamily="34" charset="0"/>
                <a:ea typeface="Calibri" pitchFamily="34" charset="-122"/>
                <a:cs typeface="Calibri" pitchFamily="34" charset="-120"/>
              </a:rPr>
              <a:t>Knowles, M. S., Holton, E. F., III, &amp; Swanson, R. A. (2020). The adult learner: The definitive classic in adult education and human resource development (9.ª ed.). Routledge.</a:t>
            </a:r>
            <a:endParaRPr lang="en-US" sz="1100" dirty="0"/>
          </a:p>
          <a:p>
            <a:pPr marL="0" indent="0">
              <a:lnSpc>
                <a:spcPct val="100000"/>
              </a:lnSpc>
              <a:spcAft>
                <a:spcPts val="700"/>
              </a:spcAft>
              <a:buNone/>
            </a:pPr>
            <a:r>
              <a:rPr lang="en-US" sz="1100" dirty="0">
                <a:solidFill>
                  <a:srgbClr val="1F2933"/>
                </a:solidFill>
                <a:latin typeface="Calibri" pitchFamily="34" charset="0"/>
                <a:ea typeface="Calibri" pitchFamily="34" charset="-122"/>
                <a:cs typeface="Calibri" pitchFamily="34" charset="-120"/>
              </a:rPr>
              <a:t>Mayer, R. E. (2021). Multimedia learning (3.ª ed.). Cambridge University Press.</a:t>
            </a:r>
            <a:endParaRPr lang="en-US" sz="1100" dirty="0"/>
          </a:p>
          <a:p>
            <a:pPr marL="0" indent="0">
              <a:lnSpc>
                <a:spcPct val="100000"/>
              </a:lnSpc>
              <a:spcAft>
                <a:spcPts val="700"/>
              </a:spcAft>
              <a:buNone/>
            </a:pPr>
            <a:r>
              <a:rPr lang="en-US" sz="1100" dirty="0">
                <a:solidFill>
                  <a:srgbClr val="1F2933"/>
                </a:solidFill>
                <a:latin typeface="Calibri" pitchFamily="34" charset="0"/>
                <a:ea typeface="Calibri" pitchFamily="34" charset="-122"/>
                <a:cs typeface="Calibri" pitchFamily="34" charset="-120"/>
              </a:rPr>
              <a:t>Roediger, H. L., III, &amp; Karpicke, J. D. (2006). Test-enhanced learning: Taking memory tests improves long-term retention. Psychological Science, 17(3), 249–255.</a:t>
            </a:r>
            <a:endParaRPr lang="en-US" sz="1100" dirty="0"/>
          </a:p>
          <a:p>
            <a:pPr marL="0" indent="0">
              <a:lnSpc>
                <a:spcPct val="100000"/>
              </a:lnSpc>
              <a:spcAft>
                <a:spcPts val="700"/>
              </a:spcAft>
              <a:buNone/>
            </a:pPr>
            <a:r>
              <a:rPr lang="en-US" sz="1100" dirty="0">
                <a:solidFill>
                  <a:srgbClr val="1F2933"/>
                </a:solidFill>
                <a:latin typeface="Calibri" pitchFamily="34" charset="0"/>
                <a:ea typeface="Calibri" pitchFamily="34" charset="-122"/>
                <a:cs typeface="Calibri" pitchFamily="34" charset="-120"/>
              </a:rPr>
              <a:t>Sweller, J., van Merriënboer, J. J. G., &amp; Paas, F. (2019). Cognitive architecture and instructional design: 20 years later. Educational Psychology Review, 31(2), 261–292.</a:t>
            </a:r>
            <a:endParaRPr lang="en-US" sz="1100" dirty="0"/>
          </a:p>
        </p:txBody>
      </p:sp>
      <p:sp>
        <p:nvSpPr>
          <p:cNvPr id="7" name="Text 5"/>
          <p:cNvSpPr txBox="1"/>
          <p:nvPr/>
        </p:nvSpPr>
        <p:spPr>
          <a:xfrm>
            <a:off x="566928" y="6108192"/>
            <a:ext cx="11055096" cy="256032"/>
          </a:xfrm>
          <a:prstGeom prst="rect">
            <a:avLst/>
          </a:prstGeom>
          <a:noFill/>
          <a:ln/>
        </p:spPr>
        <p:txBody>
          <a:bodyPr wrap="square" lIns="0" tIns="0" rIns="0" bIns="0" rtlCol="0" anchor="ctr"/>
          <a:lstStyle/>
          <a:p>
            <a:pPr marL="0" indent="0">
              <a:buNone/>
            </a:pPr>
            <a:r>
              <a:rPr lang="en-US" sz="1000" i="1" dirty="0">
                <a:solidFill>
                  <a:srgbClr val="5B6B7B"/>
                </a:solidFill>
                <a:latin typeface="Calibri" pitchFamily="34" charset="0"/>
                <a:ea typeface="Calibri" pitchFamily="34" charset="-122"/>
                <a:cs typeface="Calibri" pitchFamily="34" charset="-120"/>
              </a:rPr>
              <a:t>Verifique la referencia del modelo RC-TTF conforme a su publicación más reciente antes de distribuir el material.</a:t>
            </a:r>
            <a:endParaRPr lang="en-US" sz="10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1B2A4A"/>
        </a:solidFill>
        <a:effectLst/>
      </p:bgPr>
    </p:bg>
    <p:spTree>
      <p:nvGrpSpPr>
        <p:cNvPr id="1" name=""/>
        <p:cNvGrpSpPr/>
        <p:nvPr/>
      </p:nvGrpSpPr>
      <p:grpSpPr>
        <a:xfrm>
          <a:off x="0" y="0"/>
          <a:ext cx="0" cy="0"/>
          <a:chOff x="0" y="0"/>
          <a:chExt cx="0" cy="0"/>
        </a:xfrm>
      </p:grpSpPr>
      <p:sp>
        <p:nvSpPr>
          <p:cNvPr id="2" name="Text 0"/>
          <p:cNvSpPr txBox="1"/>
          <p:nvPr/>
        </p:nvSpPr>
        <p:spPr>
          <a:xfrm>
            <a:off x="566928" y="1874520"/>
            <a:ext cx="10241280" cy="77724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Lo breve no es lo superficial.</a:t>
            </a:r>
            <a:endParaRPr lang="en-US" sz="4000" dirty="0"/>
          </a:p>
        </p:txBody>
      </p:sp>
      <p:sp>
        <p:nvSpPr>
          <p:cNvPr id="3" name="Text 1"/>
          <p:cNvSpPr txBox="1"/>
          <p:nvPr/>
        </p:nvSpPr>
        <p:spPr>
          <a:xfrm>
            <a:off x="566928" y="2697480"/>
            <a:ext cx="10241280" cy="685800"/>
          </a:xfrm>
          <a:prstGeom prst="rect">
            <a:avLst/>
          </a:prstGeom>
          <a:noFill/>
          <a:ln/>
        </p:spPr>
        <p:txBody>
          <a:bodyPr wrap="square" lIns="0" tIns="0" rIns="0" bIns="0" rtlCol="0" anchor="ctr"/>
          <a:lstStyle/>
          <a:p>
            <a:pPr marL="0" indent="0">
              <a:buNone/>
            </a:pPr>
            <a:r>
              <a:rPr lang="en-US" sz="2800" i="1" dirty="0">
                <a:solidFill>
                  <a:srgbClr val="C9A227"/>
                </a:solidFill>
                <a:latin typeface="Cambria" pitchFamily="34" charset="0"/>
                <a:ea typeface="Cambria" pitchFamily="34" charset="-122"/>
                <a:cs typeface="Cambria" pitchFamily="34" charset="-120"/>
              </a:rPr>
              <a:t>Es lo que cabe en la vida de quien aprende.</a:t>
            </a:r>
            <a:endParaRPr lang="en-US" sz="2800" dirty="0"/>
          </a:p>
        </p:txBody>
      </p:sp>
      <p:sp>
        <p:nvSpPr>
          <p:cNvPr id="4" name="Text 2"/>
          <p:cNvSpPr txBox="1"/>
          <p:nvPr/>
        </p:nvSpPr>
        <p:spPr>
          <a:xfrm>
            <a:off x="566928" y="3566160"/>
            <a:ext cx="9144000" cy="457200"/>
          </a:xfrm>
          <a:prstGeom prst="rect">
            <a:avLst/>
          </a:prstGeom>
          <a:noFill/>
          <a:ln/>
        </p:spPr>
        <p:txBody>
          <a:bodyPr wrap="square" lIns="0" tIns="0" rIns="0" bIns="0" rtlCol="0" anchor="t"/>
          <a:lstStyle/>
          <a:p>
            <a:pPr marL="0" indent="0">
              <a:buNone/>
            </a:pPr>
            <a:r>
              <a:rPr lang="en-US" sz="1500" dirty="0">
                <a:solidFill>
                  <a:srgbClr val="C3D0E0"/>
                </a:solidFill>
                <a:latin typeface="Calibri" pitchFamily="34" charset="0"/>
                <a:ea typeface="Calibri" pitchFamily="34" charset="-122"/>
                <a:cs typeface="Calibri" pitchFamily="34" charset="-120"/>
              </a:rPr>
              <a:t>Gracias por las cuatro horas. Nos vemos en catorce días con la ruta funcionando.</a:t>
            </a:r>
            <a:endParaRPr lang="en-US" sz="1500" dirty="0"/>
          </a:p>
        </p:txBody>
      </p:sp>
      <p:sp>
        <p:nvSpPr>
          <p:cNvPr id="5" name="Shape 3"/>
          <p:cNvSpPr/>
          <p:nvPr/>
        </p:nvSpPr>
        <p:spPr>
          <a:xfrm>
            <a:off x="566928" y="4434840"/>
            <a:ext cx="6858000" cy="1280160"/>
          </a:xfrm>
          <a:prstGeom prst="roundRect">
            <a:avLst>
              <a:gd name="adj" fmla="val 2857"/>
            </a:avLst>
          </a:prstGeom>
          <a:solidFill>
            <a:srgbClr val="24365C"/>
          </a:solidFill>
          <a:ln w="12700">
            <a:solidFill>
              <a:srgbClr val="24365C"/>
            </a:solidFill>
            <a:prstDash val="solid"/>
          </a:ln>
          <a:effectLst>
            <a:outerShdw blurRad="101600" dist="12700" dir="5400000" algn="bl" rotWithShape="0">
              <a:srgbClr val="9AA8B5">
                <a:alpha val="16000"/>
              </a:srgbClr>
            </a:outerShdw>
          </a:effectLst>
        </p:spPr>
      </p:sp>
      <p:sp>
        <p:nvSpPr>
          <p:cNvPr id="6" name="Text 4"/>
          <p:cNvSpPr txBox="1"/>
          <p:nvPr/>
        </p:nvSpPr>
        <p:spPr>
          <a:xfrm>
            <a:off x="804672" y="4654296"/>
            <a:ext cx="6382512" cy="310896"/>
          </a:xfrm>
          <a:prstGeom prst="rect">
            <a:avLst/>
          </a:prstGeom>
          <a:noFill/>
          <a:ln/>
        </p:spPr>
        <p:txBody>
          <a:bodyPr wrap="square" lIns="0" tIns="0" rIns="0" bIns="0" rtlCol="0" anchor="t"/>
          <a:lstStyle/>
          <a:p>
            <a:pPr marL="0" indent="0">
              <a:buNone/>
            </a:pPr>
            <a:r>
              <a:rPr lang="en-US" sz="1400" b="1" dirty="0">
                <a:solidFill>
                  <a:srgbClr val="FFFFFF"/>
                </a:solidFill>
                <a:latin typeface="Calibri" pitchFamily="34" charset="0"/>
                <a:ea typeface="Calibri" pitchFamily="34" charset="-122"/>
                <a:cs typeface="Calibri" pitchFamily="34" charset="-120"/>
              </a:rPr>
              <a:t>Dr. Héctor J. Corraliza Montero, Ed.D.</a:t>
            </a:r>
            <a:endParaRPr lang="en-US" sz="1400" dirty="0"/>
          </a:p>
        </p:txBody>
      </p:sp>
      <p:sp>
        <p:nvSpPr>
          <p:cNvPr id="7" name="Text 5"/>
          <p:cNvSpPr txBox="1"/>
          <p:nvPr/>
        </p:nvSpPr>
        <p:spPr>
          <a:xfrm>
            <a:off x="804672" y="5020056"/>
            <a:ext cx="6382512" cy="512064"/>
          </a:xfrm>
          <a:prstGeom prst="rect">
            <a:avLst/>
          </a:prstGeom>
          <a:noFill/>
          <a:ln/>
        </p:spPr>
        <p:txBody>
          <a:bodyPr wrap="square" lIns="0" tIns="0" rIns="0" bIns="0" rtlCol="0" anchor="t"/>
          <a:lstStyle/>
          <a:p>
            <a:pPr marL="0" indent="0">
              <a:lnSpc>
                <a:spcPct val="106000"/>
              </a:lnSpc>
              <a:buNone/>
            </a:pPr>
            <a:r>
              <a:rPr lang="en-US" sz="1250" dirty="0">
                <a:solidFill>
                  <a:srgbClr val="D6E0EE"/>
                </a:solidFill>
                <a:latin typeface="Calibri" pitchFamily="34" charset="0"/>
                <a:ea typeface="Calibri" pitchFamily="34" charset="-122"/>
                <a:cs typeface="Calibri" pitchFamily="34" charset="-120"/>
              </a:rPr>
              <a:t>Director, Proyecto RUTA  ·  Universidad Interamericana de Puerto Rico, Recinto de Ponce</a:t>
            </a:r>
            <a:endParaRPr lang="en-US" sz="1250" dirty="0"/>
          </a:p>
          <a:p>
            <a:pPr marL="0" indent="0">
              <a:lnSpc>
                <a:spcPct val="106000"/>
              </a:lnSpc>
              <a:buNone/>
            </a:pPr>
            <a:r>
              <a:rPr lang="en-US" sz="1250" dirty="0">
                <a:solidFill>
                  <a:srgbClr val="D6E0EE"/>
                </a:solidFill>
                <a:latin typeface="Calibri" pitchFamily="34" charset="0"/>
                <a:ea typeface="Calibri" pitchFamily="34" charset="-122"/>
                <a:cs typeface="Calibri" pitchFamily="34" charset="-120"/>
              </a:rPr>
              <a:t>Septiembre 2026</a:t>
            </a:r>
            <a:endParaRPr lang="en-US" sz="1250" dirty="0"/>
          </a:p>
        </p:txBody>
      </p:sp>
      <p:sp>
        <p:nvSpPr>
          <p:cNvPr id="8" name="Shape 6"/>
          <p:cNvSpPr/>
          <p:nvPr/>
        </p:nvSpPr>
        <p:spPr>
          <a:xfrm>
            <a:off x="9189720" y="4572000"/>
            <a:ext cx="548640" cy="548640"/>
          </a:xfrm>
          <a:prstGeom prst="roundRect">
            <a:avLst>
              <a:gd name="adj" fmla="val 8333"/>
            </a:avLst>
          </a:prstGeom>
          <a:solidFill>
            <a:srgbClr val="C9A227"/>
          </a:solidFill>
          <a:ln w="12700">
            <a:solidFill>
              <a:srgbClr val="C9A227"/>
            </a:solidFill>
            <a:prstDash val="solid"/>
          </a:ln>
        </p:spPr>
      </p:sp>
      <p:sp>
        <p:nvSpPr>
          <p:cNvPr id="9" name="Shape 7"/>
          <p:cNvSpPr/>
          <p:nvPr/>
        </p:nvSpPr>
        <p:spPr>
          <a:xfrm>
            <a:off x="9921240" y="4572000"/>
            <a:ext cx="548640" cy="548640"/>
          </a:xfrm>
          <a:prstGeom prst="roundRect">
            <a:avLst>
              <a:gd name="adj" fmla="val 8333"/>
            </a:avLst>
          </a:prstGeom>
          <a:solidFill>
            <a:srgbClr val="2A9D8F"/>
          </a:solidFill>
          <a:ln w="12700">
            <a:solidFill>
              <a:srgbClr val="2A9D8F"/>
            </a:solidFill>
            <a:prstDash val="solid"/>
          </a:ln>
        </p:spPr>
      </p:sp>
      <p:sp>
        <p:nvSpPr>
          <p:cNvPr id="10" name="Shape 8"/>
          <p:cNvSpPr/>
          <p:nvPr/>
        </p:nvSpPr>
        <p:spPr>
          <a:xfrm>
            <a:off x="10652760" y="4572000"/>
            <a:ext cx="548640" cy="548640"/>
          </a:xfrm>
          <a:prstGeom prst="roundRect">
            <a:avLst>
              <a:gd name="adj" fmla="val 8333"/>
            </a:avLst>
          </a:prstGeom>
          <a:solidFill>
            <a:srgbClr val="FFFFFF"/>
          </a:solidFill>
          <a:ln w="12700">
            <a:solidFill>
              <a:srgbClr val="FFFFFF"/>
            </a:solidFill>
            <a:prstDash val="solid"/>
          </a:ln>
        </p:spPr>
      </p:sp>
      <p:sp>
        <p:nvSpPr>
          <p:cNvPr id="11" name="Shape 9"/>
          <p:cNvSpPr/>
          <p:nvPr/>
        </p:nvSpPr>
        <p:spPr>
          <a:xfrm>
            <a:off x="9189720" y="5303520"/>
            <a:ext cx="548640" cy="548640"/>
          </a:xfrm>
          <a:prstGeom prst="roundRect">
            <a:avLst>
              <a:gd name="adj" fmla="val 8333"/>
            </a:avLst>
          </a:prstGeom>
          <a:solidFill>
            <a:srgbClr val="2A9D8F">
              <a:alpha val="55000"/>
            </a:srgbClr>
          </a:solidFill>
          <a:ln w="12700">
            <a:solidFill>
              <a:srgbClr val="2A9D8F"/>
            </a:solidFill>
            <a:prstDash val="solid"/>
          </a:ln>
        </p:spPr>
      </p:sp>
      <p:sp>
        <p:nvSpPr>
          <p:cNvPr id="12" name="Shape 10"/>
          <p:cNvSpPr/>
          <p:nvPr/>
        </p:nvSpPr>
        <p:spPr>
          <a:xfrm>
            <a:off x="9921240" y="5303520"/>
            <a:ext cx="548640" cy="548640"/>
          </a:xfrm>
          <a:prstGeom prst="roundRect">
            <a:avLst>
              <a:gd name="adj" fmla="val 8333"/>
            </a:avLst>
          </a:prstGeom>
          <a:solidFill>
            <a:srgbClr val="FFFFFF">
              <a:alpha val="55000"/>
            </a:srgbClr>
          </a:solidFill>
          <a:ln w="12700">
            <a:solidFill>
              <a:srgbClr val="FFFFFF"/>
            </a:solidFill>
            <a:prstDash val="solid"/>
          </a:ln>
        </p:spPr>
      </p:sp>
      <p:sp>
        <p:nvSpPr>
          <p:cNvPr id="13" name="Shape 11"/>
          <p:cNvSpPr/>
          <p:nvPr/>
        </p:nvSpPr>
        <p:spPr>
          <a:xfrm>
            <a:off x="10652760" y="5303520"/>
            <a:ext cx="548640" cy="548640"/>
          </a:xfrm>
          <a:prstGeom prst="roundRect">
            <a:avLst>
              <a:gd name="adj" fmla="val 8333"/>
            </a:avLst>
          </a:prstGeom>
          <a:solidFill>
            <a:srgbClr val="C9A227">
              <a:alpha val="55000"/>
            </a:srgbClr>
          </a:solidFill>
          <a:ln w="12700">
            <a:solidFill>
              <a:srgbClr val="C9A227"/>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13245</Words>
  <Application>Microsoft Office PowerPoint</Application>
  <PresentationFormat>Panorámica</PresentationFormat>
  <Paragraphs>1032</Paragraphs>
  <Slides>48</Slides>
  <Notes>48</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48</vt:i4>
      </vt:variant>
    </vt:vector>
  </HeadingPairs>
  <TitlesOfParts>
    <vt:vector size="53" baseType="lpstr">
      <vt:lpstr>Arial</vt:lpstr>
      <vt:lpstr>Calibri</vt:lpstr>
      <vt:lpstr>Cambria</vt:lpstr>
      <vt:lpstr>Courier New</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Proyecto RUTA — Universidad Interamericana de Puerto Rico, Recinto de Ponce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Microaprendizaje para adultos: contenidos breves, relevantes y aplicables</dc:title>
  <dc:subject>Taller de desarrollo profesional de 4 horas para docentes de educación de adultos</dc:subject>
  <dc:creator>Dr. Héctor J. Corraliza Montero, Ed.D.</dc:creator>
  <cp:lastModifiedBy>Héctor Corraliza Montero</cp:lastModifiedBy>
  <cp:revision>1</cp:revision>
  <dcterms:created xsi:type="dcterms:W3CDTF">2026-09-03T23:38:47Z</dcterms:created>
  <dcterms:modified xsi:type="dcterms:W3CDTF">2026-09-03T23:41:24Z</dcterms:modified>
</cp:coreProperties>
</file>