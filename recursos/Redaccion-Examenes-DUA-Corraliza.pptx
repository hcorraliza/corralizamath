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7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691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(8:00–8:20). Preséntese, valide la experiencia del grupo y establezca el propósito: no venimos a aprender una teoría nueva, venimos a mejorar el instrumento que ya usamos todos los días. Anuncie los dos productos del día: un bloque de tres ítems con su planilla y un examen auditado.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Repase la agenda en dos minutos. Enfatice que los bloques de la tarde son de producción: los maestros salen con material listo para usar. Recuerde el acuerdo de puntualidad después del almuerzo.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los seis objetivos y pida a los participantes que marquen el que sienten más lejano de su práctica actual. Ese será su foco personal del día.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acuerdos se leen en voz alta y se pide asentimiento explícito. El quinto acuerdo es el más importante: este taller se evalúa por lo que sale producido, no por lo que se escuchó.</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Deles 4 minutos de escritura individual y 4 de conversación en pareja. No recoja respuestas en plenaria; guarde la tensión. Estas mismas tres preguntas reaparecen en la lámina de cierre.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Deje claro el orden de autoridad: el documento del Programa manda sobre cualquier taller, libro de texto o herramienta de IA. El DUA no sustituye el estándar; asegura que el estándar sea medible para todos.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1: 8:20–9:20. El mensaje central es que la accesibilidad no baja el rigor; lo protege. Un ítem inaccesible mide lectura, atención o cultura, no matemática.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Insista en la prueba de fuego. Pida un ejemplo real: un estudiante que sabía resolver y falló por el enunciado. Casi siempre alguien lo tiene.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principios se traducen a decisiones concretas de redacción. Pida que identifiquen, en su propio examen, cuál de las tres columnas está más débil.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seis garantías son el criterio con el que revisaremos cada ítem modelado del día. Al llegar a los modelos, vuelva a mencionarlas por nombre.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que voten cuál barrera reconocen más en sus propios exámenes. Casi siempre gana la lingüística. Ese dato justifica el resto del módulo.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bloque es operativo: son las instrucciones que el maestro aplica esta misma tarde en su documento de Word. Si tiene laptops disponibles, deje 5 minutos para que ajusten un examen existente.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sesgo no es mala intención; es un punto ciego. Por eso la revisión entre pares de la Actividad 1 es obligatoria: uno no ve su propio punto ciego.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convence al escéptico: corregir el sesgo no baja el rigor, porque la operación matemática no cambió en ninguna de las cuatro filas.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lista se entrega impresa. Es la herramienta que se usará en la coevaluación de la Actividad 1 y en la auditoría de la Actividad 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2: 9:20–9:45. Es el módulo más técnico de la mañana. Sostenga el ritmo: cinco láminas y pasamos a los tipos de ítem.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 con honestidad quién redacta primero y alinea después. Sin juicio: es la práctica más extendida. El taller entero busca invertir ese orden.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el documento oficial en pantalla si tiene proyección con internet. El objetivo es que ningún maestro salga del taller escribiendo códigos de memoria.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Aclare la secuencia: en Puerto Rico Álgebra I se ofrece en octavo, Álgebra II en noveno y Geometría en décimo. Verifique la oferta específica de la escuela de cada participante.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DOK no mide dificultad, mide profundidad. Un cálculo con números grandes sigue siendo DOK 1 aunque sea difícil. Este malentendido es frecuente; corríjalo explícitamente.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Reconozca que pareo y cierto/falso tienen usos legítimos, pero que su rendimiento diagnóstico es bajo. La decisión del taller es concentrar el tiempo en los tres formatos de mayor valor.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3: 9:45–10:00. Manténgase breve: las reglas se fijan de verdad cuando lleguen los modelos por nivel.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Señale que el estímulo es opcional pero muy útil desde la perspectiva del DUA: convierte el texto en una segunda representación de la misma información.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ejercicio rápido: proyecte una premisa mal escrita del propio grupo (anónima) y arréglenla en voz alta aplicando estas seis reglas.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último punto de la columna roja suele sorprender: un distractor absurdo no es inofensivo, reduce el ítem a tres opciones reales y sube la probabilidad de acierto por azar.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mayor valor del módulo. Un examen con distractores diseñados así se convierte en un instrumento de avalúo, no solo de calificación.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4: 10:00–10:15. Deje claro desde el inicio la diferencia entre la respuesta abierta sencilla (dos partes, DOK 2) y la de aplicación (varias partes, DOK 3–4).</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1 requiere ejemplo: «¿qué opinas de…?» no es un ítem de matemáticas. «Evalúa la afirmación usando los datos» sí lo 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que la parte B es la que hace visible el razonamiento. Sin ella, el ítem sería equivalente a uno de selección múltiple sin opciones.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esta lámina con la anterior. Misma familia de formato, distinta demanda cognitiva. Anuncie que en los modelos por nivel verán las dos versiones en cada franja de grados.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«Guiar» no es «dar la respuesta». Es eliminar la ambigüedad del encargo. Esta distinción suele necesitar un ejemplo en vivo.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 coherencia: no use el baremo de 4 puntos si el ítem no pide dibujo o gráfico. La rúbrica y el encargo del ítem deben decir lo mismo.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5: 10:30–10:55. A partir de aquí todo es modelaje. Pida a los maestros de elemental que tomen notas en su hoja de trabajo; ellos usarán estos modelos como plantilla en la Actividad 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 al grupo qué error representa cada distractor antes de pasar a la lámina siguiente. Es el mejor momento para que ellos descubran el principio.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el distractor bien diseñado convierte la corrección del examen en un plan de reenseñanza. Ese plan es exactamente la última sección de la planilla de especificaciones.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Subraye que las tres vías valen dos puntos. Ese es el principio de acción y expresión del DUA hecho rúbrica. Muchos maestros solo aceptan la segunda vía; ahí se pierde información válida.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con el error frecuente: pedir «explica» sin dar nada que decidir produce redacción, no razonamiento. Aquí hay una decisión real que tomar.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Anticipar los errores previsibles antes de administrar el examen permite tener lista la reenseñanza el mismo día que se corrige.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Camine la tabla columna por columna. La columna de peso porcentual es la que revela si la prueba mide lo que se enseñó o lo que fue fácil preguntar.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6: 10:55–11:18. Nivel de mayor variabilidad de dominio del sistema. Insista en las partes independientes: es la decisión de DUA que más rescata puntuación en intermedia.</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distractor B es el más informativo del ítem: confundir 20 % con 20 unidades es el error conceptual central de esta expectativa.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recta numérica no es decoración: es la segunda representación que permite al estudiante con rezago llegar a la respuesta sin dominar la resta de enteros con signo.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ítem que mejor ilustra el criterio de partes independientes. Pídales que revisen sus propios exámenes buscando partes encadenadas.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error previsible —invertir el costo fijo y la tasa— es el que separa a quien memorizó la forma y = mx + b de quien entiende el modelo.</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Detalle importante: el redondeo de la puntuación mínima debe decidirse y comunicarse antes de administrar la prueba, nunca después de ver los resultados.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7: 11:18–11:40. En superior el riesgo mayor es el contrario al de elemental: ítems densos que miden resistencia a la lectura. Mantenga el foco en la economía del enunciado.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Proveer la fórmula es una decisión de DUA deliberada: la expectativa medida es aplicar el teorema, no recordarlo. Si lo que se quiere medir es el recuerdo, entonces no se provee, y eso debe declararse en la planilla.</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Nombrar explícitamente los cuatro métodos aceptables en las instrucciones es una decisión de DUA: elimina la ambigüedad sobre qué se considera respuesta válida.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ítem es también un modelo de alfabetización estadística ciudadana: distinguir «la mayoría» de «algunos» con datos en la mano.</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Verifique los cálculos con el grupo en voz alta: suma 820, media 82, mediana 82.5, rango 27. La transparencia del cómputo es parte del modelaje.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modelaje comparando las tres planillas: el peso en DOK 3–4 se mantiene entre 33 % y 40 % en los tres niveles. La progresión está en la complejidad del contenido, no en la profundidad exigida.</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8: 11:40–12:10. Última pieza antes del almuerzo. Es la herramienta que convierte todo lo anterior en un plan.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6 es la que denuncia los desequilibrios: si se enseñaron seis semanas de fracciones y esa destreza pesa 8 % de la prueba, la prueba no representa la enseñanza.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tiempos por tipo de ítem son estimados de trabajo, no una norma oficial: ajústelos con los datos de su propio grupo después de dos o tres administraciones.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más fuerte para el maestro escéptico: la planilla no es papeleo, es lo que le ahorra tiempo cuando tiene que justificar decisiones de reenseñanza o de acomodo.</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1: 1:10–2:10. Circule por los tríos. No corrija en público; haga preguntas. Su intervención más útil es «¿qué expectativa mide este ítem?».</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Anuncie los tiempos parciales en voz alta. Si un trío se traba en el paso 1, entrégueles una expectativa ya seleccionada: el objetivo de la actividad es redactar, no buscar.</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Distribuya esta tabla impresa. Funciona como contrato de calidad del producto y evita la pregunta «¿ya terminé?».</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puntos 1 al 5 se revisan mientras se redacta; los puntos 6 al 9, en la coevaluación. Ese reparto acelera el trabajo del trío.</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la actividad con dos ejemplos de devolución leídos en voz alta (con permiso del trío). Escoja uno que muestre una barrera bien detectada.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9: 2:10–2:45. Enmarque bien: la IA acelera la redacción, no sustituye el juicio profesional. La auditoría es obligatoria.</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que más resistencia levanta es el primero de la columna roja. Muéstrelo en vivo si tiene conexión: pídale a la herramienta un código de expectativa y verifíquelo contra el documento oficial.</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propio del facilitador. Enfatice que el componente que más resultados cambia es el Contexto: sin datos suministrados, la herramienta inventa.</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corchetes son campos que el maestro completa. Recomiende guardar este prompt como plantilla en un documento propio y reutilizarlo todo el año.</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Pídales que copien la fila de su nivel. Es lo que van a pegar en el prompt durante la Actividad 2.</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riesgos se han observado repetidamente. Adviértales que el más peligroso es el primero, porque el código falso parece legítimo.</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Entregue esta lista impresa: es el instrumento de la Actividad 2 y el que los maestros se llevan para el resto del año.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2: 2:45–3:25. Si el acceso a internet es limitado, trabaje con un examen ya generado que usted lleve impreso y haga solo la auditoría.</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Recoja los hallazgos en la pizarra por categoría. El patrón que emerge suele ser: códigos inventados y DOK inflado encabezan la lista todos los años.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coherencia importa: usamos con nosotros la misma estructura de baremo y el mismo punto de dominio que exigimos en el salón.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Deje tres minutos de silencio para que retomen su hoja del activador. El cierre debe conectar con la apertura.</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compromiso escrito con fecha y copia duplicada es lo que convierte el taller en cambio de práctica. Recójalos antes de que salgan del salón.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APA 7. Ofrezca enviar la lista por correo junto con los anejos del taller.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Recuerde recoger los compromisos escritos, los bloques de ítems y los informes de auditoría. Anuncie la fecha de la visita de seguimiento.</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24365C"/>
          </a:solidFill>
          <a:ln/>
        </p:spPr>
        <p:txBody>
          <a:bodyPr/>
          <a:lstStyle/>
          <a:p>
            <a:endParaRPr lang="en-PR"/>
          </a:p>
        </p:txBody>
      </p:sp>
      <p:sp>
        <p:nvSpPr>
          <p:cNvPr id="3" name="Shape 1"/>
          <p:cNvSpPr/>
          <p:nvPr/>
        </p:nvSpPr>
        <p:spPr>
          <a:xfrm>
            <a:off x="10149840" y="4023360"/>
            <a:ext cx="3108960" cy="3108960"/>
          </a:xfrm>
          <a:prstGeom prst="ellipse">
            <a:avLst/>
          </a:prstGeom>
          <a:solidFill>
            <a:srgbClr val="223258"/>
          </a:solidFill>
          <a:ln/>
        </p:spPr>
        <p:txBody>
          <a:bodyPr/>
          <a:lstStyle/>
          <a:p>
            <a:endParaRPr lang="en-PR"/>
          </a:p>
        </p:txBody>
      </p:sp>
      <p:sp>
        <p:nvSpPr>
          <p:cNvPr id="4" name="Shape 2"/>
          <p:cNvSpPr/>
          <p:nvPr/>
        </p:nvSpPr>
        <p:spPr>
          <a:xfrm>
            <a:off x="566928" y="777240"/>
            <a:ext cx="822960" cy="822960"/>
          </a:xfrm>
          <a:prstGeom prst="ellipse">
            <a:avLst/>
          </a:prstGeom>
          <a:solidFill>
            <a:srgbClr val="C9A227"/>
          </a:solidFill>
          <a:ln/>
        </p:spPr>
        <p:txBody>
          <a:bodyPr/>
          <a:lstStyle/>
          <a:p>
            <a:endParaRPr lang="en-PR"/>
          </a:p>
        </p:txBody>
      </p:sp>
      <p:sp>
        <p:nvSpPr>
          <p:cNvPr id="5" name="Text 3"/>
          <p:cNvSpPr txBox="1"/>
          <p:nvPr/>
        </p:nvSpPr>
        <p:spPr>
          <a:xfrm>
            <a:off x="566928" y="777240"/>
            <a:ext cx="822960" cy="82296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a:t>
            </a:r>
            <a:endParaRPr lang="en-US" sz="3000" dirty="0"/>
          </a:p>
        </p:txBody>
      </p:sp>
      <p:sp>
        <p:nvSpPr>
          <p:cNvPr id="6" name="Text 4"/>
          <p:cNvSpPr txBox="1"/>
          <p:nvPr/>
        </p:nvSpPr>
        <p:spPr>
          <a:xfrm>
            <a:off x="566928" y="1874520"/>
            <a:ext cx="10058400" cy="274320"/>
          </a:xfrm>
          <a:prstGeom prst="rect">
            <a:avLst/>
          </a:prstGeom>
          <a:noFill/>
          <a:ln/>
        </p:spPr>
        <p:txBody>
          <a:bodyPr wrap="square" lIns="0" tIns="0" rIns="0" bIns="0" rtlCol="0" anchor="ctr"/>
          <a:lstStyle/>
          <a:p>
            <a:pPr marL="0" indent="0">
              <a:buNone/>
            </a:pPr>
            <a:r>
              <a:rPr lang="en-US" sz="1200" b="1" kern="0" spc="200" dirty="0">
                <a:solidFill>
                  <a:srgbClr val="C9A84C"/>
                </a:solidFill>
                <a:latin typeface="Calibri" pitchFamily="34" charset="0"/>
                <a:ea typeface="Calibri" pitchFamily="34" charset="-122"/>
                <a:cs typeface="Calibri" pitchFamily="34" charset="-120"/>
              </a:rPr>
              <a:t>TALLER DE DESARROLLO PROFESIONAL  ·  DÍA COMPLETO</a:t>
            </a:r>
            <a:endParaRPr lang="en-US" sz="1200" dirty="0"/>
          </a:p>
        </p:txBody>
      </p:sp>
      <p:sp>
        <p:nvSpPr>
          <p:cNvPr id="7" name="Text 5"/>
          <p:cNvSpPr txBox="1"/>
          <p:nvPr/>
        </p:nvSpPr>
        <p:spPr>
          <a:xfrm>
            <a:off x="566928" y="2240280"/>
            <a:ext cx="8412480" cy="214884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Redacción de exámenes</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con Diseño Universal</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para el Aprendizaje</a:t>
            </a:r>
            <a:endParaRPr lang="en-US" sz="4000" dirty="0"/>
          </a:p>
        </p:txBody>
      </p:sp>
      <p:sp>
        <p:nvSpPr>
          <p:cNvPr id="8" name="Text 6"/>
          <p:cNvSpPr txBox="1"/>
          <p:nvPr/>
        </p:nvSpPr>
        <p:spPr>
          <a:xfrm>
            <a:off x="566928" y="4498848"/>
            <a:ext cx="8412480" cy="365760"/>
          </a:xfrm>
          <a:prstGeom prst="rect">
            <a:avLst/>
          </a:prstGeom>
          <a:noFill/>
          <a:ln/>
        </p:spPr>
        <p:txBody>
          <a:bodyPr wrap="square" lIns="0" tIns="0" rIns="0" bIns="0" rtlCol="0" anchor="ctr"/>
          <a:lstStyle/>
          <a:p>
            <a:pPr marL="0" indent="0">
              <a:buNone/>
            </a:pPr>
            <a:r>
              <a:rPr lang="en-US" sz="1600" dirty="0">
                <a:solidFill>
                  <a:srgbClr val="9FD8CF"/>
                </a:solidFill>
                <a:latin typeface="Calibri" pitchFamily="34" charset="0"/>
                <a:ea typeface="Calibri" pitchFamily="34" charset="-122"/>
                <a:cs typeface="Calibri" pitchFamily="34" charset="-120"/>
              </a:rPr>
              <a:t>Matemáticas  ·  3.º a 12.º grado  ·  Estándares DEPR 2022</a:t>
            </a:r>
            <a:endParaRPr lang="en-US" sz="1600" dirty="0"/>
          </a:p>
        </p:txBody>
      </p:sp>
      <p:sp>
        <p:nvSpPr>
          <p:cNvPr id="9" name="Shape 7"/>
          <p:cNvSpPr/>
          <p:nvPr/>
        </p:nvSpPr>
        <p:spPr>
          <a:xfrm>
            <a:off x="566928" y="5074920"/>
            <a:ext cx="4023360" cy="0"/>
          </a:xfrm>
          <a:prstGeom prst="line">
            <a:avLst/>
          </a:prstGeom>
          <a:noFill/>
          <a:ln w="25400">
            <a:solidFill>
              <a:srgbClr val="C9A227"/>
            </a:solidFill>
            <a:prstDash val="solid"/>
          </a:ln>
        </p:spPr>
        <p:txBody>
          <a:bodyPr/>
          <a:lstStyle/>
          <a:p>
            <a:endParaRPr lang="en-PR"/>
          </a:p>
        </p:txBody>
      </p:sp>
      <p:sp>
        <p:nvSpPr>
          <p:cNvPr id="10" name="Text 8"/>
          <p:cNvSpPr txBox="1"/>
          <p:nvPr/>
        </p:nvSpPr>
        <p:spPr>
          <a:xfrm>
            <a:off x="566928" y="5257800"/>
            <a:ext cx="731520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Dr. Héctor J. Corraliza Montero, Ed.D.</a:t>
            </a:r>
            <a:endParaRPr lang="en-US" sz="1500" dirty="0"/>
          </a:p>
        </p:txBody>
      </p:sp>
      <p:sp>
        <p:nvSpPr>
          <p:cNvPr id="11" name="Text 9"/>
          <p:cNvSpPr txBox="1"/>
          <p:nvPr/>
        </p:nvSpPr>
        <p:spPr>
          <a:xfrm>
            <a:off x="566928" y="5577840"/>
            <a:ext cx="7315200" cy="640080"/>
          </a:xfrm>
          <a:prstGeom prst="rect">
            <a:avLst/>
          </a:prstGeom>
          <a:noFill/>
          <a:ln/>
        </p:spPr>
        <p:txBody>
          <a:bodyPr wrap="square" lIns="0" tIns="0" rIns="0" bIns="0" rtlCol="0" anchor="ctr"/>
          <a:lstStyle/>
          <a:p>
            <a:pPr marL="0" indent="0">
              <a:buNone/>
            </a:pPr>
            <a:r>
              <a:rPr lang="en-US" sz="1250" dirty="0">
                <a:solidFill>
                  <a:srgbClr val="C6D2E0"/>
                </a:solidFill>
                <a:latin typeface="Calibri" pitchFamily="34" charset="0"/>
                <a:ea typeface="Calibri" pitchFamily="34" charset="-122"/>
                <a:cs typeface="Calibri" pitchFamily="34" charset="-120"/>
              </a:rPr>
              <a:t>Facilitador Docente de Matemáticas  ·  Oficina Regional Educativa de Ponce</a:t>
            </a:r>
            <a:endParaRPr lang="en-US" sz="1250" dirty="0"/>
          </a:p>
          <a:p>
            <a:pPr marL="0" indent="0">
              <a:buNone/>
            </a:pPr>
            <a:r>
              <a:rPr lang="en-US" sz="1250" dirty="0">
                <a:solidFill>
                  <a:srgbClr val="C6D2E0"/>
                </a:solidFill>
                <a:latin typeface="Calibri" pitchFamily="34" charset="0"/>
                <a:ea typeface="Calibri" pitchFamily="34" charset="-122"/>
                <a:cs typeface="Calibri" pitchFamily="34" charset="-120"/>
              </a:rPr>
              <a:t>Departamento de Educación de Puerto Rico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Nuestro día de trabajo: 8:00 a.m. – 3:30 p.m.</a:t>
            </a:r>
            <a:endParaRPr lang="en-US" sz="2700" dirty="0"/>
          </a:p>
        </p:txBody>
      </p:sp>
      <p:sp>
        <p:nvSpPr>
          <p:cNvPr id="4" name="Shape 2"/>
          <p:cNvSpPr/>
          <p:nvPr/>
        </p:nvSpPr>
        <p:spPr>
          <a:xfrm>
            <a:off x="566928" y="1298448"/>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786384" y="1298448"/>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8:00 – 8:20</a:t>
            </a:r>
            <a:endParaRPr lang="en-US" sz="1250" dirty="0"/>
          </a:p>
        </p:txBody>
      </p:sp>
      <p:sp>
        <p:nvSpPr>
          <p:cNvPr id="6" name="Shape 4"/>
          <p:cNvSpPr/>
          <p:nvPr/>
        </p:nvSpPr>
        <p:spPr>
          <a:xfrm>
            <a:off x="2322576" y="1463040"/>
            <a:ext cx="100584" cy="100584"/>
          </a:xfrm>
          <a:prstGeom prst="ellipse">
            <a:avLst/>
          </a:prstGeom>
          <a:solidFill>
            <a:srgbClr val="2A9D8F"/>
          </a:solidFill>
          <a:ln/>
        </p:spPr>
        <p:txBody>
          <a:bodyPr/>
          <a:lstStyle/>
          <a:p>
            <a:endParaRPr lang="en-PR"/>
          </a:p>
        </p:txBody>
      </p:sp>
      <p:sp>
        <p:nvSpPr>
          <p:cNvPr id="7" name="Text 5"/>
          <p:cNvSpPr txBox="1"/>
          <p:nvPr/>
        </p:nvSpPr>
        <p:spPr>
          <a:xfrm>
            <a:off x="2596896" y="1298448"/>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Bienvenida, activador y acuerdos de trabajo</a:t>
            </a:r>
            <a:endParaRPr lang="en-US" sz="1250" dirty="0"/>
          </a:p>
        </p:txBody>
      </p:sp>
      <p:sp>
        <p:nvSpPr>
          <p:cNvPr id="8" name="Shape 6"/>
          <p:cNvSpPr/>
          <p:nvPr/>
        </p:nvSpPr>
        <p:spPr>
          <a:xfrm>
            <a:off x="566928" y="1760220"/>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786384" y="1760220"/>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8:20 – 9:20</a:t>
            </a:r>
            <a:endParaRPr lang="en-US" sz="1250" dirty="0"/>
          </a:p>
        </p:txBody>
      </p:sp>
      <p:sp>
        <p:nvSpPr>
          <p:cNvPr id="10" name="Shape 8"/>
          <p:cNvSpPr/>
          <p:nvPr/>
        </p:nvSpPr>
        <p:spPr>
          <a:xfrm>
            <a:off x="2322576" y="1924812"/>
            <a:ext cx="100584" cy="100584"/>
          </a:xfrm>
          <a:prstGeom prst="ellipse">
            <a:avLst/>
          </a:prstGeom>
          <a:solidFill>
            <a:srgbClr val="2A9D8F"/>
          </a:solidFill>
          <a:ln/>
        </p:spPr>
        <p:txBody>
          <a:bodyPr/>
          <a:lstStyle/>
          <a:p>
            <a:endParaRPr lang="en-PR"/>
          </a:p>
        </p:txBody>
      </p:sp>
      <p:sp>
        <p:nvSpPr>
          <p:cNvPr id="11" name="Text 9"/>
          <p:cNvSpPr txBox="1"/>
          <p:nvPr/>
        </p:nvSpPr>
        <p:spPr>
          <a:xfrm>
            <a:off x="2596896" y="1760220"/>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Módulo 1 · DUA, accesibilidad y ausencia de sesgo</a:t>
            </a:r>
            <a:endParaRPr lang="en-US" sz="1250" dirty="0"/>
          </a:p>
        </p:txBody>
      </p:sp>
      <p:sp>
        <p:nvSpPr>
          <p:cNvPr id="12" name="Shape 10"/>
          <p:cNvSpPr/>
          <p:nvPr/>
        </p:nvSpPr>
        <p:spPr>
          <a:xfrm>
            <a:off x="566928" y="2221992"/>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Text 11"/>
          <p:cNvSpPr txBox="1"/>
          <p:nvPr/>
        </p:nvSpPr>
        <p:spPr>
          <a:xfrm>
            <a:off x="786384" y="2221992"/>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9:20 – 10:15</a:t>
            </a:r>
            <a:endParaRPr lang="en-US" sz="1250" dirty="0"/>
          </a:p>
        </p:txBody>
      </p:sp>
      <p:sp>
        <p:nvSpPr>
          <p:cNvPr id="14" name="Shape 12"/>
          <p:cNvSpPr/>
          <p:nvPr/>
        </p:nvSpPr>
        <p:spPr>
          <a:xfrm>
            <a:off x="2322576" y="2386584"/>
            <a:ext cx="100584" cy="100584"/>
          </a:xfrm>
          <a:prstGeom prst="ellipse">
            <a:avLst/>
          </a:prstGeom>
          <a:solidFill>
            <a:srgbClr val="2A9D8F"/>
          </a:solidFill>
          <a:ln/>
        </p:spPr>
        <p:txBody>
          <a:bodyPr/>
          <a:lstStyle/>
          <a:p>
            <a:endParaRPr lang="en-PR"/>
          </a:p>
        </p:txBody>
      </p:sp>
      <p:sp>
        <p:nvSpPr>
          <p:cNvPr id="15" name="Text 13"/>
          <p:cNvSpPr txBox="1"/>
          <p:nvPr/>
        </p:nvSpPr>
        <p:spPr>
          <a:xfrm>
            <a:off x="2596896" y="2221992"/>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Módulos 2–4 · De la expectativa al ítem; selección múltiple y respuesta abierta</a:t>
            </a:r>
            <a:endParaRPr lang="en-US" sz="1250" dirty="0"/>
          </a:p>
        </p:txBody>
      </p:sp>
      <p:sp>
        <p:nvSpPr>
          <p:cNvPr id="16" name="Shape 14"/>
          <p:cNvSpPr/>
          <p:nvPr/>
        </p:nvSpPr>
        <p:spPr>
          <a:xfrm>
            <a:off x="566928" y="2683764"/>
            <a:ext cx="11057839" cy="429768"/>
          </a:xfrm>
          <a:prstGeom prst="roundRect">
            <a:avLst>
              <a:gd name="adj" fmla="val 19149"/>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Text 15"/>
          <p:cNvSpPr txBox="1"/>
          <p:nvPr/>
        </p:nvSpPr>
        <p:spPr>
          <a:xfrm>
            <a:off x="786384" y="2683764"/>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10:15 – 10:30</a:t>
            </a:r>
            <a:endParaRPr lang="en-US" sz="1250" dirty="0"/>
          </a:p>
        </p:txBody>
      </p:sp>
      <p:sp>
        <p:nvSpPr>
          <p:cNvPr id="18" name="Shape 16"/>
          <p:cNvSpPr/>
          <p:nvPr/>
        </p:nvSpPr>
        <p:spPr>
          <a:xfrm>
            <a:off x="2322576" y="2848356"/>
            <a:ext cx="100584" cy="100584"/>
          </a:xfrm>
          <a:prstGeom prst="ellipse">
            <a:avLst/>
          </a:prstGeom>
          <a:solidFill>
            <a:srgbClr val="5F6E7E"/>
          </a:solidFill>
          <a:ln/>
        </p:spPr>
        <p:txBody>
          <a:bodyPr/>
          <a:lstStyle/>
          <a:p>
            <a:endParaRPr lang="en-PR"/>
          </a:p>
        </p:txBody>
      </p:sp>
      <p:sp>
        <p:nvSpPr>
          <p:cNvPr id="19" name="Text 17"/>
          <p:cNvSpPr txBox="1"/>
          <p:nvPr/>
        </p:nvSpPr>
        <p:spPr>
          <a:xfrm>
            <a:off x="2596896" y="2683764"/>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Receso</a:t>
            </a:r>
            <a:endParaRPr lang="en-US" sz="1250" dirty="0"/>
          </a:p>
        </p:txBody>
      </p:sp>
      <p:sp>
        <p:nvSpPr>
          <p:cNvPr id="20" name="Shape 18"/>
          <p:cNvSpPr/>
          <p:nvPr/>
        </p:nvSpPr>
        <p:spPr>
          <a:xfrm>
            <a:off x="566928" y="3145536"/>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Text 19"/>
          <p:cNvSpPr txBox="1"/>
          <p:nvPr/>
        </p:nvSpPr>
        <p:spPr>
          <a:xfrm>
            <a:off x="786384" y="3145536"/>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10:30 – 11:40</a:t>
            </a:r>
            <a:endParaRPr lang="en-US" sz="1250" dirty="0"/>
          </a:p>
        </p:txBody>
      </p:sp>
      <p:sp>
        <p:nvSpPr>
          <p:cNvPr id="22" name="Shape 20"/>
          <p:cNvSpPr/>
          <p:nvPr/>
        </p:nvSpPr>
        <p:spPr>
          <a:xfrm>
            <a:off x="2322576" y="3310128"/>
            <a:ext cx="100584" cy="100584"/>
          </a:xfrm>
          <a:prstGeom prst="ellipse">
            <a:avLst/>
          </a:prstGeom>
          <a:solidFill>
            <a:srgbClr val="2A9D8F"/>
          </a:solidFill>
          <a:ln/>
        </p:spPr>
        <p:txBody>
          <a:bodyPr/>
          <a:lstStyle/>
          <a:p>
            <a:endParaRPr lang="en-PR"/>
          </a:p>
        </p:txBody>
      </p:sp>
      <p:sp>
        <p:nvSpPr>
          <p:cNvPr id="23" name="Text 21"/>
          <p:cNvSpPr txBox="1"/>
          <p:nvPr/>
        </p:nvSpPr>
        <p:spPr>
          <a:xfrm>
            <a:off x="2596896" y="3145536"/>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Módulos 5–7 · Modelaje por nivel: 3.º–5.º, 6.º–8.º y 9.º–12.º</a:t>
            </a:r>
            <a:endParaRPr lang="en-US" sz="1250" dirty="0"/>
          </a:p>
        </p:txBody>
      </p:sp>
      <p:sp>
        <p:nvSpPr>
          <p:cNvPr id="24" name="Shape 22"/>
          <p:cNvSpPr/>
          <p:nvPr/>
        </p:nvSpPr>
        <p:spPr>
          <a:xfrm>
            <a:off x="566928" y="3607308"/>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786384" y="3607308"/>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11:40 – 12:10</a:t>
            </a:r>
            <a:endParaRPr lang="en-US" sz="1250" dirty="0"/>
          </a:p>
        </p:txBody>
      </p:sp>
      <p:sp>
        <p:nvSpPr>
          <p:cNvPr id="26" name="Shape 24"/>
          <p:cNvSpPr/>
          <p:nvPr/>
        </p:nvSpPr>
        <p:spPr>
          <a:xfrm>
            <a:off x="2322576" y="3771900"/>
            <a:ext cx="100584" cy="100584"/>
          </a:xfrm>
          <a:prstGeom prst="ellipse">
            <a:avLst/>
          </a:prstGeom>
          <a:solidFill>
            <a:srgbClr val="2A9D8F"/>
          </a:solidFill>
          <a:ln/>
        </p:spPr>
        <p:txBody>
          <a:bodyPr/>
          <a:lstStyle/>
          <a:p>
            <a:endParaRPr lang="en-PR"/>
          </a:p>
        </p:txBody>
      </p:sp>
      <p:sp>
        <p:nvSpPr>
          <p:cNvPr id="27" name="Text 25"/>
          <p:cNvSpPr txBox="1"/>
          <p:nvPr/>
        </p:nvSpPr>
        <p:spPr>
          <a:xfrm>
            <a:off x="2596896" y="3607308"/>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Módulo 8 · Planilla de especificaciones</a:t>
            </a:r>
            <a:endParaRPr lang="en-US" sz="1250" dirty="0"/>
          </a:p>
        </p:txBody>
      </p:sp>
      <p:sp>
        <p:nvSpPr>
          <p:cNvPr id="28" name="Shape 26"/>
          <p:cNvSpPr/>
          <p:nvPr/>
        </p:nvSpPr>
        <p:spPr>
          <a:xfrm>
            <a:off x="566928" y="4069080"/>
            <a:ext cx="11057839" cy="429768"/>
          </a:xfrm>
          <a:prstGeom prst="roundRect">
            <a:avLst>
              <a:gd name="adj" fmla="val 19149"/>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Text 27"/>
          <p:cNvSpPr txBox="1"/>
          <p:nvPr/>
        </p:nvSpPr>
        <p:spPr>
          <a:xfrm>
            <a:off x="786384" y="4069080"/>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12:10 – 1:10</a:t>
            </a:r>
            <a:endParaRPr lang="en-US" sz="1250" dirty="0"/>
          </a:p>
        </p:txBody>
      </p:sp>
      <p:sp>
        <p:nvSpPr>
          <p:cNvPr id="30" name="Shape 28"/>
          <p:cNvSpPr/>
          <p:nvPr/>
        </p:nvSpPr>
        <p:spPr>
          <a:xfrm>
            <a:off x="2322576" y="4233672"/>
            <a:ext cx="100584" cy="100584"/>
          </a:xfrm>
          <a:prstGeom prst="ellipse">
            <a:avLst/>
          </a:prstGeom>
          <a:solidFill>
            <a:srgbClr val="5F6E7E"/>
          </a:solidFill>
          <a:ln/>
        </p:spPr>
        <p:txBody>
          <a:bodyPr/>
          <a:lstStyle/>
          <a:p>
            <a:endParaRPr lang="en-PR"/>
          </a:p>
        </p:txBody>
      </p:sp>
      <p:sp>
        <p:nvSpPr>
          <p:cNvPr id="31" name="Text 29"/>
          <p:cNvSpPr txBox="1"/>
          <p:nvPr/>
        </p:nvSpPr>
        <p:spPr>
          <a:xfrm>
            <a:off x="2596896" y="4069080"/>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Almuerzo</a:t>
            </a:r>
            <a:endParaRPr lang="en-US" sz="1250" dirty="0"/>
          </a:p>
        </p:txBody>
      </p:sp>
      <p:sp>
        <p:nvSpPr>
          <p:cNvPr id="32" name="Shape 30"/>
          <p:cNvSpPr/>
          <p:nvPr/>
        </p:nvSpPr>
        <p:spPr>
          <a:xfrm>
            <a:off x="566928" y="4530852"/>
            <a:ext cx="11057839" cy="429768"/>
          </a:xfrm>
          <a:prstGeom prst="roundRect">
            <a:avLst>
              <a:gd name="adj" fmla="val 19149"/>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33" name="Text 31"/>
          <p:cNvSpPr txBox="1"/>
          <p:nvPr/>
        </p:nvSpPr>
        <p:spPr>
          <a:xfrm>
            <a:off x="786384" y="4530852"/>
            <a:ext cx="1417320" cy="429768"/>
          </a:xfrm>
          <a:prstGeom prst="rect">
            <a:avLst/>
          </a:prstGeom>
          <a:noFill/>
          <a:ln/>
        </p:spPr>
        <p:txBody>
          <a:bodyPr wrap="square" lIns="0" tIns="0" rIns="0" bIns="0" rtlCol="0" anchor="ctr"/>
          <a:lstStyle/>
          <a:p>
            <a:pPr marL="0" indent="0">
              <a:buNone/>
            </a:pPr>
            <a:r>
              <a:rPr lang="en-US" sz="1250" b="1" dirty="0">
                <a:solidFill>
                  <a:srgbClr val="8A6D12"/>
                </a:solidFill>
                <a:latin typeface="Cambria" pitchFamily="34" charset="0"/>
                <a:ea typeface="Cambria" pitchFamily="34" charset="-122"/>
                <a:cs typeface="Cambria" pitchFamily="34" charset="-120"/>
              </a:rPr>
              <a:t>1:10 – 2:10</a:t>
            </a:r>
            <a:endParaRPr lang="en-US" sz="1250" dirty="0"/>
          </a:p>
        </p:txBody>
      </p:sp>
      <p:sp>
        <p:nvSpPr>
          <p:cNvPr id="34" name="Shape 32"/>
          <p:cNvSpPr/>
          <p:nvPr/>
        </p:nvSpPr>
        <p:spPr>
          <a:xfrm>
            <a:off x="2322576" y="4695444"/>
            <a:ext cx="100584" cy="100584"/>
          </a:xfrm>
          <a:prstGeom prst="ellipse">
            <a:avLst/>
          </a:prstGeom>
          <a:solidFill>
            <a:srgbClr val="C9A227"/>
          </a:solidFill>
          <a:ln/>
        </p:spPr>
        <p:txBody>
          <a:bodyPr/>
          <a:lstStyle/>
          <a:p>
            <a:endParaRPr lang="en-PR"/>
          </a:p>
        </p:txBody>
      </p:sp>
      <p:sp>
        <p:nvSpPr>
          <p:cNvPr id="35" name="Text 33"/>
          <p:cNvSpPr txBox="1"/>
          <p:nvPr/>
        </p:nvSpPr>
        <p:spPr>
          <a:xfrm>
            <a:off x="2596896" y="4530852"/>
            <a:ext cx="8771839" cy="429768"/>
          </a:xfrm>
          <a:prstGeom prst="rect">
            <a:avLst/>
          </a:prstGeom>
          <a:noFill/>
          <a:ln/>
        </p:spPr>
        <p:txBody>
          <a:bodyPr wrap="square" lIns="0" tIns="0" rIns="0" bIns="0" rtlCol="0" anchor="ctr"/>
          <a:lstStyle/>
          <a:p>
            <a:pPr marL="0" indent="0">
              <a:buNone/>
            </a:pPr>
            <a:r>
              <a:rPr lang="en-US" sz="1250" b="1" dirty="0">
                <a:solidFill>
                  <a:srgbClr val="6E5610"/>
                </a:solidFill>
                <a:latin typeface="Calibri" pitchFamily="34" charset="0"/>
                <a:ea typeface="Calibri" pitchFamily="34" charset="-122"/>
                <a:cs typeface="Calibri" pitchFamily="34" charset="-120"/>
              </a:rPr>
              <a:t>ACTIVIDAD DE APLICACIÓN 1 · Construye tu bloque de ítems</a:t>
            </a:r>
            <a:endParaRPr lang="en-US" sz="1250" dirty="0"/>
          </a:p>
        </p:txBody>
      </p:sp>
      <p:sp>
        <p:nvSpPr>
          <p:cNvPr id="36" name="Shape 34"/>
          <p:cNvSpPr/>
          <p:nvPr/>
        </p:nvSpPr>
        <p:spPr>
          <a:xfrm>
            <a:off x="566928" y="4992624"/>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786384" y="4992624"/>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2:10 – 2:45</a:t>
            </a:r>
            <a:endParaRPr lang="en-US" sz="1250" dirty="0"/>
          </a:p>
        </p:txBody>
      </p:sp>
      <p:sp>
        <p:nvSpPr>
          <p:cNvPr id="38" name="Shape 36"/>
          <p:cNvSpPr/>
          <p:nvPr/>
        </p:nvSpPr>
        <p:spPr>
          <a:xfrm>
            <a:off x="2322576" y="5157216"/>
            <a:ext cx="100584" cy="100584"/>
          </a:xfrm>
          <a:prstGeom prst="ellipse">
            <a:avLst/>
          </a:prstGeom>
          <a:solidFill>
            <a:srgbClr val="2A9D8F"/>
          </a:solidFill>
          <a:ln/>
        </p:spPr>
        <p:txBody>
          <a:bodyPr/>
          <a:lstStyle/>
          <a:p>
            <a:endParaRPr lang="en-PR"/>
          </a:p>
        </p:txBody>
      </p:sp>
      <p:sp>
        <p:nvSpPr>
          <p:cNvPr id="39" name="Text 37"/>
          <p:cNvSpPr txBox="1"/>
          <p:nvPr/>
        </p:nvSpPr>
        <p:spPr>
          <a:xfrm>
            <a:off x="2596896" y="4992624"/>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Módulo 9 · Inteligencia artificial y DUA con el modelo RC-TTF</a:t>
            </a:r>
            <a:endParaRPr lang="en-US" sz="1250" dirty="0"/>
          </a:p>
        </p:txBody>
      </p:sp>
      <p:sp>
        <p:nvSpPr>
          <p:cNvPr id="40" name="Shape 38"/>
          <p:cNvSpPr/>
          <p:nvPr/>
        </p:nvSpPr>
        <p:spPr>
          <a:xfrm>
            <a:off x="566928" y="5454396"/>
            <a:ext cx="11057839" cy="429768"/>
          </a:xfrm>
          <a:prstGeom prst="roundRect">
            <a:avLst>
              <a:gd name="adj" fmla="val 19149"/>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41" name="Text 39"/>
          <p:cNvSpPr txBox="1"/>
          <p:nvPr/>
        </p:nvSpPr>
        <p:spPr>
          <a:xfrm>
            <a:off x="786384" y="5454396"/>
            <a:ext cx="1417320" cy="429768"/>
          </a:xfrm>
          <a:prstGeom prst="rect">
            <a:avLst/>
          </a:prstGeom>
          <a:noFill/>
          <a:ln/>
        </p:spPr>
        <p:txBody>
          <a:bodyPr wrap="square" lIns="0" tIns="0" rIns="0" bIns="0" rtlCol="0" anchor="ctr"/>
          <a:lstStyle/>
          <a:p>
            <a:pPr marL="0" indent="0">
              <a:buNone/>
            </a:pPr>
            <a:r>
              <a:rPr lang="en-US" sz="1250" b="1" dirty="0">
                <a:solidFill>
                  <a:srgbClr val="8A6D12"/>
                </a:solidFill>
                <a:latin typeface="Cambria" pitchFamily="34" charset="0"/>
                <a:ea typeface="Cambria" pitchFamily="34" charset="-122"/>
                <a:cs typeface="Cambria" pitchFamily="34" charset="-120"/>
              </a:rPr>
              <a:t>2:45 – 3:25</a:t>
            </a:r>
            <a:endParaRPr lang="en-US" sz="1250" dirty="0"/>
          </a:p>
        </p:txBody>
      </p:sp>
      <p:sp>
        <p:nvSpPr>
          <p:cNvPr id="42" name="Shape 40"/>
          <p:cNvSpPr/>
          <p:nvPr/>
        </p:nvSpPr>
        <p:spPr>
          <a:xfrm>
            <a:off x="2322576" y="5618988"/>
            <a:ext cx="100584" cy="100584"/>
          </a:xfrm>
          <a:prstGeom prst="ellipse">
            <a:avLst/>
          </a:prstGeom>
          <a:solidFill>
            <a:srgbClr val="C9A227"/>
          </a:solidFill>
          <a:ln/>
        </p:spPr>
        <p:txBody>
          <a:bodyPr/>
          <a:lstStyle/>
          <a:p>
            <a:endParaRPr lang="en-PR"/>
          </a:p>
        </p:txBody>
      </p:sp>
      <p:sp>
        <p:nvSpPr>
          <p:cNvPr id="43" name="Text 41"/>
          <p:cNvSpPr txBox="1"/>
          <p:nvPr/>
        </p:nvSpPr>
        <p:spPr>
          <a:xfrm>
            <a:off x="2596896" y="5454396"/>
            <a:ext cx="8771839" cy="429768"/>
          </a:xfrm>
          <a:prstGeom prst="rect">
            <a:avLst/>
          </a:prstGeom>
          <a:noFill/>
          <a:ln/>
        </p:spPr>
        <p:txBody>
          <a:bodyPr wrap="square" lIns="0" tIns="0" rIns="0" bIns="0" rtlCol="0" anchor="ctr"/>
          <a:lstStyle/>
          <a:p>
            <a:pPr marL="0" indent="0">
              <a:buNone/>
            </a:pPr>
            <a:r>
              <a:rPr lang="en-US" sz="1250" b="1" dirty="0">
                <a:solidFill>
                  <a:srgbClr val="6E5610"/>
                </a:solidFill>
                <a:latin typeface="Calibri" pitchFamily="34" charset="0"/>
                <a:ea typeface="Calibri" pitchFamily="34" charset="-122"/>
                <a:cs typeface="Calibri" pitchFamily="34" charset="-120"/>
              </a:rPr>
              <a:t>ACTIVIDAD DE APLICACIÓN 2 · Del prompt a la auditoría</a:t>
            </a:r>
            <a:endParaRPr lang="en-US" sz="1250" dirty="0"/>
          </a:p>
        </p:txBody>
      </p:sp>
      <p:sp>
        <p:nvSpPr>
          <p:cNvPr id="44" name="Shape 42"/>
          <p:cNvSpPr/>
          <p:nvPr/>
        </p:nvSpPr>
        <p:spPr>
          <a:xfrm>
            <a:off x="566928" y="5916168"/>
            <a:ext cx="11057839" cy="429768"/>
          </a:xfrm>
          <a:prstGeom prst="roundRect">
            <a:avLst>
              <a:gd name="adj" fmla="val 1914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5" name="Text 43"/>
          <p:cNvSpPr txBox="1"/>
          <p:nvPr/>
        </p:nvSpPr>
        <p:spPr>
          <a:xfrm>
            <a:off x="786384" y="5916168"/>
            <a:ext cx="1417320" cy="429768"/>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3:25 – 3:30</a:t>
            </a:r>
            <a:endParaRPr lang="en-US" sz="1250" dirty="0"/>
          </a:p>
        </p:txBody>
      </p:sp>
      <p:sp>
        <p:nvSpPr>
          <p:cNvPr id="46" name="Shape 44"/>
          <p:cNvSpPr/>
          <p:nvPr/>
        </p:nvSpPr>
        <p:spPr>
          <a:xfrm>
            <a:off x="2322576" y="6080760"/>
            <a:ext cx="100584" cy="100584"/>
          </a:xfrm>
          <a:prstGeom prst="ellipse">
            <a:avLst/>
          </a:prstGeom>
          <a:solidFill>
            <a:srgbClr val="2A9D8F"/>
          </a:solidFill>
          <a:ln/>
        </p:spPr>
        <p:txBody>
          <a:bodyPr/>
          <a:lstStyle/>
          <a:p>
            <a:endParaRPr lang="en-PR"/>
          </a:p>
        </p:txBody>
      </p:sp>
      <p:sp>
        <p:nvSpPr>
          <p:cNvPr id="47" name="Text 45"/>
          <p:cNvSpPr txBox="1"/>
          <p:nvPr/>
        </p:nvSpPr>
        <p:spPr>
          <a:xfrm>
            <a:off x="2596896" y="5916168"/>
            <a:ext cx="8771839" cy="429768"/>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Cierre, compromisos y evaluación del taller</a:t>
            </a:r>
            <a:endParaRPr lang="en-US" sz="1250" dirty="0"/>
          </a:p>
        </p:txBody>
      </p:sp>
      <p:sp>
        <p:nvSpPr>
          <p:cNvPr id="48" name="Text 46"/>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Dos recesos activos de 5 minutos se intercalan dentro de los bloques largos, a discreción del facilitador.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PROPÓSITO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Al finalizar el taller, el maestro será capaz de…</a:t>
            </a:r>
            <a:endParaRPr lang="en-US" sz="2700" dirty="0"/>
          </a:p>
        </p:txBody>
      </p:sp>
      <p:sp>
        <p:nvSpPr>
          <p:cNvPr id="4" name="Shape 2"/>
          <p:cNvSpPr/>
          <p:nvPr/>
        </p:nvSpPr>
        <p:spPr>
          <a:xfrm>
            <a:off x="566928"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Aplicar los principios del DUA</a:t>
            </a:r>
            <a:endParaRPr lang="en-US" sz="1450" dirty="0"/>
          </a:p>
        </p:txBody>
      </p:sp>
      <p:sp>
        <p:nvSpPr>
          <p:cNvPr id="8" name="Text 6"/>
          <p:cNvSpPr txBox="1"/>
          <p:nvPr/>
        </p:nvSpPr>
        <p:spPr>
          <a:xfrm>
            <a:off x="804672"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Redactar ítems accesibles que midan el aprendizaje y no la destreza de decodificar un examen mal escrito.</a:t>
            </a:r>
            <a:endParaRPr lang="en-US" sz="1200" dirty="0"/>
          </a:p>
        </p:txBody>
      </p:sp>
      <p:sp>
        <p:nvSpPr>
          <p:cNvPr id="9" name="Shape 7"/>
          <p:cNvSpPr/>
          <p:nvPr/>
        </p:nvSpPr>
        <p:spPr>
          <a:xfrm>
            <a:off x="6251296"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2A9D8F"/>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Alinear cada ítem a una expectativa</a:t>
            </a:r>
            <a:endParaRPr lang="en-US" sz="1450" dirty="0"/>
          </a:p>
        </p:txBody>
      </p:sp>
      <p:sp>
        <p:nvSpPr>
          <p:cNvPr id="13" name="Text 11"/>
          <p:cNvSpPr txBox="1"/>
          <p:nvPr/>
        </p:nvSpPr>
        <p:spPr>
          <a:xfrm>
            <a:off x="6489040"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Enlazar el ítem con el estándar, la expectativa y el indicador del Programa de Matemáticas (DEPR, 2022) y con un nivel DOK declarado.</a:t>
            </a:r>
            <a:endParaRPr lang="en-US" sz="1200" dirty="0"/>
          </a:p>
        </p:txBody>
      </p:sp>
      <p:sp>
        <p:nvSpPr>
          <p:cNvPr id="14" name="Shape 12"/>
          <p:cNvSpPr/>
          <p:nvPr/>
        </p:nvSpPr>
        <p:spPr>
          <a:xfrm>
            <a:off x="566928"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264408"/>
            <a:ext cx="457200" cy="457200"/>
          </a:xfrm>
          <a:prstGeom prst="ellipse">
            <a:avLst/>
          </a:prstGeom>
          <a:solidFill>
            <a:srgbClr val="C9A227"/>
          </a:solidFill>
          <a:ln/>
        </p:spPr>
        <p:txBody>
          <a:bodyPr/>
          <a:lstStyle/>
          <a:p>
            <a:endParaRPr lang="en-PR"/>
          </a:p>
        </p:txBody>
      </p:sp>
      <p:sp>
        <p:nvSpPr>
          <p:cNvPr id="16" name="Text 14"/>
          <p:cNvSpPr txBox="1"/>
          <p:nvPr/>
        </p:nvSpPr>
        <p:spPr>
          <a:xfrm>
            <a:off x="804672"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26464"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Redactar los tres tipos de ítem</a:t>
            </a:r>
            <a:endParaRPr lang="en-US" sz="1450" dirty="0"/>
          </a:p>
        </p:txBody>
      </p:sp>
      <p:sp>
        <p:nvSpPr>
          <p:cNvPr id="18" name="Text 16"/>
          <p:cNvSpPr txBox="1"/>
          <p:nvPr/>
        </p:nvSpPr>
        <p:spPr>
          <a:xfrm>
            <a:off x="804672"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Selección múltiple, respuesta abierta sencilla y respuesta abierta de aplicación, con sus baremos, para 3.º–5.º, 6.º–8.º y 9.º–12.º.</a:t>
            </a:r>
            <a:endParaRPr lang="en-US" sz="1200" dirty="0"/>
          </a:p>
        </p:txBody>
      </p:sp>
      <p:sp>
        <p:nvSpPr>
          <p:cNvPr id="19" name="Shape 17"/>
          <p:cNvSpPr/>
          <p:nvPr/>
        </p:nvSpPr>
        <p:spPr>
          <a:xfrm>
            <a:off x="6251296"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264408"/>
            <a:ext cx="457200" cy="457200"/>
          </a:xfrm>
          <a:prstGeom prst="ellipse">
            <a:avLst/>
          </a:prstGeom>
          <a:solidFill>
            <a:srgbClr val="1F3864"/>
          </a:solidFill>
          <a:ln/>
        </p:spPr>
        <p:txBody>
          <a:bodyPr/>
          <a:lstStyle/>
          <a:p>
            <a:endParaRPr lang="en-PR"/>
          </a:p>
        </p:txBody>
      </p:sp>
      <p:sp>
        <p:nvSpPr>
          <p:cNvPr id="21" name="Text 19"/>
          <p:cNvSpPr txBox="1"/>
          <p:nvPr/>
        </p:nvSpPr>
        <p:spPr>
          <a:xfrm>
            <a:off x="6489040"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10832"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Detectar y eliminar sesgo</a:t>
            </a:r>
            <a:endParaRPr lang="en-US" sz="1450" dirty="0"/>
          </a:p>
        </p:txBody>
      </p:sp>
      <p:sp>
        <p:nvSpPr>
          <p:cNvPr id="23" name="Text 21"/>
          <p:cNvSpPr txBox="1"/>
          <p:nvPr/>
        </p:nvSpPr>
        <p:spPr>
          <a:xfrm>
            <a:off x="6489040"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Identificar sesgo lingüístico, cultural, socioeconómico, de género y de conocimiento previo, y reescribir el ítem.</a:t>
            </a:r>
            <a:endParaRPr lang="en-US" sz="1200" dirty="0"/>
          </a:p>
        </p:txBody>
      </p:sp>
      <p:sp>
        <p:nvSpPr>
          <p:cNvPr id="24" name="Shape 22"/>
          <p:cNvSpPr/>
          <p:nvPr/>
        </p:nvSpPr>
        <p:spPr>
          <a:xfrm>
            <a:off x="566928"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804672" y="4983480"/>
            <a:ext cx="457200" cy="457200"/>
          </a:xfrm>
          <a:prstGeom prst="ellipse">
            <a:avLst/>
          </a:prstGeom>
          <a:solidFill>
            <a:srgbClr val="A8322D"/>
          </a:solidFill>
          <a:ln/>
        </p:spPr>
        <p:txBody>
          <a:bodyPr/>
          <a:lstStyle/>
          <a:p>
            <a:endParaRPr lang="en-PR"/>
          </a:p>
        </p:txBody>
      </p:sp>
      <p:sp>
        <p:nvSpPr>
          <p:cNvPr id="26" name="Text 24"/>
          <p:cNvSpPr txBox="1"/>
          <p:nvPr/>
        </p:nvSpPr>
        <p:spPr>
          <a:xfrm>
            <a:off x="804672"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26464"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Construir la planilla de especificaciones</a:t>
            </a:r>
            <a:endParaRPr lang="en-US" sz="1450" dirty="0"/>
          </a:p>
        </p:txBody>
      </p:sp>
      <p:sp>
        <p:nvSpPr>
          <p:cNvPr id="28" name="Text 26"/>
          <p:cNvSpPr txBox="1"/>
          <p:nvPr/>
        </p:nvSpPr>
        <p:spPr>
          <a:xfrm>
            <a:off x="804672"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Distribuir destrezas, cantidad, valor, DOK y peso; fijar la puntuación mínima de ejecución y decidir la reenseñanza.</a:t>
            </a:r>
            <a:endParaRPr lang="en-US" sz="1200" dirty="0"/>
          </a:p>
        </p:txBody>
      </p:sp>
      <p:sp>
        <p:nvSpPr>
          <p:cNvPr id="29" name="Shape 27"/>
          <p:cNvSpPr/>
          <p:nvPr/>
        </p:nvSpPr>
        <p:spPr>
          <a:xfrm>
            <a:off x="6251296"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6489040" y="4983480"/>
            <a:ext cx="457200" cy="457200"/>
          </a:xfrm>
          <a:prstGeom prst="ellipse">
            <a:avLst/>
          </a:prstGeom>
          <a:solidFill>
            <a:srgbClr val="4A6FA5"/>
          </a:solidFill>
          <a:ln/>
        </p:spPr>
        <p:txBody>
          <a:bodyPr/>
          <a:lstStyle/>
          <a:p>
            <a:endParaRPr lang="en-PR"/>
          </a:p>
        </p:txBody>
      </p:sp>
      <p:sp>
        <p:nvSpPr>
          <p:cNvPr id="31" name="Text 29"/>
          <p:cNvSpPr txBox="1"/>
          <p:nvPr/>
        </p:nvSpPr>
        <p:spPr>
          <a:xfrm>
            <a:off x="6489040"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7110832"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Usar la IA con criterio profesional</a:t>
            </a:r>
            <a:endParaRPr lang="en-US" sz="1450" dirty="0"/>
          </a:p>
        </p:txBody>
      </p:sp>
      <p:sp>
        <p:nvSpPr>
          <p:cNvPr id="33" name="Text 31"/>
          <p:cNvSpPr txBox="1"/>
          <p:nvPr/>
        </p:nvSpPr>
        <p:spPr>
          <a:xfrm>
            <a:off x="6489040"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Aplicar el modelo RC-TTF (Corraliza, 2024) para generar y luego auditar un examen con DUA.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CÓMO TRABAJAREMOS</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Acuerdos del taller y productos del día</a:t>
            </a:r>
            <a:endParaRPr lang="en-US" sz="2700" dirty="0"/>
          </a:p>
        </p:txBody>
      </p:sp>
      <p:sp>
        <p:nvSpPr>
          <p:cNvPr id="4" name="Shape 2"/>
          <p:cNvSpPr/>
          <p:nvPr/>
        </p:nvSpPr>
        <p:spPr>
          <a:xfrm>
            <a:off x="566928" y="1325880"/>
            <a:ext cx="5349240" cy="4480560"/>
          </a:xfrm>
          <a:prstGeom prst="roundRect">
            <a:avLst>
              <a:gd name="adj" fmla="val 183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41248" y="1536192"/>
            <a:ext cx="4846320" cy="329184"/>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Acuerdos de trabajo</a:t>
            </a:r>
            <a:endParaRPr lang="en-US" sz="1700" dirty="0"/>
          </a:p>
        </p:txBody>
      </p:sp>
      <p:sp>
        <p:nvSpPr>
          <p:cNvPr id="6" name="Text 4"/>
          <p:cNvSpPr txBox="1"/>
          <p:nvPr/>
        </p:nvSpPr>
        <p:spPr>
          <a:xfrm>
            <a:off x="841248" y="1993392"/>
            <a:ext cx="4846320" cy="2651760"/>
          </a:xfrm>
          <a:prstGeom prst="rect">
            <a:avLst/>
          </a:prstGeom>
          <a:noFill/>
          <a:ln/>
        </p:spPr>
        <p:txBody>
          <a:bodyPr wrap="square" lIns="0" tIns="0" rIns="0" bIns="0" rtlCol="0" anchor="ctr"/>
          <a:lstStyle/>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Trabajamos con nuestro propio examen, no con ejemplos ajenos.</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Criticamos el ítem, nunca a quien lo redactó.</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Toda afirmación curricular se verifica en el documento oficial.</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Los celulares quedan disponibles: los usaremos en la tarde.</a:t>
            </a:r>
            <a:endParaRPr lang="en-US" sz="1350" dirty="0"/>
          </a:p>
          <a:p>
            <a:pPr marL="342900" indent="-342900">
              <a:lnSpc>
                <a:spcPct val="105000"/>
              </a:lnSpc>
              <a:spcAft>
                <a:spcPts val="1200"/>
              </a:spcAft>
              <a:buSzPct val="100000"/>
              <a:buChar char="▪"/>
            </a:pPr>
            <a:r>
              <a:rPr lang="en-US" sz="1350" dirty="0">
                <a:solidFill>
                  <a:srgbClr val="22303F"/>
                </a:solidFill>
                <a:latin typeface="Calibri" pitchFamily="34" charset="0"/>
                <a:ea typeface="Calibri" pitchFamily="34" charset="-122"/>
                <a:cs typeface="Calibri" pitchFamily="34" charset="-120"/>
              </a:rPr>
              <a:t>Lo que no se produce hoy, no se produce.</a:t>
            </a:r>
            <a:endParaRPr lang="en-US" sz="1350" dirty="0"/>
          </a:p>
        </p:txBody>
      </p:sp>
      <p:sp>
        <p:nvSpPr>
          <p:cNvPr id="7" name="Shape 5"/>
          <p:cNvSpPr/>
          <p:nvPr/>
        </p:nvSpPr>
        <p:spPr>
          <a:xfrm>
            <a:off x="6272784" y="1325880"/>
            <a:ext cx="5349240" cy="2121408"/>
          </a:xfrm>
          <a:prstGeom prst="roundRect">
            <a:avLst>
              <a:gd name="adj" fmla="val 3879"/>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8" name="Shape 6"/>
          <p:cNvSpPr/>
          <p:nvPr/>
        </p:nvSpPr>
        <p:spPr>
          <a:xfrm>
            <a:off x="6547104" y="1572768"/>
            <a:ext cx="475488" cy="475488"/>
          </a:xfrm>
          <a:prstGeom prst="ellipse">
            <a:avLst/>
          </a:prstGeom>
          <a:solidFill>
            <a:srgbClr val="2A9D8F"/>
          </a:solidFill>
          <a:ln/>
        </p:spPr>
        <p:txBody>
          <a:bodyPr/>
          <a:lstStyle/>
          <a:p>
            <a:endParaRPr lang="en-PR"/>
          </a:p>
        </p:txBody>
      </p:sp>
      <p:sp>
        <p:nvSpPr>
          <p:cNvPr id="9" name="Text 7"/>
          <p:cNvSpPr txBox="1"/>
          <p:nvPr/>
        </p:nvSpPr>
        <p:spPr>
          <a:xfrm>
            <a:off x="6547104" y="157276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0" name="Text 8"/>
          <p:cNvSpPr txBox="1"/>
          <p:nvPr/>
        </p:nvSpPr>
        <p:spPr>
          <a:xfrm>
            <a:off x="7187184" y="1572768"/>
            <a:ext cx="4206240" cy="475488"/>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Producto 1  ·  Bloque de ítems</a:t>
            </a:r>
            <a:endParaRPr lang="en-US" sz="1600" dirty="0"/>
          </a:p>
        </p:txBody>
      </p:sp>
      <p:sp>
        <p:nvSpPr>
          <p:cNvPr id="11" name="Text 9"/>
          <p:cNvSpPr txBox="1"/>
          <p:nvPr/>
        </p:nvSpPr>
        <p:spPr>
          <a:xfrm>
            <a:off x="6547104" y="2212848"/>
            <a:ext cx="4800600" cy="1097280"/>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Tres ítems para su grado —selección múltiple, respuesta abierta sencilla y respuesta abierta de aplicación— con baremo, respuestas posibles y la fila correspondiente de la planilla de especificaciones.</a:t>
            </a:r>
            <a:endParaRPr lang="en-US" sz="1250" dirty="0"/>
          </a:p>
        </p:txBody>
      </p:sp>
      <p:sp>
        <p:nvSpPr>
          <p:cNvPr id="12" name="Shape 10"/>
          <p:cNvSpPr/>
          <p:nvPr/>
        </p:nvSpPr>
        <p:spPr>
          <a:xfrm>
            <a:off x="6272784" y="3657600"/>
            <a:ext cx="5349240" cy="2121408"/>
          </a:xfrm>
          <a:prstGeom prst="roundRect">
            <a:avLst>
              <a:gd name="adj" fmla="val 3879"/>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6547104" y="3904488"/>
            <a:ext cx="475488" cy="475488"/>
          </a:xfrm>
          <a:prstGeom prst="ellipse">
            <a:avLst/>
          </a:prstGeom>
          <a:solidFill>
            <a:srgbClr val="C9A227"/>
          </a:solidFill>
          <a:ln/>
        </p:spPr>
        <p:txBody>
          <a:bodyPr/>
          <a:lstStyle/>
          <a:p>
            <a:endParaRPr lang="en-PR"/>
          </a:p>
        </p:txBody>
      </p:sp>
      <p:sp>
        <p:nvSpPr>
          <p:cNvPr id="14" name="Text 12"/>
          <p:cNvSpPr txBox="1"/>
          <p:nvPr/>
        </p:nvSpPr>
        <p:spPr>
          <a:xfrm>
            <a:off x="6547104" y="3904488"/>
            <a:ext cx="475488" cy="475488"/>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txBox="1"/>
          <p:nvPr/>
        </p:nvSpPr>
        <p:spPr>
          <a:xfrm>
            <a:off x="7187184" y="3904488"/>
            <a:ext cx="4206240" cy="475488"/>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Producto 2  ·  Examen auditado</a:t>
            </a:r>
            <a:endParaRPr lang="en-US" sz="1600" dirty="0"/>
          </a:p>
        </p:txBody>
      </p:sp>
      <p:sp>
        <p:nvSpPr>
          <p:cNvPr id="16" name="Text 14"/>
          <p:cNvSpPr txBox="1"/>
          <p:nvPr/>
        </p:nvSpPr>
        <p:spPr>
          <a:xfrm>
            <a:off x="6547104" y="4544568"/>
            <a:ext cx="4800600" cy="1097280"/>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Un examen generado con IA a partir de un prompt RC-TTF adaptado a su grado, acompañado de un informe de auditoría de una página con al menos tres hallazgos corregidos.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509760" y="-1097280"/>
            <a:ext cx="4937760" cy="4937760"/>
          </a:xfrm>
          <a:prstGeom prst="ellipse">
            <a:avLst/>
          </a:prstGeom>
          <a:solidFill>
            <a:srgbClr val="24365C"/>
          </a:solidFill>
          <a:ln/>
        </p:spPr>
        <p:txBody>
          <a:bodyPr/>
          <a:lstStyle/>
          <a:p>
            <a:endParaRPr lang="en-PR"/>
          </a:p>
        </p:txBody>
      </p:sp>
      <p:sp>
        <p:nvSpPr>
          <p:cNvPr id="3" name="Text 1"/>
          <p:cNvSpPr txBox="1"/>
          <p:nvPr/>
        </p:nvSpPr>
        <p:spPr>
          <a:xfrm>
            <a:off x="566928" y="685800"/>
            <a:ext cx="7315200" cy="274320"/>
          </a:xfrm>
          <a:prstGeom prst="rect">
            <a:avLst/>
          </a:prstGeom>
          <a:noFill/>
          <a:ln/>
        </p:spPr>
        <p:txBody>
          <a:bodyPr wrap="square" lIns="0" tIns="0" rIns="0" bIns="0" rtlCol="0" anchor="ctr"/>
          <a:lstStyle/>
          <a:p>
            <a:pPr marL="0" indent="0">
              <a:buNone/>
            </a:pPr>
            <a:r>
              <a:rPr lang="en-US" sz="1150" b="1" kern="0" spc="200" dirty="0">
                <a:solidFill>
                  <a:srgbClr val="C9A84C"/>
                </a:solidFill>
                <a:latin typeface="Calibri" pitchFamily="34" charset="0"/>
                <a:ea typeface="Calibri" pitchFamily="34" charset="-122"/>
                <a:cs typeface="Calibri" pitchFamily="34" charset="-120"/>
              </a:rPr>
              <a:t>ACTIVADOR  ·  8 MINUTOS</a:t>
            </a:r>
            <a:endParaRPr lang="en-US" sz="1150" dirty="0"/>
          </a:p>
        </p:txBody>
      </p:sp>
      <p:sp>
        <p:nvSpPr>
          <p:cNvPr id="4" name="Text 2"/>
          <p:cNvSpPr txBox="1"/>
          <p:nvPr/>
        </p:nvSpPr>
        <p:spPr>
          <a:xfrm>
            <a:off x="566928" y="1051560"/>
            <a:ext cx="7863840" cy="1188720"/>
          </a:xfrm>
          <a:prstGeom prst="rect">
            <a:avLst/>
          </a:prstGeom>
          <a:noFill/>
          <a:ln/>
        </p:spPr>
        <p:txBody>
          <a:bodyPr wrap="square" lIns="0" tIns="0" rIns="0" bIns="0" rtlCol="0" anchor="ctr"/>
          <a:lstStyle/>
          <a:p>
            <a:pPr marL="0" indent="0">
              <a:lnSpc>
                <a:spcPct val="102000"/>
              </a:lnSpc>
              <a:buNone/>
            </a:pPr>
            <a:r>
              <a:rPr lang="en-US" sz="3300" b="1" dirty="0">
                <a:solidFill>
                  <a:srgbClr val="FFFFFF"/>
                </a:solidFill>
                <a:latin typeface="Cambria" pitchFamily="34" charset="0"/>
                <a:ea typeface="Cambria" pitchFamily="34" charset="-122"/>
                <a:cs typeface="Cambria" pitchFamily="34" charset="-120"/>
              </a:rPr>
              <a:t>Piense en el último examen</a:t>
            </a:r>
            <a:endParaRPr lang="en-US" sz="3300" dirty="0"/>
          </a:p>
          <a:p>
            <a:pPr marL="0" indent="0">
              <a:lnSpc>
                <a:spcPct val="102000"/>
              </a:lnSpc>
              <a:buNone/>
            </a:pPr>
            <a:r>
              <a:rPr lang="en-US" sz="3300" b="1" dirty="0">
                <a:solidFill>
                  <a:srgbClr val="FFFFFF"/>
                </a:solidFill>
                <a:latin typeface="Cambria" pitchFamily="34" charset="0"/>
                <a:ea typeface="Cambria" pitchFamily="34" charset="-122"/>
                <a:cs typeface="Cambria" pitchFamily="34" charset="-120"/>
              </a:rPr>
              <a:t>que usted administró</a:t>
            </a:r>
            <a:endParaRPr lang="en-US" sz="3300" dirty="0"/>
          </a:p>
        </p:txBody>
      </p:sp>
      <p:sp>
        <p:nvSpPr>
          <p:cNvPr id="5" name="Shape 3"/>
          <p:cNvSpPr/>
          <p:nvPr/>
        </p:nvSpPr>
        <p:spPr>
          <a:xfrm>
            <a:off x="566928" y="2606040"/>
            <a:ext cx="10424160" cy="960120"/>
          </a:xfrm>
          <a:prstGeom prst="roundRect">
            <a:avLst>
              <a:gd name="adj" fmla="val 8571"/>
            </a:avLst>
          </a:prstGeom>
          <a:solidFill>
            <a:srgbClr val="24365C"/>
          </a:solidFill>
          <a:ln w="12700">
            <a:solidFill>
              <a:srgbClr val="3A5583"/>
            </a:solidFill>
            <a:prstDash val="solid"/>
          </a:ln>
        </p:spPr>
        <p:txBody>
          <a:bodyPr/>
          <a:lstStyle/>
          <a:p>
            <a:endParaRPr lang="en-PR"/>
          </a:p>
        </p:txBody>
      </p:sp>
      <p:sp>
        <p:nvSpPr>
          <p:cNvPr id="6" name="Shape 4"/>
          <p:cNvSpPr/>
          <p:nvPr/>
        </p:nvSpPr>
        <p:spPr>
          <a:xfrm>
            <a:off x="841248" y="2857500"/>
            <a:ext cx="457200" cy="457200"/>
          </a:xfrm>
          <a:prstGeom prst="ellipse">
            <a:avLst/>
          </a:prstGeom>
          <a:solidFill>
            <a:srgbClr val="C9A227"/>
          </a:solidFill>
          <a:ln/>
        </p:spPr>
        <p:txBody>
          <a:bodyPr/>
          <a:lstStyle/>
          <a:p>
            <a:endParaRPr lang="en-PR"/>
          </a:p>
        </p:txBody>
      </p:sp>
      <p:sp>
        <p:nvSpPr>
          <p:cNvPr id="7" name="Text 5"/>
          <p:cNvSpPr txBox="1"/>
          <p:nvPr/>
        </p:nvSpPr>
        <p:spPr>
          <a:xfrm>
            <a:off x="841248" y="2857500"/>
            <a:ext cx="457200" cy="45720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99616" y="2606040"/>
            <a:ext cx="9235440" cy="960120"/>
          </a:xfrm>
          <a:prstGeom prst="rect">
            <a:avLst/>
          </a:prstGeom>
          <a:noFill/>
          <a:ln/>
        </p:spPr>
        <p:txBody>
          <a:bodyPr wrap="square" lIns="0" tIns="0" rIns="0" bIns="0" rtlCol="0" anchor="ctr"/>
          <a:lstStyle/>
          <a:p>
            <a:pPr marL="0" indent="0">
              <a:lnSpc>
                <a:spcPct val="105000"/>
              </a:lnSpc>
              <a:buNone/>
            </a:pPr>
            <a:r>
              <a:rPr lang="en-US" sz="1400" dirty="0">
                <a:solidFill>
                  <a:srgbClr val="E4ECF6"/>
                </a:solidFill>
                <a:latin typeface="Calibri" pitchFamily="34" charset="0"/>
                <a:ea typeface="Calibri" pitchFamily="34" charset="-122"/>
                <a:cs typeface="Calibri" pitchFamily="34" charset="-120"/>
              </a:rPr>
              <a:t>Cuando un estudiante falló un ítem, ¿falló porque no dominaba la destreza o porque no entendió lo que el ítem le pedía?</a:t>
            </a:r>
            <a:endParaRPr lang="en-US" sz="1400" dirty="0"/>
          </a:p>
        </p:txBody>
      </p:sp>
      <p:sp>
        <p:nvSpPr>
          <p:cNvPr id="9" name="Shape 7"/>
          <p:cNvSpPr/>
          <p:nvPr/>
        </p:nvSpPr>
        <p:spPr>
          <a:xfrm>
            <a:off x="566928" y="3739896"/>
            <a:ext cx="10424160" cy="960120"/>
          </a:xfrm>
          <a:prstGeom prst="roundRect">
            <a:avLst>
              <a:gd name="adj" fmla="val 8571"/>
            </a:avLst>
          </a:prstGeom>
          <a:solidFill>
            <a:srgbClr val="24365C"/>
          </a:solidFill>
          <a:ln w="12700">
            <a:solidFill>
              <a:srgbClr val="3A5583"/>
            </a:solidFill>
            <a:prstDash val="solid"/>
          </a:ln>
        </p:spPr>
        <p:txBody>
          <a:bodyPr/>
          <a:lstStyle/>
          <a:p>
            <a:endParaRPr lang="en-PR"/>
          </a:p>
        </p:txBody>
      </p:sp>
      <p:sp>
        <p:nvSpPr>
          <p:cNvPr id="10" name="Shape 8"/>
          <p:cNvSpPr/>
          <p:nvPr/>
        </p:nvSpPr>
        <p:spPr>
          <a:xfrm>
            <a:off x="841248" y="3991356"/>
            <a:ext cx="457200" cy="457200"/>
          </a:xfrm>
          <a:prstGeom prst="ellipse">
            <a:avLst/>
          </a:prstGeom>
          <a:solidFill>
            <a:srgbClr val="C9A227"/>
          </a:solidFill>
          <a:ln/>
        </p:spPr>
        <p:txBody>
          <a:bodyPr/>
          <a:lstStyle/>
          <a:p>
            <a:endParaRPr lang="en-PR"/>
          </a:p>
        </p:txBody>
      </p:sp>
      <p:sp>
        <p:nvSpPr>
          <p:cNvPr id="11" name="Text 9"/>
          <p:cNvSpPr txBox="1"/>
          <p:nvPr/>
        </p:nvSpPr>
        <p:spPr>
          <a:xfrm>
            <a:off x="841248" y="3991356"/>
            <a:ext cx="457200" cy="45720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499616" y="3739896"/>
            <a:ext cx="9235440" cy="960120"/>
          </a:xfrm>
          <a:prstGeom prst="rect">
            <a:avLst/>
          </a:prstGeom>
          <a:noFill/>
          <a:ln/>
        </p:spPr>
        <p:txBody>
          <a:bodyPr wrap="square" lIns="0" tIns="0" rIns="0" bIns="0" rtlCol="0" anchor="ctr"/>
          <a:lstStyle/>
          <a:p>
            <a:pPr marL="0" indent="0">
              <a:lnSpc>
                <a:spcPct val="105000"/>
              </a:lnSpc>
              <a:buNone/>
            </a:pPr>
            <a:r>
              <a:rPr lang="en-US" sz="1400" dirty="0">
                <a:solidFill>
                  <a:srgbClr val="E4ECF6"/>
                </a:solidFill>
                <a:latin typeface="Calibri" pitchFamily="34" charset="0"/>
                <a:ea typeface="Calibri" pitchFamily="34" charset="-122"/>
                <a:cs typeface="Calibri" pitchFamily="34" charset="-120"/>
              </a:rPr>
              <a:t>¿Puede identificar, para cada ítem, la expectativa del Programa de Matemáticas que ese ítem mide?</a:t>
            </a:r>
            <a:endParaRPr lang="en-US" sz="1400" dirty="0"/>
          </a:p>
        </p:txBody>
      </p:sp>
      <p:sp>
        <p:nvSpPr>
          <p:cNvPr id="13" name="Shape 11"/>
          <p:cNvSpPr/>
          <p:nvPr/>
        </p:nvSpPr>
        <p:spPr>
          <a:xfrm>
            <a:off x="566928" y="4873752"/>
            <a:ext cx="10424160" cy="960120"/>
          </a:xfrm>
          <a:prstGeom prst="roundRect">
            <a:avLst>
              <a:gd name="adj" fmla="val 8571"/>
            </a:avLst>
          </a:prstGeom>
          <a:solidFill>
            <a:srgbClr val="24365C"/>
          </a:solidFill>
          <a:ln w="12700">
            <a:solidFill>
              <a:srgbClr val="3A5583"/>
            </a:solidFill>
            <a:prstDash val="solid"/>
          </a:ln>
        </p:spPr>
        <p:txBody>
          <a:bodyPr/>
          <a:lstStyle/>
          <a:p>
            <a:endParaRPr lang="en-PR"/>
          </a:p>
        </p:txBody>
      </p:sp>
      <p:sp>
        <p:nvSpPr>
          <p:cNvPr id="14" name="Shape 12"/>
          <p:cNvSpPr/>
          <p:nvPr/>
        </p:nvSpPr>
        <p:spPr>
          <a:xfrm>
            <a:off x="841248" y="5125212"/>
            <a:ext cx="457200" cy="457200"/>
          </a:xfrm>
          <a:prstGeom prst="ellipse">
            <a:avLst/>
          </a:prstGeom>
          <a:solidFill>
            <a:srgbClr val="C9A227"/>
          </a:solidFill>
          <a:ln/>
        </p:spPr>
        <p:txBody>
          <a:bodyPr/>
          <a:lstStyle/>
          <a:p>
            <a:endParaRPr lang="en-PR"/>
          </a:p>
        </p:txBody>
      </p:sp>
      <p:sp>
        <p:nvSpPr>
          <p:cNvPr id="15" name="Text 13"/>
          <p:cNvSpPr txBox="1"/>
          <p:nvPr/>
        </p:nvSpPr>
        <p:spPr>
          <a:xfrm>
            <a:off x="841248" y="5125212"/>
            <a:ext cx="457200" cy="45720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499616" y="4873752"/>
            <a:ext cx="9235440" cy="960120"/>
          </a:xfrm>
          <a:prstGeom prst="rect">
            <a:avLst/>
          </a:prstGeom>
          <a:noFill/>
          <a:ln/>
        </p:spPr>
        <p:txBody>
          <a:bodyPr wrap="square" lIns="0" tIns="0" rIns="0" bIns="0" rtlCol="0" anchor="ctr"/>
          <a:lstStyle/>
          <a:p>
            <a:pPr marL="0" indent="0">
              <a:lnSpc>
                <a:spcPct val="105000"/>
              </a:lnSpc>
              <a:buNone/>
            </a:pPr>
            <a:r>
              <a:rPr lang="en-US" sz="1400" dirty="0">
                <a:solidFill>
                  <a:srgbClr val="E4ECF6"/>
                </a:solidFill>
                <a:latin typeface="Calibri" pitchFamily="34" charset="0"/>
                <a:ea typeface="Calibri" pitchFamily="34" charset="-122"/>
                <a:cs typeface="Calibri" pitchFamily="34" charset="-120"/>
              </a:rPr>
              <a:t>¿Qué proporción de su examen midió memoria y qué proporción midió razonamiento?</a:t>
            </a:r>
            <a:endParaRPr lang="en-US" sz="1400" dirty="0"/>
          </a:p>
        </p:txBody>
      </p:sp>
      <p:sp>
        <p:nvSpPr>
          <p:cNvPr id="17" name="Text 15"/>
          <p:cNvSpPr txBox="1"/>
          <p:nvPr/>
        </p:nvSpPr>
        <p:spPr>
          <a:xfrm>
            <a:off x="566928" y="6126480"/>
            <a:ext cx="10424160" cy="310896"/>
          </a:xfrm>
          <a:prstGeom prst="rect">
            <a:avLst/>
          </a:prstGeom>
          <a:noFill/>
          <a:ln/>
        </p:spPr>
        <p:txBody>
          <a:bodyPr wrap="square" lIns="0" tIns="0" rIns="0" bIns="0" rtlCol="0" anchor="ctr"/>
          <a:lstStyle/>
          <a:p>
            <a:pPr marL="0" indent="0">
              <a:buNone/>
            </a:pPr>
            <a:r>
              <a:rPr lang="en-US" sz="1200" i="1" dirty="0">
                <a:solidFill>
                  <a:srgbClr val="9FD8CF"/>
                </a:solidFill>
                <a:latin typeface="Calibri" pitchFamily="34" charset="0"/>
                <a:ea typeface="Calibri" pitchFamily="34" charset="-122"/>
                <a:cs typeface="Calibri" pitchFamily="34" charset="-120"/>
              </a:rPr>
              <a:t>Escriba su respuesta. No la comparta todavía: la retomaremos al cierre del día.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MARCO DE REFERENCIA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Sobre qué se apoya lo que haremos hoy</a:t>
            </a:r>
            <a:endParaRPr lang="en-US" sz="2700" dirty="0"/>
          </a:p>
        </p:txBody>
      </p:sp>
      <p:sp>
        <p:nvSpPr>
          <p:cNvPr id="4" name="Shape 2"/>
          <p:cNvSpPr/>
          <p:nvPr/>
        </p:nvSpPr>
        <p:spPr>
          <a:xfrm>
            <a:off x="566928" y="1325880"/>
            <a:ext cx="11057839" cy="1044702"/>
          </a:xfrm>
          <a:prstGeom prst="roundRect">
            <a:avLst>
              <a:gd name="adj" fmla="val 787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68096" y="1647063"/>
            <a:ext cx="402336" cy="402336"/>
          </a:xfrm>
          <a:prstGeom prst="ellipse">
            <a:avLst/>
          </a:prstGeom>
          <a:solidFill>
            <a:srgbClr val="1B2A4A"/>
          </a:solidFill>
          <a:ln/>
        </p:spPr>
        <p:txBody>
          <a:bodyPr/>
          <a:lstStyle/>
          <a:p>
            <a:endParaRPr lang="en-PR"/>
          </a:p>
        </p:txBody>
      </p:sp>
      <p:sp>
        <p:nvSpPr>
          <p:cNvPr id="6" name="Text 4"/>
          <p:cNvSpPr txBox="1"/>
          <p:nvPr/>
        </p:nvSpPr>
        <p:spPr>
          <a:xfrm>
            <a:off x="768096" y="1647063"/>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7" name="Text 5"/>
          <p:cNvSpPr txBox="1"/>
          <p:nvPr/>
        </p:nvSpPr>
        <p:spPr>
          <a:xfrm>
            <a:off x="1353312" y="144475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Estándares y expectativas — Programa de Matemáticas (DEPR, 2022)</a:t>
            </a:r>
            <a:endParaRPr lang="en-US" sz="1350" dirty="0"/>
          </a:p>
        </p:txBody>
      </p:sp>
      <p:sp>
        <p:nvSpPr>
          <p:cNvPr id="8" name="Text 6"/>
          <p:cNvSpPr txBox="1"/>
          <p:nvPr/>
        </p:nvSpPr>
        <p:spPr>
          <a:xfrm>
            <a:off x="1353312" y="1728216"/>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Define los seis estándares de contenido, las expectativas por grado y sus indicadores. Es la fuente de la que sale el código de cada ítem. Ningún ítem se redacta sin abrir este documento.</a:t>
            </a:r>
            <a:endParaRPr lang="en-US" sz="1200" dirty="0"/>
          </a:p>
        </p:txBody>
      </p:sp>
      <p:sp>
        <p:nvSpPr>
          <p:cNvPr id="9" name="Shape 7"/>
          <p:cNvSpPr/>
          <p:nvPr/>
        </p:nvSpPr>
        <p:spPr>
          <a:xfrm>
            <a:off x="566928" y="2516886"/>
            <a:ext cx="11057839" cy="1044702"/>
          </a:xfrm>
          <a:prstGeom prst="roundRect">
            <a:avLst>
              <a:gd name="adj" fmla="val 7877"/>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768096" y="2838069"/>
            <a:ext cx="402336" cy="402336"/>
          </a:xfrm>
          <a:prstGeom prst="ellipse">
            <a:avLst/>
          </a:prstGeom>
          <a:solidFill>
            <a:srgbClr val="2A9D8F"/>
          </a:solidFill>
          <a:ln/>
        </p:spPr>
        <p:txBody>
          <a:bodyPr/>
          <a:lstStyle/>
          <a:p>
            <a:endParaRPr lang="en-PR"/>
          </a:p>
        </p:txBody>
      </p:sp>
      <p:sp>
        <p:nvSpPr>
          <p:cNvPr id="11" name="Text 9"/>
          <p:cNvSpPr txBox="1"/>
          <p:nvPr/>
        </p:nvSpPr>
        <p:spPr>
          <a:xfrm>
            <a:off x="768096" y="2838069"/>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2" name="Text 10"/>
          <p:cNvSpPr txBox="1"/>
          <p:nvPr/>
        </p:nvSpPr>
        <p:spPr>
          <a:xfrm>
            <a:off x="1353312" y="2635758"/>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Diseño Universal para el Aprendizaje — CAST (versión 3.0)</a:t>
            </a:r>
            <a:endParaRPr lang="en-US" sz="1350" dirty="0"/>
          </a:p>
        </p:txBody>
      </p:sp>
      <p:sp>
        <p:nvSpPr>
          <p:cNvPr id="13" name="Text 11"/>
          <p:cNvSpPr txBox="1"/>
          <p:nvPr/>
        </p:nvSpPr>
        <p:spPr>
          <a:xfrm>
            <a:off x="1353312" y="2919222"/>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Tres principios: múltiples formas de representación; de acción y expresión; y de participación. Aplicados a la evaluación, exigen que la barrera del examen sea la destreza y nada más.</a:t>
            </a:r>
            <a:endParaRPr lang="en-US" sz="1200" dirty="0"/>
          </a:p>
        </p:txBody>
      </p:sp>
      <p:sp>
        <p:nvSpPr>
          <p:cNvPr id="14" name="Shape 12"/>
          <p:cNvSpPr/>
          <p:nvPr/>
        </p:nvSpPr>
        <p:spPr>
          <a:xfrm>
            <a:off x="566928" y="3707892"/>
            <a:ext cx="11057839" cy="1044702"/>
          </a:xfrm>
          <a:prstGeom prst="roundRect">
            <a:avLst>
              <a:gd name="adj" fmla="val 787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768096" y="4029075"/>
            <a:ext cx="402336" cy="402336"/>
          </a:xfrm>
          <a:prstGeom prst="ellipse">
            <a:avLst/>
          </a:prstGeom>
          <a:solidFill>
            <a:srgbClr val="C9A227"/>
          </a:solidFill>
          <a:ln/>
        </p:spPr>
        <p:txBody>
          <a:bodyPr/>
          <a:lstStyle/>
          <a:p>
            <a:endParaRPr lang="en-PR"/>
          </a:p>
        </p:txBody>
      </p:sp>
      <p:sp>
        <p:nvSpPr>
          <p:cNvPr id="16" name="Text 14"/>
          <p:cNvSpPr txBox="1"/>
          <p:nvPr/>
        </p:nvSpPr>
        <p:spPr>
          <a:xfrm>
            <a:off x="768096" y="4029075"/>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7" name="Text 15"/>
          <p:cNvSpPr txBox="1"/>
          <p:nvPr/>
        </p:nvSpPr>
        <p:spPr>
          <a:xfrm>
            <a:off x="1353312" y="3826764"/>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Medición del aprovechamiento académico</a:t>
            </a:r>
            <a:endParaRPr lang="en-US" sz="1350" dirty="0"/>
          </a:p>
        </p:txBody>
      </p:sp>
      <p:sp>
        <p:nvSpPr>
          <p:cNvPr id="18" name="Text 16"/>
          <p:cNvSpPr txBox="1"/>
          <p:nvPr/>
        </p:nvSpPr>
        <p:spPr>
          <a:xfrm>
            <a:off x="1353312" y="4110228"/>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Los formatos de ítem y las rúbricas de respuesta abierta que usa la evaluación estandarizada de Puerto Rico son el referente de forma para la prueba de sala de clases.</a:t>
            </a:r>
            <a:endParaRPr lang="en-US" sz="1200" dirty="0"/>
          </a:p>
        </p:txBody>
      </p:sp>
      <p:sp>
        <p:nvSpPr>
          <p:cNvPr id="19" name="Shape 17"/>
          <p:cNvSpPr/>
          <p:nvPr/>
        </p:nvSpPr>
        <p:spPr>
          <a:xfrm>
            <a:off x="566928" y="4898898"/>
            <a:ext cx="11057839" cy="1044702"/>
          </a:xfrm>
          <a:prstGeom prst="roundRect">
            <a:avLst>
              <a:gd name="adj" fmla="val 7877"/>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768096" y="5220081"/>
            <a:ext cx="402336" cy="402336"/>
          </a:xfrm>
          <a:prstGeom prst="ellipse">
            <a:avLst/>
          </a:prstGeom>
          <a:solidFill>
            <a:srgbClr val="A8322D"/>
          </a:solidFill>
          <a:ln/>
        </p:spPr>
        <p:txBody>
          <a:bodyPr/>
          <a:lstStyle/>
          <a:p>
            <a:endParaRPr lang="en-PR"/>
          </a:p>
        </p:txBody>
      </p:sp>
      <p:sp>
        <p:nvSpPr>
          <p:cNvPr id="21" name="Text 19"/>
          <p:cNvSpPr txBox="1"/>
          <p:nvPr/>
        </p:nvSpPr>
        <p:spPr>
          <a:xfrm>
            <a:off x="768096" y="5220081"/>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22" name="Text 20"/>
          <p:cNvSpPr txBox="1"/>
          <p:nvPr/>
        </p:nvSpPr>
        <p:spPr>
          <a:xfrm>
            <a:off x="1353312" y="5017770"/>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Planilla de especificaciones</a:t>
            </a:r>
            <a:endParaRPr lang="en-US" sz="1350" dirty="0"/>
          </a:p>
        </p:txBody>
      </p:sp>
      <p:sp>
        <p:nvSpPr>
          <p:cNvPr id="23" name="Text 21"/>
          <p:cNvSpPr txBox="1"/>
          <p:nvPr/>
        </p:nvSpPr>
        <p:spPr>
          <a:xfrm>
            <a:off x="1353312" y="5301234"/>
            <a:ext cx="10033711" cy="5417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Instrumento de planificación del examen: destrezas, cantidad de ejercicios, valor, puntuación mínima de ejecución (70 %), nivel de profundidad (DOK) y peso porcentual.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Diseño Universal,</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accesibilidad y sesgo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60 minutos  ·  El examen como barrera o como puerta</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Qué garantiza el DUA en una prueba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Barreras frecuentes en matemáticas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Formato accesible: letra, espaciado, imágenes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Cinco tipos de sesgo y cómo se reescriben</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Lista de cotejo de imparcialidad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El DUA aplicado a la evaluación</a:t>
            </a:r>
            <a:endParaRPr lang="en-US" sz="2700" dirty="0"/>
          </a:p>
        </p:txBody>
      </p:sp>
      <p:sp>
        <p:nvSpPr>
          <p:cNvPr id="4" name="Shape 2"/>
          <p:cNvSpPr/>
          <p:nvPr/>
        </p:nvSpPr>
        <p:spPr>
          <a:xfrm>
            <a:off x="566928" y="1325880"/>
            <a:ext cx="11057839" cy="1234440"/>
          </a:xfrm>
          <a:prstGeom prst="roundRect">
            <a:avLst>
              <a:gd name="adj" fmla="val 6667"/>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978408" y="1481328"/>
            <a:ext cx="10234879" cy="914400"/>
          </a:xfrm>
          <a:prstGeom prst="rect">
            <a:avLst/>
          </a:prstGeom>
          <a:noFill/>
          <a:ln/>
        </p:spPr>
        <p:txBody>
          <a:bodyPr wrap="square" lIns="0" tIns="0" rIns="0" bIns="0" rtlCol="0" anchor="ctr"/>
          <a:lstStyle/>
          <a:p>
            <a:pPr marL="0" indent="0">
              <a:lnSpc>
                <a:spcPct val="106000"/>
              </a:lnSpc>
              <a:buNone/>
            </a:pPr>
            <a:r>
              <a:rPr lang="en-US" sz="1650" i="1" dirty="0">
                <a:solidFill>
                  <a:srgbClr val="FFFFFF"/>
                </a:solidFill>
                <a:latin typeface="Cambria" pitchFamily="34" charset="0"/>
                <a:ea typeface="Cambria" pitchFamily="34" charset="-122"/>
                <a:cs typeface="Cambria" pitchFamily="34" charset="-120"/>
              </a:rPr>
              <a:t>«El Diseño Universal garantiza que todos nuestros estudiantes puedan obtener resultados sin que su desempeño haya sido obstaculizado por alguna situación particular.»</a:t>
            </a:r>
            <a:endParaRPr lang="en-US" sz="1650" dirty="0"/>
          </a:p>
        </p:txBody>
      </p:sp>
      <p:sp>
        <p:nvSpPr>
          <p:cNvPr id="6" name="Text 4"/>
          <p:cNvSpPr txBox="1"/>
          <p:nvPr/>
        </p:nvSpPr>
        <p:spPr>
          <a:xfrm>
            <a:off x="566928" y="2743200"/>
            <a:ext cx="11057839" cy="310896"/>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Traducido a la práctica del salón:</a:t>
            </a:r>
            <a:endParaRPr lang="en-US" sz="1500" dirty="0"/>
          </a:p>
        </p:txBody>
      </p:sp>
      <p:sp>
        <p:nvSpPr>
          <p:cNvPr id="7" name="Shape 5"/>
          <p:cNvSpPr/>
          <p:nvPr/>
        </p:nvSpPr>
        <p:spPr>
          <a:xfrm>
            <a:off x="566928" y="31546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8" name="Shape 6"/>
          <p:cNvSpPr/>
          <p:nvPr/>
        </p:nvSpPr>
        <p:spPr>
          <a:xfrm>
            <a:off x="804672" y="3374136"/>
            <a:ext cx="457200" cy="457200"/>
          </a:xfrm>
          <a:prstGeom prst="ellipse">
            <a:avLst/>
          </a:prstGeom>
          <a:solidFill>
            <a:srgbClr val="2A9D8F"/>
          </a:solidFill>
          <a:ln/>
        </p:spPr>
        <p:txBody>
          <a:bodyPr/>
          <a:lstStyle/>
          <a:p>
            <a:endParaRPr lang="en-PR"/>
          </a:p>
        </p:txBody>
      </p:sp>
      <p:sp>
        <p:nvSpPr>
          <p:cNvPr id="9" name="Text 7"/>
          <p:cNvSpPr txBox="1"/>
          <p:nvPr/>
        </p:nvSpPr>
        <p:spPr>
          <a:xfrm>
            <a:off x="804672" y="33741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txBox="1"/>
          <p:nvPr/>
        </p:nvSpPr>
        <p:spPr>
          <a:xfrm>
            <a:off x="1426464" y="3355848"/>
            <a:ext cx="2417978" cy="47548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Lo que el ítem SÍ debe medir</a:t>
            </a:r>
            <a:endParaRPr lang="en-US" sz="1350" dirty="0"/>
          </a:p>
        </p:txBody>
      </p:sp>
      <p:sp>
        <p:nvSpPr>
          <p:cNvPr id="11" name="Text 9"/>
          <p:cNvSpPr txBox="1"/>
          <p:nvPr/>
        </p:nvSpPr>
        <p:spPr>
          <a:xfrm>
            <a:off x="804672" y="3977640"/>
            <a:ext cx="3058058" cy="1088136"/>
          </a:xfrm>
          <a:prstGeom prst="rect">
            <a:avLst/>
          </a:prstGeom>
          <a:noFill/>
          <a:ln/>
        </p:spPr>
        <p:txBody>
          <a:bodyPr wrap="square" lIns="0" tIns="0" rIns="0" bIns="0" rtlCol="0" anchor="t"/>
          <a:lstStyle/>
          <a:p>
            <a:pPr marL="0" indent="0">
              <a:lnSpc>
                <a:spcPct val="106000"/>
              </a:lnSpc>
              <a:buNone/>
            </a:pPr>
            <a:r>
              <a:rPr lang="en-US" sz="1250" dirty="0">
                <a:solidFill>
                  <a:srgbClr val="22303F"/>
                </a:solidFill>
                <a:latin typeface="Calibri" pitchFamily="34" charset="0"/>
                <a:ea typeface="Calibri" pitchFamily="34" charset="-122"/>
                <a:cs typeface="Calibri" pitchFamily="34" charset="-120"/>
              </a:rPr>
              <a:t>La expectativa del Programa de Matemáticas que usted seleccionó. Nada más.</a:t>
            </a:r>
            <a:endParaRPr lang="en-US" sz="1250" dirty="0"/>
          </a:p>
        </p:txBody>
      </p:sp>
      <p:sp>
        <p:nvSpPr>
          <p:cNvPr id="12" name="Shape 10"/>
          <p:cNvSpPr/>
          <p:nvPr/>
        </p:nvSpPr>
        <p:spPr>
          <a:xfrm>
            <a:off x="4329074" y="31546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4566818" y="3374136"/>
            <a:ext cx="457200" cy="457200"/>
          </a:xfrm>
          <a:prstGeom prst="ellipse">
            <a:avLst/>
          </a:prstGeom>
          <a:solidFill>
            <a:srgbClr val="A8322D"/>
          </a:solidFill>
          <a:ln/>
        </p:spPr>
        <p:txBody>
          <a:bodyPr/>
          <a:lstStyle/>
          <a:p>
            <a:endParaRPr lang="en-PR"/>
          </a:p>
        </p:txBody>
      </p:sp>
      <p:sp>
        <p:nvSpPr>
          <p:cNvPr id="14" name="Text 12"/>
          <p:cNvSpPr txBox="1"/>
          <p:nvPr/>
        </p:nvSpPr>
        <p:spPr>
          <a:xfrm>
            <a:off x="4566818" y="33741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5" name="Text 13"/>
          <p:cNvSpPr txBox="1"/>
          <p:nvPr/>
        </p:nvSpPr>
        <p:spPr>
          <a:xfrm>
            <a:off x="5188610" y="3355848"/>
            <a:ext cx="2417978" cy="47548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Lo que el ítem NO debe medir</a:t>
            </a:r>
            <a:endParaRPr lang="en-US" sz="1350" dirty="0"/>
          </a:p>
        </p:txBody>
      </p:sp>
      <p:sp>
        <p:nvSpPr>
          <p:cNvPr id="16" name="Text 14"/>
          <p:cNvSpPr txBox="1"/>
          <p:nvPr/>
        </p:nvSpPr>
        <p:spPr>
          <a:xfrm>
            <a:off x="4566818" y="3977640"/>
            <a:ext cx="3058058" cy="1088136"/>
          </a:xfrm>
          <a:prstGeom prst="rect">
            <a:avLst/>
          </a:prstGeom>
          <a:noFill/>
          <a:ln/>
        </p:spPr>
        <p:txBody>
          <a:bodyPr wrap="square" lIns="0" tIns="0" rIns="0" bIns="0" rtlCol="0" anchor="t"/>
          <a:lstStyle/>
          <a:p>
            <a:pPr marL="0" indent="0">
              <a:lnSpc>
                <a:spcPct val="106000"/>
              </a:lnSpc>
              <a:buNone/>
            </a:pPr>
            <a:r>
              <a:rPr lang="en-US" sz="1250" dirty="0">
                <a:solidFill>
                  <a:srgbClr val="22303F"/>
                </a:solidFill>
                <a:latin typeface="Calibri" pitchFamily="34" charset="0"/>
                <a:ea typeface="Calibri" pitchFamily="34" charset="-122"/>
                <a:cs typeface="Calibri" pitchFamily="34" charset="-120"/>
              </a:rPr>
              <a:t>Velocidad de lectura, vocabulario ajeno al grado, conocimiento cultural previo, capacidad visual o memoria de trabajo innecesaria.</a:t>
            </a:r>
            <a:endParaRPr lang="en-US" sz="1250" dirty="0"/>
          </a:p>
        </p:txBody>
      </p:sp>
      <p:sp>
        <p:nvSpPr>
          <p:cNvPr id="17" name="Shape 15"/>
          <p:cNvSpPr/>
          <p:nvPr/>
        </p:nvSpPr>
        <p:spPr>
          <a:xfrm>
            <a:off x="8091221" y="31546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Shape 16"/>
          <p:cNvSpPr/>
          <p:nvPr/>
        </p:nvSpPr>
        <p:spPr>
          <a:xfrm>
            <a:off x="8328965" y="3374136"/>
            <a:ext cx="457200" cy="457200"/>
          </a:xfrm>
          <a:prstGeom prst="ellipse">
            <a:avLst/>
          </a:prstGeom>
          <a:solidFill>
            <a:srgbClr val="C9A227"/>
          </a:solidFill>
          <a:ln/>
        </p:spPr>
        <p:txBody>
          <a:bodyPr/>
          <a:lstStyle/>
          <a:p>
            <a:endParaRPr lang="en-PR"/>
          </a:p>
        </p:txBody>
      </p:sp>
      <p:sp>
        <p:nvSpPr>
          <p:cNvPr id="19" name="Text 17"/>
          <p:cNvSpPr txBox="1"/>
          <p:nvPr/>
        </p:nvSpPr>
        <p:spPr>
          <a:xfrm>
            <a:off x="8328965" y="33741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0" name="Text 18"/>
          <p:cNvSpPr txBox="1"/>
          <p:nvPr/>
        </p:nvSpPr>
        <p:spPr>
          <a:xfrm>
            <a:off x="8950757" y="3355848"/>
            <a:ext cx="2417978" cy="47548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La prueba de fuego</a:t>
            </a:r>
            <a:endParaRPr lang="en-US" sz="1350" dirty="0"/>
          </a:p>
        </p:txBody>
      </p:sp>
      <p:sp>
        <p:nvSpPr>
          <p:cNvPr id="21" name="Text 19"/>
          <p:cNvSpPr txBox="1"/>
          <p:nvPr/>
        </p:nvSpPr>
        <p:spPr>
          <a:xfrm>
            <a:off x="8328965" y="3977640"/>
            <a:ext cx="3058058" cy="1088136"/>
          </a:xfrm>
          <a:prstGeom prst="rect">
            <a:avLst/>
          </a:prstGeom>
          <a:noFill/>
          <a:ln/>
        </p:spPr>
        <p:txBody>
          <a:bodyPr wrap="square" lIns="0" tIns="0" rIns="0" bIns="0" rtlCol="0" anchor="t"/>
          <a:lstStyle/>
          <a:p>
            <a:pPr marL="0" indent="0">
              <a:lnSpc>
                <a:spcPct val="106000"/>
              </a:lnSpc>
              <a:buNone/>
            </a:pPr>
            <a:r>
              <a:rPr lang="en-US" sz="1250" dirty="0">
                <a:solidFill>
                  <a:srgbClr val="22303F"/>
                </a:solidFill>
                <a:latin typeface="Calibri" pitchFamily="34" charset="0"/>
                <a:ea typeface="Calibri" pitchFamily="34" charset="-122"/>
                <a:cs typeface="Calibri" pitchFamily="34" charset="-120"/>
              </a:rPr>
              <a:t>Si un estudiante domina la destreza y aun así falla el ítem, el problema está en el ítem.</a:t>
            </a:r>
            <a:endParaRPr lang="en-US" sz="1250" dirty="0"/>
          </a:p>
        </p:txBody>
      </p:sp>
      <p:sp>
        <p:nvSpPr>
          <p:cNvPr id="22" name="Text 20"/>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Adaptado del taller Redacción de exámenes basados en el Diseño Universal (Corraliza Montero, ORE-Ponce).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Los tres principios del DUA en un examen de matemáticas</a:t>
            </a:r>
            <a:endParaRPr lang="en-US" sz="2700" dirty="0"/>
          </a:p>
        </p:txBody>
      </p:sp>
      <p:sp>
        <p:nvSpPr>
          <p:cNvPr id="4" name="Shape 2"/>
          <p:cNvSpPr/>
          <p:nvPr/>
        </p:nvSpPr>
        <p:spPr>
          <a:xfrm>
            <a:off x="566928" y="1325880"/>
            <a:ext cx="3533546" cy="46177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3533546" cy="841248"/>
          </a:xfrm>
          <a:prstGeom prst="roundRect">
            <a:avLst>
              <a:gd name="adj" fmla="val 9783"/>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95528" y="1417320"/>
            <a:ext cx="3076346" cy="38404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Representación</a:t>
            </a:r>
            <a:endParaRPr lang="en-US" sz="1700" dirty="0"/>
          </a:p>
        </p:txBody>
      </p:sp>
      <p:sp>
        <p:nvSpPr>
          <p:cNvPr id="7" name="Text 5"/>
          <p:cNvSpPr txBox="1"/>
          <p:nvPr/>
        </p:nvSpPr>
        <p:spPr>
          <a:xfrm>
            <a:off x="795528" y="1792224"/>
            <a:ext cx="3076346" cy="274320"/>
          </a:xfrm>
          <a:prstGeom prst="rect">
            <a:avLst/>
          </a:prstGeom>
          <a:noFill/>
          <a:ln/>
        </p:spPr>
        <p:txBody>
          <a:bodyPr wrap="square" lIns="0" tIns="0" rIns="0" bIns="0" rtlCol="0" anchor="ctr"/>
          <a:lstStyle/>
          <a:p>
            <a:pPr marL="0" indent="0">
              <a:buNone/>
            </a:pPr>
            <a:r>
              <a:rPr lang="en-US" sz="1150" i="1" dirty="0">
                <a:solidFill>
                  <a:srgbClr val="D6E2F0"/>
                </a:solidFill>
                <a:latin typeface="Calibri" pitchFamily="34" charset="0"/>
                <a:ea typeface="Calibri" pitchFamily="34" charset="-122"/>
                <a:cs typeface="Calibri" pitchFamily="34" charset="-120"/>
              </a:rPr>
              <a:t>El «qué» del aprendizaje</a:t>
            </a:r>
            <a:endParaRPr lang="en-US" sz="1150" dirty="0"/>
          </a:p>
        </p:txBody>
      </p:sp>
      <p:sp>
        <p:nvSpPr>
          <p:cNvPr id="8" name="Text 6"/>
          <p:cNvSpPr txBox="1"/>
          <p:nvPr/>
        </p:nvSpPr>
        <p:spPr>
          <a:xfrm>
            <a:off x="795528" y="2331720"/>
            <a:ext cx="3076346" cy="3429000"/>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Enunciado en oraciones cortas y directas.</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La información numérica aparece en texto y también en tabla, dibujo o recta numérica.</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Vocabulario matemático definido; vocabulario innecesario eliminado.</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Tipografía, tamaño y espaciado legibles.</a:t>
            </a:r>
            <a:endParaRPr lang="en-US" sz="1220" dirty="0"/>
          </a:p>
        </p:txBody>
      </p:sp>
      <p:sp>
        <p:nvSpPr>
          <p:cNvPr id="9" name="Shape 7"/>
          <p:cNvSpPr/>
          <p:nvPr/>
        </p:nvSpPr>
        <p:spPr>
          <a:xfrm>
            <a:off x="4329074" y="1325880"/>
            <a:ext cx="3533546" cy="46177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329074" y="1325880"/>
            <a:ext cx="3533546" cy="841248"/>
          </a:xfrm>
          <a:prstGeom prst="roundRect">
            <a:avLst>
              <a:gd name="adj" fmla="val 9783"/>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4557674" y="1417320"/>
            <a:ext cx="3076346" cy="38404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Acción y expresión</a:t>
            </a:r>
            <a:endParaRPr lang="en-US" sz="1700" dirty="0"/>
          </a:p>
        </p:txBody>
      </p:sp>
      <p:sp>
        <p:nvSpPr>
          <p:cNvPr id="12" name="Text 10"/>
          <p:cNvSpPr txBox="1"/>
          <p:nvPr/>
        </p:nvSpPr>
        <p:spPr>
          <a:xfrm>
            <a:off x="4557674" y="1792224"/>
            <a:ext cx="3076346" cy="274320"/>
          </a:xfrm>
          <a:prstGeom prst="rect">
            <a:avLst/>
          </a:prstGeom>
          <a:noFill/>
          <a:ln/>
        </p:spPr>
        <p:txBody>
          <a:bodyPr wrap="square" lIns="0" tIns="0" rIns="0" bIns="0" rtlCol="0" anchor="ctr"/>
          <a:lstStyle/>
          <a:p>
            <a:pPr marL="0" indent="0">
              <a:buNone/>
            </a:pPr>
            <a:r>
              <a:rPr lang="en-US" sz="1150" i="1" dirty="0">
                <a:solidFill>
                  <a:srgbClr val="D6E2F0"/>
                </a:solidFill>
                <a:latin typeface="Calibri" pitchFamily="34" charset="0"/>
                <a:ea typeface="Calibri" pitchFamily="34" charset="-122"/>
                <a:cs typeface="Calibri" pitchFamily="34" charset="-120"/>
              </a:rPr>
              <a:t>El «cómo» del aprendizaje</a:t>
            </a:r>
            <a:endParaRPr lang="en-US" sz="1150" dirty="0"/>
          </a:p>
        </p:txBody>
      </p:sp>
      <p:sp>
        <p:nvSpPr>
          <p:cNvPr id="13" name="Text 11"/>
          <p:cNvSpPr txBox="1"/>
          <p:nvPr/>
        </p:nvSpPr>
        <p:spPr>
          <a:xfrm>
            <a:off x="4557674" y="2331720"/>
            <a:ext cx="3076346" cy="3429000"/>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El estudiante puede mostrar el procedimiento con dibujo, tabla, ecuación o explicación escrita.</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El baremo reconoce todas esas formas.</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Espacio suficiente para trabajar en la misma página del ítem.</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Se permite calculadora cuando la destreza medida no es el cálculo.</a:t>
            </a:r>
            <a:endParaRPr lang="en-US" sz="1220" dirty="0"/>
          </a:p>
        </p:txBody>
      </p:sp>
      <p:sp>
        <p:nvSpPr>
          <p:cNvPr id="14" name="Shape 12"/>
          <p:cNvSpPr/>
          <p:nvPr/>
        </p:nvSpPr>
        <p:spPr>
          <a:xfrm>
            <a:off x="8091221" y="1325880"/>
            <a:ext cx="3533546" cy="46177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91221" y="1325880"/>
            <a:ext cx="3533546" cy="841248"/>
          </a:xfrm>
          <a:prstGeom prst="roundRect">
            <a:avLst>
              <a:gd name="adj" fmla="val 9783"/>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8319821" y="1417320"/>
            <a:ext cx="3076346" cy="38404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Participación</a:t>
            </a:r>
            <a:endParaRPr lang="en-US" sz="1700" dirty="0"/>
          </a:p>
        </p:txBody>
      </p:sp>
      <p:sp>
        <p:nvSpPr>
          <p:cNvPr id="17" name="Text 15"/>
          <p:cNvSpPr txBox="1"/>
          <p:nvPr/>
        </p:nvSpPr>
        <p:spPr>
          <a:xfrm>
            <a:off x="8319821" y="1792224"/>
            <a:ext cx="3076346" cy="274320"/>
          </a:xfrm>
          <a:prstGeom prst="rect">
            <a:avLst/>
          </a:prstGeom>
          <a:noFill/>
          <a:ln/>
        </p:spPr>
        <p:txBody>
          <a:bodyPr wrap="square" lIns="0" tIns="0" rIns="0" bIns="0" rtlCol="0" anchor="ctr"/>
          <a:lstStyle/>
          <a:p>
            <a:pPr marL="0" indent="0">
              <a:buNone/>
            </a:pPr>
            <a:r>
              <a:rPr lang="en-US" sz="1150" i="1" dirty="0">
                <a:solidFill>
                  <a:srgbClr val="5A4A12"/>
                </a:solidFill>
                <a:latin typeface="Calibri" pitchFamily="34" charset="0"/>
                <a:ea typeface="Calibri" pitchFamily="34" charset="-122"/>
                <a:cs typeface="Calibri" pitchFamily="34" charset="-120"/>
              </a:rPr>
              <a:t>El «porqué» del aprendizaje</a:t>
            </a:r>
            <a:endParaRPr lang="en-US" sz="1150" dirty="0"/>
          </a:p>
        </p:txBody>
      </p:sp>
      <p:sp>
        <p:nvSpPr>
          <p:cNvPr id="18" name="Text 16"/>
          <p:cNvSpPr txBox="1"/>
          <p:nvPr/>
        </p:nvSpPr>
        <p:spPr>
          <a:xfrm>
            <a:off x="8319821" y="2331720"/>
            <a:ext cx="3076346" cy="3429000"/>
          </a:xfrm>
          <a:prstGeom prst="rect">
            <a:avLst/>
          </a:prstGeom>
          <a:noFill/>
          <a:ln/>
        </p:spPr>
        <p:txBody>
          <a:bodyPr wrap="square" lIns="0" tIns="0" rIns="0" bIns="0" rtlCol="0" anchor="t"/>
          <a:lstStyle/>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Contextos reconocibles para cualquier estudiante de Puerto Rico.</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Progresión de dificultad: los ítems accesibles primero.</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Instrucciones que dicen exactamente qué se espera.</a:t>
            </a:r>
            <a:endParaRPr lang="en-US" sz="1220" dirty="0"/>
          </a:p>
          <a:p>
            <a:pPr marL="342900" indent="-342900">
              <a:lnSpc>
                <a:spcPct val="104000"/>
              </a:lnSpc>
              <a:spcAft>
                <a:spcPts val="1000"/>
              </a:spcAft>
              <a:buSzPct val="100000"/>
              <a:buChar char="▪"/>
            </a:pPr>
            <a:r>
              <a:rPr lang="en-US" sz="1220" dirty="0">
                <a:solidFill>
                  <a:srgbClr val="22303F"/>
                </a:solidFill>
                <a:latin typeface="Calibri" pitchFamily="34" charset="0"/>
                <a:ea typeface="Calibri" pitchFamily="34" charset="-122"/>
                <a:cs typeface="Calibri" pitchFamily="34" charset="-120"/>
              </a:rPr>
              <a:t>Puntuación parcial: el esfuerzo parcialmente correcto vale.</a:t>
            </a:r>
            <a:endParaRPr lang="en-US" sz="1220" dirty="0"/>
          </a:p>
        </p:txBody>
      </p:sp>
      <p:sp>
        <p:nvSpPr>
          <p:cNvPr id="19" name="Text 1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CAST (2024). Universal Design for Learning Guidelines, versión 3.0.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garantiza el Diseño Universal en la prueba?</a:t>
            </a:r>
            <a:endParaRPr lang="en-US" sz="2700" dirty="0"/>
          </a:p>
        </p:txBody>
      </p:sp>
      <p:sp>
        <p:nvSpPr>
          <p:cNvPr id="4" name="Shape 2"/>
          <p:cNvSpPr/>
          <p:nvPr/>
        </p:nvSpPr>
        <p:spPr>
          <a:xfrm>
            <a:off x="566928" y="1371600"/>
            <a:ext cx="5391760" cy="1417320"/>
          </a:xfrm>
          <a:prstGeom prst="roundRect">
            <a:avLst>
              <a:gd name="adj" fmla="val 580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22960" y="1828800"/>
            <a:ext cx="502920" cy="502920"/>
          </a:xfrm>
          <a:prstGeom prst="ellipse">
            <a:avLst/>
          </a:prstGeom>
          <a:solidFill>
            <a:srgbClr val="2A9D8F"/>
          </a:solidFill>
          <a:ln/>
        </p:spPr>
        <p:txBody>
          <a:bodyPr/>
          <a:lstStyle/>
          <a:p>
            <a:endParaRPr lang="en-PR"/>
          </a:p>
        </p:txBody>
      </p:sp>
      <p:sp>
        <p:nvSpPr>
          <p:cNvPr id="6" name="Text 4"/>
          <p:cNvSpPr txBox="1"/>
          <p:nvPr/>
        </p:nvSpPr>
        <p:spPr>
          <a:xfrm>
            <a:off x="822960" y="1828800"/>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7" name="Text 5"/>
          <p:cNvSpPr txBox="1"/>
          <p:nvPr/>
        </p:nvSpPr>
        <p:spPr>
          <a:xfrm>
            <a:off x="1499616" y="1517904"/>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Igualdad de acceso para todo estudiante.</a:t>
            </a:r>
            <a:endParaRPr lang="en-US" sz="1350" dirty="0"/>
          </a:p>
        </p:txBody>
      </p:sp>
      <p:sp>
        <p:nvSpPr>
          <p:cNvPr id="8" name="Shape 6"/>
          <p:cNvSpPr/>
          <p:nvPr/>
        </p:nvSpPr>
        <p:spPr>
          <a:xfrm>
            <a:off x="6233008" y="1371600"/>
            <a:ext cx="5391760" cy="1417320"/>
          </a:xfrm>
          <a:prstGeom prst="roundRect">
            <a:avLst>
              <a:gd name="adj" fmla="val 580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6489040" y="1828800"/>
            <a:ext cx="502920" cy="502920"/>
          </a:xfrm>
          <a:prstGeom prst="ellipse">
            <a:avLst/>
          </a:prstGeom>
          <a:solidFill>
            <a:srgbClr val="2A9D8F"/>
          </a:solidFill>
          <a:ln/>
        </p:spPr>
        <p:txBody>
          <a:bodyPr/>
          <a:lstStyle/>
          <a:p>
            <a:endParaRPr lang="en-PR"/>
          </a:p>
        </p:txBody>
      </p:sp>
      <p:sp>
        <p:nvSpPr>
          <p:cNvPr id="10" name="Text 8"/>
          <p:cNvSpPr txBox="1"/>
          <p:nvPr/>
        </p:nvSpPr>
        <p:spPr>
          <a:xfrm>
            <a:off x="6489040" y="1828800"/>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7165696" y="1517904"/>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Contenido preciso, claro y legible, con un nivel de lectura y comprensión apropiado al grado.</a:t>
            </a:r>
            <a:endParaRPr lang="en-US" sz="1350" dirty="0"/>
          </a:p>
        </p:txBody>
      </p:sp>
      <p:sp>
        <p:nvSpPr>
          <p:cNvPr id="12" name="Shape 10"/>
          <p:cNvSpPr/>
          <p:nvPr/>
        </p:nvSpPr>
        <p:spPr>
          <a:xfrm>
            <a:off x="566928" y="3008376"/>
            <a:ext cx="5391760" cy="1417320"/>
          </a:xfrm>
          <a:prstGeom prst="roundRect">
            <a:avLst>
              <a:gd name="adj" fmla="val 580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822960" y="3465576"/>
            <a:ext cx="502920" cy="502920"/>
          </a:xfrm>
          <a:prstGeom prst="ellipse">
            <a:avLst/>
          </a:prstGeom>
          <a:solidFill>
            <a:srgbClr val="2A9D8F"/>
          </a:solidFill>
          <a:ln/>
        </p:spPr>
        <p:txBody>
          <a:bodyPr/>
          <a:lstStyle/>
          <a:p>
            <a:endParaRPr lang="en-PR"/>
          </a:p>
        </p:txBody>
      </p:sp>
      <p:sp>
        <p:nvSpPr>
          <p:cNvPr id="14" name="Text 12"/>
          <p:cNvSpPr txBox="1"/>
          <p:nvPr/>
        </p:nvSpPr>
        <p:spPr>
          <a:xfrm>
            <a:off x="822960" y="3465576"/>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5" name="Text 13"/>
          <p:cNvSpPr txBox="1"/>
          <p:nvPr/>
        </p:nvSpPr>
        <p:spPr>
          <a:xfrm>
            <a:off x="1499616" y="3154680"/>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Preguntas apropiadas para estudiantes con necesidades especiales.</a:t>
            </a:r>
            <a:endParaRPr lang="en-US" sz="1350" dirty="0"/>
          </a:p>
        </p:txBody>
      </p:sp>
      <p:sp>
        <p:nvSpPr>
          <p:cNvPr id="16" name="Shape 14"/>
          <p:cNvSpPr/>
          <p:nvPr/>
        </p:nvSpPr>
        <p:spPr>
          <a:xfrm>
            <a:off x="6233008" y="3008376"/>
            <a:ext cx="5391760" cy="1417320"/>
          </a:xfrm>
          <a:prstGeom prst="roundRect">
            <a:avLst>
              <a:gd name="adj" fmla="val 580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6489040" y="3465576"/>
            <a:ext cx="502920" cy="502920"/>
          </a:xfrm>
          <a:prstGeom prst="ellipse">
            <a:avLst/>
          </a:prstGeom>
          <a:solidFill>
            <a:srgbClr val="2A9D8F"/>
          </a:solidFill>
          <a:ln/>
        </p:spPr>
        <p:txBody>
          <a:bodyPr/>
          <a:lstStyle/>
          <a:p>
            <a:endParaRPr lang="en-PR"/>
          </a:p>
        </p:txBody>
      </p:sp>
      <p:sp>
        <p:nvSpPr>
          <p:cNvPr id="18" name="Text 16"/>
          <p:cNvSpPr txBox="1"/>
          <p:nvPr/>
        </p:nvSpPr>
        <p:spPr>
          <a:xfrm>
            <a:off x="6489040" y="3465576"/>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9" name="Text 17"/>
          <p:cNvSpPr txBox="1"/>
          <p:nvPr/>
        </p:nvSpPr>
        <p:spPr>
          <a:xfrm>
            <a:off x="7165696" y="3154680"/>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Instrucciones y procedimientos simples y claros de acuerdo con el grado.</a:t>
            </a:r>
            <a:endParaRPr lang="en-US" sz="1350" dirty="0"/>
          </a:p>
        </p:txBody>
      </p:sp>
      <p:sp>
        <p:nvSpPr>
          <p:cNvPr id="20" name="Shape 18"/>
          <p:cNvSpPr/>
          <p:nvPr/>
        </p:nvSpPr>
        <p:spPr>
          <a:xfrm>
            <a:off x="566928" y="4645152"/>
            <a:ext cx="5391760" cy="1417320"/>
          </a:xfrm>
          <a:prstGeom prst="roundRect">
            <a:avLst>
              <a:gd name="adj" fmla="val 580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822960" y="5102352"/>
            <a:ext cx="502920" cy="502920"/>
          </a:xfrm>
          <a:prstGeom prst="ellipse">
            <a:avLst/>
          </a:prstGeom>
          <a:solidFill>
            <a:srgbClr val="2A9D8F"/>
          </a:solidFill>
          <a:ln/>
        </p:spPr>
        <p:txBody>
          <a:bodyPr/>
          <a:lstStyle/>
          <a:p>
            <a:endParaRPr lang="en-PR"/>
          </a:p>
        </p:txBody>
      </p:sp>
      <p:sp>
        <p:nvSpPr>
          <p:cNvPr id="22" name="Text 20"/>
          <p:cNvSpPr txBox="1"/>
          <p:nvPr/>
        </p:nvSpPr>
        <p:spPr>
          <a:xfrm>
            <a:off x="822960" y="5102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3" name="Text 21"/>
          <p:cNvSpPr txBox="1"/>
          <p:nvPr/>
        </p:nvSpPr>
        <p:spPr>
          <a:xfrm>
            <a:off x="1499616" y="4791456"/>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Estilo simple y claro, consistente con los indicadores del grado.</a:t>
            </a:r>
            <a:endParaRPr lang="en-US" sz="1350" dirty="0"/>
          </a:p>
        </p:txBody>
      </p:sp>
      <p:sp>
        <p:nvSpPr>
          <p:cNvPr id="24" name="Shape 22"/>
          <p:cNvSpPr/>
          <p:nvPr/>
        </p:nvSpPr>
        <p:spPr>
          <a:xfrm>
            <a:off x="6233008" y="4645152"/>
            <a:ext cx="5391760" cy="1417320"/>
          </a:xfrm>
          <a:prstGeom prst="roundRect">
            <a:avLst>
              <a:gd name="adj" fmla="val 580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89040" y="5102352"/>
            <a:ext cx="502920" cy="502920"/>
          </a:xfrm>
          <a:prstGeom prst="ellipse">
            <a:avLst/>
          </a:prstGeom>
          <a:solidFill>
            <a:srgbClr val="2A9D8F"/>
          </a:solidFill>
          <a:ln/>
        </p:spPr>
        <p:txBody>
          <a:bodyPr/>
          <a:lstStyle/>
          <a:p>
            <a:endParaRPr lang="en-PR"/>
          </a:p>
        </p:txBody>
      </p:sp>
      <p:sp>
        <p:nvSpPr>
          <p:cNvPr id="26" name="Text 24"/>
          <p:cNvSpPr txBox="1"/>
          <p:nvPr/>
        </p:nvSpPr>
        <p:spPr>
          <a:xfrm>
            <a:off x="6489040" y="5102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7" name="Text 25"/>
          <p:cNvSpPr txBox="1"/>
          <p:nvPr/>
        </p:nvSpPr>
        <p:spPr>
          <a:xfrm>
            <a:off x="7165696" y="4791456"/>
            <a:ext cx="4203040" cy="1124712"/>
          </a:xfrm>
          <a:prstGeom prst="rect">
            <a:avLst/>
          </a:prstGeom>
          <a:noFill/>
          <a:ln/>
        </p:spPr>
        <p:txBody>
          <a:bodyPr wrap="square" lIns="0" tIns="0" rIns="0" bIns="0" rtlCol="0" anchor="ctr"/>
          <a:lstStyle/>
          <a:p>
            <a:pPr marL="0" indent="0">
              <a:lnSpc>
                <a:spcPct val="106000"/>
              </a:lnSpc>
              <a:buNone/>
            </a:pPr>
            <a:r>
              <a:rPr lang="en-US" sz="1350" dirty="0">
                <a:solidFill>
                  <a:srgbClr val="22303F"/>
                </a:solidFill>
                <a:latin typeface="Calibri" pitchFamily="34" charset="0"/>
                <a:ea typeface="Calibri" pitchFamily="34" charset="-122"/>
                <a:cs typeface="Calibri" pitchFamily="34" charset="-120"/>
              </a:rPr>
              <a:t>Ilustraciones, gráficas y dibujos claros, sencillos y apropiados para todo estudiante.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Barreras frecuentes en un examen de matemáticas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9202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016959">
                  <a:extLst>
                    <a:ext uri="{9D8B030D-6E8A-4147-A177-3AD203B41FA5}">
                      <a16:colId xmlns:a16="http://schemas.microsoft.com/office/drawing/2014/main" val="20002"/>
                    </a:ext>
                  </a:extLst>
                </a:gridCol>
              </a:tblGrid>
              <a:tr h="8412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Barrera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Cómo aparece en el examen</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Qué termina midiendo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Lingüística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Enunciados largos, subordinadas encadenadas, vocabulario que el grado no ha trabajado.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El estudiante que lee despacio pierde puntos que domina.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formato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Letra pequeña, texto apretado, gráficas borrosas, opciones que se dividen entre dos páginas.</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Se induce el error por descuido, no por desconocimiento.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contexto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Situaciones que exigen conocer un deporte, un viaje o un producto específico.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Se mide experiencia de vida, no matemática.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carga cognitiva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Ítems encadenados: la parte B no se puede contestar si se falló la parte A.</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Un error inicial se castiga varias veces.</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841248">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De expresión</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dirty="0">
                          <a:solidFill>
                            <a:srgbClr val="22303F"/>
                          </a:solidFill>
                          <a:latin typeface="Calibri" pitchFamily="34" charset="0"/>
                          <a:ea typeface="Calibri" pitchFamily="34" charset="-122"/>
                          <a:cs typeface="Calibri" pitchFamily="34" charset="-120"/>
                        </a:rPr>
                        <a:t>Solo se acepta una forma de mostrar el procedimiento.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80" i="1" dirty="0">
                          <a:solidFill>
                            <a:srgbClr val="A8322D"/>
                          </a:solidFill>
                          <a:latin typeface="Calibri" pitchFamily="34" charset="0"/>
                          <a:ea typeface="Calibri" pitchFamily="34" charset="-122"/>
                          <a:cs typeface="Calibri" pitchFamily="34" charset="-120"/>
                        </a:rPr>
                        <a:t>El estudiante que razona con dibujo o tabla queda sin crédito.</a:t>
                      </a:r>
                      <a:endParaRPr lang="en-US" sz="11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Cada barrera de esta tabla tiene una contramedida directa en las láminas siguientes.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Formato accesible: cuatro decisiones que sí importan</a:t>
            </a:r>
            <a:endParaRPr lang="en-US" sz="2700" dirty="0"/>
          </a:p>
        </p:txBody>
      </p:sp>
      <p:sp>
        <p:nvSpPr>
          <p:cNvPr id="4" name="Shape 2"/>
          <p:cNvSpPr/>
          <p:nvPr/>
        </p:nvSpPr>
        <p:spPr>
          <a:xfrm>
            <a:off x="566928" y="1325880"/>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Aa</a:t>
            </a:r>
            <a:endParaRPr lang="en-US" sz="1500" dirty="0"/>
          </a:p>
        </p:txBody>
      </p:sp>
      <p:sp>
        <p:nvSpPr>
          <p:cNvPr id="7" name="Text 5"/>
          <p:cNvSpPr txBox="1"/>
          <p:nvPr/>
        </p:nvSpPr>
        <p:spPr>
          <a:xfrm>
            <a:off x="1426464" y="1527048"/>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Uso de la letra</a:t>
            </a:r>
            <a:endParaRPr lang="en-US" sz="1450" dirty="0"/>
          </a:p>
        </p:txBody>
      </p:sp>
      <p:sp>
        <p:nvSpPr>
          <p:cNvPr id="8" name="Text 6"/>
          <p:cNvSpPr txBox="1"/>
          <p:nvPr/>
        </p:nvSpPr>
        <p:spPr>
          <a:xfrm>
            <a:off x="804672" y="2148840"/>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Fuentes que distinguen mayúsculas de minúsculas.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Familia sans serif: Arial, Verdana, Calibri.</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Tamaño entre 12 y 18 puntos.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Evitar cursiva, subrayado y textos largos en mayúscula.</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La negrita, en dosis moderadas.</a:t>
            </a:r>
            <a:endParaRPr lang="en-US" sz="1180" dirty="0"/>
          </a:p>
        </p:txBody>
      </p:sp>
      <p:sp>
        <p:nvSpPr>
          <p:cNvPr id="9" name="Shape 7"/>
          <p:cNvSpPr/>
          <p:nvPr/>
        </p:nvSpPr>
        <p:spPr>
          <a:xfrm>
            <a:off x="6233008" y="1325880"/>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70752" y="1545336"/>
            <a:ext cx="457200" cy="457200"/>
          </a:xfrm>
          <a:prstGeom prst="ellipse">
            <a:avLst/>
          </a:prstGeom>
          <a:solidFill>
            <a:srgbClr val="2A9D8F"/>
          </a:solidFill>
          <a:ln/>
        </p:spPr>
        <p:txBody>
          <a:bodyPr/>
          <a:lstStyle/>
          <a:p>
            <a:endParaRPr lang="en-PR"/>
          </a:p>
        </p:txBody>
      </p:sp>
      <p:sp>
        <p:nvSpPr>
          <p:cNvPr id="11" name="Text 9"/>
          <p:cNvSpPr txBox="1"/>
          <p:nvPr/>
        </p:nvSpPr>
        <p:spPr>
          <a:xfrm>
            <a:off x="647075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7092544" y="1527048"/>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Espaciado</a:t>
            </a:r>
            <a:endParaRPr lang="en-US" sz="1450" dirty="0"/>
          </a:p>
        </p:txBody>
      </p:sp>
      <p:sp>
        <p:nvSpPr>
          <p:cNvPr id="13" name="Text 11"/>
          <p:cNvSpPr txBox="1"/>
          <p:nvPr/>
        </p:nvSpPr>
        <p:spPr>
          <a:xfrm>
            <a:off x="6470752" y="2148840"/>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No usar la tecla «enter» para separar párrafos y títulos.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Usar la opción Párrafo de la pestaña Inicio y fijar espaciado anterior y posterior.</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Evitar espacios innecesarios entre una sección y otra.</a:t>
            </a:r>
            <a:endParaRPr lang="en-US" sz="1180" dirty="0"/>
          </a:p>
        </p:txBody>
      </p:sp>
      <p:sp>
        <p:nvSpPr>
          <p:cNvPr id="14" name="Shape 12"/>
          <p:cNvSpPr/>
          <p:nvPr/>
        </p:nvSpPr>
        <p:spPr>
          <a:xfrm>
            <a:off x="566928" y="3849624"/>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4069080"/>
            <a:ext cx="457200" cy="457200"/>
          </a:xfrm>
          <a:prstGeom prst="ellipse">
            <a:avLst/>
          </a:prstGeom>
          <a:solidFill>
            <a:srgbClr val="C9A227"/>
          </a:solidFill>
          <a:ln/>
        </p:spPr>
        <p:txBody>
          <a:bodyPr/>
          <a:lstStyle/>
          <a:p>
            <a:endParaRPr lang="en-PR"/>
          </a:p>
        </p:txBody>
      </p:sp>
      <p:sp>
        <p:nvSpPr>
          <p:cNvPr id="16" name="Text 14"/>
          <p:cNvSpPr txBox="1"/>
          <p:nvPr/>
        </p:nvSpPr>
        <p:spPr>
          <a:xfrm>
            <a:off x="804672" y="40690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1426464" y="4050792"/>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Imágenes y gráficas</a:t>
            </a:r>
            <a:endParaRPr lang="en-US" sz="1450" dirty="0"/>
          </a:p>
        </p:txBody>
      </p:sp>
      <p:sp>
        <p:nvSpPr>
          <p:cNvPr id="18" name="Text 16"/>
          <p:cNvSpPr txBox="1"/>
          <p:nvPr/>
        </p:nvSpPr>
        <p:spPr>
          <a:xfrm>
            <a:off x="804672" y="4672584"/>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Insertar en formato JPEG, JPG o PNG.</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Añadir texto alterno puntual y concreto (clic derecho ▸ Formato de imagen ▸ Texto alterno).</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La imagen mantiene posición con el texto: sin autoajuste.</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La imagen va en párrafo aparte, no incrustada en medio del texto.</a:t>
            </a:r>
            <a:endParaRPr lang="en-US" sz="1180" dirty="0"/>
          </a:p>
        </p:txBody>
      </p:sp>
      <p:sp>
        <p:nvSpPr>
          <p:cNvPr id="19" name="Shape 17"/>
          <p:cNvSpPr/>
          <p:nvPr/>
        </p:nvSpPr>
        <p:spPr>
          <a:xfrm>
            <a:off x="6233008" y="3849624"/>
            <a:ext cx="5391760" cy="2286000"/>
          </a:xfrm>
          <a:prstGeom prst="roundRect">
            <a:avLst>
              <a:gd name="adj" fmla="val 36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70752" y="4069080"/>
            <a:ext cx="457200" cy="457200"/>
          </a:xfrm>
          <a:prstGeom prst="ellipse">
            <a:avLst/>
          </a:prstGeom>
          <a:solidFill>
            <a:srgbClr val="A8322D"/>
          </a:solidFill>
          <a:ln/>
        </p:spPr>
        <p:txBody>
          <a:bodyPr/>
          <a:lstStyle/>
          <a:p>
            <a:endParaRPr lang="en-PR"/>
          </a:p>
        </p:txBody>
      </p:sp>
      <p:sp>
        <p:nvSpPr>
          <p:cNvPr id="21" name="Text 19"/>
          <p:cNvSpPr txBox="1"/>
          <p:nvPr/>
        </p:nvSpPr>
        <p:spPr>
          <a:xfrm>
            <a:off x="6470752" y="40690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7092544" y="4050792"/>
            <a:ext cx="4276192"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Viñetas</a:t>
            </a:r>
            <a:endParaRPr lang="en-US" sz="1450" dirty="0"/>
          </a:p>
        </p:txBody>
      </p:sp>
      <p:sp>
        <p:nvSpPr>
          <p:cNvPr id="23" name="Text 21"/>
          <p:cNvSpPr txBox="1"/>
          <p:nvPr/>
        </p:nvSpPr>
        <p:spPr>
          <a:xfrm>
            <a:off x="6470752" y="4672584"/>
            <a:ext cx="4916272" cy="1225296"/>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Usar viñetas simples y de alto contraste.</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Evitar viñetas decorativas, círculos huecos o multicolores que los lectores de pantalla no interpretan.</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Mantener una sola familia de viñetas en todo el documento.</a:t>
            </a:r>
            <a:endParaRPr lang="en-US" sz="11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Sesgo en los ítems: cinco tipos que debemos cazar</a:t>
            </a:r>
            <a:endParaRPr lang="en-US" sz="2700" dirty="0"/>
          </a:p>
        </p:txBody>
      </p:sp>
      <p:sp>
        <p:nvSpPr>
          <p:cNvPr id="4" name="Shape 2"/>
          <p:cNvSpPr/>
          <p:nvPr/>
        </p:nvSpPr>
        <p:spPr>
          <a:xfrm>
            <a:off x="566928"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①</a:t>
            </a:r>
            <a:endParaRPr lang="en-US" sz="1500" dirty="0"/>
          </a:p>
        </p:txBody>
      </p:sp>
      <p:sp>
        <p:nvSpPr>
          <p:cNvPr id="7" name="Text 5"/>
          <p:cNvSpPr txBox="1"/>
          <p:nvPr/>
        </p:nvSpPr>
        <p:spPr>
          <a:xfrm>
            <a:off x="1426464"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lingüístico</a:t>
            </a:r>
            <a:endParaRPr lang="en-US" sz="1450" dirty="0"/>
          </a:p>
        </p:txBody>
      </p:sp>
      <p:sp>
        <p:nvSpPr>
          <p:cNvPr id="8" name="Text 6"/>
          <p:cNvSpPr txBox="1"/>
          <p:nvPr/>
        </p:nvSpPr>
        <p:spPr>
          <a:xfrm>
            <a:off x="804672" y="2148840"/>
            <a:ext cx="3064154"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El ítem exige un nivel de lectura superior al grado, o usa vocabulario que no se ha enseñado en la clase de matemáticas.</a:t>
            </a:r>
            <a:endParaRPr lang="en-US" sz="1220" dirty="0"/>
          </a:p>
        </p:txBody>
      </p:sp>
      <p:sp>
        <p:nvSpPr>
          <p:cNvPr id="9" name="Shape 7"/>
          <p:cNvSpPr/>
          <p:nvPr/>
        </p:nvSpPr>
        <p:spPr>
          <a:xfrm>
            <a:off x="4326026"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563770" y="1545336"/>
            <a:ext cx="457200" cy="457200"/>
          </a:xfrm>
          <a:prstGeom prst="ellipse">
            <a:avLst/>
          </a:prstGeom>
          <a:solidFill>
            <a:srgbClr val="2A9D8F"/>
          </a:solidFill>
          <a:ln/>
        </p:spPr>
        <p:txBody>
          <a:bodyPr/>
          <a:lstStyle/>
          <a:p>
            <a:endParaRPr lang="en-PR"/>
          </a:p>
        </p:txBody>
      </p:sp>
      <p:sp>
        <p:nvSpPr>
          <p:cNvPr id="11" name="Text 9"/>
          <p:cNvSpPr txBox="1"/>
          <p:nvPr/>
        </p:nvSpPr>
        <p:spPr>
          <a:xfrm>
            <a:off x="456377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②</a:t>
            </a:r>
            <a:endParaRPr lang="en-US" sz="1500" dirty="0"/>
          </a:p>
        </p:txBody>
      </p:sp>
      <p:sp>
        <p:nvSpPr>
          <p:cNvPr id="12" name="Text 10"/>
          <p:cNvSpPr txBox="1"/>
          <p:nvPr/>
        </p:nvSpPr>
        <p:spPr>
          <a:xfrm>
            <a:off x="5185562"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cultural</a:t>
            </a:r>
            <a:endParaRPr lang="en-US" sz="1450" dirty="0"/>
          </a:p>
        </p:txBody>
      </p:sp>
      <p:sp>
        <p:nvSpPr>
          <p:cNvPr id="13" name="Text 11"/>
          <p:cNvSpPr txBox="1"/>
          <p:nvPr/>
        </p:nvSpPr>
        <p:spPr>
          <a:xfrm>
            <a:off x="4563770" y="2148840"/>
            <a:ext cx="3064154"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El contexto supone experiencias que no todos los estudiantes tienen: nieve, deportes específicos, viajes, celebraciones particulares.</a:t>
            </a:r>
            <a:endParaRPr lang="en-US" sz="1220" dirty="0"/>
          </a:p>
        </p:txBody>
      </p:sp>
      <p:sp>
        <p:nvSpPr>
          <p:cNvPr id="14" name="Shape 12"/>
          <p:cNvSpPr/>
          <p:nvPr/>
        </p:nvSpPr>
        <p:spPr>
          <a:xfrm>
            <a:off x="8085125"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322869" y="1545336"/>
            <a:ext cx="457200" cy="457200"/>
          </a:xfrm>
          <a:prstGeom prst="ellipse">
            <a:avLst/>
          </a:prstGeom>
          <a:solidFill>
            <a:srgbClr val="C9A227"/>
          </a:solidFill>
          <a:ln/>
        </p:spPr>
        <p:txBody>
          <a:bodyPr/>
          <a:lstStyle/>
          <a:p>
            <a:endParaRPr lang="en-PR"/>
          </a:p>
        </p:txBody>
      </p:sp>
      <p:sp>
        <p:nvSpPr>
          <p:cNvPr id="16" name="Text 14"/>
          <p:cNvSpPr txBox="1"/>
          <p:nvPr/>
        </p:nvSpPr>
        <p:spPr>
          <a:xfrm>
            <a:off x="8322869"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③</a:t>
            </a:r>
            <a:endParaRPr lang="en-US" sz="1500" dirty="0"/>
          </a:p>
        </p:txBody>
      </p:sp>
      <p:sp>
        <p:nvSpPr>
          <p:cNvPr id="17" name="Text 15"/>
          <p:cNvSpPr txBox="1"/>
          <p:nvPr/>
        </p:nvSpPr>
        <p:spPr>
          <a:xfrm>
            <a:off x="8944661"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socioeconómico</a:t>
            </a:r>
            <a:endParaRPr lang="en-US" sz="1450" dirty="0"/>
          </a:p>
        </p:txBody>
      </p:sp>
      <p:sp>
        <p:nvSpPr>
          <p:cNvPr id="18" name="Text 16"/>
          <p:cNvSpPr txBox="1"/>
          <p:nvPr/>
        </p:nvSpPr>
        <p:spPr>
          <a:xfrm>
            <a:off x="8322869" y="2148840"/>
            <a:ext cx="3064154"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Se asume acceso a bienes, servicios o actividades con costo: vacaciones, dispositivos, restaurantes, membresías.</a:t>
            </a:r>
            <a:endParaRPr lang="en-US" sz="1220" dirty="0"/>
          </a:p>
        </p:txBody>
      </p:sp>
      <p:sp>
        <p:nvSpPr>
          <p:cNvPr id="19" name="Shape 17"/>
          <p:cNvSpPr/>
          <p:nvPr/>
        </p:nvSpPr>
        <p:spPr>
          <a:xfrm>
            <a:off x="566928"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804672" y="3922776"/>
            <a:ext cx="457200" cy="457200"/>
          </a:xfrm>
          <a:prstGeom prst="ellipse">
            <a:avLst/>
          </a:prstGeom>
          <a:solidFill>
            <a:srgbClr val="A8322D"/>
          </a:solidFill>
          <a:ln/>
        </p:spPr>
        <p:txBody>
          <a:bodyPr/>
          <a:lstStyle/>
          <a:p>
            <a:endParaRPr lang="en-PR"/>
          </a:p>
        </p:txBody>
      </p:sp>
      <p:sp>
        <p:nvSpPr>
          <p:cNvPr id="21" name="Text 19"/>
          <p:cNvSpPr txBox="1"/>
          <p:nvPr/>
        </p:nvSpPr>
        <p:spPr>
          <a:xfrm>
            <a:off x="804672"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④</a:t>
            </a:r>
            <a:endParaRPr lang="en-US" sz="1500" dirty="0"/>
          </a:p>
        </p:txBody>
      </p:sp>
      <p:sp>
        <p:nvSpPr>
          <p:cNvPr id="22" name="Text 20"/>
          <p:cNvSpPr txBox="1"/>
          <p:nvPr/>
        </p:nvSpPr>
        <p:spPr>
          <a:xfrm>
            <a:off x="1426464"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de género</a:t>
            </a:r>
            <a:endParaRPr lang="en-US" sz="1450" dirty="0"/>
          </a:p>
        </p:txBody>
      </p:sp>
      <p:sp>
        <p:nvSpPr>
          <p:cNvPr id="23" name="Text 21"/>
          <p:cNvSpPr txBox="1"/>
          <p:nvPr/>
        </p:nvSpPr>
        <p:spPr>
          <a:xfrm>
            <a:off x="804672" y="4526280"/>
            <a:ext cx="4943704" cy="90525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Los nombres y los roles se reparten de forma estereotipada, o un género aparece siempre en la posición de menor competencia.</a:t>
            </a:r>
            <a:endParaRPr lang="en-US" sz="1220" dirty="0"/>
          </a:p>
        </p:txBody>
      </p:sp>
      <p:sp>
        <p:nvSpPr>
          <p:cNvPr id="24" name="Shape 22"/>
          <p:cNvSpPr/>
          <p:nvPr/>
        </p:nvSpPr>
        <p:spPr>
          <a:xfrm>
            <a:off x="6205576"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43320" y="3922776"/>
            <a:ext cx="457200" cy="457200"/>
          </a:xfrm>
          <a:prstGeom prst="ellipse">
            <a:avLst/>
          </a:prstGeom>
          <a:solidFill>
            <a:srgbClr val="4A6FA5"/>
          </a:solidFill>
          <a:ln/>
        </p:spPr>
        <p:txBody>
          <a:bodyPr/>
          <a:lstStyle/>
          <a:p>
            <a:endParaRPr lang="en-PR"/>
          </a:p>
        </p:txBody>
      </p:sp>
      <p:sp>
        <p:nvSpPr>
          <p:cNvPr id="26" name="Text 24"/>
          <p:cNvSpPr txBox="1"/>
          <p:nvPr/>
        </p:nvSpPr>
        <p:spPr>
          <a:xfrm>
            <a:off x="6443320"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⑤</a:t>
            </a:r>
            <a:endParaRPr lang="en-US" sz="1500" dirty="0"/>
          </a:p>
        </p:txBody>
      </p:sp>
      <p:sp>
        <p:nvSpPr>
          <p:cNvPr id="27" name="Text 25"/>
          <p:cNvSpPr txBox="1"/>
          <p:nvPr/>
        </p:nvSpPr>
        <p:spPr>
          <a:xfrm>
            <a:off x="7065112"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de conocimiento previo</a:t>
            </a:r>
            <a:endParaRPr lang="en-US" sz="1450" dirty="0"/>
          </a:p>
        </p:txBody>
      </p:sp>
      <p:sp>
        <p:nvSpPr>
          <p:cNvPr id="28" name="Text 26"/>
          <p:cNvSpPr txBox="1"/>
          <p:nvPr/>
        </p:nvSpPr>
        <p:spPr>
          <a:xfrm>
            <a:off x="6443320" y="4526280"/>
            <a:ext cx="4943704" cy="90525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Para resolver el ítem hace falta un dato de otra materia o de la vida adulta que el ítem no provee.</a:t>
            </a:r>
            <a:endParaRPr lang="en-US" sz="1220" dirty="0"/>
          </a:p>
        </p:txBody>
      </p:sp>
      <p:sp>
        <p:nvSpPr>
          <p:cNvPr id="29" name="Text 2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Regla práctica: si para resolver el ítem hace falta algo que no se enseña en matemáticas, ese algo es sesgo.</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Antes y después: cuatro reescrituras</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65599">
                  <a:extLst>
                    <a:ext uri="{9D8B030D-6E8A-4147-A177-3AD203B41FA5}">
                      <a16:colId xmlns:a16="http://schemas.microsoft.com/office/drawing/2014/main" val="20002"/>
                    </a:ext>
                  </a:extLst>
                </a:gridCol>
              </a:tblGrid>
              <a:tr h="89611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Tipo de sesgo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Redacción con sesgo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Redacción corregida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Socioeconómico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En tus vacaciones en el extranjero compraste 3 recuerdos de $18.00 cada uno.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La clase compró 3 paquetes de semillas de $18.00 cada uno para el huerto.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Cultural</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La temperatura bajó de 8 °F a −3 °F mientras patinabas sobre hielo.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La temperatura de un laboratorio bajó de 8 °C a −3 °C en dos horas.</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De género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Luis calculó el presupuesto y Ana repartió los bizcochos.</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Ana calculó el presupuesto y Luis organizó la entrega.</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896112">
                <a:tc>
                  <a:txBody>
                    <a:bodyPr/>
                    <a:lstStyle/>
                    <a:p>
                      <a:pPr marL="0" indent="0" algn="l">
                        <a:buNone/>
                      </a:pPr>
                      <a:r>
                        <a:rPr lang="en-US" sz="1120" dirty="0">
                          <a:solidFill>
                            <a:srgbClr val="22303F"/>
                          </a:solidFill>
                          <a:latin typeface="Calibri" pitchFamily="34" charset="0"/>
                          <a:ea typeface="Calibri" pitchFamily="34" charset="-122"/>
                          <a:cs typeface="Calibri" pitchFamily="34" charset="-120"/>
                        </a:rPr>
                        <a:t>Lingüístico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A8322D"/>
                          </a:solidFill>
                          <a:latin typeface="Calibri" pitchFamily="34" charset="0"/>
                          <a:ea typeface="Calibri" pitchFamily="34" charset="-122"/>
                          <a:cs typeface="Calibri" pitchFamily="34" charset="-120"/>
                        </a:rPr>
                        <a:t>Considerando que, no obstante lo anterior, se pretende determinar el valor.</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20" dirty="0">
                          <a:solidFill>
                            <a:srgbClr val="17624F"/>
                          </a:solidFill>
                          <a:latin typeface="Calibri" pitchFamily="34" charset="0"/>
                          <a:ea typeface="Calibri" pitchFamily="34" charset="-122"/>
                          <a:cs typeface="Calibri" pitchFamily="34" charset="-120"/>
                        </a:rPr>
                        <a:t>Determina el valor de x. Muestra tu procedimiento.</a:t>
                      </a:r>
                      <a:endParaRPr lang="en-US" sz="112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En los cuatro casos la destreza matemática medida es exactamente la misma. Solo cambió la barrera.</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Lista de cotejo de imparcialidad del ítem</a:t>
            </a:r>
            <a:endParaRPr lang="en-US" sz="2700" dirty="0"/>
          </a:p>
        </p:txBody>
      </p:sp>
      <p:sp>
        <p:nvSpPr>
          <p:cNvPr id="4" name="Shape 2"/>
          <p:cNvSpPr/>
          <p:nvPr/>
        </p:nvSpPr>
        <p:spPr>
          <a:xfrm>
            <a:off x="566928" y="1371600"/>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49808" y="1508760"/>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6" name="Text 4"/>
          <p:cNvSpPr txBox="1"/>
          <p:nvPr/>
        </p:nvSpPr>
        <p:spPr>
          <a:xfrm>
            <a:off x="1188720" y="1389888"/>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contenido del ítem es accesible a todos los estudiantes en términos de sensibilidad e imparcialidad?</a:t>
            </a:r>
            <a:endParaRPr lang="en-US" sz="1150" dirty="0"/>
          </a:p>
        </p:txBody>
      </p:sp>
      <p:sp>
        <p:nvSpPr>
          <p:cNvPr id="7" name="Shape 5"/>
          <p:cNvSpPr/>
          <p:nvPr/>
        </p:nvSpPr>
        <p:spPr>
          <a:xfrm>
            <a:off x="6233008" y="1371600"/>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8" name="Shape 6"/>
          <p:cNvSpPr/>
          <p:nvPr/>
        </p:nvSpPr>
        <p:spPr>
          <a:xfrm>
            <a:off x="6415888" y="1508760"/>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9" name="Text 7"/>
          <p:cNvSpPr txBox="1"/>
          <p:nvPr/>
        </p:nvSpPr>
        <p:spPr>
          <a:xfrm>
            <a:off x="6854800" y="1389888"/>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nivel de lectura del enunciado corresponde al grado, o es superior?</a:t>
            </a:r>
            <a:endParaRPr lang="en-US" sz="1150" dirty="0"/>
          </a:p>
        </p:txBody>
      </p:sp>
      <p:sp>
        <p:nvSpPr>
          <p:cNvPr id="10" name="Shape 8"/>
          <p:cNvSpPr/>
          <p:nvPr/>
        </p:nvSpPr>
        <p:spPr>
          <a:xfrm>
            <a:off x="566928" y="2084832"/>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749808" y="222199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2" name="Text 10"/>
          <p:cNvSpPr txBox="1"/>
          <p:nvPr/>
        </p:nvSpPr>
        <p:spPr>
          <a:xfrm>
            <a:off x="1188720" y="2103120"/>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contexto es reconocible para cualquier estudiante de Puerto Rico, sin importar su municipio, su escuela o los recursos de su familia?</a:t>
            </a:r>
            <a:endParaRPr lang="en-US" sz="1150" dirty="0"/>
          </a:p>
        </p:txBody>
      </p:sp>
      <p:sp>
        <p:nvSpPr>
          <p:cNvPr id="13" name="Shape 11"/>
          <p:cNvSpPr/>
          <p:nvPr/>
        </p:nvSpPr>
        <p:spPr>
          <a:xfrm>
            <a:off x="6233008" y="2084832"/>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4" name="Shape 12"/>
          <p:cNvSpPr/>
          <p:nvPr/>
        </p:nvSpPr>
        <p:spPr>
          <a:xfrm>
            <a:off x="6415888" y="222199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5" name="Text 13"/>
          <p:cNvSpPr txBox="1"/>
          <p:nvPr/>
        </p:nvSpPr>
        <p:spPr>
          <a:xfrm>
            <a:off x="6854800" y="2103120"/>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¿Los nombres y los roles del enunciado están distribuidos sin estereotipos de género?</a:t>
            </a:r>
            <a:endParaRPr lang="en-US" sz="1150" dirty="0"/>
          </a:p>
        </p:txBody>
      </p:sp>
      <p:sp>
        <p:nvSpPr>
          <p:cNvPr id="16" name="Shape 14"/>
          <p:cNvSpPr/>
          <p:nvPr/>
        </p:nvSpPr>
        <p:spPr>
          <a:xfrm>
            <a:off x="566928" y="2798064"/>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49808" y="293522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8" name="Text 16"/>
          <p:cNvSpPr txBox="1"/>
          <p:nvPr/>
        </p:nvSpPr>
        <p:spPr>
          <a:xfrm>
            <a:off x="1188720" y="2816352"/>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ítem provee todos los datos que hacen falta, sin suponer conocimiento de otra materia?</a:t>
            </a:r>
            <a:endParaRPr lang="en-US" sz="1150" dirty="0"/>
          </a:p>
        </p:txBody>
      </p:sp>
      <p:sp>
        <p:nvSpPr>
          <p:cNvPr id="19" name="Shape 17"/>
          <p:cNvSpPr/>
          <p:nvPr/>
        </p:nvSpPr>
        <p:spPr>
          <a:xfrm>
            <a:off x="6233008" y="2798064"/>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15888" y="293522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1" name="Text 19"/>
          <p:cNvSpPr txBox="1"/>
          <p:nvPr/>
        </p:nvSpPr>
        <p:spPr>
          <a:xfrm>
            <a:off x="6854800" y="2816352"/>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¿El estudiante puede mostrar lo que sabe por más de una vía —dibujo, tabla, ecuación o explicación—?</a:t>
            </a:r>
            <a:endParaRPr lang="en-US" sz="1150" dirty="0"/>
          </a:p>
        </p:txBody>
      </p:sp>
      <p:sp>
        <p:nvSpPr>
          <p:cNvPr id="22" name="Shape 20"/>
          <p:cNvSpPr/>
          <p:nvPr/>
        </p:nvSpPr>
        <p:spPr>
          <a:xfrm>
            <a:off x="566928" y="3511296"/>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3" name="Shape 21"/>
          <p:cNvSpPr/>
          <p:nvPr/>
        </p:nvSpPr>
        <p:spPr>
          <a:xfrm>
            <a:off x="749808" y="36484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4" name="Text 22"/>
          <p:cNvSpPr txBox="1"/>
          <p:nvPr/>
        </p:nvSpPr>
        <p:spPr>
          <a:xfrm>
            <a:off x="1188720" y="3529584"/>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¿La ilustración o gráfica aporta información necesaria, o solo decora?</a:t>
            </a:r>
            <a:endParaRPr lang="en-US" sz="1150" dirty="0"/>
          </a:p>
        </p:txBody>
      </p:sp>
      <p:sp>
        <p:nvSpPr>
          <p:cNvPr id="25" name="Shape 23"/>
          <p:cNvSpPr/>
          <p:nvPr/>
        </p:nvSpPr>
        <p:spPr>
          <a:xfrm>
            <a:off x="6233008" y="3511296"/>
            <a:ext cx="5391760" cy="566928"/>
          </a:xfrm>
          <a:prstGeom prst="roundRect">
            <a:avLst>
              <a:gd name="adj" fmla="val 1451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6415888" y="36484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7" name="Text 25"/>
          <p:cNvSpPr txBox="1"/>
          <p:nvPr/>
        </p:nvSpPr>
        <p:spPr>
          <a:xfrm>
            <a:off x="6854800" y="3529584"/>
            <a:ext cx="4568800" cy="530352"/>
          </a:xfrm>
          <a:prstGeom prst="rect">
            <a:avLst/>
          </a:prstGeom>
          <a:noFill/>
          <a:ln/>
        </p:spPr>
        <p:txBody>
          <a:bodyPr wrap="square" lIns="0" tIns="0" rIns="0" bIns="0" rtlCol="0" anchor="ctr"/>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¿Se eliminó toda palabra que no sea imprescindible para resolver?</a:t>
            </a:r>
            <a:endParaRPr lang="en-US" sz="1150" dirty="0"/>
          </a:p>
        </p:txBody>
      </p:sp>
      <p:sp>
        <p:nvSpPr>
          <p:cNvPr id="28" name="Shape 26"/>
          <p:cNvSpPr/>
          <p:nvPr/>
        </p:nvSpPr>
        <p:spPr>
          <a:xfrm>
            <a:off x="566928" y="4279392"/>
            <a:ext cx="11057839" cy="1481328"/>
          </a:xfrm>
          <a:prstGeom prst="roundRect">
            <a:avLst>
              <a:gd name="adj" fmla="val 555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9" name="Text 27"/>
          <p:cNvSpPr txBox="1"/>
          <p:nvPr/>
        </p:nvSpPr>
        <p:spPr>
          <a:xfrm>
            <a:off x="932688" y="4434840"/>
            <a:ext cx="10326319" cy="310896"/>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Cuando alguna casilla queda sin marcar</a:t>
            </a:r>
            <a:endParaRPr lang="en-US" sz="1500" dirty="0"/>
          </a:p>
        </p:txBody>
      </p:sp>
      <p:sp>
        <p:nvSpPr>
          <p:cNvPr id="30" name="Text 28"/>
          <p:cNvSpPr txBox="1"/>
          <p:nvPr/>
        </p:nvSpPr>
        <p:spPr>
          <a:xfrm>
            <a:off x="932688" y="4809744"/>
            <a:ext cx="10326319" cy="777240"/>
          </a:xfrm>
          <a:prstGeom prst="rect">
            <a:avLst/>
          </a:prstGeom>
          <a:noFill/>
          <a:ln/>
        </p:spPr>
        <p:txBody>
          <a:bodyPr wrap="square" lIns="0" tIns="0" rIns="0" bIns="0" rtlCol="0" anchor="ctr"/>
          <a:lstStyle/>
          <a:p>
            <a:pPr marL="0" indent="0">
              <a:lnSpc>
                <a:spcPct val="105000"/>
              </a:lnSpc>
              <a:buNone/>
            </a:pPr>
            <a:r>
              <a:rPr lang="en-US" sz="1300" dirty="0">
                <a:solidFill>
                  <a:srgbClr val="DCE6F2"/>
                </a:solidFill>
                <a:latin typeface="Calibri" pitchFamily="34" charset="0"/>
                <a:ea typeface="Calibri" pitchFamily="34" charset="-122"/>
                <a:cs typeface="Calibri" pitchFamily="34" charset="-120"/>
              </a:rPr>
              <a:t>No se descarta el ítem: se reescribe. Casi siempre basta con acortar el enunciado, cambiar el contexto o añadir una representación visual. El ítem reescrito vuelve a pasar por la lista completa.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De la expectativa</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al ítem</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Nada se redacta antes de decidir qué se mide</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La cadena de alineación</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Estructura del código DEPR 2022</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Secuencia de cursos de 3.º a 12.º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Niveles de profundidad (DOK 1–4)</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Tipos de pregunta para una prueba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La cadena de alineación: cinco decisiones antes de escribir</a:t>
            </a:r>
            <a:endParaRPr lang="en-US" sz="2700" dirty="0"/>
          </a:p>
        </p:txBody>
      </p:sp>
      <p:sp>
        <p:nvSpPr>
          <p:cNvPr id="4" name="Shape 2"/>
          <p:cNvSpPr/>
          <p:nvPr/>
        </p:nvSpPr>
        <p:spPr>
          <a:xfrm>
            <a:off x="566928"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1335024" y="1801368"/>
            <a:ext cx="493776" cy="493776"/>
          </a:xfrm>
          <a:prstGeom prst="ellipse">
            <a:avLst/>
          </a:prstGeom>
          <a:solidFill>
            <a:srgbClr val="1B2A4A"/>
          </a:solidFill>
          <a:ln/>
        </p:spPr>
        <p:txBody>
          <a:bodyPr/>
          <a:lstStyle/>
          <a:p>
            <a:endParaRPr lang="en-PR"/>
          </a:p>
        </p:txBody>
      </p:sp>
      <p:sp>
        <p:nvSpPr>
          <p:cNvPr id="6" name="Text 4"/>
          <p:cNvSpPr txBox="1"/>
          <p:nvPr/>
        </p:nvSpPr>
        <p:spPr>
          <a:xfrm>
            <a:off x="1335024"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694944"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Estándar</a:t>
            </a:r>
            <a:endParaRPr lang="en-US" sz="1450" dirty="0"/>
          </a:p>
        </p:txBody>
      </p:sp>
      <p:sp>
        <p:nvSpPr>
          <p:cNvPr id="8" name="Text 6"/>
          <p:cNvSpPr txBox="1"/>
          <p:nvPr/>
        </p:nvSpPr>
        <p:spPr>
          <a:xfrm>
            <a:off x="694944"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Uno de los seis estándares de contenido del Programa de Matemáticas.</a:t>
            </a:r>
            <a:endParaRPr lang="en-US" sz="1130" dirty="0"/>
          </a:p>
        </p:txBody>
      </p:sp>
      <p:sp>
        <p:nvSpPr>
          <p:cNvPr id="9" name="Shape 7"/>
          <p:cNvSpPr/>
          <p:nvPr/>
        </p:nvSpPr>
        <p:spPr>
          <a:xfrm>
            <a:off x="2633472"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10" name="Shape 8"/>
          <p:cNvSpPr/>
          <p:nvPr/>
        </p:nvSpPr>
        <p:spPr>
          <a:xfrm>
            <a:off x="2816352"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3584448" y="1801368"/>
            <a:ext cx="493776" cy="493776"/>
          </a:xfrm>
          <a:prstGeom prst="ellipse">
            <a:avLst/>
          </a:prstGeom>
          <a:solidFill>
            <a:srgbClr val="1F3864"/>
          </a:solidFill>
          <a:ln/>
        </p:spPr>
        <p:txBody>
          <a:bodyPr/>
          <a:lstStyle/>
          <a:p>
            <a:endParaRPr lang="en-PR"/>
          </a:p>
        </p:txBody>
      </p:sp>
      <p:sp>
        <p:nvSpPr>
          <p:cNvPr id="12" name="Text 10"/>
          <p:cNvSpPr txBox="1"/>
          <p:nvPr/>
        </p:nvSpPr>
        <p:spPr>
          <a:xfrm>
            <a:off x="3584448"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2944368"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Expectativa</a:t>
            </a:r>
            <a:endParaRPr lang="en-US" sz="1450" dirty="0"/>
          </a:p>
        </p:txBody>
      </p:sp>
      <p:sp>
        <p:nvSpPr>
          <p:cNvPr id="14" name="Text 12"/>
          <p:cNvSpPr txBox="1"/>
          <p:nvPr/>
        </p:nvSpPr>
        <p:spPr>
          <a:xfrm>
            <a:off x="2944368"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Lo que el estudiante debe lograr en ese estándar, en ese grado.</a:t>
            </a:r>
            <a:endParaRPr lang="en-US" sz="1130" dirty="0"/>
          </a:p>
        </p:txBody>
      </p:sp>
      <p:sp>
        <p:nvSpPr>
          <p:cNvPr id="15" name="Shape 13"/>
          <p:cNvSpPr/>
          <p:nvPr/>
        </p:nvSpPr>
        <p:spPr>
          <a:xfrm>
            <a:off x="4882896"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16" name="Shape 14"/>
          <p:cNvSpPr/>
          <p:nvPr/>
        </p:nvSpPr>
        <p:spPr>
          <a:xfrm>
            <a:off x="5065776"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5833872" y="1801368"/>
            <a:ext cx="493776" cy="493776"/>
          </a:xfrm>
          <a:prstGeom prst="ellipse">
            <a:avLst/>
          </a:prstGeom>
          <a:solidFill>
            <a:srgbClr val="2A9D8F"/>
          </a:solidFill>
          <a:ln/>
        </p:spPr>
        <p:txBody>
          <a:bodyPr/>
          <a:lstStyle/>
          <a:p>
            <a:endParaRPr lang="en-PR"/>
          </a:p>
        </p:txBody>
      </p:sp>
      <p:sp>
        <p:nvSpPr>
          <p:cNvPr id="18" name="Text 16"/>
          <p:cNvSpPr txBox="1"/>
          <p:nvPr/>
        </p:nvSpPr>
        <p:spPr>
          <a:xfrm>
            <a:off x="5833872"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txBox="1"/>
          <p:nvPr/>
        </p:nvSpPr>
        <p:spPr>
          <a:xfrm>
            <a:off x="5193792"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Indicador</a:t>
            </a:r>
            <a:endParaRPr lang="en-US" sz="1450" dirty="0"/>
          </a:p>
        </p:txBody>
      </p:sp>
      <p:sp>
        <p:nvSpPr>
          <p:cNvPr id="20" name="Text 18"/>
          <p:cNvSpPr txBox="1"/>
          <p:nvPr/>
        </p:nvSpPr>
        <p:spPr>
          <a:xfrm>
            <a:off x="5193792"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La conducta observable y evaluable que hará visible la expectativa.</a:t>
            </a:r>
            <a:endParaRPr lang="en-US" sz="1130" dirty="0"/>
          </a:p>
        </p:txBody>
      </p:sp>
      <p:sp>
        <p:nvSpPr>
          <p:cNvPr id="21" name="Shape 19"/>
          <p:cNvSpPr/>
          <p:nvPr/>
        </p:nvSpPr>
        <p:spPr>
          <a:xfrm>
            <a:off x="7132320"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22" name="Shape 20"/>
          <p:cNvSpPr/>
          <p:nvPr/>
        </p:nvSpPr>
        <p:spPr>
          <a:xfrm>
            <a:off x="7315200" y="1600200"/>
            <a:ext cx="2029968"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3" name="Shape 21"/>
          <p:cNvSpPr/>
          <p:nvPr/>
        </p:nvSpPr>
        <p:spPr>
          <a:xfrm>
            <a:off x="8083296" y="1801368"/>
            <a:ext cx="493776" cy="493776"/>
          </a:xfrm>
          <a:prstGeom prst="ellipse">
            <a:avLst/>
          </a:prstGeom>
          <a:solidFill>
            <a:srgbClr val="4A6FA5"/>
          </a:solidFill>
          <a:ln/>
        </p:spPr>
        <p:txBody>
          <a:bodyPr/>
          <a:lstStyle/>
          <a:p>
            <a:endParaRPr lang="en-PR"/>
          </a:p>
        </p:txBody>
      </p:sp>
      <p:sp>
        <p:nvSpPr>
          <p:cNvPr id="24" name="Text 22"/>
          <p:cNvSpPr txBox="1"/>
          <p:nvPr/>
        </p:nvSpPr>
        <p:spPr>
          <a:xfrm>
            <a:off x="8083296" y="1801368"/>
            <a:ext cx="4937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txBox="1"/>
          <p:nvPr/>
        </p:nvSpPr>
        <p:spPr>
          <a:xfrm>
            <a:off x="7443216"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Nivel DOK</a:t>
            </a:r>
            <a:endParaRPr lang="en-US" sz="1450" dirty="0"/>
          </a:p>
        </p:txBody>
      </p:sp>
      <p:sp>
        <p:nvSpPr>
          <p:cNvPr id="26" name="Text 24"/>
          <p:cNvSpPr txBox="1"/>
          <p:nvPr/>
        </p:nvSpPr>
        <p:spPr>
          <a:xfrm>
            <a:off x="7443216"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La profundidad del pensamiento que se le exigirá al estudiante.</a:t>
            </a:r>
            <a:endParaRPr lang="en-US" sz="1130" dirty="0"/>
          </a:p>
        </p:txBody>
      </p:sp>
      <p:sp>
        <p:nvSpPr>
          <p:cNvPr id="27" name="Shape 25"/>
          <p:cNvSpPr/>
          <p:nvPr/>
        </p:nvSpPr>
        <p:spPr>
          <a:xfrm>
            <a:off x="9381744" y="2455164"/>
            <a:ext cx="146304" cy="164592"/>
          </a:xfrm>
          <a:prstGeom prst="rightArrow">
            <a:avLst/>
          </a:prstGeom>
          <a:solidFill>
            <a:srgbClr val="A8B6C4"/>
          </a:solidFill>
          <a:ln w="12700">
            <a:solidFill>
              <a:srgbClr val="A8B6C4"/>
            </a:solidFill>
            <a:prstDash val="solid"/>
          </a:ln>
        </p:spPr>
        <p:txBody>
          <a:bodyPr/>
          <a:lstStyle/>
          <a:p>
            <a:endParaRPr lang="en-PR"/>
          </a:p>
        </p:txBody>
      </p:sp>
      <p:sp>
        <p:nvSpPr>
          <p:cNvPr id="28" name="Shape 26"/>
          <p:cNvSpPr/>
          <p:nvPr/>
        </p:nvSpPr>
        <p:spPr>
          <a:xfrm>
            <a:off x="9564624" y="1600200"/>
            <a:ext cx="2029968" cy="1874520"/>
          </a:xfrm>
          <a:prstGeom prst="roundRect">
            <a:avLst>
              <a:gd name="adj" fmla="val 439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10332720" y="1801368"/>
            <a:ext cx="493776" cy="493776"/>
          </a:xfrm>
          <a:prstGeom prst="ellipse">
            <a:avLst/>
          </a:prstGeom>
          <a:solidFill>
            <a:srgbClr val="C9A227"/>
          </a:solidFill>
          <a:ln/>
        </p:spPr>
        <p:txBody>
          <a:bodyPr/>
          <a:lstStyle/>
          <a:p>
            <a:endParaRPr lang="en-PR"/>
          </a:p>
        </p:txBody>
      </p:sp>
      <p:sp>
        <p:nvSpPr>
          <p:cNvPr id="30" name="Text 28"/>
          <p:cNvSpPr txBox="1"/>
          <p:nvPr/>
        </p:nvSpPr>
        <p:spPr>
          <a:xfrm>
            <a:off x="10332720" y="1801368"/>
            <a:ext cx="493776" cy="493776"/>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5</a:t>
            </a:r>
            <a:endParaRPr lang="en-US" sz="1700" dirty="0"/>
          </a:p>
        </p:txBody>
      </p:sp>
      <p:sp>
        <p:nvSpPr>
          <p:cNvPr id="31" name="Text 29"/>
          <p:cNvSpPr txBox="1"/>
          <p:nvPr/>
        </p:nvSpPr>
        <p:spPr>
          <a:xfrm>
            <a:off x="9692640" y="2386584"/>
            <a:ext cx="1773936" cy="292608"/>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Tipo de ítem</a:t>
            </a:r>
            <a:endParaRPr lang="en-US" sz="1450" dirty="0"/>
          </a:p>
        </p:txBody>
      </p:sp>
      <p:sp>
        <p:nvSpPr>
          <p:cNvPr id="32" name="Text 30"/>
          <p:cNvSpPr txBox="1"/>
          <p:nvPr/>
        </p:nvSpPr>
        <p:spPr>
          <a:xfrm>
            <a:off x="9692640" y="2697480"/>
            <a:ext cx="1773936" cy="685800"/>
          </a:xfrm>
          <a:prstGeom prst="rect">
            <a:avLst/>
          </a:prstGeom>
          <a:noFill/>
          <a:ln/>
        </p:spPr>
        <p:txBody>
          <a:bodyPr wrap="square" lIns="0" tIns="0" rIns="0" bIns="0" rtlCol="0" anchor="t"/>
          <a:lstStyle/>
          <a:p>
            <a:pPr marL="0" indent="0" algn="ctr">
              <a:lnSpc>
                <a:spcPct val="102000"/>
              </a:lnSpc>
              <a:buNone/>
            </a:pPr>
            <a:r>
              <a:rPr lang="en-US" sz="1130" dirty="0">
                <a:solidFill>
                  <a:srgbClr val="22303F"/>
                </a:solidFill>
                <a:latin typeface="Calibri" pitchFamily="34" charset="0"/>
                <a:ea typeface="Calibri" pitchFamily="34" charset="-122"/>
                <a:cs typeface="Calibri" pitchFamily="34" charset="-120"/>
              </a:rPr>
              <a:t>El formato que mejor evidencia ese indicador en ese nivel DOK.</a:t>
            </a:r>
            <a:endParaRPr lang="en-US" sz="1130" dirty="0"/>
          </a:p>
        </p:txBody>
      </p:sp>
      <p:sp>
        <p:nvSpPr>
          <p:cNvPr id="33" name="Shape 31"/>
          <p:cNvSpPr/>
          <p:nvPr/>
        </p:nvSpPr>
        <p:spPr>
          <a:xfrm>
            <a:off x="566928" y="3977640"/>
            <a:ext cx="11057839" cy="1737360"/>
          </a:xfrm>
          <a:prstGeom prst="roundRect">
            <a:avLst>
              <a:gd name="adj" fmla="val 4737"/>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4" name="Text 32"/>
          <p:cNvSpPr txBox="1"/>
          <p:nvPr/>
        </p:nvSpPr>
        <p:spPr>
          <a:xfrm>
            <a:off x="932688" y="4160520"/>
            <a:ext cx="10326319" cy="310896"/>
          </a:xfrm>
          <a:prstGeom prst="rect">
            <a:avLst/>
          </a:prstGeom>
          <a:noFill/>
          <a:ln/>
        </p:spPr>
        <p:txBody>
          <a:bodyPr wrap="square" lIns="0" tIns="0" rIns="0" bIns="0" rtlCol="0" anchor="ctr"/>
          <a:lstStyle/>
          <a:p>
            <a:pPr marL="0" indent="0">
              <a:buNone/>
            </a:pPr>
            <a:r>
              <a:rPr lang="en-US" sz="1600" b="1" dirty="0">
                <a:solidFill>
                  <a:srgbClr val="C9A84C"/>
                </a:solidFill>
                <a:latin typeface="Cambria" pitchFamily="34" charset="0"/>
                <a:ea typeface="Cambria" pitchFamily="34" charset="-122"/>
                <a:cs typeface="Cambria" pitchFamily="34" charset="-120"/>
              </a:rPr>
              <a:t>El error más común</a:t>
            </a:r>
            <a:endParaRPr lang="en-US" sz="1600" dirty="0"/>
          </a:p>
        </p:txBody>
      </p:sp>
      <p:sp>
        <p:nvSpPr>
          <p:cNvPr id="35" name="Text 33"/>
          <p:cNvSpPr txBox="1"/>
          <p:nvPr/>
        </p:nvSpPr>
        <p:spPr>
          <a:xfrm>
            <a:off x="932688" y="4535424"/>
            <a:ext cx="10326319" cy="1005840"/>
          </a:xfrm>
          <a:prstGeom prst="rect">
            <a:avLst/>
          </a:prstGeom>
          <a:noFill/>
          <a:ln/>
        </p:spPr>
        <p:txBody>
          <a:bodyPr wrap="square" lIns="0" tIns="0" rIns="0" bIns="0" rtlCol="0" anchor="ctr"/>
          <a:lstStyle/>
          <a:p>
            <a:pPr marL="0" indent="0">
              <a:lnSpc>
                <a:spcPct val="106000"/>
              </a:lnSpc>
              <a:buNone/>
            </a:pPr>
            <a:r>
              <a:rPr lang="en-US" sz="1350" dirty="0">
                <a:solidFill>
                  <a:srgbClr val="DCE6F2"/>
                </a:solidFill>
                <a:latin typeface="Calibri" pitchFamily="34" charset="0"/>
                <a:ea typeface="Calibri" pitchFamily="34" charset="-122"/>
                <a:cs typeface="Calibri" pitchFamily="34" charset="-120"/>
              </a:rPr>
              <a:t>Redactar primero el ítem y buscar después a qué expectativa «se parece». Cuando se hace así, la prueba termina midiendo lo que era fácil de preguntar en vez de lo que era importante enseñar, y la planilla de especificaciones se convierte en un ejercicio de relleno.</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Cómo se lee un código de expectativa del DEPR 2022</a:t>
            </a:r>
            <a:endParaRPr lang="en-US" sz="2700" dirty="0"/>
          </a:p>
        </p:txBody>
      </p:sp>
      <p:sp>
        <p:nvSpPr>
          <p:cNvPr id="4" name="Shape 2"/>
          <p:cNvSpPr/>
          <p:nvPr/>
        </p:nvSpPr>
        <p:spPr>
          <a:xfrm>
            <a:off x="1389888"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1389888" y="1499616"/>
            <a:ext cx="1371600" cy="566928"/>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7</a:t>
            </a:r>
            <a:endParaRPr lang="en-US" sz="3400" dirty="0"/>
          </a:p>
        </p:txBody>
      </p:sp>
      <p:sp>
        <p:nvSpPr>
          <p:cNvPr id="6" name="Text 4"/>
          <p:cNvSpPr txBox="1"/>
          <p:nvPr/>
        </p:nvSpPr>
        <p:spPr>
          <a:xfrm>
            <a:off x="1389888"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Grado</a:t>
            </a:r>
            <a:endParaRPr lang="en-US" sz="1150" dirty="0"/>
          </a:p>
        </p:txBody>
      </p:sp>
      <p:sp>
        <p:nvSpPr>
          <p:cNvPr id="7" name="Text 5"/>
          <p:cNvSpPr txBox="1"/>
          <p:nvPr/>
        </p:nvSpPr>
        <p:spPr>
          <a:xfrm>
            <a:off x="2761488" y="1499616"/>
            <a:ext cx="310896" cy="566928"/>
          </a:xfrm>
          <a:prstGeom prst="rect">
            <a:avLst/>
          </a:prstGeom>
          <a:noFill/>
          <a:ln/>
        </p:spPr>
        <p:txBody>
          <a:bodyPr wrap="square" lIns="0" tIns="0" rIns="0" bIns="0" rtlCol="0" anchor="ctr"/>
          <a:lstStyle/>
          <a:p>
            <a:pPr marL="0" indent="0" algn="ctr">
              <a:buNone/>
            </a:pPr>
            <a:r>
              <a:rPr lang="en-US" sz="3400" b="1" dirty="0">
                <a:solidFill>
                  <a:srgbClr val="5F6E7E"/>
                </a:solidFill>
                <a:latin typeface="Cambria" pitchFamily="34" charset="0"/>
                <a:ea typeface="Cambria" pitchFamily="34" charset="-122"/>
                <a:cs typeface="Cambria" pitchFamily="34" charset="-120"/>
              </a:rPr>
              <a:t>.</a:t>
            </a:r>
            <a:endParaRPr lang="en-US" sz="3400" dirty="0"/>
          </a:p>
        </p:txBody>
      </p:sp>
      <p:sp>
        <p:nvSpPr>
          <p:cNvPr id="8" name="Shape 6"/>
          <p:cNvSpPr/>
          <p:nvPr/>
        </p:nvSpPr>
        <p:spPr>
          <a:xfrm>
            <a:off x="3072384"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3072384" y="1499616"/>
            <a:ext cx="1371600" cy="566928"/>
          </a:xfrm>
          <a:prstGeom prst="rect">
            <a:avLst/>
          </a:prstGeom>
          <a:noFill/>
          <a:ln/>
        </p:spPr>
        <p:txBody>
          <a:bodyPr wrap="square" lIns="0" tIns="0" rIns="0" bIns="0" rtlCol="0" anchor="ctr"/>
          <a:lstStyle/>
          <a:p>
            <a:pPr marL="0" indent="0" algn="ctr">
              <a:buNone/>
            </a:pPr>
            <a:r>
              <a:rPr lang="en-US" sz="3400" b="1" dirty="0">
                <a:solidFill>
                  <a:srgbClr val="2A9D8F"/>
                </a:solidFill>
                <a:latin typeface="Cambria" pitchFamily="34" charset="0"/>
                <a:ea typeface="Cambria" pitchFamily="34" charset="-122"/>
                <a:cs typeface="Cambria" pitchFamily="34" charset="-120"/>
              </a:rPr>
              <a:t>A</a:t>
            </a:r>
            <a:endParaRPr lang="en-US" sz="3400" dirty="0"/>
          </a:p>
        </p:txBody>
      </p:sp>
      <p:sp>
        <p:nvSpPr>
          <p:cNvPr id="10" name="Text 8"/>
          <p:cNvSpPr txBox="1"/>
          <p:nvPr/>
        </p:nvSpPr>
        <p:spPr>
          <a:xfrm>
            <a:off x="3072384"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Estándar</a:t>
            </a:r>
            <a:endParaRPr lang="en-US" sz="1150" dirty="0"/>
          </a:p>
        </p:txBody>
      </p:sp>
      <p:sp>
        <p:nvSpPr>
          <p:cNvPr id="11" name="Text 9"/>
          <p:cNvSpPr txBox="1"/>
          <p:nvPr/>
        </p:nvSpPr>
        <p:spPr>
          <a:xfrm>
            <a:off x="4443984" y="1499616"/>
            <a:ext cx="310896" cy="566928"/>
          </a:xfrm>
          <a:prstGeom prst="rect">
            <a:avLst/>
          </a:prstGeom>
          <a:noFill/>
          <a:ln/>
        </p:spPr>
        <p:txBody>
          <a:bodyPr wrap="square" lIns="0" tIns="0" rIns="0" bIns="0" rtlCol="0" anchor="ctr"/>
          <a:lstStyle/>
          <a:p>
            <a:pPr marL="0" indent="0" algn="ctr">
              <a:buNone/>
            </a:pPr>
            <a:r>
              <a:rPr lang="en-US" sz="3400" b="1" dirty="0">
                <a:solidFill>
                  <a:srgbClr val="5F6E7E"/>
                </a:solidFill>
                <a:latin typeface="Cambria" pitchFamily="34" charset="0"/>
                <a:ea typeface="Cambria" pitchFamily="34" charset="-122"/>
                <a:cs typeface="Cambria" pitchFamily="34" charset="-120"/>
              </a:rPr>
              <a:t>.</a:t>
            </a:r>
            <a:endParaRPr lang="en-US" sz="3400" dirty="0"/>
          </a:p>
        </p:txBody>
      </p:sp>
      <p:sp>
        <p:nvSpPr>
          <p:cNvPr id="12" name="Shape 10"/>
          <p:cNvSpPr/>
          <p:nvPr/>
        </p:nvSpPr>
        <p:spPr>
          <a:xfrm>
            <a:off x="4754880"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Text 11"/>
          <p:cNvSpPr txBox="1"/>
          <p:nvPr/>
        </p:nvSpPr>
        <p:spPr>
          <a:xfrm>
            <a:off x="4754880" y="1499616"/>
            <a:ext cx="1371600" cy="566928"/>
          </a:xfrm>
          <a:prstGeom prst="rect">
            <a:avLst/>
          </a:prstGeom>
          <a:noFill/>
          <a:ln/>
        </p:spPr>
        <p:txBody>
          <a:bodyPr wrap="square" lIns="0" tIns="0" rIns="0" bIns="0" rtlCol="0" anchor="ctr"/>
          <a:lstStyle/>
          <a:p>
            <a:pPr marL="0" indent="0" algn="ctr">
              <a:buNone/>
            </a:pPr>
            <a:r>
              <a:rPr lang="en-US" sz="3400" b="1" dirty="0">
                <a:solidFill>
                  <a:srgbClr val="C9A227"/>
                </a:solidFill>
                <a:latin typeface="Cambria" pitchFamily="34" charset="0"/>
                <a:ea typeface="Cambria" pitchFamily="34" charset="-122"/>
                <a:cs typeface="Cambria" pitchFamily="34" charset="-120"/>
              </a:rPr>
              <a:t>7</a:t>
            </a:r>
            <a:endParaRPr lang="en-US" sz="3400" dirty="0"/>
          </a:p>
        </p:txBody>
      </p:sp>
      <p:sp>
        <p:nvSpPr>
          <p:cNvPr id="14" name="Text 12"/>
          <p:cNvSpPr txBox="1"/>
          <p:nvPr/>
        </p:nvSpPr>
        <p:spPr>
          <a:xfrm>
            <a:off x="4754880"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Expectativa</a:t>
            </a:r>
            <a:endParaRPr lang="en-US" sz="1150" dirty="0"/>
          </a:p>
        </p:txBody>
      </p:sp>
      <p:sp>
        <p:nvSpPr>
          <p:cNvPr id="15" name="Text 13"/>
          <p:cNvSpPr txBox="1"/>
          <p:nvPr/>
        </p:nvSpPr>
        <p:spPr>
          <a:xfrm>
            <a:off x="6126480" y="1499616"/>
            <a:ext cx="310896" cy="566928"/>
          </a:xfrm>
          <a:prstGeom prst="rect">
            <a:avLst/>
          </a:prstGeom>
          <a:noFill/>
          <a:ln/>
        </p:spPr>
        <p:txBody>
          <a:bodyPr wrap="square" lIns="0" tIns="0" rIns="0" bIns="0" rtlCol="0" anchor="ctr"/>
          <a:lstStyle/>
          <a:p>
            <a:pPr marL="0" indent="0" algn="ctr">
              <a:buNone/>
            </a:pPr>
            <a:r>
              <a:rPr lang="en-US" sz="3400" b="1" dirty="0">
                <a:solidFill>
                  <a:srgbClr val="5F6E7E"/>
                </a:solidFill>
                <a:latin typeface="Cambria" pitchFamily="34" charset="0"/>
                <a:ea typeface="Cambria" pitchFamily="34" charset="-122"/>
                <a:cs typeface="Cambria" pitchFamily="34" charset="-120"/>
              </a:rPr>
              <a:t>.</a:t>
            </a:r>
            <a:endParaRPr lang="en-US" sz="3400" dirty="0"/>
          </a:p>
        </p:txBody>
      </p:sp>
      <p:sp>
        <p:nvSpPr>
          <p:cNvPr id="16" name="Shape 14"/>
          <p:cNvSpPr/>
          <p:nvPr/>
        </p:nvSpPr>
        <p:spPr>
          <a:xfrm>
            <a:off x="6437376" y="1371600"/>
            <a:ext cx="1371600" cy="1234440"/>
          </a:xfrm>
          <a:prstGeom prst="roundRect">
            <a:avLst>
              <a:gd name="adj" fmla="val 666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Text 15"/>
          <p:cNvSpPr txBox="1"/>
          <p:nvPr/>
        </p:nvSpPr>
        <p:spPr>
          <a:xfrm>
            <a:off x="6437376" y="1499616"/>
            <a:ext cx="1371600" cy="566928"/>
          </a:xfrm>
          <a:prstGeom prst="rect">
            <a:avLst/>
          </a:prstGeom>
          <a:noFill/>
          <a:ln/>
        </p:spPr>
        <p:txBody>
          <a:bodyPr wrap="square" lIns="0" tIns="0" rIns="0" bIns="0" rtlCol="0" anchor="ctr"/>
          <a:lstStyle/>
          <a:p>
            <a:pPr marL="0" indent="0" algn="ctr">
              <a:buNone/>
            </a:pPr>
            <a:r>
              <a:rPr lang="en-US" sz="3400" b="1" dirty="0">
                <a:solidFill>
                  <a:srgbClr val="4A6FA5"/>
                </a:solidFill>
                <a:latin typeface="Cambria" pitchFamily="34" charset="0"/>
                <a:ea typeface="Cambria" pitchFamily="34" charset="-122"/>
                <a:cs typeface="Cambria" pitchFamily="34" charset="-120"/>
              </a:rPr>
              <a:t>2</a:t>
            </a:r>
            <a:endParaRPr lang="en-US" sz="3400" dirty="0"/>
          </a:p>
        </p:txBody>
      </p:sp>
      <p:sp>
        <p:nvSpPr>
          <p:cNvPr id="18" name="Text 16"/>
          <p:cNvSpPr txBox="1"/>
          <p:nvPr/>
        </p:nvSpPr>
        <p:spPr>
          <a:xfrm>
            <a:off x="6437376" y="2121408"/>
            <a:ext cx="1371600" cy="310896"/>
          </a:xfrm>
          <a:prstGeom prst="rect">
            <a:avLst/>
          </a:prstGeom>
          <a:noFill/>
          <a:ln/>
        </p:spPr>
        <p:txBody>
          <a:bodyPr wrap="square" lIns="0" tIns="0" rIns="0" bIns="0" rtlCol="0" anchor="ctr"/>
          <a:lstStyle/>
          <a:p>
            <a:pPr marL="0" indent="0" algn="ctr">
              <a:buNone/>
            </a:pPr>
            <a:r>
              <a:rPr lang="en-US" sz="1150" b="1" dirty="0">
                <a:solidFill>
                  <a:srgbClr val="5F6E7E"/>
                </a:solidFill>
                <a:latin typeface="Calibri" pitchFamily="34" charset="0"/>
                <a:ea typeface="Calibri" pitchFamily="34" charset="-122"/>
                <a:cs typeface="Calibri" pitchFamily="34" charset="-120"/>
              </a:rPr>
              <a:t>Indicador</a:t>
            </a:r>
            <a:endParaRPr lang="en-US" sz="1150" dirty="0"/>
          </a:p>
        </p:txBody>
      </p:sp>
      <p:sp>
        <p:nvSpPr>
          <p:cNvPr id="19" name="Text 17"/>
          <p:cNvSpPr txBox="1"/>
          <p:nvPr/>
        </p:nvSpPr>
        <p:spPr>
          <a:xfrm>
            <a:off x="566928" y="2761488"/>
            <a:ext cx="11057839" cy="292608"/>
          </a:xfrm>
          <a:prstGeom prst="rect">
            <a:avLst/>
          </a:prstGeom>
          <a:noFill/>
          <a:ln/>
        </p:spPr>
        <p:txBody>
          <a:bodyPr wrap="square" lIns="0" tIns="0" rIns="0" bIns="0" rtlCol="0" anchor="ctr"/>
          <a:lstStyle/>
          <a:p>
            <a:pPr marL="0" indent="0">
              <a:buNone/>
            </a:pPr>
            <a:r>
              <a:rPr lang="en-US" sz="1300" i="1" dirty="0">
                <a:solidFill>
                  <a:srgbClr val="5F6E7E"/>
                </a:solidFill>
                <a:latin typeface="Calibri" pitchFamily="34" charset="0"/>
                <a:ea typeface="Calibri" pitchFamily="34" charset="-122"/>
                <a:cs typeface="Calibri" pitchFamily="34" charset="-120"/>
              </a:rPr>
              <a:t>Ejemplo: 7.A.7.2 se lee «séptimo grado, estándar de Álgebra, séptima expectativa, segundo indicador».</a:t>
            </a:r>
            <a:endParaRPr lang="en-US" sz="1300" dirty="0"/>
          </a:p>
        </p:txBody>
      </p:sp>
      <p:sp>
        <p:nvSpPr>
          <p:cNvPr id="20" name="Text 18"/>
          <p:cNvSpPr txBox="1"/>
          <p:nvPr/>
        </p:nvSpPr>
        <p:spPr>
          <a:xfrm>
            <a:off x="566928" y="3200400"/>
            <a:ext cx="11057839" cy="310896"/>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Los seis estándares de contenido</a:t>
            </a:r>
            <a:endParaRPr lang="en-US" sz="1600" dirty="0"/>
          </a:p>
        </p:txBody>
      </p:sp>
      <p:sp>
        <p:nvSpPr>
          <p:cNvPr id="21" name="Shape 19"/>
          <p:cNvSpPr/>
          <p:nvPr/>
        </p:nvSpPr>
        <p:spPr>
          <a:xfrm>
            <a:off x="566928" y="3611880"/>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2" name="Shape 20"/>
          <p:cNvSpPr/>
          <p:nvPr/>
        </p:nvSpPr>
        <p:spPr>
          <a:xfrm>
            <a:off x="749808" y="3758184"/>
            <a:ext cx="457200" cy="457200"/>
          </a:xfrm>
          <a:prstGeom prst="ellipse">
            <a:avLst/>
          </a:prstGeom>
          <a:solidFill>
            <a:srgbClr val="1B2A4A"/>
          </a:solidFill>
          <a:ln/>
        </p:spPr>
        <p:txBody>
          <a:bodyPr/>
          <a:lstStyle/>
          <a:p>
            <a:endParaRPr lang="en-PR"/>
          </a:p>
        </p:txBody>
      </p:sp>
      <p:sp>
        <p:nvSpPr>
          <p:cNvPr id="23" name="Text 21"/>
          <p:cNvSpPr txBox="1"/>
          <p:nvPr/>
        </p:nvSpPr>
        <p:spPr>
          <a:xfrm>
            <a:off x="749808" y="3758184"/>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N</a:t>
            </a:r>
            <a:endParaRPr lang="en-US" sz="1700" dirty="0"/>
          </a:p>
        </p:txBody>
      </p:sp>
      <p:sp>
        <p:nvSpPr>
          <p:cNvPr id="24" name="Text 22"/>
          <p:cNvSpPr txBox="1"/>
          <p:nvPr/>
        </p:nvSpPr>
        <p:spPr>
          <a:xfrm>
            <a:off x="1353312" y="3611880"/>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Numeración y operación</a:t>
            </a:r>
            <a:endParaRPr lang="en-US" sz="1250" dirty="0"/>
          </a:p>
        </p:txBody>
      </p:sp>
      <p:sp>
        <p:nvSpPr>
          <p:cNvPr id="25" name="Shape 23"/>
          <p:cNvSpPr/>
          <p:nvPr/>
        </p:nvSpPr>
        <p:spPr>
          <a:xfrm>
            <a:off x="4329074" y="3611880"/>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4511954" y="3758184"/>
            <a:ext cx="457200" cy="457200"/>
          </a:xfrm>
          <a:prstGeom prst="ellipse">
            <a:avLst/>
          </a:prstGeom>
          <a:solidFill>
            <a:srgbClr val="1B2A4A"/>
          </a:solidFill>
          <a:ln/>
        </p:spPr>
        <p:txBody>
          <a:bodyPr/>
          <a:lstStyle/>
          <a:p>
            <a:endParaRPr lang="en-PR"/>
          </a:p>
        </p:txBody>
      </p:sp>
      <p:sp>
        <p:nvSpPr>
          <p:cNvPr id="27" name="Text 25"/>
          <p:cNvSpPr txBox="1"/>
          <p:nvPr/>
        </p:nvSpPr>
        <p:spPr>
          <a:xfrm>
            <a:off x="4511954" y="3758184"/>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A</a:t>
            </a:r>
            <a:endParaRPr lang="en-US" sz="1700" dirty="0"/>
          </a:p>
        </p:txBody>
      </p:sp>
      <p:sp>
        <p:nvSpPr>
          <p:cNvPr id="28" name="Text 26"/>
          <p:cNvSpPr txBox="1"/>
          <p:nvPr/>
        </p:nvSpPr>
        <p:spPr>
          <a:xfrm>
            <a:off x="5115458" y="3611880"/>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Álgebra</a:t>
            </a:r>
            <a:endParaRPr lang="en-US" sz="1250" dirty="0"/>
          </a:p>
        </p:txBody>
      </p:sp>
      <p:sp>
        <p:nvSpPr>
          <p:cNvPr id="29" name="Shape 27"/>
          <p:cNvSpPr/>
          <p:nvPr/>
        </p:nvSpPr>
        <p:spPr>
          <a:xfrm>
            <a:off x="8091221" y="3611880"/>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8274101" y="3758184"/>
            <a:ext cx="457200" cy="457200"/>
          </a:xfrm>
          <a:prstGeom prst="ellipse">
            <a:avLst/>
          </a:prstGeom>
          <a:solidFill>
            <a:srgbClr val="1B2A4A"/>
          </a:solidFill>
          <a:ln/>
        </p:spPr>
        <p:txBody>
          <a:bodyPr/>
          <a:lstStyle/>
          <a:p>
            <a:endParaRPr lang="en-PR"/>
          </a:p>
        </p:txBody>
      </p:sp>
      <p:sp>
        <p:nvSpPr>
          <p:cNvPr id="31" name="Text 29"/>
          <p:cNvSpPr txBox="1"/>
          <p:nvPr/>
        </p:nvSpPr>
        <p:spPr>
          <a:xfrm>
            <a:off x="8274101" y="3758184"/>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G</a:t>
            </a:r>
            <a:endParaRPr lang="en-US" sz="1700" dirty="0"/>
          </a:p>
        </p:txBody>
      </p:sp>
      <p:sp>
        <p:nvSpPr>
          <p:cNvPr id="32" name="Text 30"/>
          <p:cNvSpPr txBox="1"/>
          <p:nvPr/>
        </p:nvSpPr>
        <p:spPr>
          <a:xfrm>
            <a:off x="8877605" y="3611880"/>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Geometría</a:t>
            </a:r>
            <a:endParaRPr lang="en-US" sz="1250" dirty="0"/>
          </a:p>
        </p:txBody>
      </p:sp>
      <p:sp>
        <p:nvSpPr>
          <p:cNvPr id="33" name="Shape 31"/>
          <p:cNvSpPr/>
          <p:nvPr/>
        </p:nvSpPr>
        <p:spPr>
          <a:xfrm>
            <a:off x="566928" y="4507992"/>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4" name="Shape 32"/>
          <p:cNvSpPr/>
          <p:nvPr/>
        </p:nvSpPr>
        <p:spPr>
          <a:xfrm>
            <a:off x="749808" y="4654296"/>
            <a:ext cx="457200" cy="457200"/>
          </a:xfrm>
          <a:prstGeom prst="ellipse">
            <a:avLst/>
          </a:prstGeom>
          <a:solidFill>
            <a:srgbClr val="1B2A4A"/>
          </a:solidFill>
          <a:ln/>
        </p:spPr>
        <p:txBody>
          <a:bodyPr/>
          <a:lstStyle/>
          <a:p>
            <a:endParaRPr lang="en-PR"/>
          </a:p>
        </p:txBody>
      </p:sp>
      <p:sp>
        <p:nvSpPr>
          <p:cNvPr id="35" name="Text 33"/>
          <p:cNvSpPr txBox="1"/>
          <p:nvPr/>
        </p:nvSpPr>
        <p:spPr>
          <a:xfrm>
            <a:off x="749808" y="4654296"/>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M</a:t>
            </a:r>
            <a:endParaRPr lang="en-US" sz="1700" dirty="0"/>
          </a:p>
        </p:txBody>
      </p:sp>
      <p:sp>
        <p:nvSpPr>
          <p:cNvPr id="36" name="Text 34"/>
          <p:cNvSpPr txBox="1"/>
          <p:nvPr/>
        </p:nvSpPr>
        <p:spPr>
          <a:xfrm>
            <a:off x="1353312" y="4507992"/>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Medición</a:t>
            </a:r>
            <a:endParaRPr lang="en-US" sz="1250" dirty="0"/>
          </a:p>
        </p:txBody>
      </p:sp>
      <p:sp>
        <p:nvSpPr>
          <p:cNvPr id="37" name="Shape 35"/>
          <p:cNvSpPr/>
          <p:nvPr/>
        </p:nvSpPr>
        <p:spPr>
          <a:xfrm>
            <a:off x="4329074" y="4507992"/>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8" name="Shape 36"/>
          <p:cNvSpPr/>
          <p:nvPr/>
        </p:nvSpPr>
        <p:spPr>
          <a:xfrm>
            <a:off x="4511954" y="4654296"/>
            <a:ext cx="457200" cy="457200"/>
          </a:xfrm>
          <a:prstGeom prst="ellipse">
            <a:avLst/>
          </a:prstGeom>
          <a:solidFill>
            <a:srgbClr val="1B2A4A"/>
          </a:solidFill>
          <a:ln/>
        </p:spPr>
        <p:txBody>
          <a:bodyPr/>
          <a:lstStyle/>
          <a:p>
            <a:endParaRPr lang="en-PR"/>
          </a:p>
        </p:txBody>
      </p:sp>
      <p:sp>
        <p:nvSpPr>
          <p:cNvPr id="39" name="Text 37"/>
          <p:cNvSpPr txBox="1"/>
          <p:nvPr/>
        </p:nvSpPr>
        <p:spPr>
          <a:xfrm>
            <a:off x="4511954" y="4654296"/>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E</a:t>
            </a:r>
            <a:endParaRPr lang="en-US" sz="1700" dirty="0"/>
          </a:p>
        </p:txBody>
      </p:sp>
      <p:sp>
        <p:nvSpPr>
          <p:cNvPr id="40" name="Text 38"/>
          <p:cNvSpPr txBox="1"/>
          <p:nvPr/>
        </p:nvSpPr>
        <p:spPr>
          <a:xfrm>
            <a:off x="5115458" y="4507992"/>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Análisis de datos y probabilidad</a:t>
            </a:r>
            <a:endParaRPr lang="en-US" sz="1250" dirty="0"/>
          </a:p>
        </p:txBody>
      </p:sp>
      <p:sp>
        <p:nvSpPr>
          <p:cNvPr id="41" name="Shape 39"/>
          <p:cNvSpPr/>
          <p:nvPr/>
        </p:nvSpPr>
        <p:spPr>
          <a:xfrm>
            <a:off x="8091221" y="4507992"/>
            <a:ext cx="3533546" cy="749808"/>
          </a:xfrm>
          <a:prstGeom prst="roundRect">
            <a:avLst>
              <a:gd name="adj" fmla="val 1097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2" name="Shape 40"/>
          <p:cNvSpPr/>
          <p:nvPr/>
        </p:nvSpPr>
        <p:spPr>
          <a:xfrm>
            <a:off x="8274101" y="4654296"/>
            <a:ext cx="457200" cy="457200"/>
          </a:xfrm>
          <a:prstGeom prst="ellipse">
            <a:avLst/>
          </a:prstGeom>
          <a:solidFill>
            <a:srgbClr val="1B2A4A"/>
          </a:solidFill>
          <a:ln/>
        </p:spPr>
        <p:txBody>
          <a:bodyPr/>
          <a:lstStyle/>
          <a:p>
            <a:endParaRPr lang="en-PR"/>
          </a:p>
        </p:txBody>
      </p:sp>
      <p:sp>
        <p:nvSpPr>
          <p:cNvPr id="43" name="Text 41"/>
          <p:cNvSpPr txBox="1"/>
          <p:nvPr/>
        </p:nvSpPr>
        <p:spPr>
          <a:xfrm>
            <a:off x="8274101" y="4654296"/>
            <a:ext cx="457200" cy="457200"/>
          </a:xfrm>
          <a:prstGeom prst="rect">
            <a:avLst/>
          </a:prstGeom>
          <a:noFill/>
          <a:ln/>
        </p:spPr>
        <p:txBody>
          <a:bodyPr wrap="square" lIns="0" tIns="0" rIns="0" bIns="0" rtlCol="0" anchor="ctr"/>
          <a:lstStyle/>
          <a:p>
            <a:pPr marL="0" indent="0" algn="ctr">
              <a:buNone/>
            </a:pPr>
            <a:r>
              <a:rPr lang="en-US" sz="1700" b="1" dirty="0">
                <a:solidFill>
                  <a:srgbClr val="C9A84C"/>
                </a:solidFill>
                <a:latin typeface="Cambria" pitchFamily="34" charset="0"/>
                <a:ea typeface="Cambria" pitchFamily="34" charset="-122"/>
                <a:cs typeface="Cambria" pitchFamily="34" charset="-120"/>
              </a:rPr>
              <a:t>F</a:t>
            </a:r>
            <a:endParaRPr lang="en-US" sz="1700" dirty="0"/>
          </a:p>
        </p:txBody>
      </p:sp>
      <p:sp>
        <p:nvSpPr>
          <p:cNvPr id="44" name="Text 42"/>
          <p:cNvSpPr txBox="1"/>
          <p:nvPr/>
        </p:nvSpPr>
        <p:spPr>
          <a:xfrm>
            <a:off x="8877605" y="4507992"/>
            <a:ext cx="2564282" cy="74980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Funciones</a:t>
            </a:r>
            <a:endParaRPr lang="en-US" sz="1250" dirty="0"/>
          </a:p>
        </p:txBody>
      </p:sp>
      <p:sp>
        <p:nvSpPr>
          <p:cNvPr id="45" name="Text 43"/>
          <p:cNvSpPr txBox="1"/>
          <p:nvPr/>
        </p:nvSpPr>
        <p:spPr>
          <a:xfrm>
            <a:off x="566928" y="553212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
        <p:nvSpPr>
          <p:cNvPr id="46" name="Text 44"/>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Fuente: Estándares y expectativas — Programa de Matemáticas (DEPR, 2022).</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La secuencia de cursos de 3.º a 12.º en Puerto Rico</a:t>
            </a:r>
            <a:endParaRPr lang="en-US" sz="2700" dirty="0"/>
          </a:p>
        </p:txBody>
      </p:sp>
      <p:sp>
        <p:nvSpPr>
          <p:cNvPr id="4" name="Shape 2"/>
          <p:cNvSpPr/>
          <p:nvPr/>
        </p:nvSpPr>
        <p:spPr>
          <a:xfrm>
            <a:off x="566928" y="1325880"/>
            <a:ext cx="11057839" cy="1280160"/>
          </a:xfrm>
          <a:prstGeom prst="roundRect">
            <a:avLst>
              <a:gd name="adj" fmla="val 64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1965960" cy="1280160"/>
          </a:xfrm>
          <a:prstGeom prst="roundRect">
            <a:avLst>
              <a:gd name="adj" fmla="val 6429"/>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566928" y="1325880"/>
            <a:ext cx="1965960" cy="128016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3.º – 5.º</a:t>
            </a:r>
            <a:endParaRPr lang="en-US" sz="2100" dirty="0"/>
          </a:p>
        </p:txBody>
      </p:sp>
      <p:sp>
        <p:nvSpPr>
          <p:cNvPr id="7" name="Text 5"/>
          <p:cNvSpPr txBox="1"/>
          <p:nvPr/>
        </p:nvSpPr>
        <p:spPr>
          <a:xfrm>
            <a:off x="2779776" y="1453896"/>
            <a:ext cx="8588959" cy="420624"/>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Matemáticas de nivel elemental</a:t>
            </a:r>
            <a:endParaRPr lang="en-US" sz="1350" dirty="0"/>
          </a:p>
        </p:txBody>
      </p:sp>
      <p:sp>
        <p:nvSpPr>
          <p:cNvPr id="8" name="Text 6"/>
          <p:cNvSpPr txBox="1"/>
          <p:nvPr/>
        </p:nvSpPr>
        <p:spPr>
          <a:xfrm>
            <a:off x="2779776" y="1892808"/>
            <a:ext cx="8588959" cy="658368"/>
          </a:xfrm>
          <a:prstGeom prst="rect">
            <a:avLst/>
          </a:prstGeom>
          <a:noFill/>
          <a:ln/>
        </p:spPr>
        <p:txBody>
          <a:bodyPr wrap="square" lIns="0" tIns="0" rIns="0" bIns="0" rtlCol="0" anchor="t"/>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Numeración y operación con cardinales, fracciones y decimales; patrones; geometría de figuras planas; medición y datos.</a:t>
            </a:r>
            <a:endParaRPr lang="en-US" sz="1220" dirty="0"/>
          </a:p>
        </p:txBody>
      </p:sp>
      <p:sp>
        <p:nvSpPr>
          <p:cNvPr id="9" name="Shape 7"/>
          <p:cNvSpPr/>
          <p:nvPr/>
        </p:nvSpPr>
        <p:spPr>
          <a:xfrm>
            <a:off x="566928" y="2770632"/>
            <a:ext cx="11057839" cy="1280160"/>
          </a:xfrm>
          <a:prstGeom prst="roundRect">
            <a:avLst>
              <a:gd name="adj" fmla="val 64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566928" y="2770632"/>
            <a:ext cx="1965960" cy="1280160"/>
          </a:xfrm>
          <a:prstGeom prst="roundRect">
            <a:avLst>
              <a:gd name="adj" fmla="val 6429"/>
            </a:avLst>
          </a:prstGeom>
          <a:solidFill>
            <a:srgbClr val="2A9D8F"/>
          </a:solidFill>
          <a:ln w="12700">
            <a:solidFill>
              <a:srgbClr val="2A9D8F"/>
            </a:solidFill>
            <a:prstDash val="solid"/>
          </a:ln>
        </p:spPr>
        <p:txBody>
          <a:bodyPr/>
          <a:lstStyle/>
          <a:p>
            <a:endParaRPr lang="en-PR"/>
          </a:p>
        </p:txBody>
      </p:sp>
      <p:sp>
        <p:nvSpPr>
          <p:cNvPr id="11" name="Text 9"/>
          <p:cNvSpPr txBox="1"/>
          <p:nvPr/>
        </p:nvSpPr>
        <p:spPr>
          <a:xfrm>
            <a:off x="566928" y="2770632"/>
            <a:ext cx="1965960" cy="128016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6.º – 8.º</a:t>
            </a:r>
            <a:endParaRPr lang="en-US" sz="2100" dirty="0"/>
          </a:p>
        </p:txBody>
      </p:sp>
      <p:sp>
        <p:nvSpPr>
          <p:cNvPr id="12" name="Text 10"/>
          <p:cNvSpPr txBox="1"/>
          <p:nvPr/>
        </p:nvSpPr>
        <p:spPr>
          <a:xfrm>
            <a:off x="2779776" y="2898648"/>
            <a:ext cx="8588959" cy="420624"/>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6.º y 7.º (Preálgebra) · Álgebra I en 8.º</a:t>
            </a:r>
            <a:endParaRPr lang="en-US" sz="1350" dirty="0"/>
          </a:p>
        </p:txBody>
      </p:sp>
      <p:sp>
        <p:nvSpPr>
          <p:cNvPr id="13" name="Text 11"/>
          <p:cNvSpPr txBox="1"/>
          <p:nvPr/>
        </p:nvSpPr>
        <p:spPr>
          <a:xfrm>
            <a:off x="2779776" y="3337560"/>
            <a:ext cx="8588959" cy="658368"/>
          </a:xfrm>
          <a:prstGeom prst="rect">
            <a:avLst/>
          </a:prstGeom>
          <a:noFill/>
          <a:ln/>
        </p:spPr>
        <p:txBody>
          <a:bodyPr wrap="square" lIns="0" tIns="0" rIns="0" bIns="0" rtlCol="0" anchor="t"/>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Enteros y racionales; razón, proporción y por ciento; expresiones y ecuaciones; funciones lineales; geometría y estadística descriptiva.</a:t>
            </a:r>
            <a:endParaRPr lang="en-US" sz="1220" dirty="0"/>
          </a:p>
        </p:txBody>
      </p:sp>
      <p:sp>
        <p:nvSpPr>
          <p:cNvPr id="14" name="Shape 12"/>
          <p:cNvSpPr/>
          <p:nvPr/>
        </p:nvSpPr>
        <p:spPr>
          <a:xfrm>
            <a:off x="566928" y="4215384"/>
            <a:ext cx="11057839" cy="1280160"/>
          </a:xfrm>
          <a:prstGeom prst="roundRect">
            <a:avLst>
              <a:gd name="adj" fmla="val 64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566928" y="4215384"/>
            <a:ext cx="1965960" cy="1280160"/>
          </a:xfrm>
          <a:prstGeom prst="roundRect">
            <a:avLst>
              <a:gd name="adj" fmla="val 6429"/>
            </a:avLst>
          </a:prstGeom>
          <a:solidFill>
            <a:srgbClr val="C9A227"/>
          </a:solidFill>
          <a:ln w="12700">
            <a:solidFill>
              <a:srgbClr val="C9A227"/>
            </a:solidFill>
            <a:prstDash val="solid"/>
          </a:ln>
        </p:spPr>
        <p:txBody>
          <a:bodyPr/>
          <a:lstStyle/>
          <a:p>
            <a:endParaRPr lang="en-PR"/>
          </a:p>
        </p:txBody>
      </p:sp>
      <p:sp>
        <p:nvSpPr>
          <p:cNvPr id="16" name="Text 14"/>
          <p:cNvSpPr txBox="1"/>
          <p:nvPr/>
        </p:nvSpPr>
        <p:spPr>
          <a:xfrm>
            <a:off x="566928" y="4215384"/>
            <a:ext cx="1965960" cy="1280160"/>
          </a:xfrm>
          <a:prstGeom prst="rect">
            <a:avLst/>
          </a:prstGeom>
          <a:noFill/>
          <a:ln/>
        </p:spPr>
        <p:txBody>
          <a:bodyPr wrap="square" lIns="0" tIns="0" rIns="0" bIns="0" rtlCol="0" anchor="ctr"/>
          <a:lstStyle/>
          <a:p>
            <a:pPr marL="0" indent="0" algn="ctr">
              <a:buNone/>
            </a:pPr>
            <a:r>
              <a:rPr lang="en-US" sz="2100" b="1" dirty="0">
                <a:solidFill>
                  <a:srgbClr val="1B2A4A"/>
                </a:solidFill>
                <a:latin typeface="Cambria" pitchFamily="34" charset="0"/>
                <a:ea typeface="Cambria" pitchFamily="34" charset="-122"/>
                <a:cs typeface="Cambria" pitchFamily="34" charset="-120"/>
              </a:rPr>
              <a:t>9.º – 12.º</a:t>
            </a:r>
            <a:endParaRPr lang="en-US" sz="2100" dirty="0"/>
          </a:p>
        </p:txBody>
      </p:sp>
      <p:sp>
        <p:nvSpPr>
          <p:cNvPr id="17" name="Text 15"/>
          <p:cNvSpPr txBox="1"/>
          <p:nvPr/>
        </p:nvSpPr>
        <p:spPr>
          <a:xfrm>
            <a:off x="2779776" y="4343400"/>
            <a:ext cx="8588959" cy="420624"/>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Álgebra II (9.º) · Geometría (10.º) · Trigonometría (11.º) · Estadísticas o Precálculo (12.º)</a:t>
            </a:r>
            <a:endParaRPr lang="en-US" sz="1350" dirty="0"/>
          </a:p>
        </p:txBody>
      </p:sp>
      <p:sp>
        <p:nvSpPr>
          <p:cNvPr id="18" name="Text 16"/>
          <p:cNvSpPr txBox="1"/>
          <p:nvPr/>
        </p:nvSpPr>
        <p:spPr>
          <a:xfrm>
            <a:off x="2779776" y="4782312"/>
            <a:ext cx="8588959" cy="658368"/>
          </a:xfrm>
          <a:prstGeom prst="rect">
            <a:avLst/>
          </a:prstGeom>
          <a:noFill/>
          <a:ln/>
        </p:spPr>
        <p:txBody>
          <a:bodyPr wrap="square" lIns="0" tIns="0" rIns="0" bIns="0" rtlCol="0" anchor="t"/>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Funciones cuadráticas, polinómicas y exponenciales; razonamiento y demostración geométrica; razones trigonométricas; análisis e inferencia de datos.</a:t>
            </a:r>
            <a:endParaRPr lang="en-US" sz="1220" dirty="0"/>
          </a:p>
        </p:txBody>
      </p:sp>
      <p:sp>
        <p:nvSpPr>
          <p:cNvPr id="19" name="Shape 17"/>
          <p:cNvSpPr/>
          <p:nvPr/>
        </p:nvSpPr>
        <p:spPr>
          <a:xfrm>
            <a:off x="566928" y="5623560"/>
            <a:ext cx="11057839" cy="603504"/>
          </a:xfrm>
          <a:prstGeom prst="roundRect">
            <a:avLst>
              <a:gd name="adj" fmla="val 13636"/>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0" name="Text 18"/>
          <p:cNvSpPr txBox="1"/>
          <p:nvPr/>
        </p:nvSpPr>
        <p:spPr>
          <a:xfrm>
            <a:off x="886968" y="5623560"/>
            <a:ext cx="10417759" cy="603504"/>
          </a:xfrm>
          <a:prstGeom prst="rect">
            <a:avLst/>
          </a:prstGeom>
          <a:noFill/>
          <a:ln/>
        </p:spPr>
        <p:txBody>
          <a:bodyPr wrap="square" lIns="0" tIns="0" rIns="0" bIns="0" rtlCol="0" anchor="ctr"/>
          <a:lstStyle/>
          <a:p>
            <a:pPr marL="0" indent="0">
              <a:buNone/>
            </a:pPr>
            <a:r>
              <a:rPr lang="en-US" sz="1250" b="1" dirty="0">
                <a:solidFill>
                  <a:srgbClr val="6E5610"/>
                </a:solidFill>
                <a:latin typeface="Calibri" pitchFamily="34" charset="0"/>
                <a:ea typeface="Calibri" pitchFamily="34" charset="-122"/>
                <a:cs typeface="Calibri" pitchFamily="34" charset="-120"/>
              </a:rPr>
              <a:t>El taller modela un ítem de cada tipo en cada uno de los tres niveles. El código de expectativa cambia; la arquitectura del ítem, no.</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Niveles de profundidad del conocimiento (DOK) en matemáticas</a:t>
            </a:r>
            <a:endParaRPr lang="en-US" sz="2700" dirty="0"/>
          </a:p>
        </p:txBody>
      </p:sp>
      <p:sp>
        <p:nvSpPr>
          <p:cNvPr id="4" name="Shape 2"/>
          <p:cNvSpPr/>
          <p:nvPr/>
        </p:nvSpPr>
        <p:spPr>
          <a:xfrm>
            <a:off x="566928"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2654732" cy="914400"/>
          </a:xfrm>
          <a:prstGeom prst="roundRect">
            <a:avLst>
              <a:gd name="adj" fmla="val 9000"/>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31520" y="1389888"/>
            <a:ext cx="2325548"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DOK 1</a:t>
            </a:r>
            <a:endParaRPr lang="en-US" sz="1900" dirty="0"/>
          </a:p>
        </p:txBody>
      </p:sp>
      <p:sp>
        <p:nvSpPr>
          <p:cNvPr id="7" name="Text 5"/>
          <p:cNvSpPr txBox="1"/>
          <p:nvPr/>
        </p:nvSpPr>
        <p:spPr>
          <a:xfrm>
            <a:off x="731520" y="1773936"/>
            <a:ext cx="2325548" cy="402336"/>
          </a:xfrm>
          <a:prstGeom prst="rect">
            <a:avLst/>
          </a:prstGeom>
          <a:noFill/>
          <a:ln/>
        </p:spPr>
        <p:txBody>
          <a:bodyPr wrap="square" lIns="0" tIns="0" rIns="0" bIns="0" rtlCol="0" anchor="t"/>
          <a:lstStyle/>
          <a:p>
            <a:pPr marL="0" indent="0">
              <a:buNone/>
            </a:pPr>
            <a:r>
              <a:rPr lang="en-US" sz="1180" b="1" dirty="0">
                <a:solidFill>
                  <a:srgbClr val="DCE6F2"/>
                </a:solidFill>
                <a:latin typeface="Calibri" pitchFamily="34" charset="0"/>
                <a:ea typeface="Calibri" pitchFamily="34" charset="-122"/>
                <a:cs typeface="Calibri" pitchFamily="34" charset="-120"/>
              </a:rPr>
              <a:t>Recordar y reproducir</a:t>
            </a:r>
            <a:endParaRPr lang="en-US" sz="1180" dirty="0"/>
          </a:p>
        </p:txBody>
      </p:sp>
      <p:sp>
        <p:nvSpPr>
          <p:cNvPr id="8" name="Text 6"/>
          <p:cNvSpPr txBox="1"/>
          <p:nvPr/>
        </p:nvSpPr>
        <p:spPr>
          <a:xfrm>
            <a:off x="749808"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9" name="Text 7"/>
          <p:cNvSpPr txBox="1"/>
          <p:nvPr/>
        </p:nvSpPr>
        <p:spPr>
          <a:xfrm>
            <a:off x="749808"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identificar · calcular · recordar · medir · reconocer · nombrar</a:t>
            </a:r>
            <a:endParaRPr lang="en-US" sz="1150" dirty="0"/>
          </a:p>
        </p:txBody>
      </p:sp>
      <p:sp>
        <p:nvSpPr>
          <p:cNvPr id="10" name="Text 8"/>
          <p:cNvSpPr txBox="1"/>
          <p:nvPr/>
        </p:nvSpPr>
        <p:spPr>
          <a:xfrm>
            <a:off x="749808"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11" name="Text 9"/>
          <p:cNvSpPr txBox="1"/>
          <p:nvPr/>
        </p:nvSpPr>
        <p:spPr>
          <a:xfrm>
            <a:off x="749808"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Multiplica 6 × 24.</a:t>
            </a:r>
            <a:endParaRPr lang="en-US" sz="1150" dirty="0"/>
          </a:p>
        </p:txBody>
      </p:sp>
      <p:sp>
        <p:nvSpPr>
          <p:cNvPr id="12" name="Shape 10"/>
          <p:cNvSpPr/>
          <p:nvPr/>
        </p:nvSpPr>
        <p:spPr>
          <a:xfrm>
            <a:off x="3367964"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3367964" y="1325880"/>
            <a:ext cx="2654732" cy="914400"/>
          </a:xfrm>
          <a:prstGeom prst="roundRect">
            <a:avLst>
              <a:gd name="adj" fmla="val 9000"/>
            </a:avLst>
          </a:prstGeom>
          <a:solidFill>
            <a:srgbClr val="2A9D8F"/>
          </a:solidFill>
          <a:ln w="12700">
            <a:solidFill>
              <a:srgbClr val="2A9D8F"/>
            </a:solidFill>
            <a:prstDash val="solid"/>
          </a:ln>
        </p:spPr>
        <p:txBody>
          <a:bodyPr/>
          <a:lstStyle/>
          <a:p>
            <a:endParaRPr lang="en-PR"/>
          </a:p>
        </p:txBody>
      </p:sp>
      <p:sp>
        <p:nvSpPr>
          <p:cNvPr id="14" name="Text 12"/>
          <p:cNvSpPr txBox="1"/>
          <p:nvPr/>
        </p:nvSpPr>
        <p:spPr>
          <a:xfrm>
            <a:off x="3532556" y="1389888"/>
            <a:ext cx="2325548"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DOK 2</a:t>
            </a:r>
            <a:endParaRPr lang="en-US" sz="1900" dirty="0"/>
          </a:p>
        </p:txBody>
      </p:sp>
      <p:sp>
        <p:nvSpPr>
          <p:cNvPr id="15" name="Text 13"/>
          <p:cNvSpPr txBox="1"/>
          <p:nvPr/>
        </p:nvSpPr>
        <p:spPr>
          <a:xfrm>
            <a:off x="3532556" y="1773936"/>
            <a:ext cx="2325548" cy="402336"/>
          </a:xfrm>
          <a:prstGeom prst="rect">
            <a:avLst/>
          </a:prstGeom>
          <a:noFill/>
          <a:ln/>
        </p:spPr>
        <p:txBody>
          <a:bodyPr wrap="square" lIns="0" tIns="0" rIns="0" bIns="0" rtlCol="0" anchor="t"/>
          <a:lstStyle/>
          <a:p>
            <a:pPr marL="0" indent="0">
              <a:buNone/>
            </a:pPr>
            <a:r>
              <a:rPr lang="en-US" sz="1180" b="1" dirty="0">
                <a:solidFill>
                  <a:srgbClr val="DCE6F2"/>
                </a:solidFill>
                <a:latin typeface="Calibri" pitchFamily="34" charset="0"/>
                <a:ea typeface="Calibri" pitchFamily="34" charset="-122"/>
                <a:cs typeface="Calibri" pitchFamily="34" charset="-120"/>
              </a:rPr>
              <a:t>Destreza y concepto</a:t>
            </a:r>
            <a:endParaRPr lang="en-US" sz="1180" dirty="0"/>
          </a:p>
        </p:txBody>
      </p:sp>
      <p:sp>
        <p:nvSpPr>
          <p:cNvPr id="16" name="Text 14"/>
          <p:cNvSpPr txBox="1"/>
          <p:nvPr/>
        </p:nvSpPr>
        <p:spPr>
          <a:xfrm>
            <a:off x="3550844"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17" name="Text 15"/>
          <p:cNvSpPr txBox="1"/>
          <p:nvPr/>
        </p:nvSpPr>
        <p:spPr>
          <a:xfrm>
            <a:off x="3550844"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clasificar · comparar · estimar · organizar · interpretar · resolver problemas de rutina</a:t>
            </a:r>
            <a:endParaRPr lang="en-US" sz="1150" dirty="0"/>
          </a:p>
        </p:txBody>
      </p:sp>
      <p:sp>
        <p:nvSpPr>
          <p:cNvPr id="18" name="Text 16"/>
          <p:cNvSpPr txBox="1"/>
          <p:nvPr/>
        </p:nvSpPr>
        <p:spPr>
          <a:xfrm>
            <a:off x="3550844"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19" name="Text 17"/>
          <p:cNvSpPr txBox="1"/>
          <p:nvPr/>
        </p:nvSpPr>
        <p:spPr>
          <a:xfrm>
            <a:off x="3550844"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Determina el precio de una mochila de $45.00 con 20 % de descuento.</a:t>
            </a:r>
            <a:endParaRPr lang="en-US" sz="1150" dirty="0"/>
          </a:p>
        </p:txBody>
      </p:sp>
      <p:sp>
        <p:nvSpPr>
          <p:cNvPr id="20" name="Shape 18"/>
          <p:cNvSpPr/>
          <p:nvPr/>
        </p:nvSpPr>
        <p:spPr>
          <a:xfrm>
            <a:off x="6169000"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6169000" y="1325880"/>
            <a:ext cx="2654732" cy="914400"/>
          </a:xfrm>
          <a:prstGeom prst="roundRect">
            <a:avLst>
              <a:gd name="adj" fmla="val 9000"/>
            </a:avLst>
          </a:prstGeom>
          <a:solidFill>
            <a:srgbClr val="C9A227"/>
          </a:solidFill>
          <a:ln w="12700">
            <a:solidFill>
              <a:srgbClr val="C9A227"/>
            </a:solidFill>
            <a:prstDash val="solid"/>
          </a:ln>
        </p:spPr>
        <p:txBody>
          <a:bodyPr/>
          <a:lstStyle/>
          <a:p>
            <a:endParaRPr lang="en-PR"/>
          </a:p>
        </p:txBody>
      </p:sp>
      <p:sp>
        <p:nvSpPr>
          <p:cNvPr id="22" name="Text 20"/>
          <p:cNvSpPr txBox="1"/>
          <p:nvPr/>
        </p:nvSpPr>
        <p:spPr>
          <a:xfrm>
            <a:off x="6333592" y="1389888"/>
            <a:ext cx="2325548" cy="384048"/>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DOK 3</a:t>
            </a:r>
            <a:endParaRPr lang="en-US" sz="1900" dirty="0"/>
          </a:p>
        </p:txBody>
      </p:sp>
      <p:sp>
        <p:nvSpPr>
          <p:cNvPr id="23" name="Text 21"/>
          <p:cNvSpPr txBox="1"/>
          <p:nvPr/>
        </p:nvSpPr>
        <p:spPr>
          <a:xfrm>
            <a:off x="6333592" y="1773936"/>
            <a:ext cx="2325548" cy="402336"/>
          </a:xfrm>
          <a:prstGeom prst="rect">
            <a:avLst/>
          </a:prstGeom>
          <a:noFill/>
          <a:ln/>
        </p:spPr>
        <p:txBody>
          <a:bodyPr wrap="square" lIns="0" tIns="0" rIns="0" bIns="0" rtlCol="0" anchor="t"/>
          <a:lstStyle/>
          <a:p>
            <a:pPr marL="0" indent="0">
              <a:buNone/>
            </a:pPr>
            <a:r>
              <a:rPr lang="en-US" sz="1180" b="1" dirty="0">
                <a:solidFill>
                  <a:srgbClr val="5A4A12"/>
                </a:solidFill>
                <a:latin typeface="Calibri" pitchFamily="34" charset="0"/>
                <a:ea typeface="Calibri" pitchFamily="34" charset="-122"/>
                <a:cs typeface="Calibri" pitchFamily="34" charset="-120"/>
              </a:rPr>
              <a:t>Razonamiento estratégico</a:t>
            </a:r>
            <a:endParaRPr lang="en-US" sz="1180" dirty="0"/>
          </a:p>
        </p:txBody>
      </p:sp>
      <p:sp>
        <p:nvSpPr>
          <p:cNvPr id="24" name="Text 22"/>
          <p:cNvSpPr txBox="1"/>
          <p:nvPr/>
        </p:nvSpPr>
        <p:spPr>
          <a:xfrm>
            <a:off x="6351880"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25" name="Text 23"/>
          <p:cNvSpPr txBox="1"/>
          <p:nvPr/>
        </p:nvSpPr>
        <p:spPr>
          <a:xfrm>
            <a:off x="6351880"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justificar · explicar · formular conjeturas · argumentar · resolver problemas no rutinarios</a:t>
            </a:r>
            <a:endParaRPr lang="en-US" sz="1150" dirty="0"/>
          </a:p>
        </p:txBody>
      </p:sp>
      <p:sp>
        <p:nvSpPr>
          <p:cNvPr id="26" name="Text 24"/>
          <p:cNvSpPr txBox="1"/>
          <p:nvPr/>
        </p:nvSpPr>
        <p:spPr>
          <a:xfrm>
            <a:off x="6351880"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27" name="Text 25"/>
          <p:cNvSpPr txBox="1"/>
          <p:nvPr/>
        </p:nvSpPr>
        <p:spPr>
          <a:xfrm>
            <a:off x="6351880"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Explica si 30 metros de cerca bastan para rodear el huerto. Justifica con los cálculos.</a:t>
            </a:r>
            <a:endParaRPr lang="en-US" sz="1150" dirty="0"/>
          </a:p>
        </p:txBody>
      </p:sp>
      <p:sp>
        <p:nvSpPr>
          <p:cNvPr id="28" name="Shape 26"/>
          <p:cNvSpPr/>
          <p:nvPr/>
        </p:nvSpPr>
        <p:spPr>
          <a:xfrm>
            <a:off x="8970035" y="1325880"/>
            <a:ext cx="2654732" cy="4160520"/>
          </a:xfrm>
          <a:prstGeom prst="roundRect">
            <a:avLst>
              <a:gd name="adj" fmla="val 31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8970035" y="1325880"/>
            <a:ext cx="2654732" cy="914400"/>
          </a:xfrm>
          <a:prstGeom prst="roundRect">
            <a:avLst>
              <a:gd name="adj" fmla="val 9000"/>
            </a:avLst>
          </a:prstGeom>
          <a:solidFill>
            <a:srgbClr val="A8322D"/>
          </a:solidFill>
          <a:ln w="12700">
            <a:solidFill>
              <a:srgbClr val="A8322D"/>
            </a:solidFill>
            <a:prstDash val="solid"/>
          </a:ln>
        </p:spPr>
        <p:txBody>
          <a:bodyPr/>
          <a:lstStyle/>
          <a:p>
            <a:endParaRPr lang="en-PR"/>
          </a:p>
        </p:txBody>
      </p:sp>
      <p:sp>
        <p:nvSpPr>
          <p:cNvPr id="30" name="Text 28"/>
          <p:cNvSpPr txBox="1"/>
          <p:nvPr/>
        </p:nvSpPr>
        <p:spPr>
          <a:xfrm>
            <a:off x="9134627" y="1389888"/>
            <a:ext cx="2325548"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DOK 4</a:t>
            </a:r>
            <a:endParaRPr lang="en-US" sz="1900" dirty="0"/>
          </a:p>
        </p:txBody>
      </p:sp>
      <p:sp>
        <p:nvSpPr>
          <p:cNvPr id="31" name="Text 29"/>
          <p:cNvSpPr txBox="1"/>
          <p:nvPr/>
        </p:nvSpPr>
        <p:spPr>
          <a:xfrm>
            <a:off x="9134627" y="1773936"/>
            <a:ext cx="2325548" cy="402336"/>
          </a:xfrm>
          <a:prstGeom prst="rect">
            <a:avLst/>
          </a:prstGeom>
          <a:noFill/>
          <a:ln/>
        </p:spPr>
        <p:txBody>
          <a:bodyPr wrap="square" lIns="0" tIns="0" rIns="0" bIns="0" rtlCol="0" anchor="t"/>
          <a:lstStyle/>
          <a:p>
            <a:pPr marL="0" indent="0">
              <a:buNone/>
            </a:pPr>
            <a:r>
              <a:rPr lang="en-US" sz="1180" b="1" dirty="0">
                <a:solidFill>
                  <a:srgbClr val="DCE6F2"/>
                </a:solidFill>
                <a:latin typeface="Calibri" pitchFamily="34" charset="0"/>
                <a:ea typeface="Calibri" pitchFamily="34" charset="-122"/>
                <a:cs typeface="Calibri" pitchFamily="34" charset="-120"/>
              </a:rPr>
              <a:t>Pensamiento extendido</a:t>
            </a:r>
            <a:endParaRPr lang="en-US" sz="1180" dirty="0"/>
          </a:p>
        </p:txBody>
      </p:sp>
      <p:sp>
        <p:nvSpPr>
          <p:cNvPr id="32" name="Text 30"/>
          <p:cNvSpPr txBox="1"/>
          <p:nvPr/>
        </p:nvSpPr>
        <p:spPr>
          <a:xfrm>
            <a:off x="9152915" y="2377440"/>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Verbos</a:t>
            </a:r>
            <a:endParaRPr lang="en-US" sz="1000" dirty="0"/>
          </a:p>
        </p:txBody>
      </p:sp>
      <p:sp>
        <p:nvSpPr>
          <p:cNvPr id="33" name="Text 31"/>
          <p:cNvSpPr txBox="1"/>
          <p:nvPr/>
        </p:nvSpPr>
        <p:spPr>
          <a:xfrm>
            <a:off x="9152915" y="2615184"/>
            <a:ext cx="2288972" cy="1170432"/>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diseñar · investigar · modelar · conectar varios conceptos · evaluar una afirmación</a:t>
            </a:r>
            <a:endParaRPr lang="en-US" sz="1150" dirty="0"/>
          </a:p>
        </p:txBody>
      </p:sp>
      <p:sp>
        <p:nvSpPr>
          <p:cNvPr id="34" name="Text 32"/>
          <p:cNvSpPr txBox="1"/>
          <p:nvPr/>
        </p:nvSpPr>
        <p:spPr>
          <a:xfrm>
            <a:off x="9152915" y="3858768"/>
            <a:ext cx="2288972" cy="237744"/>
          </a:xfrm>
          <a:prstGeom prst="rect">
            <a:avLst/>
          </a:prstGeom>
          <a:noFill/>
          <a:ln/>
        </p:spPr>
        <p:txBody>
          <a:bodyPr wrap="square" lIns="0" tIns="0" rIns="0" bIns="0" rtlCol="0" anchor="ctr"/>
          <a:lstStyle/>
          <a:p>
            <a:pPr marL="0" indent="0">
              <a:buNone/>
            </a:pPr>
            <a:r>
              <a:rPr lang="en-US" sz="1000" b="1" kern="0" spc="120" dirty="0">
                <a:solidFill>
                  <a:srgbClr val="C9A227"/>
                </a:solidFill>
                <a:latin typeface="Calibri" pitchFamily="34" charset="0"/>
                <a:ea typeface="Calibri" pitchFamily="34" charset="-122"/>
                <a:cs typeface="Calibri" pitchFamily="34" charset="-120"/>
              </a:rPr>
              <a:t>Ejemplo del taller</a:t>
            </a:r>
            <a:endParaRPr lang="en-US" sz="1000" dirty="0"/>
          </a:p>
        </p:txBody>
      </p:sp>
      <p:sp>
        <p:nvSpPr>
          <p:cNvPr id="35" name="Text 33"/>
          <p:cNvSpPr txBox="1"/>
          <p:nvPr/>
        </p:nvSpPr>
        <p:spPr>
          <a:xfrm>
            <a:off x="9152915" y="4096512"/>
            <a:ext cx="2288972" cy="1280160"/>
          </a:xfrm>
          <a:prstGeom prst="rect">
            <a:avLst/>
          </a:prstGeom>
          <a:noFill/>
          <a:ln/>
        </p:spPr>
        <p:txBody>
          <a:bodyPr wrap="square" lIns="0" tIns="0" rIns="0" bIns="0" rtlCol="0" anchor="t"/>
          <a:lstStyle/>
          <a:p>
            <a:pPr marL="0" indent="0">
              <a:lnSpc>
                <a:spcPct val="105000"/>
              </a:lnSpc>
              <a:buNone/>
            </a:pPr>
            <a:r>
              <a:rPr lang="en-US" sz="1150" i="1" dirty="0">
                <a:solidFill>
                  <a:srgbClr val="1F3864"/>
                </a:solidFill>
                <a:latin typeface="Calibri" pitchFamily="34" charset="0"/>
                <a:ea typeface="Calibri" pitchFamily="34" charset="-122"/>
                <a:cs typeface="Calibri" pitchFamily="34" charset="-120"/>
              </a:rPr>
              <a:t>Evalúa la afirmación «la mayoría obtuvo 90 o más» usando el conjunto de datos.</a:t>
            </a:r>
            <a:endParaRPr lang="en-US" sz="1150" dirty="0"/>
          </a:p>
        </p:txBody>
      </p:sp>
      <p:sp>
        <p:nvSpPr>
          <p:cNvPr id="36" name="Shape 34"/>
          <p:cNvSpPr/>
          <p:nvPr/>
        </p:nvSpPr>
        <p:spPr>
          <a:xfrm>
            <a:off x="566928" y="5623560"/>
            <a:ext cx="11057839" cy="621792"/>
          </a:xfrm>
          <a:prstGeom prst="roundRect">
            <a:avLst>
              <a:gd name="adj" fmla="val 13235"/>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886968" y="5623560"/>
            <a:ext cx="10417759" cy="621792"/>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Criterio de balance: una prueba de sala de clases debería colocar entre el 30 % y el 45 % de su puntuación en los niveles DOK 3 y 4. Ese porcentaje se declara en la planilla de especificaciones.</a:t>
            </a:r>
            <a:endParaRPr lang="en-US" sz="1250" dirty="0"/>
          </a:p>
        </p:txBody>
      </p:sp>
      <p:sp>
        <p:nvSpPr>
          <p:cNvPr id="38" name="Text 36"/>
          <p:cNvSpPr txBox="1"/>
          <p:nvPr/>
        </p:nvSpPr>
        <p:spPr>
          <a:xfrm>
            <a:off x="566928" y="6327648"/>
            <a:ext cx="11057839"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Tipos de preguntas para una prueba</a:t>
            </a:r>
            <a:endParaRPr lang="en-US" sz="2700" dirty="0"/>
          </a:p>
        </p:txBody>
      </p:sp>
      <p:sp>
        <p:nvSpPr>
          <p:cNvPr id="4" name="Shape 2"/>
          <p:cNvSpPr/>
          <p:nvPr/>
        </p:nvSpPr>
        <p:spPr>
          <a:xfrm>
            <a:off x="566928" y="1325880"/>
            <a:ext cx="5349240" cy="3703320"/>
          </a:xfrm>
          <a:prstGeom prst="roundRect">
            <a:avLst>
              <a:gd name="adj" fmla="val 222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59536" y="1481328"/>
            <a:ext cx="475488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Objetivas</a:t>
            </a:r>
            <a:endParaRPr lang="en-US" sz="1800" dirty="0"/>
          </a:p>
        </p:txBody>
      </p:sp>
      <p:sp>
        <p:nvSpPr>
          <p:cNvPr id="6" name="Text 4"/>
          <p:cNvSpPr txBox="1"/>
          <p:nvPr/>
        </p:nvSpPr>
        <p:spPr>
          <a:xfrm>
            <a:off x="859536" y="1965960"/>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Alternativas múltiples</a:t>
            </a:r>
            <a:endParaRPr lang="en-US" sz="1280" dirty="0"/>
          </a:p>
        </p:txBody>
      </p:sp>
      <p:sp>
        <p:nvSpPr>
          <p:cNvPr id="7" name="Text 5"/>
          <p:cNvSpPr txBox="1"/>
          <p:nvPr/>
        </p:nvSpPr>
        <p:spPr>
          <a:xfrm>
            <a:off x="3310128" y="1965960"/>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todos los niveles de pensamiento</a:t>
            </a:r>
            <a:endParaRPr lang="en-US" sz="1150" dirty="0"/>
          </a:p>
        </p:txBody>
      </p:sp>
      <p:sp>
        <p:nvSpPr>
          <p:cNvPr id="8" name="Text 6"/>
          <p:cNvSpPr txBox="1"/>
          <p:nvPr/>
        </p:nvSpPr>
        <p:spPr>
          <a:xfrm>
            <a:off x="859536" y="2450592"/>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Pareo</a:t>
            </a:r>
            <a:endParaRPr lang="en-US" sz="1280" dirty="0"/>
          </a:p>
        </p:txBody>
      </p:sp>
      <p:sp>
        <p:nvSpPr>
          <p:cNvPr id="9" name="Text 7"/>
          <p:cNvSpPr txBox="1"/>
          <p:nvPr/>
        </p:nvSpPr>
        <p:spPr>
          <a:xfrm>
            <a:off x="3310128" y="2450592"/>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memoria y comprensión</a:t>
            </a:r>
            <a:endParaRPr lang="en-US" sz="1150" dirty="0"/>
          </a:p>
        </p:txBody>
      </p:sp>
      <p:sp>
        <p:nvSpPr>
          <p:cNvPr id="10" name="Text 8"/>
          <p:cNvSpPr txBox="1"/>
          <p:nvPr/>
        </p:nvSpPr>
        <p:spPr>
          <a:xfrm>
            <a:off x="859536" y="2935224"/>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Cierto y falso</a:t>
            </a:r>
            <a:endParaRPr lang="en-US" sz="1280" dirty="0"/>
          </a:p>
        </p:txBody>
      </p:sp>
      <p:sp>
        <p:nvSpPr>
          <p:cNvPr id="11" name="Text 9"/>
          <p:cNvSpPr txBox="1"/>
          <p:nvPr/>
        </p:nvSpPr>
        <p:spPr>
          <a:xfrm>
            <a:off x="3310128" y="2935224"/>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hechos, datos, vocabulario</a:t>
            </a:r>
            <a:endParaRPr lang="en-US" sz="1150" dirty="0"/>
          </a:p>
        </p:txBody>
      </p:sp>
      <p:sp>
        <p:nvSpPr>
          <p:cNvPr id="12" name="Text 10"/>
          <p:cNvSpPr txBox="1"/>
          <p:nvPr/>
        </p:nvSpPr>
        <p:spPr>
          <a:xfrm>
            <a:off x="859536" y="3419856"/>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Orden de sucesos</a:t>
            </a:r>
            <a:endParaRPr lang="en-US" sz="1280" dirty="0"/>
          </a:p>
        </p:txBody>
      </p:sp>
      <p:sp>
        <p:nvSpPr>
          <p:cNvPr id="13" name="Text 11"/>
          <p:cNvSpPr txBox="1"/>
          <p:nvPr/>
        </p:nvSpPr>
        <p:spPr>
          <a:xfrm>
            <a:off x="3310128" y="3419856"/>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aplicación</a:t>
            </a:r>
            <a:endParaRPr lang="en-US" sz="1150" dirty="0"/>
          </a:p>
        </p:txBody>
      </p:sp>
      <p:sp>
        <p:nvSpPr>
          <p:cNvPr id="14" name="Text 12"/>
          <p:cNvSpPr txBox="1"/>
          <p:nvPr/>
        </p:nvSpPr>
        <p:spPr>
          <a:xfrm>
            <a:off x="859536" y="3904488"/>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Llena blancos</a:t>
            </a:r>
            <a:endParaRPr lang="en-US" sz="1280" dirty="0"/>
          </a:p>
        </p:txBody>
      </p:sp>
      <p:sp>
        <p:nvSpPr>
          <p:cNvPr id="15" name="Text 13"/>
          <p:cNvSpPr txBox="1"/>
          <p:nvPr/>
        </p:nvSpPr>
        <p:spPr>
          <a:xfrm>
            <a:off x="3310128" y="3904488"/>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memoria y comprensión</a:t>
            </a:r>
            <a:endParaRPr lang="en-US" sz="1150" dirty="0"/>
          </a:p>
        </p:txBody>
      </p:sp>
      <p:sp>
        <p:nvSpPr>
          <p:cNvPr id="16" name="Text 14"/>
          <p:cNvSpPr txBox="1"/>
          <p:nvPr/>
        </p:nvSpPr>
        <p:spPr>
          <a:xfrm>
            <a:off x="859536" y="4389120"/>
            <a:ext cx="2377440" cy="411480"/>
          </a:xfrm>
          <a:prstGeom prst="rect">
            <a:avLst/>
          </a:prstGeom>
          <a:noFill/>
          <a:ln/>
        </p:spPr>
        <p:txBody>
          <a:bodyPr wrap="square" lIns="0" tIns="0" rIns="0" bIns="0" rtlCol="0" anchor="ctr"/>
          <a:lstStyle/>
          <a:p>
            <a:pPr marL="0" indent="0">
              <a:buNone/>
            </a:pPr>
            <a:r>
              <a:rPr lang="en-US" sz="1280" b="1" dirty="0">
                <a:solidFill>
                  <a:srgbClr val="22303F"/>
                </a:solidFill>
                <a:latin typeface="Calibri" pitchFamily="34" charset="0"/>
                <a:ea typeface="Calibri" pitchFamily="34" charset="-122"/>
                <a:cs typeface="Calibri" pitchFamily="34" charset="-120"/>
              </a:rPr>
              <a:t>Pregunta cerrada</a:t>
            </a:r>
            <a:endParaRPr lang="en-US" sz="1280" dirty="0"/>
          </a:p>
        </p:txBody>
      </p:sp>
      <p:sp>
        <p:nvSpPr>
          <p:cNvPr id="17" name="Text 15"/>
          <p:cNvSpPr txBox="1"/>
          <p:nvPr/>
        </p:nvSpPr>
        <p:spPr>
          <a:xfrm>
            <a:off x="3310128" y="4389120"/>
            <a:ext cx="2286000" cy="411480"/>
          </a:xfrm>
          <a:prstGeom prst="rect">
            <a:avLst/>
          </a:prstGeom>
          <a:noFill/>
          <a:ln/>
        </p:spPr>
        <p:txBody>
          <a:bodyPr wrap="square" lIns="0" tIns="0" rIns="0" bIns="0" rtlCol="0" anchor="ctr"/>
          <a:lstStyle/>
          <a:p>
            <a:pPr marL="0" indent="0">
              <a:buNone/>
            </a:pPr>
            <a:r>
              <a:rPr lang="en-US" sz="1150" i="1" dirty="0">
                <a:solidFill>
                  <a:srgbClr val="5F6E7E"/>
                </a:solidFill>
                <a:latin typeface="Calibri" pitchFamily="34" charset="0"/>
                <a:ea typeface="Calibri" pitchFamily="34" charset="-122"/>
                <a:cs typeface="Calibri" pitchFamily="34" charset="-120"/>
              </a:rPr>
              <a:t>una sola respuesta posible</a:t>
            </a:r>
            <a:endParaRPr lang="en-US" sz="1150" dirty="0"/>
          </a:p>
        </p:txBody>
      </p:sp>
      <p:sp>
        <p:nvSpPr>
          <p:cNvPr id="18" name="Shape 16"/>
          <p:cNvSpPr/>
          <p:nvPr/>
        </p:nvSpPr>
        <p:spPr>
          <a:xfrm>
            <a:off x="6272784" y="1325880"/>
            <a:ext cx="5349240" cy="3703320"/>
          </a:xfrm>
          <a:prstGeom prst="roundRect">
            <a:avLst>
              <a:gd name="adj" fmla="val 222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9" name="Text 17"/>
          <p:cNvSpPr txBox="1"/>
          <p:nvPr/>
        </p:nvSpPr>
        <p:spPr>
          <a:xfrm>
            <a:off x="6565392" y="1481328"/>
            <a:ext cx="475488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Subjetivas</a:t>
            </a:r>
            <a:endParaRPr lang="en-US" sz="1800" dirty="0"/>
          </a:p>
        </p:txBody>
      </p:sp>
      <p:sp>
        <p:nvSpPr>
          <p:cNvPr id="20" name="Text 18"/>
          <p:cNvSpPr txBox="1"/>
          <p:nvPr/>
        </p:nvSpPr>
        <p:spPr>
          <a:xfrm>
            <a:off x="6565392" y="1965960"/>
            <a:ext cx="4754880" cy="1737360"/>
          </a:xfrm>
          <a:prstGeom prst="rect">
            <a:avLst/>
          </a:prstGeom>
          <a:noFill/>
          <a:ln/>
        </p:spPr>
        <p:txBody>
          <a:bodyPr wrap="square" lIns="0" tIns="0" rIns="0" bIns="0" rtlCol="0" anchor="ctr"/>
          <a:lstStyle/>
          <a:p>
            <a:pPr marL="0" indent="0">
              <a:lnSpc>
                <a:spcPct val="106000"/>
              </a:lnSpc>
              <a:buNone/>
            </a:pPr>
            <a:r>
              <a:rPr lang="en-US" sz="1280" b="1" dirty="0">
                <a:solidFill>
                  <a:srgbClr val="22303F"/>
                </a:solidFill>
                <a:latin typeface="Calibri" pitchFamily="34" charset="0"/>
                <a:ea typeface="Calibri" pitchFamily="34" charset="-122"/>
                <a:cs typeface="Calibri" pitchFamily="34" charset="-120"/>
              </a:rPr>
              <a:t>Pregunta de respuesta abierta</a:t>
            </a:r>
            <a:endParaRPr lang="en-US" sz="1280" dirty="0"/>
          </a:p>
          <a:p>
            <a:pPr marL="0" indent="0">
              <a:lnSpc>
                <a:spcPct val="106000"/>
              </a:lnSpc>
              <a:buNone/>
            </a:pPr>
            <a:r>
              <a:rPr lang="en-US" sz="1280" i="1" dirty="0">
                <a:solidFill>
                  <a:srgbClr val="5F6E7E"/>
                </a:solidFill>
                <a:latin typeface="Calibri" pitchFamily="34" charset="0"/>
                <a:ea typeface="Calibri" pitchFamily="34" charset="-122"/>
                <a:cs typeface="Calibri" pitchFamily="34" charset="-120"/>
              </a:rPr>
              <a:t>Requiere baremo o matriz de valoración. Alcanza todos los niveles de pensamiento.</a:t>
            </a:r>
            <a:endParaRPr lang="en-US" sz="1280" dirty="0"/>
          </a:p>
          <a:p>
            <a:pPr marL="0" indent="0">
              <a:lnSpc>
                <a:spcPct val="106000"/>
              </a:lnSpc>
              <a:buNone/>
            </a:pPr>
            <a:r>
              <a:rPr lang="en-US" sz="600" dirty="0">
                <a:solidFill>
                  <a:srgbClr val="22303F"/>
                </a:solidFill>
                <a:latin typeface="Calibri" pitchFamily="34" charset="0"/>
                <a:ea typeface="Calibri" pitchFamily="34" charset="-122"/>
                <a:cs typeface="Calibri" pitchFamily="34" charset="-120"/>
              </a:rPr>
              <a:t>​</a:t>
            </a:r>
            <a:endParaRPr lang="en-US" sz="1280" dirty="0"/>
          </a:p>
          <a:p>
            <a:pPr marL="0" indent="0">
              <a:lnSpc>
                <a:spcPct val="106000"/>
              </a:lnSpc>
              <a:buNone/>
            </a:pPr>
            <a:r>
              <a:rPr lang="en-US" sz="1280" b="1" dirty="0">
                <a:solidFill>
                  <a:srgbClr val="22303F"/>
                </a:solidFill>
                <a:latin typeface="Calibri" pitchFamily="34" charset="0"/>
                <a:ea typeface="Calibri" pitchFamily="34" charset="-122"/>
                <a:cs typeface="Calibri" pitchFamily="34" charset="-120"/>
              </a:rPr>
              <a:t>Cuadrículas</a:t>
            </a:r>
            <a:endParaRPr lang="en-US" sz="1280" dirty="0"/>
          </a:p>
          <a:p>
            <a:pPr marL="0" indent="0">
              <a:lnSpc>
                <a:spcPct val="106000"/>
              </a:lnSpc>
              <a:buNone/>
            </a:pPr>
            <a:r>
              <a:rPr lang="en-US" sz="1280" i="1" dirty="0">
                <a:solidFill>
                  <a:srgbClr val="5F6E7E"/>
                </a:solidFill>
                <a:latin typeface="Calibri" pitchFamily="34" charset="0"/>
                <a:ea typeface="Calibri" pitchFamily="34" charset="-122"/>
                <a:cs typeface="Calibri" pitchFamily="34" charset="-120"/>
              </a:rPr>
              <a:t>Solo para matemáticas; el estudiante transcribe su respuesta numérica.</a:t>
            </a:r>
            <a:endParaRPr lang="en-US" sz="1280" dirty="0"/>
          </a:p>
        </p:txBody>
      </p:sp>
      <p:sp>
        <p:nvSpPr>
          <p:cNvPr id="21" name="Shape 19"/>
          <p:cNvSpPr/>
          <p:nvPr/>
        </p:nvSpPr>
        <p:spPr>
          <a:xfrm>
            <a:off x="6272784" y="3611880"/>
            <a:ext cx="5349240" cy="1417320"/>
          </a:xfrm>
          <a:prstGeom prst="roundRect">
            <a:avLst>
              <a:gd name="adj" fmla="val 5806"/>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2" name="Text 20"/>
          <p:cNvSpPr txBox="1"/>
          <p:nvPr/>
        </p:nvSpPr>
        <p:spPr>
          <a:xfrm>
            <a:off x="6565392" y="3749040"/>
            <a:ext cx="4754880" cy="310896"/>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Por qué hoy no trabajamos «llena blancos»</a:t>
            </a:r>
            <a:endParaRPr lang="en-US" sz="1350" dirty="0"/>
          </a:p>
        </p:txBody>
      </p:sp>
      <p:sp>
        <p:nvSpPr>
          <p:cNvPr id="23" name="Text 21"/>
          <p:cNvSpPr txBox="1"/>
          <p:nvPr/>
        </p:nvSpPr>
        <p:spPr>
          <a:xfrm>
            <a:off x="6565392" y="4096512"/>
            <a:ext cx="4754880" cy="822960"/>
          </a:xfrm>
          <a:prstGeom prst="rect">
            <a:avLst/>
          </a:prstGeom>
          <a:noFill/>
          <a:ln/>
        </p:spPr>
        <p:txBody>
          <a:bodyPr wrap="square" lIns="0" tIns="0" rIns="0" bIns="0" rtlCol="0" anchor="ctr"/>
          <a:lstStyle/>
          <a:p>
            <a:pPr marL="0" indent="0">
              <a:lnSpc>
                <a:spcPct val="105000"/>
              </a:lnSpc>
              <a:buNone/>
            </a:pPr>
            <a:r>
              <a:rPr lang="en-US" sz="1200" dirty="0">
                <a:solidFill>
                  <a:srgbClr val="6E5610"/>
                </a:solidFill>
                <a:latin typeface="Calibri" pitchFamily="34" charset="0"/>
                <a:ea typeface="Calibri" pitchFamily="34" charset="-122"/>
                <a:cs typeface="Calibri" pitchFamily="34" charset="-120"/>
              </a:rPr>
              <a:t>Se limita a memoria y comprensión, castiga la ortografía y la sinonimia, y ofrece muy poca información diagnóstica sobre el razonamiento del estudiante.</a:t>
            </a:r>
            <a:endParaRPr lang="en-US" sz="1200" dirty="0"/>
          </a:p>
        </p:txBody>
      </p:sp>
      <p:sp>
        <p:nvSpPr>
          <p:cNvPr id="24" name="Shape 22"/>
          <p:cNvSpPr/>
          <p:nvPr/>
        </p:nvSpPr>
        <p:spPr>
          <a:xfrm>
            <a:off x="566928" y="5230368"/>
            <a:ext cx="11057839" cy="1005840"/>
          </a:xfrm>
          <a:prstGeom prst="roundRect">
            <a:avLst>
              <a:gd name="adj" fmla="val 81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932688" y="5230368"/>
            <a:ext cx="10326319"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Los tres formatos del taller de hoy:   selección múltiple   ·   respuesta abierta sencilla   ·   respuesta abierta de aplicación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El ítem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selección múltiple</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15 minutos  ·  Anatomía, reglas y diseño del distractor</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Premisa, estímulo, opciones y distractores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Reglas de redacción de la premisa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Reglas de redacción de las opciones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El distractor como diagnóstico</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Anatomía del ítem de selección múltiple</a:t>
            </a:r>
            <a:endParaRPr lang="en-US" sz="2700" dirty="0"/>
          </a:p>
        </p:txBody>
      </p:sp>
      <p:sp>
        <p:nvSpPr>
          <p:cNvPr id="4" name="Shape 2"/>
          <p:cNvSpPr/>
          <p:nvPr/>
        </p:nvSpPr>
        <p:spPr>
          <a:xfrm>
            <a:off x="566928" y="1371600"/>
            <a:ext cx="6492240" cy="3977640"/>
          </a:xfrm>
          <a:prstGeom prst="roundRect">
            <a:avLst>
              <a:gd name="adj" fmla="val 137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46888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46888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MODELO · 4.º GRADO</a:t>
            </a:r>
            <a:endParaRPr lang="en-US" sz="950" dirty="0"/>
          </a:p>
        </p:txBody>
      </p:sp>
      <p:sp>
        <p:nvSpPr>
          <p:cNvPr id="7" name="Text 5"/>
          <p:cNvSpPr txBox="1"/>
          <p:nvPr/>
        </p:nvSpPr>
        <p:spPr>
          <a:xfrm>
            <a:off x="859536" y="1691640"/>
            <a:ext cx="4206240" cy="274320"/>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Lee la información y contesta la pregunta.</a:t>
            </a:r>
            <a:endParaRPr lang="en-US" sz="1250" dirty="0"/>
          </a:p>
        </p:txBody>
      </p:sp>
      <p:sp>
        <p:nvSpPr>
          <p:cNvPr id="8" name="Shape 6"/>
          <p:cNvSpPr/>
          <p:nvPr/>
        </p:nvSpPr>
        <p:spPr>
          <a:xfrm>
            <a:off x="859536" y="2029968"/>
            <a:ext cx="4206240" cy="603504"/>
          </a:xfrm>
          <a:prstGeom prst="rect">
            <a:avLst/>
          </a:prstGeom>
          <a:solidFill>
            <a:srgbClr val="F8FAFC"/>
          </a:solidFill>
          <a:ln w="12700">
            <a:solidFill>
              <a:srgbClr val="5F6E7E"/>
            </a:solidFill>
            <a:prstDash val="solid"/>
          </a:ln>
        </p:spPr>
        <p:txBody>
          <a:bodyPr/>
          <a:lstStyle/>
          <a:p>
            <a:endParaRPr lang="en-PR"/>
          </a:p>
        </p:txBody>
      </p:sp>
      <p:sp>
        <p:nvSpPr>
          <p:cNvPr id="9" name="Text 7"/>
          <p:cNvSpPr txBox="1"/>
          <p:nvPr/>
        </p:nvSpPr>
        <p:spPr>
          <a:xfrm>
            <a:off x="978408" y="2029968"/>
            <a:ext cx="3977640" cy="603504"/>
          </a:xfrm>
          <a:prstGeom prst="rect">
            <a:avLst/>
          </a:prstGeom>
          <a:noFill/>
          <a:ln/>
        </p:spPr>
        <p:txBody>
          <a:bodyPr wrap="square" lIns="0" tIns="0" rIns="0" bIns="0" rtlCol="0" anchor="ctr"/>
          <a:lstStyle/>
          <a:p>
            <a:pPr marL="0" indent="0">
              <a:lnSpc>
                <a:spcPct val="102000"/>
              </a:lnSpc>
              <a:buNone/>
            </a:pPr>
            <a:r>
              <a:rPr lang="en-US" sz="1200" dirty="0">
                <a:solidFill>
                  <a:srgbClr val="22303F"/>
                </a:solidFill>
                <a:latin typeface="Calibri" pitchFamily="34" charset="0"/>
                <a:ea typeface="Calibri" pitchFamily="34" charset="-122"/>
                <a:cs typeface="Calibri" pitchFamily="34" charset="-120"/>
              </a:rPr>
              <a:t>La escuela compró 6 cajas de marcadores.</a:t>
            </a:r>
            <a:endParaRPr lang="en-US" sz="1200" dirty="0"/>
          </a:p>
          <a:p>
            <a:pPr marL="0" indent="0">
              <a:lnSpc>
                <a:spcPct val="102000"/>
              </a:lnSpc>
              <a:buNone/>
            </a:pPr>
            <a:r>
              <a:rPr lang="en-US" sz="1200" dirty="0">
                <a:solidFill>
                  <a:srgbClr val="22303F"/>
                </a:solidFill>
                <a:latin typeface="Calibri" pitchFamily="34" charset="0"/>
                <a:ea typeface="Calibri" pitchFamily="34" charset="-122"/>
                <a:cs typeface="Calibri" pitchFamily="34" charset="-120"/>
              </a:rPr>
              <a:t>Cada caja tiene 24 marcadores.</a:t>
            </a:r>
            <a:endParaRPr lang="en-US" sz="1200" dirty="0"/>
          </a:p>
        </p:txBody>
      </p:sp>
      <p:sp>
        <p:nvSpPr>
          <p:cNvPr id="10" name="Text 8"/>
          <p:cNvSpPr txBox="1"/>
          <p:nvPr/>
        </p:nvSpPr>
        <p:spPr>
          <a:xfrm>
            <a:off x="859536" y="2743200"/>
            <a:ext cx="4206240" cy="2743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¿Cuántos marcadores compró la escuela en total?</a:t>
            </a:r>
            <a:endParaRPr lang="en-US" sz="1250" dirty="0"/>
          </a:p>
        </p:txBody>
      </p:sp>
      <p:sp>
        <p:nvSpPr>
          <p:cNvPr id="11" name="Shape 9"/>
          <p:cNvSpPr/>
          <p:nvPr/>
        </p:nvSpPr>
        <p:spPr>
          <a:xfrm>
            <a:off x="950976" y="3209544"/>
            <a:ext cx="173736" cy="173736"/>
          </a:xfrm>
          <a:prstGeom prst="ellipse">
            <a:avLst/>
          </a:prstGeom>
          <a:solidFill>
            <a:srgbClr val="FFFFFF"/>
          </a:solidFill>
          <a:ln w="12700">
            <a:solidFill>
              <a:srgbClr val="5F6E7E"/>
            </a:solidFill>
            <a:prstDash val="solid"/>
          </a:ln>
        </p:spPr>
        <p:txBody>
          <a:bodyPr/>
          <a:lstStyle/>
          <a:p>
            <a:endParaRPr lang="en-PR"/>
          </a:p>
        </p:txBody>
      </p:sp>
      <p:sp>
        <p:nvSpPr>
          <p:cNvPr id="12" name="Text 10"/>
          <p:cNvSpPr txBox="1"/>
          <p:nvPr/>
        </p:nvSpPr>
        <p:spPr>
          <a:xfrm>
            <a:off x="1280160" y="3127248"/>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A.   30</a:t>
            </a:r>
            <a:endParaRPr lang="en-US" sz="1250" dirty="0"/>
          </a:p>
        </p:txBody>
      </p:sp>
      <p:sp>
        <p:nvSpPr>
          <p:cNvPr id="13" name="Shape 11"/>
          <p:cNvSpPr/>
          <p:nvPr/>
        </p:nvSpPr>
        <p:spPr>
          <a:xfrm>
            <a:off x="950976" y="3685032"/>
            <a:ext cx="173736" cy="173736"/>
          </a:xfrm>
          <a:prstGeom prst="ellipse">
            <a:avLst/>
          </a:prstGeom>
          <a:solidFill>
            <a:srgbClr val="FFFFFF"/>
          </a:solidFill>
          <a:ln w="12700">
            <a:solidFill>
              <a:srgbClr val="5F6E7E"/>
            </a:solidFill>
            <a:prstDash val="solid"/>
          </a:ln>
        </p:spPr>
        <p:txBody>
          <a:bodyPr/>
          <a:lstStyle/>
          <a:p>
            <a:endParaRPr lang="en-PR"/>
          </a:p>
        </p:txBody>
      </p:sp>
      <p:sp>
        <p:nvSpPr>
          <p:cNvPr id="14" name="Text 12"/>
          <p:cNvSpPr txBox="1"/>
          <p:nvPr/>
        </p:nvSpPr>
        <p:spPr>
          <a:xfrm>
            <a:off x="1280160" y="3602736"/>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B.   124</a:t>
            </a:r>
            <a:endParaRPr lang="en-US" sz="1250" dirty="0"/>
          </a:p>
        </p:txBody>
      </p:sp>
      <p:sp>
        <p:nvSpPr>
          <p:cNvPr id="15" name="Shape 13"/>
          <p:cNvSpPr/>
          <p:nvPr/>
        </p:nvSpPr>
        <p:spPr>
          <a:xfrm>
            <a:off x="950976" y="4160520"/>
            <a:ext cx="173736" cy="173736"/>
          </a:xfrm>
          <a:prstGeom prst="ellipse">
            <a:avLst/>
          </a:prstGeom>
          <a:solidFill>
            <a:srgbClr val="FFFFFF"/>
          </a:solidFill>
          <a:ln w="12700">
            <a:solidFill>
              <a:srgbClr val="5F6E7E"/>
            </a:solidFill>
            <a:prstDash val="solid"/>
          </a:ln>
        </p:spPr>
        <p:txBody>
          <a:bodyPr/>
          <a:lstStyle/>
          <a:p>
            <a:endParaRPr lang="en-PR"/>
          </a:p>
        </p:txBody>
      </p:sp>
      <p:sp>
        <p:nvSpPr>
          <p:cNvPr id="16" name="Text 14"/>
          <p:cNvSpPr txBox="1"/>
          <p:nvPr/>
        </p:nvSpPr>
        <p:spPr>
          <a:xfrm>
            <a:off x="1280160" y="4078224"/>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C.   144</a:t>
            </a:r>
            <a:endParaRPr lang="en-US" sz="1250" dirty="0"/>
          </a:p>
        </p:txBody>
      </p:sp>
      <p:sp>
        <p:nvSpPr>
          <p:cNvPr id="17" name="Shape 15"/>
          <p:cNvSpPr/>
          <p:nvPr/>
        </p:nvSpPr>
        <p:spPr>
          <a:xfrm>
            <a:off x="950976" y="4636008"/>
            <a:ext cx="173736" cy="173736"/>
          </a:xfrm>
          <a:prstGeom prst="ellipse">
            <a:avLst/>
          </a:prstGeom>
          <a:solidFill>
            <a:srgbClr val="FFFFFF"/>
          </a:solidFill>
          <a:ln w="12700">
            <a:solidFill>
              <a:srgbClr val="5F6E7E"/>
            </a:solidFill>
            <a:prstDash val="solid"/>
          </a:ln>
        </p:spPr>
        <p:txBody>
          <a:bodyPr/>
          <a:lstStyle/>
          <a:p>
            <a:endParaRPr lang="en-PR"/>
          </a:p>
        </p:txBody>
      </p:sp>
      <p:sp>
        <p:nvSpPr>
          <p:cNvPr id="18" name="Text 16"/>
          <p:cNvSpPr txBox="1"/>
          <p:nvPr/>
        </p:nvSpPr>
        <p:spPr>
          <a:xfrm>
            <a:off x="1280160" y="4553712"/>
            <a:ext cx="2743200" cy="347472"/>
          </a:xfrm>
          <a:prstGeom prst="rect">
            <a:avLst/>
          </a:prstGeom>
          <a:noFill/>
          <a:ln/>
        </p:spPr>
        <p:txBody>
          <a:bodyPr wrap="square" lIns="0" tIns="0" rIns="0" bIns="0" rtlCol="0" anchor="ctr"/>
          <a:lstStyle/>
          <a:p>
            <a:pPr marL="0" indent="0">
              <a:buNone/>
            </a:pPr>
            <a:r>
              <a:rPr lang="en-US" sz="1250" dirty="0">
                <a:solidFill>
                  <a:srgbClr val="22303F"/>
                </a:solidFill>
                <a:latin typeface="Calibri" pitchFamily="34" charset="0"/>
                <a:ea typeface="Calibri" pitchFamily="34" charset="-122"/>
                <a:cs typeface="Calibri" pitchFamily="34" charset="-120"/>
              </a:rPr>
              <a:t>D.   164</a:t>
            </a:r>
            <a:endParaRPr lang="en-US" sz="1250" dirty="0"/>
          </a:p>
        </p:txBody>
      </p:sp>
      <p:sp>
        <p:nvSpPr>
          <p:cNvPr id="19" name="Shape 17"/>
          <p:cNvSpPr/>
          <p:nvPr/>
        </p:nvSpPr>
        <p:spPr>
          <a:xfrm>
            <a:off x="5184648" y="2313432"/>
            <a:ext cx="457200" cy="0"/>
          </a:xfrm>
          <a:prstGeom prst="line">
            <a:avLst/>
          </a:prstGeom>
          <a:noFill/>
          <a:ln w="17780">
            <a:solidFill>
              <a:srgbClr val="2A9D8F"/>
            </a:solidFill>
            <a:prstDash val="solid"/>
            <a:tailEnd type="triangle"/>
          </a:ln>
        </p:spPr>
        <p:txBody>
          <a:bodyPr/>
          <a:lstStyle/>
          <a:p>
            <a:endParaRPr lang="en-PR"/>
          </a:p>
        </p:txBody>
      </p:sp>
      <p:sp>
        <p:nvSpPr>
          <p:cNvPr id="20" name="Text 18"/>
          <p:cNvSpPr txBox="1"/>
          <p:nvPr/>
        </p:nvSpPr>
        <p:spPr>
          <a:xfrm>
            <a:off x="5760720" y="2121408"/>
            <a:ext cx="1225296" cy="402336"/>
          </a:xfrm>
          <a:prstGeom prst="rect">
            <a:avLst/>
          </a:prstGeom>
          <a:noFill/>
          <a:ln/>
        </p:spPr>
        <p:txBody>
          <a:bodyPr wrap="square" lIns="0" tIns="0" rIns="0" bIns="0" rtlCol="0" anchor="ctr"/>
          <a:lstStyle/>
          <a:p>
            <a:pPr marL="0" indent="0">
              <a:buNone/>
            </a:pPr>
            <a:r>
              <a:rPr lang="en-US" sz="1000" b="1" dirty="0">
                <a:solidFill>
                  <a:srgbClr val="2A9D8F"/>
                </a:solidFill>
                <a:latin typeface="Calibri" pitchFamily="34" charset="0"/>
                <a:ea typeface="Calibri" pitchFamily="34" charset="-122"/>
                <a:cs typeface="Calibri" pitchFamily="34" charset="-120"/>
              </a:rPr>
              <a:t>Estímulo</a:t>
            </a:r>
            <a:endParaRPr lang="en-US" sz="1000" dirty="0"/>
          </a:p>
        </p:txBody>
      </p:sp>
      <p:sp>
        <p:nvSpPr>
          <p:cNvPr id="21" name="Shape 19"/>
          <p:cNvSpPr/>
          <p:nvPr/>
        </p:nvSpPr>
        <p:spPr>
          <a:xfrm>
            <a:off x="5184648" y="2862072"/>
            <a:ext cx="457200" cy="0"/>
          </a:xfrm>
          <a:prstGeom prst="line">
            <a:avLst/>
          </a:prstGeom>
          <a:noFill/>
          <a:ln w="17780">
            <a:solidFill>
              <a:srgbClr val="1B2A4A"/>
            </a:solidFill>
            <a:prstDash val="solid"/>
            <a:tailEnd type="triangle"/>
          </a:ln>
        </p:spPr>
        <p:txBody>
          <a:bodyPr/>
          <a:lstStyle/>
          <a:p>
            <a:endParaRPr lang="en-PR"/>
          </a:p>
        </p:txBody>
      </p:sp>
      <p:sp>
        <p:nvSpPr>
          <p:cNvPr id="22" name="Text 20"/>
          <p:cNvSpPr txBox="1"/>
          <p:nvPr/>
        </p:nvSpPr>
        <p:spPr>
          <a:xfrm>
            <a:off x="5760720" y="2670048"/>
            <a:ext cx="1225296" cy="402336"/>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Premisa</a:t>
            </a:r>
            <a:endParaRPr lang="en-US" sz="1000" dirty="0"/>
          </a:p>
        </p:txBody>
      </p:sp>
      <p:sp>
        <p:nvSpPr>
          <p:cNvPr id="23" name="Shape 21"/>
          <p:cNvSpPr/>
          <p:nvPr/>
        </p:nvSpPr>
        <p:spPr>
          <a:xfrm>
            <a:off x="5184648" y="3776472"/>
            <a:ext cx="457200" cy="0"/>
          </a:xfrm>
          <a:prstGeom prst="line">
            <a:avLst/>
          </a:prstGeom>
          <a:noFill/>
          <a:ln w="17780">
            <a:solidFill>
              <a:srgbClr val="C9A227"/>
            </a:solidFill>
            <a:prstDash val="solid"/>
            <a:tailEnd type="triangle"/>
          </a:ln>
        </p:spPr>
        <p:txBody>
          <a:bodyPr/>
          <a:lstStyle/>
          <a:p>
            <a:endParaRPr lang="en-PR"/>
          </a:p>
        </p:txBody>
      </p:sp>
      <p:sp>
        <p:nvSpPr>
          <p:cNvPr id="24" name="Text 22"/>
          <p:cNvSpPr txBox="1"/>
          <p:nvPr/>
        </p:nvSpPr>
        <p:spPr>
          <a:xfrm>
            <a:off x="5760720" y="3584448"/>
            <a:ext cx="1225296" cy="402336"/>
          </a:xfrm>
          <a:prstGeom prst="rect">
            <a:avLst/>
          </a:prstGeom>
          <a:noFill/>
          <a:ln/>
        </p:spPr>
        <p:txBody>
          <a:bodyPr wrap="square" lIns="0" tIns="0" rIns="0" bIns="0" rtlCol="0" anchor="ctr"/>
          <a:lstStyle/>
          <a:p>
            <a:pPr marL="0" indent="0">
              <a:buNone/>
            </a:pPr>
            <a:r>
              <a:rPr lang="en-US" sz="1000" b="1" dirty="0">
                <a:solidFill>
                  <a:srgbClr val="C9A227"/>
                </a:solidFill>
                <a:latin typeface="Calibri" pitchFamily="34" charset="0"/>
                <a:ea typeface="Calibri" pitchFamily="34" charset="-122"/>
                <a:cs typeface="Calibri" pitchFamily="34" charset="-120"/>
              </a:rPr>
              <a:t>Opciones de respuesta</a:t>
            </a:r>
            <a:endParaRPr lang="en-US" sz="1000" dirty="0"/>
          </a:p>
        </p:txBody>
      </p:sp>
      <p:sp>
        <p:nvSpPr>
          <p:cNvPr id="25" name="Shape 23"/>
          <p:cNvSpPr/>
          <p:nvPr/>
        </p:nvSpPr>
        <p:spPr>
          <a:xfrm>
            <a:off x="5184648" y="4690872"/>
            <a:ext cx="457200" cy="0"/>
          </a:xfrm>
          <a:prstGeom prst="line">
            <a:avLst/>
          </a:prstGeom>
          <a:noFill/>
          <a:ln w="17780">
            <a:solidFill>
              <a:srgbClr val="A8322D"/>
            </a:solidFill>
            <a:prstDash val="solid"/>
            <a:tailEnd type="triangle"/>
          </a:ln>
        </p:spPr>
        <p:txBody>
          <a:bodyPr/>
          <a:lstStyle/>
          <a:p>
            <a:endParaRPr lang="en-PR"/>
          </a:p>
        </p:txBody>
      </p:sp>
      <p:sp>
        <p:nvSpPr>
          <p:cNvPr id="26" name="Text 24"/>
          <p:cNvSpPr txBox="1"/>
          <p:nvPr/>
        </p:nvSpPr>
        <p:spPr>
          <a:xfrm>
            <a:off x="5760720" y="4498848"/>
            <a:ext cx="1225296" cy="402336"/>
          </a:xfrm>
          <a:prstGeom prst="rect">
            <a:avLst/>
          </a:prstGeom>
          <a:noFill/>
          <a:ln/>
        </p:spPr>
        <p:txBody>
          <a:bodyPr wrap="square" lIns="0" tIns="0" rIns="0" bIns="0" rtlCol="0" anchor="ctr"/>
          <a:lstStyle/>
          <a:p>
            <a:pPr marL="0" indent="0">
              <a:buNone/>
            </a:pPr>
            <a:r>
              <a:rPr lang="en-US" sz="1000" b="1" dirty="0">
                <a:solidFill>
                  <a:srgbClr val="A8322D"/>
                </a:solidFill>
                <a:latin typeface="Calibri" pitchFamily="34" charset="0"/>
                <a:ea typeface="Calibri" pitchFamily="34" charset="-122"/>
                <a:cs typeface="Calibri" pitchFamily="34" charset="-120"/>
              </a:rPr>
              <a:t>Distractores  (A, B y D)</a:t>
            </a:r>
            <a:endParaRPr lang="en-US" sz="1000" dirty="0"/>
          </a:p>
        </p:txBody>
      </p:sp>
      <p:sp>
        <p:nvSpPr>
          <p:cNvPr id="27" name="Shape 25"/>
          <p:cNvSpPr/>
          <p:nvPr/>
        </p:nvSpPr>
        <p:spPr>
          <a:xfrm>
            <a:off x="7424928" y="1371600"/>
            <a:ext cx="4199839" cy="932688"/>
          </a:xfrm>
          <a:prstGeom prst="roundRect">
            <a:avLst>
              <a:gd name="adj" fmla="val 882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8" name="Text 26"/>
          <p:cNvSpPr txBox="1"/>
          <p:nvPr/>
        </p:nvSpPr>
        <p:spPr>
          <a:xfrm>
            <a:off x="7653528" y="1463040"/>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Premisa</a:t>
            </a:r>
            <a:endParaRPr lang="en-US" sz="1350" dirty="0"/>
          </a:p>
        </p:txBody>
      </p:sp>
      <p:sp>
        <p:nvSpPr>
          <p:cNvPr id="29" name="Text 27"/>
          <p:cNvSpPr txBox="1"/>
          <p:nvPr/>
        </p:nvSpPr>
        <p:spPr>
          <a:xfrm>
            <a:off x="7653528" y="1737360"/>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Parte del ítem que establece lo que el estudiante debe contestar.</a:t>
            </a:r>
            <a:endParaRPr lang="en-US" sz="1150" dirty="0"/>
          </a:p>
        </p:txBody>
      </p:sp>
      <p:sp>
        <p:nvSpPr>
          <p:cNvPr id="30" name="Shape 28"/>
          <p:cNvSpPr/>
          <p:nvPr/>
        </p:nvSpPr>
        <p:spPr>
          <a:xfrm>
            <a:off x="7424928" y="2414016"/>
            <a:ext cx="4199839" cy="932688"/>
          </a:xfrm>
          <a:prstGeom prst="roundRect">
            <a:avLst>
              <a:gd name="adj" fmla="val 882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1" name="Text 29"/>
          <p:cNvSpPr txBox="1"/>
          <p:nvPr/>
        </p:nvSpPr>
        <p:spPr>
          <a:xfrm>
            <a:off x="7653528" y="2505456"/>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Estímulo</a:t>
            </a:r>
            <a:endParaRPr lang="en-US" sz="1350" dirty="0"/>
          </a:p>
        </p:txBody>
      </p:sp>
      <p:sp>
        <p:nvSpPr>
          <p:cNvPr id="32" name="Text 30"/>
          <p:cNvSpPr txBox="1"/>
          <p:nvPr/>
        </p:nvSpPr>
        <p:spPr>
          <a:xfrm>
            <a:off x="7653528" y="2779776"/>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Texto, tabla o imagen con la información que debe analizarse para responder.</a:t>
            </a:r>
            <a:endParaRPr lang="en-US" sz="1150" dirty="0"/>
          </a:p>
        </p:txBody>
      </p:sp>
      <p:sp>
        <p:nvSpPr>
          <p:cNvPr id="33" name="Shape 31"/>
          <p:cNvSpPr/>
          <p:nvPr/>
        </p:nvSpPr>
        <p:spPr>
          <a:xfrm>
            <a:off x="7424928" y="3456432"/>
            <a:ext cx="4199839" cy="932688"/>
          </a:xfrm>
          <a:prstGeom prst="roundRect">
            <a:avLst>
              <a:gd name="adj" fmla="val 882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4" name="Text 32"/>
          <p:cNvSpPr txBox="1"/>
          <p:nvPr/>
        </p:nvSpPr>
        <p:spPr>
          <a:xfrm>
            <a:off x="7653528" y="3547872"/>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Opciones de respuesta</a:t>
            </a:r>
            <a:endParaRPr lang="en-US" sz="1350" dirty="0"/>
          </a:p>
        </p:txBody>
      </p:sp>
      <p:sp>
        <p:nvSpPr>
          <p:cNvPr id="35" name="Text 33"/>
          <p:cNvSpPr txBox="1"/>
          <p:nvPr/>
        </p:nvSpPr>
        <p:spPr>
          <a:xfrm>
            <a:off x="7653528" y="3822192"/>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Respuestas posibles, en forma textual, entre las que el estudiante selecciona.</a:t>
            </a:r>
            <a:endParaRPr lang="en-US" sz="1150" dirty="0"/>
          </a:p>
        </p:txBody>
      </p:sp>
      <p:sp>
        <p:nvSpPr>
          <p:cNvPr id="36" name="Shape 34"/>
          <p:cNvSpPr/>
          <p:nvPr/>
        </p:nvSpPr>
        <p:spPr>
          <a:xfrm>
            <a:off x="7424928" y="4498848"/>
            <a:ext cx="4199839" cy="932688"/>
          </a:xfrm>
          <a:prstGeom prst="roundRect">
            <a:avLst>
              <a:gd name="adj" fmla="val 882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7653528" y="4590288"/>
            <a:ext cx="3742639"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Distractores</a:t>
            </a:r>
            <a:endParaRPr lang="en-US" sz="1350" dirty="0"/>
          </a:p>
        </p:txBody>
      </p:sp>
      <p:sp>
        <p:nvSpPr>
          <p:cNvPr id="38" name="Text 36"/>
          <p:cNvSpPr txBox="1"/>
          <p:nvPr/>
        </p:nvSpPr>
        <p:spPr>
          <a:xfrm>
            <a:off x="7653528" y="4864608"/>
            <a:ext cx="3742639" cy="502920"/>
          </a:xfrm>
          <a:prstGeom prst="rect">
            <a:avLst/>
          </a:prstGeom>
          <a:noFill/>
          <a:ln/>
        </p:spPr>
        <p:txBody>
          <a:bodyPr wrap="square" lIns="0" tIns="0" rIns="0" bIns="0" rtlCol="0" anchor="t"/>
          <a:lstStyle/>
          <a:p>
            <a:pPr marL="0" indent="0">
              <a:lnSpc>
                <a:spcPct val="102000"/>
              </a:lnSpc>
              <a:buNone/>
            </a:pPr>
            <a:r>
              <a:rPr lang="en-US" sz="1150" dirty="0">
                <a:solidFill>
                  <a:srgbClr val="22303F"/>
                </a:solidFill>
                <a:latin typeface="Calibri" pitchFamily="34" charset="0"/>
                <a:ea typeface="Calibri" pitchFamily="34" charset="-122"/>
                <a:cs typeface="Calibri" pitchFamily="34" charset="-120"/>
              </a:rPr>
              <a:t>Opciones incorrectas que permiten al estudiante discriminar y escoger la que cree correcta.</a:t>
            </a:r>
            <a:endParaRPr lang="en-US" sz="1150" dirty="0"/>
          </a:p>
        </p:txBody>
      </p:sp>
      <p:sp>
        <p:nvSpPr>
          <p:cNvPr id="39" name="Shape 37"/>
          <p:cNvSpPr/>
          <p:nvPr/>
        </p:nvSpPr>
        <p:spPr>
          <a:xfrm>
            <a:off x="566928" y="5596128"/>
            <a:ext cx="11057839" cy="658368"/>
          </a:xfrm>
          <a:prstGeom prst="roundRect">
            <a:avLst>
              <a:gd name="adj" fmla="val 1250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0" name="Text 38"/>
          <p:cNvSpPr txBox="1"/>
          <p:nvPr/>
        </p:nvSpPr>
        <p:spPr>
          <a:xfrm>
            <a:off x="886968" y="5596128"/>
            <a:ext cx="10417759" cy="658368"/>
          </a:xfrm>
          <a:prstGeom prst="rect">
            <a:avLst/>
          </a:prstGeom>
          <a:noFill/>
          <a:ln/>
        </p:spPr>
        <p:txBody>
          <a:bodyPr wrap="square" lIns="0" tIns="0" rIns="0" bIns="0" rtlCol="0" anchor="ctr"/>
          <a:lstStyle/>
          <a:p>
            <a:pPr marL="0" indent="0">
              <a:buNone/>
            </a:pPr>
            <a:r>
              <a:rPr lang="en-US" sz="1280" b="1" dirty="0">
                <a:solidFill>
                  <a:srgbClr val="1B2A4A"/>
                </a:solidFill>
                <a:latin typeface="Calibri" pitchFamily="34" charset="0"/>
                <a:ea typeface="Calibri" pitchFamily="34" charset="-122"/>
                <a:cs typeface="Calibri" pitchFamily="34" charset="-120"/>
              </a:rPr>
              <a:t>Un ítem de selección múltiple contiene una premisa, ofrece tres o cuatro opciones de respuesta y puede incluir un estímulo.</a:t>
            </a:r>
            <a:endParaRPr lang="en-US" sz="12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Reglas para redactar la premisa</a:t>
            </a:r>
            <a:endParaRPr lang="en-US" sz="2700" dirty="0"/>
          </a:p>
        </p:txBody>
      </p:sp>
      <p:sp>
        <p:nvSpPr>
          <p:cNvPr id="4" name="Shape 2"/>
          <p:cNvSpPr/>
          <p:nvPr/>
        </p:nvSpPr>
        <p:spPr>
          <a:xfrm>
            <a:off x="566928" y="13258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2A9D8F"/>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426464" y="1527048"/>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Escriba ítems concisos y claros</a:t>
            </a:r>
            <a:endParaRPr lang="en-US" sz="1450" dirty="0"/>
          </a:p>
        </p:txBody>
      </p:sp>
      <p:sp>
        <p:nvSpPr>
          <p:cNvPr id="8" name="Text 6"/>
          <p:cNvSpPr txBox="1"/>
          <p:nvPr/>
        </p:nvSpPr>
        <p:spPr>
          <a:xfrm>
            <a:off x="804672" y="2148840"/>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La premisa debe entenderse en una sola lectura. Elimine toda palabra que no aporte a resolver.</a:t>
            </a:r>
            <a:endParaRPr lang="en-US" sz="1220" dirty="0"/>
          </a:p>
        </p:txBody>
      </p:sp>
      <p:sp>
        <p:nvSpPr>
          <p:cNvPr id="9" name="Shape 7"/>
          <p:cNvSpPr/>
          <p:nvPr/>
        </p:nvSpPr>
        <p:spPr>
          <a:xfrm>
            <a:off x="4329074" y="13258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566818" y="1545336"/>
            <a:ext cx="457200" cy="457200"/>
          </a:xfrm>
          <a:prstGeom prst="ellipse">
            <a:avLst/>
          </a:prstGeom>
          <a:solidFill>
            <a:srgbClr val="2A9D8F"/>
          </a:solidFill>
          <a:ln/>
        </p:spPr>
        <p:txBody>
          <a:bodyPr/>
          <a:lstStyle/>
          <a:p>
            <a:endParaRPr lang="en-PR"/>
          </a:p>
        </p:txBody>
      </p:sp>
      <p:sp>
        <p:nvSpPr>
          <p:cNvPr id="11" name="Text 9"/>
          <p:cNvSpPr txBox="1"/>
          <p:nvPr/>
        </p:nvSpPr>
        <p:spPr>
          <a:xfrm>
            <a:off x="4566818"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5188610" y="1527048"/>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Redacte ideas completas</a:t>
            </a:r>
            <a:endParaRPr lang="en-US" sz="1450" dirty="0"/>
          </a:p>
        </p:txBody>
      </p:sp>
      <p:sp>
        <p:nvSpPr>
          <p:cNvPr id="13" name="Text 11"/>
          <p:cNvSpPr txBox="1"/>
          <p:nvPr/>
        </p:nvSpPr>
        <p:spPr>
          <a:xfrm>
            <a:off x="4566818" y="2148840"/>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La pregunta debe ser comprensible sin necesidad de leer las opciones de respuesta.</a:t>
            </a:r>
            <a:endParaRPr lang="en-US" sz="1220" dirty="0"/>
          </a:p>
        </p:txBody>
      </p:sp>
      <p:sp>
        <p:nvSpPr>
          <p:cNvPr id="14" name="Shape 12"/>
          <p:cNvSpPr/>
          <p:nvPr/>
        </p:nvSpPr>
        <p:spPr>
          <a:xfrm>
            <a:off x="8091221" y="1325880"/>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328965" y="1545336"/>
            <a:ext cx="457200" cy="457200"/>
          </a:xfrm>
          <a:prstGeom prst="ellipse">
            <a:avLst/>
          </a:prstGeom>
          <a:solidFill>
            <a:srgbClr val="2A9D8F"/>
          </a:solidFill>
          <a:ln/>
        </p:spPr>
        <p:txBody>
          <a:bodyPr/>
          <a:lstStyle/>
          <a:p>
            <a:endParaRPr lang="en-PR"/>
          </a:p>
        </p:txBody>
      </p:sp>
      <p:sp>
        <p:nvSpPr>
          <p:cNvPr id="16" name="Text 14"/>
          <p:cNvSpPr txBox="1"/>
          <p:nvPr/>
        </p:nvSpPr>
        <p:spPr>
          <a:xfrm>
            <a:off x="8328965"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8950757" y="1527048"/>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Que funcione de forma independiente</a:t>
            </a:r>
            <a:endParaRPr lang="en-US" sz="1450" dirty="0"/>
          </a:p>
        </p:txBody>
      </p:sp>
      <p:sp>
        <p:nvSpPr>
          <p:cNvPr id="18" name="Text 16"/>
          <p:cNvSpPr txBox="1"/>
          <p:nvPr/>
        </p:nvSpPr>
        <p:spPr>
          <a:xfrm>
            <a:off x="8328965" y="2148840"/>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El ítem no debe requerir la respuesta de otra premisa para poder contestarse.</a:t>
            </a:r>
            <a:endParaRPr lang="en-US" sz="1220" dirty="0"/>
          </a:p>
        </p:txBody>
      </p:sp>
      <p:sp>
        <p:nvSpPr>
          <p:cNvPr id="19" name="Shape 17"/>
          <p:cNvSpPr/>
          <p:nvPr/>
        </p:nvSpPr>
        <p:spPr>
          <a:xfrm>
            <a:off x="566928" y="3730752"/>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804672" y="3950208"/>
            <a:ext cx="457200" cy="457200"/>
          </a:xfrm>
          <a:prstGeom prst="ellipse">
            <a:avLst/>
          </a:prstGeom>
          <a:solidFill>
            <a:srgbClr val="A8322D"/>
          </a:solidFill>
          <a:ln/>
        </p:spPr>
        <p:txBody>
          <a:bodyPr/>
          <a:lstStyle/>
          <a:p>
            <a:endParaRPr lang="en-PR"/>
          </a:p>
        </p:txBody>
      </p:sp>
      <p:sp>
        <p:nvSpPr>
          <p:cNvPr id="21" name="Text 19"/>
          <p:cNvSpPr txBox="1"/>
          <p:nvPr/>
        </p:nvSpPr>
        <p:spPr>
          <a:xfrm>
            <a:off x="804672"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1426464" y="3931920"/>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Evite absolutos</a:t>
            </a:r>
            <a:endParaRPr lang="en-US" sz="1450" dirty="0"/>
          </a:p>
        </p:txBody>
      </p:sp>
      <p:sp>
        <p:nvSpPr>
          <p:cNvPr id="23" name="Text 21"/>
          <p:cNvSpPr txBox="1"/>
          <p:nvPr/>
        </p:nvSpPr>
        <p:spPr>
          <a:xfrm>
            <a:off x="804672" y="4553712"/>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Palabras como siempre, todos y jamás inducen a descartar la opción por su forma, no por su contenido.</a:t>
            </a:r>
            <a:endParaRPr lang="en-US" sz="1220" dirty="0"/>
          </a:p>
        </p:txBody>
      </p:sp>
      <p:sp>
        <p:nvSpPr>
          <p:cNvPr id="24" name="Shape 22"/>
          <p:cNvSpPr/>
          <p:nvPr/>
        </p:nvSpPr>
        <p:spPr>
          <a:xfrm>
            <a:off x="4329074" y="3730752"/>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4566818" y="3950208"/>
            <a:ext cx="457200" cy="457200"/>
          </a:xfrm>
          <a:prstGeom prst="ellipse">
            <a:avLst/>
          </a:prstGeom>
          <a:solidFill>
            <a:srgbClr val="A8322D"/>
          </a:solidFill>
          <a:ln/>
        </p:spPr>
        <p:txBody>
          <a:bodyPr/>
          <a:lstStyle/>
          <a:p>
            <a:endParaRPr lang="en-PR"/>
          </a:p>
        </p:txBody>
      </p:sp>
      <p:sp>
        <p:nvSpPr>
          <p:cNvPr id="26" name="Text 24"/>
          <p:cNvSpPr txBox="1"/>
          <p:nvPr/>
        </p:nvSpPr>
        <p:spPr>
          <a:xfrm>
            <a:off x="4566818"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7" name="Text 25"/>
          <p:cNvSpPr txBox="1"/>
          <p:nvPr/>
        </p:nvSpPr>
        <p:spPr>
          <a:xfrm>
            <a:off x="5188610" y="3931920"/>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Evite negativos</a:t>
            </a:r>
            <a:endParaRPr lang="en-US" sz="1450" dirty="0"/>
          </a:p>
        </p:txBody>
      </p:sp>
      <p:sp>
        <p:nvSpPr>
          <p:cNvPr id="28" name="Text 26"/>
          <p:cNvSpPr txBox="1"/>
          <p:nvPr/>
        </p:nvSpPr>
        <p:spPr>
          <a:xfrm>
            <a:off x="4566818" y="4553712"/>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Ninguno, nunca y no obligan a un doble procesamiento que nada tiene que ver con la destreza medida.</a:t>
            </a:r>
            <a:endParaRPr lang="en-US" sz="1220" dirty="0"/>
          </a:p>
        </p:txBody>
      </p:sp>
      <p:sp>
        <p:nvSpPr>
          <p:cNvPr id="29" name="Shape 27"/>
          <p:cNvSpPr/>
          <p:nvPr/>
        </p:nvSpPr>
        <p:spPr>
          <a:xfrm>
            <a:off x="8091221" y="3730752"/>
            <a:ext cx="3533546"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8328965" y="3950208"/>
            <a:ext cx="457200" cy="457200"/>
          </a:xfrm>
          <a:prstGeom prst="ellipse">
            <a:avLst/>
          </a:prstGeom>
          <a:solidFill>
            <a:srgbClr val="A8322D"/>
          </a:solidFill>
          <a:ln/>
        </p:spPr>
        <p:txBody>
          <a:bodyPr/>
          <a:lstStyle/>
          <a:p>
            <a:endParaRPr lang="en-PR"/>
          </a:p>
        </p:txBody>
      </p:sp>
      <p:sp>
        <p:nvSpPr>
          <p:cNvPr id="31" name="Text 29"/>
          <p:cNvSpPr txBox="1"/>
          <p:nvPr/>
        </p:nvSpPr>
        <p:spPr>
          <a:xfrm>
            <a:off x="8328965"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32" name="Text 30"/>
          <p:cNvSpPr txBox="1"/>
          <p:nvPr/>
        </p:nvSpPr>
        <p:spPr>
          <a:xfrm>
            <a:off x="8950757" y="3931920"/>
            <a:ext cx="2417978"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Evite la repetición</a:t>
            </a:r>
            <a:endParaRPr lang="en-US" sz="1450" dirty="0"/>
          </a:p>
        </p:txBody>
      </p:sp>
      <p:sp>
        <p:nvSpPr>
          <p:cNvPr id="33" name="Text 31"/>
          <p:cNvSpPr txBox="1"/>
          <p:nvPr/>
        </p:nvSpPr>
        <p:spPr>
          <a:xfrm>
            <a:off x="8328965" y="4553712"/>
            <a:ext cx="3058058" cy="1088136"/>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Si una palabra o frase se repite en las cuatro opciones, muévala a la premisa.</a:t>
            </a:r>
            <a:endParaRPr lang="en-US" sz="1220" dirty="0"/>
          </a:p>
        </p:txBody>
      </p:sp>
      <p:sp>
        <p:nvSpPr>
          <p:cNvPr id="34" name="Text 3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Adaptado de las recomendaciones de redacción de ítems del taller original (ORE-Ponce) y de Haladyna y Rodriguez (2013).</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Reglas para redactar las opciones de respuesta</a:t>
            </a:r>
            <a:endParaRPr lang="en-US" sz="2700" dirty="0"/>
          </a:p>
        </p:txBody>
      </p:sp>
      <p:sp>
        <p:nvSpPr>
          <p:cNvPr id="4" name="Shape 2"/>
          <p:cNvSpPr/>
          <p:nvPr/>
        </p:nvSpPr>
        <p:spPr>
          <a:xfrm>
            <a:off x="566928" y="1325880"/>
            <a:ext cx="5349240" cy="4114800"/>
          </a:xfrm>
          <a:prstGeom prst="roundRect">
            <a:avLst>
              <a:gd name="adj" fmla="val 2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59536" y="1517904"/>
            <a:ext cx="4754880" cy="365760"/>
          </a:xfrm>
          <a:prstGeom prst="rect">
            <a:avLst/>
          </a:prstGeom>
          <a:noFill/>
          <a:ln/>
        </p:spPr>
        <p:txBody>
          <a:bodyPr wrap="square" lIns="0" tIns="0" rIns="0" bIns="0" rtlCol="0" anchor="ctr"/>
          <a:lstStyle/>
          <a:p>
            <a:pPr marL="0" indent="0">
              <a:buNone/>
            </a:pPr>
            <a:r>
              <a:rPr lang="en-US" sz="1800" b="1" dirty="0">
                <a:solidFill>
                  <a:srgbClr val="17624F"/>
                </a:solidFill>
                <a:latin typeface="Cambria" pitchFamily="34" charset="0"/>
                <a:ea typeface="Cambria" pitchFamily="34" charset="-122"/>
                <a:cs typeface="Cambria" pitchFamily="34" charset="-120"/>
              </a:rPr>
              <a:t>Las opciones deben…</a:t>
            </a:r>
            <a:endParaRPr lang="en-US" sz="1800" dirty="0"/>
          </a:p>
        </p:txBody>
      </p:sp>
      <p:sp>
        <p:nvSpPr>
          <p:cNvPr id="6" name="Text 4"/>
          <p:cNvSpPr txBox="1"/>
          <p:nvPr/>
        </p:nvSpPr>
        <p:spPr>
          <a:xfrm>
            <a:off x="859536" y="1993392"/>
            <a:ext cx="4754880" cy="3200400"/>
          </a:xfrm>
          <a:prstGeom prst="rect">
            <a:avLst/>
          </a:prstGeom>
          <a:noFill/>
          <a:ln/>
        </p:spPr>
        <p:txBody>
          <a:bodyPr wrap="square" lIns="0" tIns="0" rIns="0" bIns="0" rtlCol="0" anchor="ctr"/>
          <a:lstStyle/>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Tienen una sola respuesta correcta.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Son paralelas visual y gramaticalmente: misma extensión aproximada, misma estructura.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Se relacionan conceptual y gramaticalmente con la premisa planteada.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Se ordenan de forma lógica: ascendente o descendente cuando son numéricas.</a:t>
            </a:r>
            <a:endParaRPr lang="en-US" sz="1350" dirty="0"/>
          </a:p>
        </p:txBody>
      </p:sp>
      <p:sp>
        <p:nvSpPr>
          <p:cNvPr id="7" name="Shape 5"/>
          <p:cNvSpPr/>
          <p:nvPr/>
        </p:nvSpPr>
        <p:spPr>
          <a:xfrm>
            <a:off x="6272784" y="1325880"/>
            <a:ext cx="5349240" cy="4114800"/>
          </a:xfrm>
          <a:prstGeom prst="roundRect">
            <a:avLst>
              <a:gd name="adj" fmla="val 2000"/>
            </a:avLst>
          </a:prstGeom>
          <a:solidFill>
            <a:srgbClr val="FBF0EF"/>
          </a:solidFill>
          <a:ln w="12700">
            <a:solidFill>
              <a:srgbClr val="A8322D"/>
            </a:solidFill>
            <a:prstDash val="solid"/>
          </a:ln>
          <a:effectLst>
            <a:outerShdw blurRad="127000" dist="25400" dir="5400000" algn="bl" rotWithShape="0">
              <a:srgbClr val="9AA8B6">
                <a:alpha val="25000"/>
              </a:srgbClr>
            </a:outerShdw>
          </a:effectLst>
        </p:spPr>
        <p:txBody>
          <a:bodyPr/>
          <a:lstStyle/>
          <a:p>
            <a:endParaRPr lang="en-PR"/>
          </a:p>
        </p:txBody>
      </p:sp>
      <p:sp>
        <p:nvSpPr>
          <p:cNvPr id="8" name="Text 6"/>
          <p:cNvSpPr txBox="1"/>
          <p:nvPr/>
        </p:nvSpPr>
        <p:spPr>
          <a:xfrm>
            <a:off x="6565392" y="1517904"/>
            <a:ext cx="4754880" cy="365760"/>
          </a:xfrm>
          <a:prstGeom prst="rect">
            <a:avLst/>
          </a:prstGeom>
          <a:noFill/>
          <a:ln/>
        </p:spPr>
        <p:txBody>
          <a:bodyPr wrap="square" lIns="0" tIns="0" rIns="0" bIns="0" rtlCol="0" anchor="ctr"/>
          <a:lstStyle/>
          <a:p>
            <a:pPr marL="0" indent="0">
              <a:buNone/>
            </a:pPr>
            <a:r>
              <a:rPr lang="en-US" sz="1800" b="1" dirty="0">
                <a:solidFill>
                  <a:srgbClr val="8A2A26"/>
                </a:solidFill>
                <a:latin typeface="Cambria" pitchFamily="34" charset="0"/>
                <a:ea typeface="Cambria" pitchFamily="34" charset="-122"/>
                <a:cs typeface="Cambria" pitchFamily="34" charset="-120"/>
              </a:rPr>
              <a:t>Ninguna opción debe…</a:t>
            </a:r>
            <a:endParaRPr lang="en-US" sz="1800" dirty="0"/>
          </a:p>
        </p:txBody>
      </p:sp>
      <p:sp>
        <p:nvSpPr>
          <p:cNvPr id="9" name="Text 7"/>
          <p:cNvSpPr txBox="1"/>
          <p:nvPr/>
        </p:nvSpPr>
        <p:spPr>
          <a:xfrm>
            <a:off x="6565392" y="1993392"/>
            <a:ext cx="4754880" cy="3200400"/>
          </a:xfrm>
          <a:prstGeom prst="rect">
            <a:avLst/>
          </a:prstGeom>
          <a:noFill/>
          <a:ln/>
        </p:spPr>
        <p:txBody>
          <a:bodyPr wrap="square" lIns="0" tIns="0" rIns="0" bIns="0" rtlCol="0" anchor="ctr"/>
          <a:lstStyle/>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Negar la veracidad de la premisa.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Eliminar a otra opción.</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Ofrecer pistas sobre la respuesta correcta de ese ítem o de cualquier otro ítem de la prueba.</a:t>
            </a:r>
            <a:endParaRPr lang="en-US" sz="1350" dirty="0"/>
          </a:p>
          <a:p>
            <a:pPr marL="342900" indent="-342900">
              <a:lnSpc>
                <a:spcPct val="105000"/>
              </a:lnSpc>
              <a:spcAft>
                <a:spcPts val="1400"/>
              </a:spcAft>
              <a:buSzPct val="100000"/>
              <a:buChar char="▪"/>
            </a:pPr>
            <a:r>
              <a:rPr lang="en-US" sz="1350" dirty="0">
                <a:solidFill>
                  <a:srgbClr val="22303F"/>
                </a:solidFill>
                <a:latin typeface="Calibri" pitchFamily="34" charset="0"/>
                <a:ea typeface="Calibri" pitchFamily="34" charset="-122"/>
                <a:cs typeface="Calibri" pitchFamily="34" charset="-120"/>
              </a:rPr>
              <a:t>Ser tan absurda que nadie la escogería: un distractor que no atrae no informa.</a:t>
            </a:r>
            <a:endParaRPr lang="en-US" sz="1350" dirty="0"/>
          </a:p>
        </p:txBody>
      </p:sp>
      <p:sp>
        <p:nvSpPr>
          <p:cNvPr id="10" name="Shape 8"/>
          <p:cNvSpPr/>
          <p:nvPr/>
        </p:nvSpPr>
        <p:spPr>
          <a:xfrm>
            <a:off x="566928" y="5596128"/>
            <a:ext cx="11057839" cy="658368"/>
          </a:xfrm>
          <a:prstGeom prst="roundRect">
            <a:avLst>
              <a:gd name="adj" fmla="val 1250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9"/>
          <p:cNvSpPr txBox="1"/>
          <p:nvPr/>
        </p:nvSpPr>
        <p:spPr>
          <a:xfrm>
            <a:off x="886968" y="5596128"/>
            <a:ext cx="10417759" cy="658368"/>
          </a:xfrm>
          <a:prstGeom prst="rect">
            <a:avLst/>
          </a:prstGeom>
          <a:noFill/>
          <a:ln/>
        </p:spPr>
        <p:txBody>
          <a:bodyPr wrap="square" lIns="0" tIns="0" rIns="0" bIns="0" rtlCol="0" anchor="ctr"/>
          <a:lstStyle/>
          <a:p>
            <a:pPr marL="0" indent="0">
              <a:buNone/>
            </a:pPr>
            <a:r>
              <a:rPr lang="en-US" sz="1280" b="1" dirty="0">
                <a:solidFill>
                  <a:srgbClr val="1B2A4A"/>
                </a:solidFill>
                <a:latin typeface="Calibri" pitchFamily="34" charset="0"/>
                <a:ea typeface="Calibri" pitchFamily="34" charset="-122"/>
                <a:cs typeface="Calibri" pitchFamily="34" charset="-120"/>
              </a:rPr>
              <a:t>Regla de oro del DUA: si dos estudiantes con el mismo dominio leen las opciones y llegan a conclusiones distintas por la forma en que están escritas, el ítem falla.</a:t>
            </a:r>
            <a:endParaRPr lang="en-US" sz="12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3</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El distractor como herramienta de diagnóstico</a:t>
            </a:r>
            <a:endParaRPr lang="en-US" sz="2700" dirty="0"/>
          </a:p>
        </p:txBody>
      </p:sp>
      <p:sp>
        <p:nvSpPr>
          <p:cNvPr id="4" name="Text 2"/>
          <p:cNvSpPr txBox="1"/>
          <p:nvPr/>
        </p:nvSpPr>
        <p:spPr>
          <a:xfrm>
            <a:off x="566928" y="1298448"/>
            <a:ext cx="11057839" cy="402336"/>
          </a:xfrm>
          <a:prstGeom prst="rect">
            <a:avLst/>
          </a:prstGeom>
          <a:noFill/>
          <a:ln/>
        </p:spPr>
        <p:txBody>
          <a:bodyPr wrap="square" lIns="0" tIns="0" rIns="0" bIns="0" rtlCol="0" anchor="ctr"/>
          <a:lstStyle/>
          <a:p>
            <a:pPr marL="0" indent="0">
              <a:buNone/>
            </a:pPr>
            <a:r>
              <a:rPr lang="en-US" sz="1400" dirty="0">
                <a:solidFill>
                  <a:srgbClr val="22303F"/>
                </a:solidFill>
                <a:latin typeface="Calibri" pitchFamily="34" charset="0"/>
                <a:ea typeface="Calibri" pitchFamily="34" charset="-122"/>
                <a:cs typeface="Calibri" pitchFamily="34" charset="-120"/>
              </a:rPr>
              <a:t>Cada distractor debe corresponder a un error real y previsible del estudiante. Así, al corregir, la opción marcada le dice al maestro qué hay que reenseñar.</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4108399">
                  <a:extLst>
                    <a:ext uri="{9D8B030D-6E8A-4147-A177-3AD203B41FA5}">
                      <a16:colId xmlns:a16="http://schemas.microsoft.com/office/drawing/2014/main" val="20003"/>
                    </a:ext>
                  </a:extLst>
                </a:gridCol>
              </a:tblGrid>
              <a:tr h="603504">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Opción</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Error que representa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Qué se reenseña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03504">
                <a:tc>
                  <a:txBody>
                    <a:bodyPr/>
                    <a:lstStyle/>
                    <a:p>
                      <a:pPr marL="0" indent="0" algn="ctr">
                        <a:buNone/>
                      </a:pPr>
                      <a:r>
                        <a:rPr lang="en-US" sz="1150" b="1" dirty="0">
                          <a:solidFill>
                            <a:srgbClr val="22303F"/>
                          </a:solidFill>
                          <a:latin typeface="Calibri" pitchFamily="34" charset="0"/>
                          <a:ea typeface="Calibri" pitchFamily="34" charset="-122"/>
                          <a:cs typeface="Calibri" pitchFamily="34" charset="-120"/>
                        </a:rPr>
                        <a:t>A · 30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22303F"/>
                          </a:solidFill>
                          <a:latin typeface="Calibri" pitchFamily="34" charset="0"/>
                          <a:ea typeface="Calibri" pitchFamily="34" charset="-122"/>
                          <a:cs typeface="Calibri" pitchFamily="34" charset="-120"/>
                        </a:rPr>
                        <a:t>Incorrecta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Sumó en vez de multiplicar: 6 + 24 = 30.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Interpretación del lenguaje multiplicativo «cada caja tiene».</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603504">
                <a:tc>
                  <a:txBody>
                    <a:bodyPr/>
                    <a:lstStyle/>
                    <a:p>
                      <a:pPr marL="0" indent="0" algn="ctr">
                        <a:buNone/>
                      </a:pPr>
                      <a:r>
                        <a:rPr lang="en-US" sz="1150" b="1" dirty="0">
                          <a:solidFill>
                            <a:srgbClr val="22303F"/>
                          </a:solidFill>
                          <a:latin typeface="Calibri" pitchFamily="34" charset="0"/>
                          <a:ea typeface="Calibri" pitchFamily="34" charset="-122"/>
                          <a:cs typeface="Calibri" pitchFamily="34" charset="-120"/>
                        </a:rPr>
                        <a:t>B · 124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22303F"/>
                          </a:solidFill>
                          <a:latin typeface="Calibri" pitchFamily="34" charset="0"/>
                          <a:ea typeface="Calibri" pitchFamily="34" charset="-122"/>
                          <a:cs typeface="Calibri" pitchFamily="34" charset="-120"/>
                        </a:rPr>
                        <a:t>Incorrecta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No reagrupó: escribió 6 × 4 = 24 y 6 × 2 = 12 sin llevar.</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Algoritmo de multiplicación con reagrupación.</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603504">
                <a:tc>
                  <a:txBody>
                    <a:bodyPr/>
                    <a:lstStyle/>
                    <a:p>
                      <a:pPr marL="0" indent="0" algn="ctr">
                        <a:buNone/>
                      </a:pPr>
                      <a:r>
                        <a:rPr lang="en-US" sz="1150" b="1" dirty="0">
                          <a:solidFill>
                            <a:srgbClr val="17624F"/>
                          </a:solidFill>
                          <a:latin typeface="Calibri" pitchFamily="34" charset="0"/>
                          <a:ea typeface="Calibri" pitchFamily="34" charset="-122"/>
                          <a:cs typeface="Calibri" pitchFamily="34" charset="-120"/>
                        </a:rPr>
                        <a:t>C · 144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50" b="1" dirty="0">
                          <a:solidFill>
                            <a:srgbClr val="17624F"/>
                          </a:solidFill>
                          <a:latin typeface="Calibri" pitchFamily="34" charset="0"/>
                          <a:ea typeface="Calibri" pitchFamily="34" charset="-122"/>
                          <a:cs typeface="Calibri" pitchFamily="34" charset="-120"/>
                        </a:rPr>
                        <a:t>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17624F"/>
                          </a:solidFill>
                          <a:latin typeface="Calibri" pitchFamily="34" charset="0"/>
                          <a:ea typeface="Calibri" pitchFamily="34" charset="-122"/>
                          <a:cs typeface="Calibri" pitchFamily="34" charset="-120"/>
                        </a:rPr>
                        <a:t>6 × 24 = 144.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603504">
                <a:tc>
                  <a:txBody>
                    <a:bodyPr/>
                    <a:lstStyle/>
                    <a:p>
                      <a:pPr marL="0" indent="0" algn="ctr">
                        <a:buNone/>
                      </a:pPr>
                      <a:r>
                        <a:rPr lang="en-US" sz="1150" b="1" dirty="0">
                          <a:solidFill>
                            <a:srgbClr val="22303F"/>
                          </a:solidFill>
                          <a:latin typeface="Calibri" pitchFamily="34" charset="0"/>
                          <a:ea typeface="Calibri" pitchFamily="34" charset="-122"/>
                          <a:cs typeface="Calibri" pitchFamily="34" charset="-120"/>
                        </a:rPr>
                        <a:t>D · 164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22303F"/>
                          </a:solidFill>
                          <a:latin typeface="Calibri" pitchFamily="34" charset="0"/>
                          <a:ea typeface="Calibri" pitchFamily="34" charset="-122"/>
                          <a:cs typeface="Calibri" pitchFamily="34" charset="-120"/>
                        </a:rPr>
                        <a:t>Incorrecta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Reagrupó con el dígito equivocado: sumó 4 en lugar de 2.</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Valor posicional en la reagrupación.</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6" name="Shape 3"/>
          <p:cNvSpPr/>
          <p:nvPr/>
        </p:nvSpPr>
        <p:spPr>
          <a:xfrm>
            <a:off x="566928" y="5029200"/>
            <a:ext cx="11057839" cy="1207008"/>
          </a:xfrm>
          <a:prstGeom prst="roundRect">
            <a:avLst>
              <a:gd name="adj" fmla="val 6818"/>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932688" y="5175504"/>
            <a:ext cx="10326319" cy="292608"/>
          </a:xfrm>
          <a:prstGeom prst="rect">
            <a:avLst/>
          </a:prstGeom>
          <a:noFill/>
          <a:ln/>
        </p:spPr>
        <p:txBody>
          <a:bodyPr wrap="square" lIns="0" tIns="0" rIns="0" bIns="0" rtlCol="0" anchor="ctr"/>
          <a:lstStyle/>
          <a:p>
            <a:pPr marL="0" indent="0">
              <a:buNone/>
            </a:pPr>
            <a:r>
              <a:rPr lang="en-US" sz="1450" b="1" dirty="0">
                <a:solidFill>
                  <a:srgbClr val="C9A84C"/>
                </a:solidFill>
                <a:latin typeface="Cambria" pitchFamily="34" charset="0"/>
                <a:ea typeface="Cambria" pitchFamily="34" charset="-122"/>
                <a:cs typeface="Cambria" pitchFamily="34" charset="-120"/>
              </a:rPr>
              <a:t>Tres preguntas para validar un distractor</a:t>
            </a:r>
            <a:endParaRPr lang="en-US" sz="1450" dirty="0"/>
          </a:p>
        </p:txBody>
      </p:sp>
      <p:sp>
        <p:nvSpPr>
          <p:cNvPr id="8" name="Text 5"/>
          <p:cNvSpPr txBox="1"/>
          <p:nvPr/>
        </p:nvSpPr>
        <p:spPr>
          <a:xfrm>
            <a:off x="932688" y="5522976"/>
            <a:ext cx="10326319" cy="566928"/>
          </a:xfrm>
          <a:prstGeom prst="rect">
            <a:avLst/>
          </a:prstGeom>
          <a:noFill/>
          <a:ln/>
        </p:spPr>
        <p:txBody>
          <a:bodyPr wrap="square" lIns="0" tIns="0" rIns="0" bIns="0" rtlCol="0" anchor="t"/>
          <a:lstStyle/>
          <a:p>
            <a:pPr marL="0" indent="0">
              <a:lnSpc>
                <a:spcPct val="106000"/>
              </a:lnSpc>
              <a:buNone/>
            </a:pPr>
            <a:r>
              <a:rPr lang="en-US" sz="1250" dirty="0">
                <a:solidFill>
                  <a:srgbClr val="DCE6F2"/>
                </a:solidFill>
                <a:latin typeface="Calibri" pitchFamily="34" charset="0"/>
                <a:ea typeface="Calibri" pitchFamily="34" charset="-122"/>
                <a:cs typeface="Calibri" pitchFamily="34" charset="-120"/>
              </a:rPr>
              <a:t>1. ¿Algún estudiante real de mi salón cometería este error?    2. ¿El valor es plausible, del mismo orden de magnitud que la respuesta correcta?    3. ¿Puedo nombrar la destreza que reenseñaría si muchos lo escogen?</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4</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El ítem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respuesta abierta</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15 minutos  ·  Sencilla y de aplicación</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Características del formato</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Anatomía de la respuesta abierta sencilla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Anatomía de la respuesta abierta de aplicación</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Qué debemos evitar</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Los baremos de 2, 3, 4 y 5 puntos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Características del ítem de respuesta abierta</a:t>
            </a:r>
            <a:endParaRPr lang="en-US" sz="2700" dirty="0"/>
          </a:p>
        </p:txBody>
      </p:sp>
      <p:sp>
        <p:nvSpPr>
          <p:cNvPr id="4" name="Shape 2"/>
          <p:cNvSpPr/>
          <p:nvPr/>
        </p:nvSpPr>
        <p:spPr>
          <a:xfrm>
            <a:off x="566928"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No piden creencias ni valores personales</a:t>
            </a:r>
            <a:endParaRPr lang="en-US" sz="1450" dirty="0"/>
          </a:p>
        </p:txBody>
      </p:sp>
      <p:sp>
        <p:nvSpPr>
          <p:cNvPr id="8" name="Text 6"/>
          <p:cNvSpPr txBox="1"/>
          <p:nvPr/>
        </p:nvSpPr>
        <p:spPr>
          <a:xfrm>
            <a:off x="804672"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premisa no interroga la perspectiva personal del estudiante como ser humano, sino su razonamiento matemático sobre datos dados.</a:t>
            </a:r>
            <a:endParaRPr lang="en-US" sz="1200" dirty="0"/>
          </a:p>
        </p:txBody>
      </p:sp>
      <p:sp>
        <p:nvSpPr>
          <p:cNvPr id="9" name="Shape 7"/>
          <p:cNvSpPr/>
          <p:nvPr/>
        </p:nvSpPr>
        <p:spPr>
          <a:xfrm>
            <a:off x="6251296"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2A9D8F"/>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Admiten varias respuestas correctas</a:t>
            </a:r>
            <a:endParaRPr lang="en-US" sz="1450" dirty="0"/>
          </a:p>
        </p:txBody>
      </p:sp>
      <p:sp>
        <p:nvSpPr>
          <p:cNvPr id="13" name="Text 11"/>
          <p:cNvSpPr txBox="1"/>
          <p:nvPr/>
        </p:nvSpPr>
        <p:spPr>
          <a:xfrm>
            <a:off x="6489040"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El estudiante construye su respuesta; puede llegar por más de un camino y obtener la puntuación completa o parcial.</a:t>
            </a:r>
            <a:endParaRPr lang="en-US" sz="1200" dirty="0"/>
          </a:p>
        </p:txBody>
      </p:sp>
      <p:sp>
        <p:nvSpPr>
          <p:cNvPr id="14" name="Shape 12"/>
          <p:cNvSpPr/>
          <p:nvPr/>
        </p:nvSpPr>
        <p:spPr>
          <a:xfrm>
            <a:off x="566928"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264408"/>
            <a:ext cx="457200" cy="457200"/>
          </a:xfrm>
          <a:prstGeom prst="ellipse">
            <a:avLst/>
          </a:prstGeom>
          <a:solidFill>
            <a:srgbClr val="C9A227"/>
          </a:solidFill>
          <a:ln/>
        </p:spPr>
        <p:txBody>
          <a:bodyPr/>
          <a:lstStyle/>
          <a:p>
            <a:endParaRPr lang="en-PR"/>
          </a:p>
        </p:txBody>
      </p:sp>
      <p:sp>
        <p:nvSpPr>
          <p:cNvPr id="16" name="Text 14"/>
          <p:cNvSpPr txBox="1"/>
          <p:nvPr/>
        </p:nvSpPr>
        <p:spPr>
          <a:xfrm>
            <a:off x="804672"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26464"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Son compatibles con la rúbrica establecida</a:t>
            </a:r>
            <a:endParaRPr lang="en-US" sz="1450" dirty="0"/>
          </a:p>
        </p:txBody>
      </p:sp>
      <p:sp>
        <p:nvSpPr>
          <p:cNvPr id="18" name="Text 16"/>
          <p:cNvSpPr txBox="1"/>
          <p:nvPr/>
        </p:nvSpPr>
        <p:spPr>
          <a:xfrm>
            <a:off x="804672"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Cada ítem tiene su baremo, que describe con precisión qué se espera en cada nivel de puntuación.</a:t>
            </a:r>
            <a:endParaRPr lang="en-US" sz="1200" dirty="0"/>
          </a:p>
        </p:txBody>
      </p:sp>
      <p:sp>
        <p:nvSpPr>
          <p:cNvPr id="19" name="Shape 17"/>
          <p:cNvSpPr/>
          <p:nvPr/>
        </p:nvSpPr>
        <p:spPr>
          <a:xfrm>
            <a:off x="6251296"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264408"/>
            <a:ext cx="457200" cy="457200"/>
          </a:xfrm>
          <a:prstGeom prst="ellipse">
            <a:avLst/>
          </a:prstGeom>
          <a:solidFill>
            <a:srgbClr val="A8322D"/>
          </a:solidFill>
          <a:ln/>
        </p:spPr>
        <p:txBody>
          <a:bodyPr/>
          <a:lstStyle/>
          <a:p>
            <a:endParaRPr lang="en-PR"/>
          </a:p>
        </p:txBody>
      </p:sp>
      <p:sp>
        <p:nvSpPr>
          <p:cNvPr id="21" name="Text 19"/>
          <p:cNvSpPr txBox="1"/>
          <p:nvPr/>
        </p:nvSpPr>
        <p:spPr>
          <a:xfrm>
            <a:off x="6489040"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10832"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Permiten puntuación parcial</a:t>
            </a:r>
            <a:endParaRPr lang="en-US" sz="1450" dirty="0"/>
          </a:p>
        </p:txBody>
      </p:sp>
      <p:sp>
        <p:nvSpPr>
          <p:cNvPr id="23" name="Text 21"/>
          <p:cNvSpPr txBox="1"/>
          <p:nvPr/>
        </p:nvSpPr>
        <p:spPr>
          <a:xfrm>
            <a:off x="6489040"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Reconocen respuestas completas y parciales, lo que reduce el efecto de un error de cálculo aislado.</a:t>
            </a:r>
            <a:endParaRPr lang="en-US" sz="1200" dirty="0"/>
          </a:p>
        </p:txBody>
      </p:sp>
      <p:sp>
        <p:nvSpPr>
          <p:cNvPr id="24" name="Shape 22"/>
          <p:cNvSpPr/>
          <p:nvPr/>
        </p:nvSpPr>
        <p:spPr>
          <a:xfrm>
            <a:off x="566928"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804672" y="4983480"/>
            <a:ext cx="457200" cy="457200"/>
          </a:xfrm>
          <a:prstGeom prst="ellipse">
            <a:avLst/>
          </a:prstGeom>
          <a:solidFill>
            <a:srgbClr val="4A6FA5"/>
          </a:solidFill>
          <a:ln/>
        </p:spPr>
        <p:txBody>
          <a:bodyPr/>
          <a:lstStyle/>
          <a:p>
            <a:endParaRPr lang="en-PR"/>
          </a:p>
        </p:txBody>
      </p:sp>
      <p:sp>
        <p:nvSpPr>
          <p:cNvPr id="26" name="Text 24"/>
          <p:cNvSpPr txBox="1"/>
          <p:nvPr/>
        </p:nvSpPr>
        <p:spPr>
          <a:xfrm>
            <a:off x="804672"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26464"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Miden lo que la selección múltiple no alcanza</a:t>
            </a:r>
            <a:endParaRPr lang="en-US" sz="1450" dirty="0"/>
          </a:p>
        </p:txBody>
      </p:sp>
      <p:sp>
        <p:nvSpPr>
          <p:cNvPr id="28" name="Text 26"/>
          <p:cNvSpPr txBox="1"/>
          <p:nvPr/>
        </p:nvSpPr>
        <p:spPr>
          <a:xfrm>
            <a:off x="804672"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Son el formato ideal para indicadores de justificación, modelación y comunicación matemática.</a:t>
            </a:r>
            <a:endParaRPr lang="en-US" sz="1200" dirty="0"/>
          </a:p>
        </p:txBody>
      </p:sp>
      <p:sp>
        <p:nvSpPr>
          <p:cNvPr id="29" name="Shape 27"/>
          <p:cNvSpPr/>
          <p:nvPr/>
        </p:nvSpPr>
        <p:spPr>
          <a:xfrm>
            <a:off x="6251296"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6489040" y="4983480"/>
            <a:ext cx="457200" cy="457200"/>
          </a:xfrm>
          <a:prstGeom prst="ellipse">
            <a:avLst/>
          </a:prstGeom>
          <a:solidFill>
            <a:srgbClr val="1F3864"/>
          </a:solidFill>
          <a:ln/>
        </p:spPr>
        <p:txBody>
          <a:bodyPr/>
          <a:lstStyle/>
          <a:p>
            <a:endParaRPr lang="en-PR"/>
          </a:p>
        </p:txBody>
      </p:sp>
      <p:sp>
        <p:nvSpPr>
          <p:cNvPr id="31" name="Text 29"/>
          <p:cNvSpPr txBox="1"/>
          <p:nvPr/>
        </p:nvSpPr>
        <p:spPr>
          <a:xfrm>
            <a:off x="6489040"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7110832"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Son el corazón del DUA</a:t>
            </a:r>
            <a:endParaRPr lang="en-US" sz="1450" dirty="0"/>
          </a:p>
        </p:txBody>
      </p:sp>
      <p:sp>
        <p:nvSpPr>
          <p:cNvPr id="33" name="Text 31"/>
          <p:cNvSpPr txBox="1"/>
          <p:nvPr/>
        </p:nvSpPr>
        <p:spPr>
          <a:xfrm>
            <a:off x="6489040"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Aceptan dibujo, tabla, ecuación o explicación escrita como evidencia válida del mismo razonamiento.</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Anatomía de la respuesta abierta sencilla (2 puntos)</a:t>
            </a:r>
            <a:endParaRPr lang="en-US" sz="2700" dirty="0"/>
          </a:p>
        </p:txBody>
      </p:sp>
      <p:sp>
        <p:nvSpPr>
          <p:cNvPr id="4" name="Shape 2"/>
          <p:cNvSpPr/>
          <p:nvPr/>
        </p:nvSpPr>
        <p:spPr>
          <a:xfrm>
            <a:off x="566928" y="1371600"/>
            <a:ext cx="6675120" cy="2880360"/>
          </a:xfrm>
          <a:prstGeom prst="roundRect">
            <a:avLst>
              <a:gd name="adj" fmla="val 1905"/>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46888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46888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MODELO · 5.º GRADO</a:t>
            </a:r>
            <a:endParaRPr lang="en-US" sz="950" dirty="0"/>
          </a:p>
        </p:txBody>
      </p:sp>
      <p:sp>
        <p:nvSpPr>
          <p:cNvPr id="7" name="Text 5"/>
          <p:cNvSpPr txBox="1"/>
          <p:nvPr/>
        </p:nvSpPr>
        <p:spPr>
          <a:xfrm>
            <a:off x="886968" y="1691640"/>
            <a:ext cx="6035040" cy="548640"/>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En una clase de 5.º grado hay 24 estudiantes. Cinco octavos (5/8) de los estudiantes participan en el club de ciencias.</a:t>
            </a:r>
            <a:endParaRPr lang="en-US" sz="1250" dirty="0"/>
          </a:p>
        </p:txBody>
      </p:sp>
      <p:sp>
        <p:nvSpPr>
          <p:cNvPr id="8" name="Text 6"/>
          <p:cNvSpPr txBox="1"/>
          <p:nvPr/>
        </p:nvSpPr>
        <p:spPr>
          <a:xfrm>
            <a:off x="978408" y="2304288"/>
            <a:ext cx="5943600" cy="310896"/>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A.   ¿Cuántos estudiantes participan en el club de ciencias?</a:t>
            </a:r>
            <a:endParaRPr lang="en-US" sz="1250" dirty="0"/>
          </a:p>
        </p:txBody>
      </p:sp>
      <p:sp>
        <p:nvSpPr>
          <p:cNvPr id="9" name="Text 7"/>
          <p:cNvSpPr txBox="1"/>
          <p:nvPr/>
        </p:nvSpPr>
        <p:spPr>
          <a:xfrm>
            <a:off x="978408" y="2670048"/>
            <a:ext cx="5943600" cy="310896"/>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B.   Explica cómo determinaste tu respuesta.</a:t>
            </a:r>
            <a:endParaRPr lang="en-US" sz="1250" dirty="0"/>
          </a:p>
        </p:txBody>
      </p:sp>
      <p:sp>
        <p:nvSpPr>
          <p:cNvPr id="10" name="Text 8"/>
          <p:cNvSpPr txBox="1"/>
          <p:nvPr/>
        </p:nvSpPr>
        <p:spPr>
          <a:xfrm>
            <a:off x="886968" y="3127248"/>
            <a:ext cx="6035040" cy="548640"/>
          </a:xfrm>
          <a:prstGeom prst="rect">
            <a:avLst/>
          </a:prstGeom>
          <a:noFill/>
          <a:ln/>
        </p:spPr>
        <p:txBody>
          <a:bodyPr wrap="square" lIns="0" tIns="0" rIns="0" bIns="0" rtlCol="0" anchor="ctr"/>
          <a:lstStyle/>
          <a:p>
            <a:pPr marL="0" indent="0">
              <a:lnSpc>
                <a:spcPct val="105000"/>
              </a:lnSpc>
              <a:buNone/>
            </a:pPr>
            <a:r>
              <a:rPr lang="en-US" sz="1180" i="1" dirty="0">
                <a:solidFill>
                  <a:srgbClr val="1F3864"/>
                </a:solidFill>
                <a:latin typeface="Calibri" pitchFamily="34" charset="0"/>
                <a:ea typeface="Calibri" pitchFamily="34" charset="-122"/>
                <a:cs typeface="Calibri" pitchFamily="34" charset="-120"/>
              </a:rPr>
              <a:t>Contesta las partes A y B en el espacio provisto. Puedes usar un dibujo, una tabla o una operación para explicar.</a:t>
            </a:r>
            <a:endParaRPr lang="en-US" sz="1180" dirty="0"/>
          </a:p>
        </p:txBody>
      </p:sp>
      <p:sp>
        <p:nvSpPr>
          <p:cNvPr id="11" name="Shape 9"/>
          <p:cNvSpPr/>
          <p:nvPr/>
        </p:nvSpPr>
        <p:spPr>
          <a:xfrm>
            <a:off x="7287768" y="1901952"/>
            <a:ext cx="457200" cy="0"/>
          </a:xfrm>
          <a:prstGeom prst="line">
            <a:avLst/>
          </a:prstGeom>
          <a:noFill/>
          <a:ln w="17780">
            <a:solidFill>
              <a:srgbClr val="2A9D8F"/>
            </a:solidFill>
            <a:prstDash val="solid"/>
            <a:tailEnd type="triangle"/>
          </a:ln>
        </p:spPr>
        <p:txBody>
          <a:bodyPr/>
          <a:lstStyle/>
          <a:p>
            <a:endParaRPr lang="en-PR"/>
          </a:p>
        </p:txBody>
      </p:sp>
      <p:sp>
        <p:nvSpPr>
          <p:cNvPr id="12" name="Text 10"/>
          <p:cNvSpPr txBox="1"/>
          <p:nvPr/>
        </p:nvSpPr>
        <p:spPr>
          <a:xfrm>
            <a:off x="7808976" y="1728216"/>
            <a:ext cx="1737360" cy="365760"/>
          </a:xfrm>
          <a:prstGeom prst="rect">
            <a:avLst/>
          </a:prstGeom>
          <a:noFill/>
          <a:ln/>
        </p:spPr>
        <p:txBody>
          <a:bodyPr wrap="square" lIns="0" tIns="0" rIns="0" bIns="0" rtlCol="0" anchor="ctr"/>
          <a:lstStyle/>
          <a:p>
            <a:pPr marL="0" indent="0">
              <a:buNone/>
            </a:pPr>
            <a:r>
              <a:rPr lang="en-US" sz="1050" b="1" dirty="0">
                <a:solidFill>
                  <a:srgbClr val="2A9D8F"/>
                </a:solidFill>
                <a:latin typeface="Calibri" pitchFamily="34" charset="0"/>
                <a:ea typeface="Calibri" pitchFamily="34" charset="-122"/>
                <a:cs typeface="Calibri" pitchFamily="34" charset="-120"/>
              </a:rPr>
              <a:t>Premisa con datos</a:t>
            </a:r>
            <a:endParaRPr lang="en-US" sz="1050" dirty="0"/>
          </a:p>
        </p:txBody>
      </p:sp>
      <p:sp>
        <p:nvSpPr>
          <p:cNvPr id="13" name="Shape 11"/>
          <p:cNvSpPr/>
          <p:nvPr/>
        </p:nvSpPr>
        <p:spPr>
          <a:xfrm>
            <a:off x="7287768" y="2542032"/>
            <a:ext cx="457200" cy="0"/>
          </a:xfrm>
          <a:prstGeom prst="line">
            <a:avLst/>
          </a:prstGeom>
          <a:noFill/>
          <a:ln w="17780">
            <a:solidFill>
              <a:srgbClr val="1B2A4A"/>
            </a:solidFill>
            <a:prstDash val="solid"/>
            <a:tailEnd type="triangle"/>
          </a:ln>
        </p:spPr>
        <p:txBody>
          <a:bodyPr/>
          <a:lstStyle/>
          <a:p>
            <a:endParaRPr lang="en-PR"/>
          </a:p>
        </p:txBody>
      </p:sp>
      <p:sp>
        <p:nvSpPr>
          <p:cNvPr id="14" name="Text 12"/>
          <p:cNvSpPr txBox="1"/>
          <p:nvPr/>
        </p:nvSpPr>
        <p:spPr>
          <a:xfrm>
            <a:off x="7808976" y="2368296"/>
            <a:ext cx="1737360" cy="36576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Premisa en dos partes</a:t>
            </a:r>
            <a:endParaRPr lang="en-US" sz="1050" dirty="0"/>
          </a:p>
        </p:txBody>
      </p:sp>
      <p:sp>
        <p:nvSpPr>
          <p:cNvPr id="15" name="Shape 13"/>
          <p:cNvSpPr/>
          <p:nvPr/>
        </p:nvSpPr>
        <p:spPr>
          <a:xfrm>
            <a:off x="7287768" y="3364992"/>
            <a:ext cx="457200" cy="0"/>
          </a:xfrm>
          <a:prstGeom prst="line">
            <a:avLst/>
          </a:prstGeom>
          <a:noFill/>
          <a:ln w="17780">
            <a:solidFill>
              <a:srgbClr val="C9A227"/>
            </a:solidFill>
            <a:prstDash val="solid"/>
            <a:tailEnd type="triangle"/>
          </a:ln>
        </p:spPr>
        <p:txBody>
          <a:bodyPr/>
          <a:lstStyle/>
          <a:p>
            <a:endParaRPr lang="en-PR"/>
          </a:p>
        </p:txBody>
      </p:sp>
      <p:sp>
        <p:nvSpPr>
          <p:cNvPr id="16" name="Text 14"/>
          <p:cNvSpPr txBox="1"/>
          <p:nvPr/>
        </p:nvSpPr>
        <p:spPr>
          <a:xfrm>
            <a:off x="7808976" y="3191256"/>
            <a:ext cx="1737360" cy="365760"/>
          </a:xfrm>
          <a:prstGeom prst="rect">
            <a:avLst/>
          </a:prstGeom>
          <a:noFill/>
          <a:ln/>
        </p:spPr>
        <p:txBody>
          <a:bodyPr wrap="square" lIns="0" tIns="0" rIns="0" bIns="0" rtlCol="0" anchor="ctr"/>
          <a:lstStyle/>
          <a:p>
            <a:pPr marL="0" indent="0">
              <a:buNone/>
            </a:pPr>
            <a:r>
              <a:rPr lang="en-US" sz="1050" b="1" dirty="0">
                <a:solidFill>
                  <a:srgbClr val="C9A227"/>
                </a:solidFill>
                <a:latin typeface="Calibri" pitchFamily="34" charset="0"/>
                <a:ea typeface="Calibri" pitchFamily="34" charset="-122"/>
                <a:cs typeface="Calibri" pitchFamily="34" charset="-120"/>
              </a:rPr>
              <a:t>Instrucciones específicas</a:t>
            </a:r>
            <a:endParaRPr lang="en-US" sz="1050" dirty="0"/>
          </a:p>
        </p:txBody>
      </p:sp>
      <p:sp>
        <p:nvSpPr>
          <p:cNvPr id="17" name="Shape 15"/>
          <p:cNvSpPr/>
          <p:nvPr/>
        </p:nvSpPr>
        <p:spPr>
          <a:xfrm>
            <a:off x="9619488" y="1371600"/>
            <a:ext cx="2005279" cy="2880360"/>
          </a:xfrm>
          <a:prstGeom prst="roundRect">
            <a:avLst>
              <a:gd name="adj" fmla="val 410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Text 16"/>
          <p:cNvSpPr txBox="1"/>
          <p:nvPr/>
        </p:nvSpPr>
        <p:spPr>
          <a:xfrm>
            <a:off x="9848088" y="1536192"/>
            <a:ext cx="2194560" cy="310896"/>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La estructura A / B</a:t>
            </a:r>
            <a:endParaRPr lang="en-US" sz="1400" dirty="0"/>
          </a:p>
        </p:txBody>
      </p:sp>
      <p:sp>
        <p:nvSpPr>
          <p:cNvPr id="19" name="Text 17"/>
          <p:cNvSpPr txBox="1"/>
          <p:nvPr/>
        </p:nvSpPr>
        <p:spPr>
          <a:xfrm>
            <a:off x="9848088" y="1920240"/>
            <a:ext cx="2148840" cy="2194560"/>
          </a:xfrm>
          <a:prstGeom prst="rect">
            <a:avLst/>
          </a:prstGeom>
          <a:noFill/>
          <a:ln/>
        </p:spPr>
        <p:txBody>
          <a:bodyPr wrap="square" lIns="0" tIns="0" rIns="0" bIns="0" rtlCol="0" anchor="ctr"/>
          <a:lstStyle/>
          <a:p>
            <a:pPr marL="0" indent="0">
              <a:lnSpc>
                <a:spcPct val="105000"/>
              </a:lnSpc>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nombra, identifica, calcula o enumera.</a:t>
            </a:r>
            <a:endParaRPr lang="en-US" sz="1150" dirty="0"/>
          </a:p>
          <a:p>
            <a:pPr marL="0" indent="0">
              <a:lnSpc>
                <a:spcPct val="105000"/>
              </a:lnSpc>
              <a:buNone/>
            </a:pPr>
            <a:r>
              <a:rPr lang="en-US" sz="500" dirty="0">
                <a:solidFill>
                  <a:srgbClr val="22303F"/>
                </a:solidFill>
                <a:latin typeface="Calibri" pitchFamily="34" charset="0"/>
                <a:ea typeface="Calibri" pitchFamily="34" charset="-122"/>
                <a:cs typeface="Calibri" pitchFamily="34" charset="-120"/>
              </a:rPr>
              <a:t>​</a:t>
            </a:r>
            <a:endParaRPr lang="en-US" sz="1150" dirty="0"/>
          </a:p>
          <a:p>
            <a:pPr marL="0" indent="0">
              <a:lnSpc>
                <a:spcPct val="105000"/>
              </a:lnSpc>
              <a:buNone/>
            </a:pPr>
            <a:r>
              <a:rPr lang="en-US" sz="1150" b="1" dirty="0">
                <a:solidFill>
                  <a:srgbClr val="22303F"/>
                </a:solidFill>
                <a:latin typeface="Calibri" pitchFamily="34" charset="0"/>
                <a:ea typeface="Calibri" pitchFamily="34" charset="-122"/>
                <a:cs typeface="Calibri" pitchFamily="34" charset="-120"/>
              </a:rPr>
              <a:t>Parte B: </a:t>
            </a:r>
            <a:r>
              <a:rPr lang="en-US" sz="1150" dirty="0">
                <a:solidFill>
                  <a:srgbClr val="22303F"/>
                </a:solidFill>
                <a:latin typeface="Calibri" pitchFamily="34" charset="0"/>
                <a:ea typeface="Calibri" pitchFamily="34" charset="-122"/>
                <a:cs typeface="Calibri" pitchFamily="34" charset="-120"/>
              </a:rPr>
              <a:t>analiza, explica, discute, muestra o ilustra.</a:t>
            </a:r>
            <a:endParaRPr lang="en-US" sz="1150" dirty="0"/>
          </a:p>
          <a:p>
            <a:pPr marL="0" indent="0">
              <a:lnSpc>
                <a:spcPct val="105000"/>
              </a:lnSpc>
              <a:buNone/>
            </a:pPr>
            <a:r>
              <a:rPr lang="en-US" sz="500" dirty="0">
                <a:solidFill>
                  <a:srgbClr val="22303F"/>
                </a:solidFill>
                <a:latin typeface="Calibri" pitchFamily="34" charset="0"/>
                <a:ea typeface="Calibri" pitchFamily="34" charset="-122"/>
                <a:cs typeface="Calibri" pitchFamily="34" charset="-120"/>
              </a:rPr>
              <a:t>​</a:t>
            </a:r>
            <a:endParaRPr lang="en-US" sz="1150" dirty="0"/>
          </a:p>
          <a:p>
            <a:pPr marL="0" indent="0">
              <a:lnSpc>
                <a:spcPct val="105000"/>
              </a:lnSpc>
              <a:buNone/>
            </a:pPr>
            <a:r>
              <a:rPr lang="en-US" sz="1150" i="1" dirty="0">
                <a:solidFill>
                  <a:srgbClr val="5F6E7E"/>
                </a:solidFill>
                <a:latin typeface="Calibri" pitchFamily="34" charset="0"/>
                <a:ea typeface="Calibri" pitchFamily="34" charset="-122"/>
                <a:cs typeface="Calibri" pitchFamily="34" charset="-120"/>
              </a:rPr>
              <a:t>Las instrucciones le recuerdan al estudiante que debe contestar ambas partes para optar por la puntuación completa.</a:t>
            </a:r>
            <a:endParaRPr lang="en-US" sz="1150" dirty="0"/>
          </a:p>
        </p:txBody>
      </p:sp>
      <p:sp>
        <p:nvSpPr>
          <p:cNvPr id="20" name="Shape 18"/>
          <p:cNvSpPr/>
          <p:nvPr/>
        </p:nvSpPr>
        <p:spPr>
          <a:xfrm>
            <a:off x="566928" y="4617720"/>
            <a:ext cx="11057839" cy="1627632"/>
          </a:xfrm>
          <a:prstGeom prst="roundRect">
            <a:avLst>
              <a:gd name="adj" fmla="val 5056"/>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Text 19"/>
          <p:cNvSpPr txBox="1"/>
          <p:nvPr/>
        </p:nvSpPr>
        <p:spPr>
          <a:xfrm>
            <a:off x="886968" y="4754880"/>
            <a:ext cx="2926080" cy="310896"/>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Baremo de 2 puntos</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995928" y="4736592"/>
          <a:ext cx="7308799"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85839">
                  <a:extLst>
                    <a:ext uri="{9D8B030D-6E8A-4147-A177-3AD203B41FA5}">
                      <a16:colId xmlns:a16="http://schemas.microsoft.com/office/drawing/2014/main" val="20001"/>
                    </a:ext>
                  </a:extLst>
                </a:gridCol>
              </a:tblGrid>
              <a:tr h="35661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Descripción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5661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Responde correctamente la parte A (15 estudiantes) y explica el procedimiento en la parte B.</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5661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Solo responde la parte A, o solo explica correctamente el procedimiento en la parte B con un error de cálculo.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5661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No responde, o la respuesta no se refiere a la pregunta.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Anatomía de la respuesta abierta de aplicación (4 a 5 puntos)</a:t>
            </a:r>
            <a:endParaRPr lang="en-US" sz="2700" dirty="0"/>
          </a:p>
        </p:txBody>
      </p:sp>
      <p:sp>
        <p:nvSpPr>
          <p:cNvPr id="4" name="Shape 2"/>
          <p:cNvSpPr/>
          <p:nvPr/>
        </p:nvSpPr>
        <p:spPr>
          <a:xfrm>
            <a:off x="566928" y="1371600"/>
            <a:ext cx="6675120" cy="3657600"/>
          </a:xfrm>
          <a:prstGeom prst="roundRect">
            <a:avLst>
              <a:gd name="adj" fmla="val 150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46888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46888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MODELO · 4.º GRADO</a:t>
            </a:r>
            <a:endParaRPr lang="en-US" sz="950" dirty="0"/>
          </a:p>
        </p:txBody>
      </p:sp>
      <p:sp>
        <p:nvSpPr>
          <p:cNvPr id="7" name="Text 5"/>
          <p:cNvSpPr txBox="1"/>
          <p:nvPr/>
        </p:nvSpPr>
        <p:spPr>
          <a:xfrm>
            <a:off x="886968" y="1664208"/>
            <a:ext cx="6035040" cy="713232"/>
          </a:xfrm>
          <a:prstGeom prst="rect">
            <a:avLst/>
          </a:prstGeom>
          <a:noFill/>
          <a:ln/>
        </p:spPr>
        <p:txBody>
          <a:bodyPr wrap="square" lIns="0" tIns="0" rIns="0" bIns="0" rtlCol="0" anchor="ctr"/>
          <a:lstStyle/>
          <a:p>
            <a:pPr marL="0" indent="0">
              <a:lnSpc>
                <a:spcPct val="105000"/>
              </a:lnSpc>
              <a:buNone/>
            </a:pPr>
            <a:r>
              <a:rPr lang="en-US" sz="1250" dirty="0">
                <a:solidFill>
                  <a:srgbClr val="22303F"/>
                </a:solidFill>
                <a:latin typeface="Calibri" pitchFamily="34" charset="0"/>
                <a:ea typeface="Calibri" pitchFamily="34" charset="-122"/>
                <a:cs typeface="Calibri" pitchFamily="34" charset="-120"/>
              </a:rPr>
              <a:t>La clase de 4.º grado quiere sembrar un huerto rectangular en el patio de la escuela. El huerto medirá 8 metros de largo y 5 metros de ancho. La clase tiene 30 metros de cerca.</a:t>
            </a:r>
            <a:endParaRPr lang="en-US" sz="1250" dirty="0"/>
          </a:p>
        </p:txBody>
      </p:sp>
      <p:sp>
        <p:nvSpPr>
          <p:cNvPr id="8" name="Text 6"/>
          <p:cNvSpPr txBox="1"/>
          <p:nvPr/>
        </p:nvSpPr>
        <p:spPr>
          <a:xfrm>
            <a:off x="978408" y="2450592"/>
            <a:ext cx="5897880" cy="420624"/>
          </a:xfrm>
          <a:prstGeom prst="rect">
            <a:avLst/>
          </a:prstGeom>
          <a:noFill/>
          <a:ln/>
        </p:spPr>
        <p:txBody>
          <a:bodyPr wrap="square" lIns="0" tIns="0" rIns="0" bIns="0" rtlCol="0" anchor="ctr"/>
          <a:lstStyle/>
          <a:p>
            <a:pPr marL="0" indent="0">
              <a:lnSpc>
                <a:spcPct val="102000"/>
              </a:lnSpc>
              <a:buNone/>
            </a:pPr>
            <a:r>
              <a:rPr lang="en-US" sz="1250" b="1" dirty="0">
                <a:solidFill>
                  <a:srgbClr val="22303F"/>
                </a:solidFill>
                <a:latin typeface="Calibri" pitchFamily="34" charset="0"/>
                <a:ea typeface="Calibri" pitchFamily="34" charset="-122"/>
                <a:cs typeface="Calibri" pitchFamily="34" charset="-120"/>
              </a:rPr>
              <a:t>A.   Haz un dibujo del huerto y rotula sus medidas.</a:t>
            </a:r>
            <a:endParaRPr lang="en-US" sz="1250" dirty="0"/>
          </a:p>
        </p:txBody>
      </p:sp>
      <p:sp>
        <p:nvSpPr>
          <p:cNvPr id="9" name="Text 7"/>
          <p:cNvSpPr txBox="1"/>
          <p:nvPr/>
        </p:nvSpPr>
        <p:spPr>
          <a:xfrm>
            <a:off x="978408" y="2907792"/>
            <a:ext cx="5897880" cy="420624"/>
          </a:xfrm>
          <a:prstGeom prst="rect">
            <a:avLst/>
          </a:prstGeom>
          <a:noFill/>
          <a:ln/>
        </p:spPr>
        <p:txBody>
          <a:bodyPr wrap="square" lIns="0" tIns="0" rIns="0" bIns="0" rtlCol="0" anchor="ctr"/>
          <a:lstStyle/>
          <a:p>
            <a:pPr marL="0" indent="0">
              <a:lnSpc>
                <a:spcPct val="102000"/>
              </a:lnSpc>
              <a:buNone/>
            </a:pPr>
            <a:r>
              <a:rPr lang="en-US" sz="1250" b="1" dirty="0">
                <a:solidFill>
                  <a:srgbClr val="22303F"/>
                </a:solidFill>
                <a:latin typeface="Calibri" pitchFamily="34" charset="0"/>
                <a:ea typeface="Calibri" pitchFamily="34" charset="-122"/>
                <a:cs typeface="Calibri" pitchFamily="34" charset="-120"/>
              </a:rPr>
              <a:t>B.   Determina cuánta cerca se necesita para rodear el huerto. Muestra tu procedimiento.</a:t>
            </a:r>
            <a:endParaRPr lang="en-US" sz="1250" dirty="0"/>
          </a:p>
        </p:txBody>
      </p:sp>
      <p:sp>
        <p:nvSpPr>
          <p:cNvPr id="10" name="Text 8"/>
          <p:cNvSpPr txBox="1"/>
          <p:nvPr/>
        </p:nvSpPr>
        <p:spPr>
          <a:xfrm>
            <a:off x="978408" y="3364992"/>
            <a:ext cx="5897880" cy="420624"/>
          </a:xfrm>
          <a:prstGeom prst="rect">
            <a:avLst/>
          </a:prstGeom>
          <a:noFill/>
          <a:ln/>
        </p:spPr>
        <p:txBody>
          <a:bodyPr wrap="square" lIns="0" tIns="0" rIns="0" bIns="0" rtlCol="0" anchor="ctr"/>
          <a:lstStyle/>
          <a:p>
            <a:pPr marL="0" indent="0">
              <a:lnSpc>
                <a:spcPct val="102000"/>
              </a:lnSpc>
              <a:buNone/>
            </a:pPr>
            <a:r>
              <a:rPr lang="en-US" sz="1250" b="1" dirty="0">
                <a:solidFill>
                  <a:srgbClr val="22303F"/>
                </a:solidFill>
                <a:latin typeface="Calibri" pitchFamily="34" charset="0"/>
                <a:ea typeface="Calibri" pitchFamily="34" charset="-122"/>
                <a:cs typeface="Calibri" pitchFamily="34" charset="-120"/>
              </a:rPr>
              <a:t>C.   Explica si los 30 metros de cerca son suficientes. Justifica tu respuesta con los cálculos.</a:t>
            </a:r>
            <a:endParaRPr lang="en-US" sz="1250" dirty="0"/>
          </a:p>
        </p:txBody>
      </p:sp>
      <p:sp>
        <p:nvSpPr>
          <p:cNvPr id="11" name="Text 9"/>
          <p:cNvSpPr txBox="1"/>
          <p:nvPr/>
        </p:nvSpPr>
        <p:spPr>
          <a:xfrm>
            <a:off x="886968" y="3950208"/>
            <a:ext cx="6035040" cy="310896"/>
          </a:xfrm>
          <a:prstGeom prst="rect">
            <a:avLst/>
          </a:prstGeom>
          <a:noFill/>
          <a:ln/>
        </p:spPr>
        <p:txBody>
          <a:bodyPr wrap="square" lIns="0" tIns="0" rIns="0" bIns="0" rtlCol="0" anchor="ctr"/>
          <a:lstStyle/>
          <a:p>
            <a:pPr marL="0" indent="0">
              <a:buNone/>
            </a:pPr>
            <a:r>
              <a:rPr lang="en-US" sz="1180" i="1" dirty="0">
                <a:solidFill>
                  <a:srgbClr val="1F3864"/>
                </a:solidFill>
                <a:latin typeface="Calibri" pitchFamily="34" charset="0"/>
                <a:ea typeface="Calibri" pitchFamily="34" charset="-122"/>
                <a:cs typeface="Calibri" pitchFamily="34" charset="-120"/>
              </a:rPr>
              <a:t>Contesta todas las partes de la pregunta en el espacio provisto.</a:t>
            </a:r>
            <a:endParaRPr lang="en-US" sz="1180" dirty="0"/>
          </a:p>
        </p:txBody>
      </p:sp>
      <p:sp>
        <p:nvSpPr>
          <p:cNvPr id="12" name="Text 10"/>
          <p:cNvSpPr txBox="1"/>
          <p:nvPr/>
        </p:nvSpPr>
        <p:spPr>
          <a:xfrm>
            <a:off x="886968" y="4389120"/>
            <a:ext cx="6035040" cy="310896"/>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DOK 3   ·   Medición y resolución de problemas   ·   4 puntos</a:t>
            </a:r>
            <a:endParaRPr lang="en-US" sz="1100" dirty="0"/>
          </a:p>
        </p:txBody>
      </p:sp>
      <p:sp>
        <p:nvSpPr>
          <p:cNvPr id="13" name="Shape 11"/>
          <p:cNvSpPr/>
          <p:nvPr/>
        </p:nvSpPr>
        <p:spPr>
          <a:xfrm>
            <a:off x="7607808" y="1371600"/>
            <a:ext cx="4016959" cy="832104"/>
          </a:xfrm>
          <a:prstGeom prst="roundRect">
            <a:avLst>
              <a:gd name="adj" fmla="val 98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4" name="Shape 12"/>
          <p:cNvSpPr/>
          <p:nvPr/>
        </p:nvSpPr>
        <p:spPr>
          <a:xfrm>
            <a:off x="7827264" y="1741932"/>
            <a:ext cx="91440" cy="91440"/>
          </a:xfrm>
          <a:prstGeom prst="ellipse">
            <a:avLst/>
          </a:prstGeom>
          <a:solidFill>
            <a:srgbClr val="1B2A4A"/>
          </a:solidFill>
          <a:ln/>
        </p:spPr>
        <p:txBody>
          <a:bodyPr/>
          <a:lstStyle/>
          <a:p>
            <a:endParaRPr lang="en-PR"/>
          </a:p>
        </p:txBody>
      </p:sp>
      <p:sp>
        <p:nvSpPr>
          <p:cNvPr id="15" name="Text 13"/>
          <p:cNvSpPr txBox="1"/>
          <p:nvPr/>
        </p:nvSpPr>
        <p:spPr>
          <a:xfrm>
            <a:off x="8065008" y="1463040"/>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Situación auténtica</a:t>
            </a:r>
            <a:endParaRPr lang="en-US" sz="1250" dirty="0"/>
          </a:p>
        </p:txBody>
      </p:sp>
      <p:sp>
        <p:nvSpPr>
          <p:cNvPr id="16" name="Text 14"/>
          <p:cNvSpPr txBox="1"/>
          <p:nvPr/>
        </p:nvSpPr>
        <p:spPr>
          <a:xfrm>
            <a:off x="8065008" y="1737360"/>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Todos los datos necesarios están en el enunciado.</a:t>
            </a:r>
            <a:endParaRPr lang="en-US" sz="1120" dirty="0"/>
          </a:p>
        </p:txBody>
      </p:sp>
      <p:sp>
        <p:nvSpPr>
          <p:cNvPr id="17" name="Shape 15"/>
          <p:cNvSpPr/>
          <p:nvPr/>
        </p:nvSpPr>
        <p:spPr>
          <a:xfrm>
            <a:off x="7607808" y="2313432"/>
            <a:ext cx="4016959" cy="832104"/>
          </a:xfrm>
          <a:prstGeom prst="roundRect">
            <a:avLst>
              <a:gd name="adj" fmla="val 989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Shape 16"/>
          <p:cNvSpPr/>
          <p:nvPr/>
        </p:nvSpPr>
        <p:spPr>
          <a:xfrm>
            <a:off x="7827264" y="2683764"/>
            <a:ext cx="91440" cy="91440"/>
          </a:xfrm>
          <a:prstGeom prst="ellipse">
            <a:avLst/>
          </a:prstGeom>
          <a:solidFill>
            <a:srgbClr val="2A9D8F"/>
          </a:solidFill>
          <a:ln/>
        </p:spPr>
        <p:txBody>
          <a:bodyPr/>
          <a:lstStyle/>
          <a:p>
            <a:endParaRPr lang="en-PR"/>
          </a:p>
        </p:txBody>
      </p:sp>
      <p:sp>
        <p:nvSpPr>
          <p:cNvPr id="19" name="Text 17"/>
          <p:cNvSpPr txBox="1"/>
          <p:nvPr/>
        </p:nvSpPr>
        <p:spPr>
          <a:xfrm>
            <a:off x="8065008" y="2404872"/>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Varias vías de expresión</a:t>
            </a:r>
            <a:endParaRPr lang="en-US" sz="1250" dirty="0"/>
          </a:p>
        </p:txBody>
      </p:sp>
      <p:sp>
        <p:nvSpPr>
          <p:cNvPr id="20" name="Text 18"/>
          <p:cNvSpPr txBox="1"/>
          <p:nvPr/>
        </p:nvSpPr>
        <p:spPr>
          <a:xfrm>
            <a:off x="8065008" y="2679192"/>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La parte A abre la puerta a quien razona visualmente.</a:t>
            </a:r>
            <a:endParaRPr lang="en-US" sz="1120" dirty="0"/>
          </a:p>
        </p:txBody>
      </p:sp>
      <p:sp>
        <p:nvSpPr>
          <p:cNvPr id="21" name="Shape 19"/>
          <p:cNvSpPr/>
          <p:nvPr/>
        </p:nvSpPr>
        <p:spPr>
          <a:xfrm>
            <a:off x="7607808" y="3255264"/>
            <a:ext cx="4016959" cy="832104"/>
          </a:xfrm>
          <a:prstGeom prst="roundRect">
            <a:avLst>
              <a:gd name="adj" fmla="val 98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2" name="Shape 20"/>
          <p:cNvSpPr/>
          <p:nvPr/>
        </p:nvSpPr>
        <p:spPr>
          <a:xfrm>
            <a:off x="7827264" y="3625596"/>
            <a:ext cx="91440" cy="91440"/>
          </a:xfrm>
          <a:prstGeom prst="ellipse">
            <a:avLst/>
          </a:prstGeom>
          <a:solidFill>
            <a:srgbClr val="C9A227"/>
          </a:solidFill>
          <a:ln/>
        </p:spPr>
        <p:txBody>
          <a:bodyPr/>
          <a:lstStyle/>
          <a:p>
            <a:endParaRPr lang="en-PR"/>
          </a:p>
        </p:txBody>
      </p:sp>
      <p:sp>
        <p:nvSpPr>
          <p:cNvPr id="23" name="Text 21"/>
          <p:cNvSpPr txBox="1"/>
          <p:nvPr/>
        </p:nvSpPr>
        <p:spPr>
          <a:xfrm>
            <a:off x="8065008" y="3346704"/>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Partes independientes</a:t>
            </a:r>
            <a:endParaRPr lang="en-US" sz="1250" dirty="0"/>
          </a:p>
        </p:txBody>
      </p:sp>
      <p:sp>
        <p:nvSpPr>
          <p:cNvPr id="24" name="Text 22"/>
          <p:cNvSpPr txBox="1"/>
          <p:nvPr/>
        </p:nvSpPr>
        <p:spPr>
          <a:xfrm>
            <a:off x="8065008" y="3621024"/>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Un error en B no impide obtener crédito en A ni en C.</a:t>
            </a:r>
            <a:endParaRPr lang="en-US" sz="1120" dirty="0"/>
          </a:p>
        </p:txBody>
      </p:sp>
      <p:sp>
        <p:nvSpPr>
          <p:cNvPr id="25" name="Shape 23"/>
          <p:cNvSpPr/>
          <p:nvPr/>
        </p:nvSpPr>
        <p:spPr>
          <a:xfrm>
            <a:off x="7607808" y="4197096"/>
            <a:ext cx="4016959" cy="832104"/>
          </a:xfrm>
          <a:prstGeom prst="roundRect">
            <a:avLst>
              <a:gd name="adj" fmla="val 989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7827264" y="4567428"/>
            <a:ext cx="91440" cy="91440"/>
          </a:xfrm>
          <a:prstGeom prst="ellipse">
            <a:avLst/>
          </a:prstGeom>
          <a:solidFill>
            <a:srgbClr val="A8322D"/>
          </a:solidFill>
          <a:ln/>
        </p:spPr>
        <p:txBody>
          <a:bodyPr/>
          <a:lstStyle/>
          <a:p>
            <a:endParaRPr lang="en-PR"/>
          </a:p>
        </p:txBody>
      </p:sp>
      <p:sp>
        <p:nvSpPr>
          <p:cNvPr id="27" name="Text 25"/>
          <p:cNvSpPr txBox="1"/>
          <p:nvPr/>
        </p:nvSpPr>
        <p:spPr>
          <a:xfrm>
            <a:off x="8065008" y="4288536"/>
            <a:ext cx="3468319" cy="274320"/>
          </a:xfrm>
          <a:prstGeom prst="rect">
            <a:avLst/>
          </a:prstGeom>
          <a:noFill/>
          <a:ln/>
        </p:spPr>
        <p:txBody>
          <a:bodyPr wrap="square" lIns="0" tIns="0" rIns="0" bIns="0"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Cierre con justificación</a:t>
            </a:r>
            <a:endParaRPr lang="en-US" sz="1250" dirty="0"/>
          </a:p>
        </p:txBody>
      </p:sp>
      <p:sp>
        <p:nvSpPr>
          <p:cNvPr id="28" name="Text 26"/>
          <p:cNvSpPr txBox="1"/>
          <p:nvPr/>
        </p:nvSpPr>
        <p:spPr>
          <a:xfrm>
            <a:off x="8065008" y="4562856"/>
            <a:ext cx="3468319" cy="393192"/>
          </a:xfrm>
          <a:prstGeom prst="rect">
            <a:avLst/>
          </a:prstGeom>
          <a:noFill/>
          <a:ln/>
        </p:spPr>
        <p:txBody>
          <a:bodyPr wrap="square" lIns="0" tIns="0" rIns="0" bIns="0" rtlCol="0" anchor="t"/>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La parte C lleva el ítem a DOK 3: hay que decidir.</a:t>
            </a:r>
            <a:endParaRPr lang="en-US" sz="1120" dirty="0"/>
          </a:p>
        </p:txBody>
      </p:sp>
      <p:sp>
        <p:nvSpPr>
          <p:cNvPr id="29" name="Shape 27"/>
          <p:cNvSpPr/>
          <p:nvPr/>
        </p:nvSpPr>
        <p:spPr>
          <a:xfrm>
            <a:off x="566928" y="5230368"/>
            <a:ext cx="11057839" cy="1005840"/>
          </a:xfrm>
          <a:prstGeom prst="roundRect">
            <a:avLst>
              <a:gd name="adj" fmla="val 81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0" name="Text 28"/>
          <p:cNvSpPr txBox="1"/>
          <p:nvPr/>
        </p:nvSpPr>
        <p:spPr>
          <a:xfrm>
            <a:off x="932688" y="5230368"/>
            <a:ext cx="1032631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La diferencia entre sencilla y de aplicación no es la extensión: es que la de aplicación exige decidir, modelar o evaluar, no solo calcular y explicar.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debemos evitar en un ítem de respuesta abierta?</a:t>
            </a:r>
            <a:endParaRPr lang="en-US" sz="2700" dirty="0"/>
          </a:p>
        </p:txBody>
      </p:sp>
      <p:sp>
        <p:nvSpPr>
          <p:cNvPr id="4" name="Shape 2"/>
          <p:cNvSpPr/>
          <p:nvPr/>
        </p:nvSpPr>
        <p:spPr>
          <a:xfrm>
            <a:off x="566928" y="1325880"/>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A8322D"/>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Preguntas demasiado abiertas</a:t>
            </a:r>
            <a:endParaRPr lang="en-US" sz="1450" dirty="0"/>
          </a:p>
        </p:txBody>
      </p:sp>
      <p:sp>
        <p:nvSpPr>
          <p:cNvPr id="8" name="Text 6"/>
          <p:cNvSpPr txBox="1"/>
          <p:nvPr/>
        </p:nvSpPr>
        <p:spPr>
          <a:xfrm>
            <a:off x="804672" y="2148840"/>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Inducen respuestas extensas que el estudiante no logra terminar y que el maestro no puede puntuar con consistencia.</a:t>
            </a:r>
            <a:endParaRPr lang="en-US" sz="1220" dirty="0"/>
          </a:p>
        </p:txBody>
      </p:sp>
      <p:sp>
        <p:nvSpPr>
          <p:cNvPr id="9" name="Shape 7"/>
          <p:cNvSpPr/>
          <p:nvPr/>
        </p:nvSpPr>
        <p:spPr>
          <a:xfrm>
            <a:off x="6251296" y="1325880"/>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A8322D"/>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Instrucciones inconclusas o confusas</a:t>
            </a:r>
            <a:endParaRPr lang="en-US" sz="1450" dirty="0"/>
          </a:p>
        </p:txBody>
      </p:sp>
      <p:sp>
        <p:nvSpPr>
          <p:cNvPr id="13" name="Text 11"/>
          <p:cNvSpPr txBox="1"/>
          <p:nvPr/>
        </p:nvSpPr>
        <p:spPr>
          <a:xfrm>
            <a:off x="6489040" y="2148840"/>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Si el estudiante no sabe cuántas partes debe contestar, pierde puntos por procedimiento, no por matemática.</a:t>
            </a:r>
            <a:endParaRPr lang="en-US" sz="1220" dirty="0"/>
          </a:p>
        </p:txBody>
      </p:sp>
      <p:sp>
        <p:nvSpPr>
          <p:cNvPr id="14" name="Shape 12"/>
          <p:cNvSpPr/>
          <p:nvPr/>
        </p:nvSpPr>
        <p:spPr>
          <a:xfrm>
            <a:off x="566928" y="3118104"/>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337560"/>
            <a:ext cx="457200" cy="457200"/>
          </a:xfrm>
          <a:prstGeom prst="ellipse">
            <a:avLst/>
          </a:prstGeom>
          <a:solidFill>
            <a:srgbClr val="A8322D"/>
          </a:solidFill>
          <a:ln/>
        </p:spPr>
        <p:txBody>
          <a:bodyPr/>
          <a:lstStyle/>
          <a:p>
            <a:endParaRPr lang="en-PR"/>
          </a:p>
        </p:txBody>
      </p:sp>
      <p:sp>
        <p:nvSpPr>
          <p:cNvPr id="16" name="Text 14"/>
          <p:cNvSpPr txBox="1"/>
          <p:nvPr/>
        </p:nvSpPr>
        <p:spPr>
          <a:xfrm>
            <a:off x="804672" y="3337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1426464" y="331927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Presumir que se lee entre líneas</a:t>
            </a:r>
            <a:endParaRPr lang="en-US" sz="1450" dirty="0"/>
          </a:p>
        </p:txBody>
      </p:sp>
      <p:sp>
        <p:nvSpPr>
          <p:cNvPr id="18" name="Text 16"/>
          <p:cNvSpPr txBox="1"/>
          <p:nvPr/>
        </p:nvSpPr>
        <p:spPr>
          <a:xfrm>
            <a:off x="804672" y="3941064"/>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No dé por sentado que el estudiante infiere lo que usted quiere. Dígalo de forma explícita.</a:t>
            </a:r>
            <a:endParaRPr lang="en-US" sz="1220" dirty="0"/>
          </a:p>
        </p:txBody>
      </p:sp>
      <p:sp>
        <p:nvSpPr>
          <p:cNvPr id="19" name="Shape 17"/>
          <p:cNvSpPr/>
          <p:nvPr/>
        </p:nvSpPr>
        <p:spPr>
          <a:xfrm>
            <a:off x="6251296" y="3118104"/>
            <a:ext cx="5373472"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337560"/>
            <a:ext cx="457200" cy="457200"/>
          </a:xfrm>
          <a:prstGeom prst="ellipse">
            <a:avLst/>
          </a:prstGeom>
          <a:solidFill>
            <a:srgbClr val="A8322D"/>
          </a:solidFill>
          <a:ln/>
        </p:spPr>
        <p:txBody>
          <a:bodyPr/>
          <a:lstStyle/>
          <a:p>
            <a:endParaRPr lang="en-PR"/>
          </a:p>
        </p:txBody>
      </p:sp>
      <p:sp>
        <p:nvSpPr>
          <p:cNvPr id="21" name="Text 19"/>
          <p:cNvSpPr txBox="1"/>
          <p:nvPr/>
        </p:nvSpPr>
        <p:spPr>
          <a:xfrm>
            <a:off x="6489040" y="3337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7110832" y="331927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Vaguedad en el lenguaje</a:t>
            </a:r>
            <a:endParaRPr lang="en-US" sz="1450" dirty="0"/>
          </a:p>
        </p:txBody>
      </p:sp>
      <p:sp>
        <p:nvSpPr>
          <p:cNvPr id="23" name="Text 21"/>
          <p:cNvSpPr txBox="1"/>
          <p:nvPr/>
        </p:nvSpPr>
        <p:spPr>
          <a:xfrm>
            <a:off x="6489040" y="3941064"/>
            <a:ext cx="4897984" cy="512064"/>
          </a:xfrm>
          <a:prstGeom prst="rect">
            <a:avLst/>
          </a:prstGeom>
          <a:noFill/>
          <a:ln/>
        </p:spPr>
        <p:txBody>
          <a:bodyPr wrap="square" lIns="0" tIns="0" rIns="0" bIns="0" rtlCol="0" anchor="t"/>
          <a:lstStyle/>
          <a:p>
            <a:pPr marL="0" indent="0">
              <a:lnSpc>
                <a:spcPct val="106000"/>
              </a:lnSpc>
              <a:buNone/>
            </a:pPr>
            <a:r>
              <a:rPr lang="en-US" sz="1220" dirty="0">
                <a:solidFill>
                  <a:srgbClr val="22303F"/>
                </a:solidFill>
                <a:latin typeface="Calibri" pitchFamily="34" charset="0"/>
                <a:ea typeface="Calibri" pitchFamily="34" charset="-122"/>
                <a:cs typeface="Calibri" pitchFamily="34" charset="-120"/>
              </a:rPr>
              <a:t>Especifique exactamente lo que se espera: «muestra el procedimiento», «usa los datos de la tabla», «justifica con los cálculos».</a:t>
            </a:r>
            <a:endParaRPr lang="en-US" sz="1220" dirty="0"/>
          </a:p>
        </p:txBody>
      </p:sp>
      <p:sp>
        <p:nvSpPr>
          <p:cNvPr id="24" name="Shape 22"/>
          <p:cNvSpPr/>
          <p:nvPr/>
        </p:nvSpPr>
        <p:spPr>
          <a:xfrm>
            <a:off x="566928" y="4754880"/>
            <a:ext cx="11057839" cy="1481328"/>
          </a:xfrm>
          <a:prstGeom prst="roundRect">
            <a:avLst>
              <a:gd name="adj" fmla="val 5556"/>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932688" y="4919472"/>
            <a:ext cx="10326319" cy="310896"/>
          </a:xfrm>
          <a:prstGeom prst="rect">
            <a:avLst/>
          </a:prstGeom>
          <a:noFill/>
          <a:ln/>
        </p:spPr>
        <p:txBody>
          <a:bodyPr wrap="square" lIns="0" tIns="0" rIns="0" bIns="0" rtlCol="0" anchor="ctr"/>
          <a:lstStyle/>
          <a:p>
            <a:pPr marL="0" indent="0">
              <a:buNone/>
            </a:pPr>
            <a:r>
              <a:rPr lang="en-US" sz="1600" b="1" dirty="0">
                <a:solidFill>
                  <a:srgbClr val="17624F"/>
                </a:solidFill>
                <a:latin typeface="Cambria" pitchFamily="34" charset="0"/>
                <a:ea typeface="Cambria" pitchFamily="34" charset="-122"/>
                <a:cs typeface="Cambria" pitchFamily="34" charset="-120"/>
              </a:rPr>
              <a:t>Guíe al estudiante con su premisa</a:t>
            </a:r>
            <a:endParaRPr lang="en-US" sz="1600" dirty="0"/>
          </a:p>
        </p:txBody>
      </p:sp>
      <p:sp>
        <p:nvSpPr>
          <p:cNvPr id="26" name="Text 24"/>
          <p:cNvSpPr txBox="1"/>
          <p:nvPr/>
        </p:nvSpPr>
        <p:spPr>
          <a:xfrm>
            <a:off x="932688" y="5285232"/>
            <a:ext cx="10326319" cy="822960"/>
          </a:xfrm>
          <a:prstGeom prst="rect">
            <a:avLst/>
          </a:prstGeom>
          <a:noFill/>
          <a:ln/>
        </p:spPr>
        <p:txBody>
          <a:bodyPr wrap="square" lIns="0" tIns="0" rIns="0" bIns="0" rtlCol="0" anchor="ctr"/>
          <a:lstStyle/>
          <a:p>
            <a:pPr marL="0" indent="0">
              <a:lnSpc>
                <a:spcPct val="105000"/>
              </a:lnSpc>
              <a:buNone/>
            </a:pPr>
            <a:r>
              <a:rPr lang="en-US" sz="1300" dirty="0">
                <a:solidFill>
                  <a:srgbClr val="17624F"/>
                </a:solidFill>
                <a:latin typeface="Calibri" pitchFamily="34" charset="0"/>
                <a:ea typeface="Calibri" pitchFamily="34" charset="-122"/>
                <a:cs typeface="Calibri" pitchFamily="34" charset="-120"/>
              </a:rPr>
              <a:t>Ayúdelo a saber exactamente qué debe contestar. La parte A nombra, identifica o enumera. La parte B analiza, explica, discute, muestra o ilustra. Esa progresión, sostenida en toda la prueba, hace que el estudiante reconozca la estructura y dedique su energía a la matemática.</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4</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Los baremos de la planilla de especificaciones</a:t>
            </a:r>
            <a:endParaRPr lang="en-US" sz="2700" dirty="0"/>
          </a:p>
        </p:txBody>
      </p:sp>
      <p:sp>
        <p:nvSpPr>
          <p:cNvPr id="4" name="Text 2"/>
          <p:cNvSpPr txBox="1"/>
          <p:nvPr/>
        </p:nvSpPr>
        <p:spPr>
          <a:xfrm>
            <a:off x="566928" y="1280160"/>
            <a:ext cx="11057839" cy="310896"/>
          </a:xfrm>
          <a:prstGeom prst="rect">
            <a:avLst/>
          </a:prstGeom>
          <a:noFill/>
          <a:ln/>
        </p:spPr>
        <p:txBody>
          <a:bodyPr wrap="square" lIns="0" tIns="0" rIns="0" bIns="0" rtlCol="0" anchor="ctr"/>
          <a:lstStyle/>
          <a:p>
            <a:pPr marL="0" indent="0">
              <a:buNone/>
            </a:pPr>
            <a:r>
              <a:rPr lang="en-US" sz="1350" dirty="0">
                <a:solidFill>
                  <a:srgbClr val="22303F"/>
                </a:solidFill>
                <a:latin typeface="Calibri" pitchFamily="34" charset="0"/>
                <a:ea typeface="Calibri" pitchFamily="34" charset="-122"/>
                <a:cs typeface="Calibri" pitchFamily="34" charset="-120"/>
              </a:rPr>
              <a:t>Cuatro escalas de puntuación para respuesta abierta en matemáticas, en orden creciente de evidencia exigida.</a:t>
            </a:r>
            <a:endParaRPr lang="en-US" sz="1350" dirty="0"/>
          </a:p>
        </p:txBody>
      </p:sp>
      <p:sp>
        <p:nvSpPr>
          <p:cNvPr id="5" name="Shape 3"/>
          <p:cNvSpPr/>
          <p:nvPr/>
        </p:nvSpPr>
        <p:spPr>
          <a:xfrm>
            <a:off x="566928"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566928" y="1737360"/>
            <a:ext cx="2668448" cy="512064"/>
          </a:xfrm>
          <a:prstGeom prst="roundRect">
            <a:avLst>
              <a:gd name="adj" fmla="val 16071"/>
            </a:avLst>
          </a:prstGeom>
          <a:solidFill>
            <a:srgbClr val="1B2A4A"/>
          </a:solidFill>
          <a:ln w="12700">
            <a:solidFill>
              <a:srgbClr val="1B2A4A"/>
            </a:solidFill>
            <a:prstDash val="solid"/>
          </a:ln>
        </p:spPr>
        <p:txBody>
          <a:bodyPr/>
          <a:lstStyle/>
          <a:p>
            <a:endParaRPr lang="en-PR"/>
          </a:p>
        </p:txBody>
      </p:sp>
      <p:sp>
        <p:nvSpPr>
          <p:cNvPr id="7" name="Text 5"/>
          <p:cNvSpPr txBox="1"/>
          <p:nvPr/>
        </p:nvSpPr>
        <p:spPr>
          <a:xfrm>
            <a:off x="694944" y="1737360"/>
            <a:ext cx="2412416"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Rúbrica de 2 puntos</a:t>
            </a:r>
            <a:endParaRPr lang="en-US" sz="1300" dirty="0"/>
          </a:p>
        </p:txBody>
      </p:sp>
      <p:sp>
        <p:nvSpPr>
          <p:cNvPr id="8" name="Shape 6"/>
          <p:cNvSpPr/>
          <p:nvPr/>
        </p:nvSpPr>
        <p:spPr>
          <a:xfrm>
            <a:off x="713232" y="2395728"/>
            <a:ext cx="292608" cy="292608"/>
          </a:xfrm>
          <a:prstGeom prst="ellipse">
            <a:avLst/>
          </a:prstGeom>
          <a:solidFill>
            <a:srgbClr val="FFFFFF"/>
          </a:solidFill>
          <a:ln w="16510">
            <a:solidFill>
              <a:srgbClr val="1B2A4A"/>
            </a:solidFill>
            <a:prstDash val="solid"/>
          </a:ln>
        </p:spPr>
        <p:txBody>
          <a:bodyPr/>
          <a:lstStyle/>
          <a:p>
            <a:endParaRPr lang="en-PR"/>
          </a:p>
        </p:txBody>
      </p:sp>
      <p:sp>
        <p:nvSpPr>
          <p:cNvPr id="9" name="Text 7"/>
          <p:cNvSpPr txBox="1"/>
          <p:nvPr/>
        </p:nvSpPr>
        <p:spPr>
          <a:xfrm>
            <a:off x="713232" y="2395728"/>
            <a:ext cx="292608" cy="292608"/>
          </a:xfrm>
          <a:prstGeom prst="rect">
            <a:avLst/>
          </a:prstGeom>
          <a:noFill/>
          <a:ln/>
        </p:spPr>
        <p:txBody>
          <a:bodyPr wrap="square" lIns="0" tIns="0" rIns="0" bIns="0" rtlCol="0" anchor="ctr"/>
          <a:lstStyle/>
          <a:p>
            <a:pPr marL="0" indent="0" algn="ctr">
              <a:buNone/>
            </a:pPr>
            <a:r>
              <a:rPr lang="en-US" sz="1150" b="1" dirty="0">
                <a:solidFill>
                  <a:srgbClr val="1B2A4A"/>
                </a:solidFill>
                <a:latin typeface="Cambria" pitchFamily="34" charset="0"/>
                <a:ea typeface="Cambria" pitchFamily="34" charset="-122"/>
                <a:cs typeface="Cambria" pitchFamily="34" charset="-120"/>
              </a:rPr>
              <a:t>2</a:t>
            </a:r>
            <a:endParaRPr lang="en-US" sz="1150" dirty="0"/>
          </a:p>
        </p:txBody>
      </p:sp>
      <p:sp>
        <p:nvSpPr>
          <p:cNvPr id="10" name="Text 8"/>
          <p:cNvSpPr txBox="1"/>
          <p:nvPr/>
        </p:nvSpPr>
        <p:spPr>
          <a:xfrm>
            <a:off x="1097280" y="236829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11" name="Shape 9"/>
          <p:cNvSpPr/>
          <p:nvPr/>
        </p:nvSpPr>
        <p:spPr>
          <a:xfrm>
            <a:off x="713232" y="2898648"/>
            <a:ext cx="292608" cy="292608"/>
          </a:xfrm>
          <a:prstGeom prst="ellipse">
            <a:avLst/>
          </a:prstGeom>
          <a:solidFill>
            <a:srgbClr val="FFFFFF"/>
          </a:solidFill>
          <a:ln w="16510">
            <a:solidFill>
              <a:srgbClr val="1B2A4A"/>
            </a:solidFill>
            <a:prstDash val="solid"/>
          </a:ln>
        </p:spPr>
        <p:txBody>
          <a:bodyPr/>
          <a:lstStyle/>
          <a:p>
            <a:endParaRPr lang="en-PR"/>
          </a:p>
        </p:txBody>
      </p:sp>
      <p:sp>
        <p:nvSpPr>
          <p:cNvPr id="12" name="Text 10"/>
          <p:cNvSpPr txBox="1"/>
          <p:nvPr/>
        </p:nvSpPr>
        <p:spPr>
          <a:xfrm>
            <a:off x="713232" y="2898648"/>
            <a:ext cx="292608" cy="292608"/>
          </a:xfrm>
          <a:prstGeom prst="rect">
            <a:avLst/>
          </a:prstGeom>
          <a:noFill/>
          <a:ln/>
        </p:spPr>
        <p:txBody>
          <a:bodyPr wrap="square" lIns="0" tIns="0" rIns="0" bIns="0" rtlCol="0" anchor="ctr"/>
          <a:lstStyle/>
          <a:p>
            <a:pPr marL="0" indent="0" algn="ctr">
              <a:buNone/>
            </a:pPr>
            <a:r>
              <a:rPr lang="en-US" sz="1150" b="1" dirty="0">
                <a:solidFill>
                  <a:srgbClr val="1B2A4A"/>
                </a:solidFill>
                <a:latin typeface="Cambria" pitchFamily="34" charset="0"/>
                <a:ea typeface="Cambria" pitchFamily="34" charset="-122"/>
                <a:cs typeface="Cambria" pitchFamily="34" charset="-120"/>
              </a:rPr>
              <a:t>1</a:t>
            </a:r>
            <a:endParaRPr lang="en-US" sz="1150" dirty="0"/>
          </a:p>
        </p:txBody>
      </p:sp>
      <p:sp>
        <p:nvSpPr>
          <p:cNvPr id="13" name="Text 11"/>
          <p:cNvSpPr txBox="1"/>
          <p:nvPr/>
        </p:nvSpPr>
        <p:spPr>
          <a:xfrm>
            <a:off x="1097280" y="287121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escoge la contestación correcta, sin fórmula ni procedimiento.</a:t>
            </a:r>
            <a:endParaRPr lang="en-US" sz="1050" dirty="0"/>
          </a:p>
        </p:txBody>
      </p:sp>
      <p:sp>
        <p:nvSpPr>
          <p:cNvPr id="14" name="Shape 12"/>
          <p:cNvSpPr/>
          <p:nvPr/>
        </p:nvSpPr>
        <p:spPr>
          <a:xfrm>
            <a:off x="3363392"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3363392" y="1737360"/>
            <a:ext cx="2668448" cy="512064"/>
          </a:xfrm>
          <a:prstGeom prst="roundRect">
            <a:avLst>
              <a:gd name="adj" fmla="val 16071"/>
            </a:avLst>
          </a:prstGeom>
          <a:solidFill>
            <a:srgbClr val="2A9D8F"/>
          </a:solidFill>
          <a:ln w="12700">
            <a:solidFill>
              <a:srgbClr val="2A9D8F"/>
            </a:solidFill>
            <a:prstDash val="solid"/>
          </a:ln>
        </p:spPr>
        <p:txBody>
          <a:bodyPr/>
          <a:lstStyle/>
          <a:p>
            <a:endParaRPr lang="en-PR"/>
          </a:p>
        </p:txBody>
      </p:sp>
      <p:sp>
        <p:nvSpPr>
          <p:cNvPr id="16" name="Text 14"/>
          <p:cNvSpPr txBox="1"/>
          <p:nvPr/>
        </p:nvSpPr>
        <p:spPr>
          <a:xfrm>
            <a:off x="3491408" y="1737360"/>
            <a:ext cx="2412416"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Rúbrica de 3 puntos</a:t>
            </a:r>
            <a:endParaRPr lang="en-US" sz="1300" dirty="0"/>
          </a:p>
        </p:txBody>
      </p:sp>
      <p:sp>
        <p:nvSpPr>
          <p:cNvPr id="17" name="Shape 15"/>
          <p:cNvSpPr/>
          <p:nvPr/>
        </p:nvSpPr>
        <p:spPr>
          <a:xfrm>
            <a:off x="3509696" y="2395728"/>
            <a:ext cx="292608" cy="292608"/>
          </a:xfrm>
          <a:prstGeom prst="ellipse">
            <a:avLst/>
          </a:prstGeom>
          <a:solidFill>
            <a:srgbClr val="FFFFFF"/>
          </a:solidFill>
          <a:ln w="16510">
            <a:solidFill>
              <a:srgbClr val="2A9D8F"/>
            </a:solidFill>
            <a:prstDash val="solid"/>
          </a:ln>
        </p:spPr>
        <p:txBody>
          <a:bodyPr/>
          <a:lstStyle/>
          <a:p>
            <a:endParaRPr lang="en-PR"/>
          </a:p>
        </p:txBody>
      </p:sp>
      <p:sp>
        <p:nvSpPr>
          <p:cNvPr id="18" name="Text 16"/>
          <p:cNvSpPr txBox="1"/>
          <p:nvPr/>
        </p:nvSpPr>
        <p:spPr>
          <a:xfrm>
            <a:off x="3509696" y="2395728"/>
            <a:ext cx="292608" cy="292608"/>
          </a:xfrm>
          <a:prstGeom prst="rect">
            <a:avLst/>
          </a:prstGeom>
          <a:noFill/>
          <a:ln/>
        </p:spPr>
        <p:txBody>
          <a:bodyPr wrap="square" lIns="0" tIns="0" rIns="0" bIns="0" rtlCol="0" anchor="ctr"/>
          <a:lstStyle/>
          <a:p>
            <a:pPr marL="0" indent="0" algn="ctr">
              <a:buNone/>
            </a:pPr>
            <a:r>
              <a:rPr lang="en-US" sz="1150" b="1" dirty="0">
                <a:solidFill>
                  <a:srgbClr val="2A9D8F"/>
                </a:solidFill>
                <a:latin typeface="Cambria" pitchFamily="34" charset="0"/>
                <a:ea typeface="Cambria" pitchFamily="34" charset="-122"/>
                <a:cs typeface="Cambria" pitchFamily="34" charset="-120"/>
              </a:rPr>
              <a:t>3</a:t>
            </a:r>
            <a:endParaRPr lang="en-US" sz="1150" dirty="0"/>
          </a:p>
        </p:txBody>
      </p:sp>
      <p:sp>
        <p:nvSpPr>
          <p:cNvPr id="19" name="Text 17"/>
          <p:cNvSpPr txBox="1"/>
          <p:nvPr/>
        </p:nvSpPr>
        <p:spPr>
          <a:xfrm>
            <a:off x="3893744" y="236829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Fórmula, procedimiento y solución correcta.</a:t>
            </a:r>
            <a:endParaRPr lang="en-US" sz="1050" dirty="0"/>
          </a:p>
        </p:txBody>
      </p:sp>
      <p:sp>
        <p:nvSpPr>
          <p:cNvPr id="20" name="Shape 18"/>
          <p:cNvSpPr/>
          <p:nvPr/>
        </p:nvSpPr>
        <p:spPr>
          <a:xfrm>
            <a:off x="3509696" y="2898648"/>
            <a:ext cx="292608" cy="292608"/>
          </a:xfrm>
          <a:prstGeom prst="ellipse">
            <a:avLst/>
          </a:prstGeom>
          <a:solidFill>
            <a:srgbClr val="FFFFFF"/>
          </a:solidFill>
          <a:ln w="16510">
            <a:solidFill>
              <a:srgbClr val="2A9D8F"/>
            </a:solidFill>
            <a:prstDash val="solid"/>
          </a:ln>
        </p:spPr>
        <p:txBody>
          <a:bodyPr/>
          <a:lstStyle/>
          <a:p>
            <a:endParaRPr lang="en-PR"/>
          </a:p>
        </p:txBody>
      </p:sp>
      <p:sp>
        <p:nvSpPr>
          <p:cNvPr id="21" name="Text 19"/>
          <p:cNvSpPr txBox="1"/>
          <p:nvPr/>
        </p:nvSpPr>
        <p:spPr>
          <a:xfrm>
            <a:off x="3509696" y="2898648"/>
            <a:ext cx="292608" cy="292608"/>
          </a:xfrm>
          <a:prstGeom prst="rect">
            <a:avLst/>
          </a:prstGeom>
          <a:noFill/>
          <a:ln/>
        </p:spPr>
        <p:txBody>
          <a:bodyPr wrap="square" lIns="0" tIns="0" rIns="0" bIns="0" rtlCol="0" anchor="ctr"/>
          <a:lstStyle/>
          <a:p>
            <a:pPr marL="0" indent="0" algn="ctr">
              <a:buNone/>
            </a:pPr>
            <a:r>
              <a:rPr lang="en-US" sz="1150" b="1" dirty="0">
                <a:solidFill>
                  <a:srgbClr val="2A9D8F"/>
                </a:solidFill>
                <a:latin typeface="Cambria" pitchFamily="34" charset="0"/>
                <a:ea typeface="Cambria" pitchFamily="34" charset="-122"/>
                <a:cs typeface="Cambria" pitchFamily="34" charset="-120"/>
              </a:rPr>
              <a:t>2</a:t>
            </a:r>
            <a:endParaRPr lang="en-US" sz="1150" dirty="0"/>
          </a:p>
        </p:txBody>
      </p:sp>
      <p:sp>
        <p:nvSpPr>
          <p:cNvPr id="22" name="Text 20"/>
          <p:cNvSpPr txBox="1"/>
          <p:nvPr/>
        </p:nvSpPr>
        <p:spPr>
          <a:xfrm>
            <a:off x="3893744" y="287121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23" name="Shape 21"/>
          <p:cNvSpPr/>
          <p:nvPr/>
        </p:nvSpPr>
        <p:spPr>
          <a:xfrm>
            <a:off x="3509696" y="3401568"/>
            <a:ext cx="292608" cy="292608"/>
          </a:xfrm>
          <a:prstGeom prst="ellipse">
            <a:avLst/>
          </a:prstGeom>
          <a:solidFill>
            <a:srgbClr val="FFFFFF"/>
          </a:solidFill>
          <a:ln w="16510">
            <a:solidFill>
              <a:srgbClr val="2A9D8F"/>
            </a:solidFill>
            <a:prstDash val="solid"/>
          </a:ln>
        </p:spPr>
        <p:txBody>
          <a:bodyPr/>
          <a:lstStyle/>
          <a:p>
            <a:endParaRPr lang="en-PR"/>
          </a:p>
        </p:txBody>
      </p:sp>
      <p:sp>
        <p:nvSpPr>
          <p:cNvPr id="24" name="Text 22"/>
          <p:cNvSpPr txBox="1"/>
          <p:nvPr/>
        </p:nvSpPr>
        <p:spPr>
          <a:xfrm>
            <a:off x="3509696" y="3401568"/>
            <a:ext cx="292608" cy="292608"/>
          </a:xfrm>
          <a:prstGeom prst="rect">
            <a:avLst/>
          </a:prstGeom>
          <a:noFill/>
          <a:ln/>
        </p:spPr>
        <p:txBody>
          <a:bodyPr wrap="square" lIns="0" tIns="0" rIns="0" bIns="0" rtlCol="0" anchor="ctr"/>
          <a:lstStyle/>
          <a:p>
            <a:pPr marL="0" indent="0" algn="ctr">
              <a:buNone/>
            </a:pPr>
            <a:r>
              <a:rPr lang="en-US" sz="1150" b="1" dirty="0">
                <a:solidFill>
                  <a:srgbClr val="2A9D8F"/>
                </a:solidFill>
                <a:latin typeface="Cambria" pitchFamily="34" charset="0"/>
                <a:ea typeface="Cambria" pitchFamily="34" charset="-122"/>
                <a:cs typeface="Cambria" pitchFamily="34" charset="-120"/>
              </a:rPr>
              <a:t>1</a:t>
            </a:r>
            <a:endParaRPr lang="en-US" sz="1150" dirty="0"/>
          </a:p>
        </p:txBody>
      </p:sp>
      <p:sp>
        <p:nvSpPr>
          <p:cNvPr id="25" name="Text 23"/>
          <p:cNvSpPr txBox="1"/>
          <p:nvPr/>
        </p:nvSpPr>
        <p:spPr>
          <a:xfrm>
            <a:off x="3893744" y="337413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escoge la contestación correcta.</a:t>
            </a:r>
            <a:endParaRPr lang="en-US" sz="1050" dirty="0"/>
          </a:p>
        </p:txBody>
      </p:sp>
      <p:sp>
        <p:nvSpPr>
          <p:cNvPr id="26" name="Shape 24"/>
          <p:cNvSpPr/>
          <p:nvPr/>
        </p:nvSpPr>
        <p:spPr>
          <a:xfrm>
            <a:off x="6159856"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7" name="Shape 25"/>
          <p:cNvSpPr/>
          <p:nvPr/>
        </p:nvSpPr>
        <p:spPr>
          <a:xfrm>
            <a:off x="6159856" y="1737360"/>
            <a:ext cx="2668448" cy="512064"/>
          </a:xfrm>
          <a:prstGeom prst="roundRect">
            <a:avLst>
              <a:gd name="adj" fmla="val 16071"/>
            </a:avLst>
          </a:prstGeom>
          <a:solidFill>
            <a:srgbClr val="C9A227"/>
          </a:solidFill>
          <a:ln w="12700">
            <a:solidFill>
              <a:srgbClr val="C9A227"/>
            </a:solidFill>
            <a:prstDash val="solid"/>
          </a:ln>
        </p:spPr>
        <p:txBody>
          <a:bodyPr/>
          <a:lstStyle/>
          <a:p>
            <a:endParaRPr lang="en-PR"/>
          </a:p>
        </p:txBody>
      </p:sp>
      <p:sp>
        <p:nvSpPr>
          <p:cNvPr id="28" name="Text 26"/>
          <p:cNvSpPr txBox="1"/>
          <p:nvPr/>
        </p:nvSpPr>
        <p:spPr>
          <a:xfrm>
            <a:off x="6287872" y="1737360"/>
            <a:ext cx="2412416" cy="512064"/>
          </a:xfrm>
          <a:prstGeom prst="rect">
            <a:avLst/>
          </a:prstGeom>
          <a:noFill/>
          <a:ln/>
        </p:spPr>
        <p:txBody>
          <a:bodyPr wrap="square" lIns="0" tIns="0" rIns="0" bIns="0" rtlCol="0" anchor="ctr"/>
          <a:lstStyle/>
          <a:p>
            <a:pPr marL="0" indent="0" algn="ctr">
              <a:buNone/>
            </a:pPr>
            <a:r>
              <a:rPr lang="en-US" sz="1300" b="1" dirty="0">
                <a:solidFill>
                  <a:srgbClr val="1B2A4A"/>
                </a:solidFill>
                <a:latin typeface="Cambria" pitchFamily="34" charset="0"/>
                <a:ea typeface="Cambria" pitchFamily="34" charset="-122"/>
                <a:cs typeface="Cambria" pitchFamily="34" charset="-120"/>
              </a:rPr>
              <a:t>Rúbrica de 4 puntos</a:t>
            </a:r>
            <a:endParaRPr lang="en-US" sz="1300" dirty="0"/>
          </a:p>
        </p:txBody>
      </p:sp>
      <p:sp>
        <p:nvSpPr>
          <p:cNvPr id="29" name="Shape 27"/>
          <p:cNvSpPr/>
          <p:nvPr/>
        </p:nvSpPr>
        <p:spPr>
          <a:xfrm>
            <a:off x="6306160" y="2395728"/>
            <a:ext cx="292608" cy="292608"/>
          </a:xfrm>
          <a:prstGeom prst="ellipse">
            <a:avLst/>
          </a:prstGeom>
          <a:solidFill>
            <a:srgbClr val="FFFFFF"/>
          </a:solidFill>
          <a:ln w="16510">
            <a:solidFill>
              <a:srgbClr val="C9A227"/>
            </a:solidFill>
            <a:prstDash val="solid"/>
          </a:ln>
        </p:spPr>
        <p:txBody>
          <a:bodyPr/>
          <a:lstStyle/>
          <a:p>
            <a:endParaRPr lang="en-PR"/>
          </a:p>
        </p:txBody>
      </p:sp>
      <p:sp>
        <p:nvSpPr>
          <p:cNvPr id="30" name="Text 28"/>
          <p:cNvSpPr txBox="1"/>
          <p:nvPr/>
        </p:nvSpPr>
        <p:spPr>
          <a:xfrm>
            <a:off x="6306160" y="239572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4</a:t>
            </a:r>
            <a:endParaRPr lang="en-US" sz="1150" dirty="0"/>
          </a:p>
        </p:txBody>
      </p:sp>
      <p:sp>
        <p:nvSpPr>
          <p:cNvPr id="31" name="Text 29"/>
          <p:cNvSpPr txBox="1"/>
          <p:nvPr/>
        </p:nvSpPr>
        <p:spPr>
          <a:xfrm>
            <a:off x="6690208" y="236829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Dibujo o gráfico, fórmula, procedimiento y solución correcta.</a:t>
            </a:r>
            <a:endParaRPr lang="en-US" sz="1050" dirty="0"/>
          </a:p>
        </p:txBody>
      </p:sp>
      <p:sp>
        <p:nvSpPr>
          <p:cNvPr id="32" name="Shape 30"/>
          <p:cNvSpPr/>
          <p:nvPr/>
        </p:nvSpPr>
        <p:spPr>
          <a:xfrm>
            <a:off x="6306160" y="3058668"/>
            <a:ext cx="292608" cy="292608"/>
          </a:xfrm>
          <a:prstGeom prst="ellipse">
            <a:avLst/>
          </a:prstGeom>
          <a:solidFill>
            <a:srgbClr val="FFFFFF"/>
          </a:solidFill>
          <a:ln w="16510">
            <a:solidFill>
              <a:srgbClr val="C9A227"/>
            </a:solidFill>
            <a:prstDash val="solid"/>
          </a:ln>
        </p:spPr>
        <p:txBody>
          <a:bodyPr/>
          <a:lstStyle/>
          <a:p>
            <a:endParaRPr lang="en-PR"/>
          </a:p>
        </p:txBody>
      </p:sp>
      <p:sp>
        <p:nvSpPr>
          <p:cNvPr id="33" name="Text 31"/>
          <p:cNvSpPr txBox="1"/>
          <p:nvPr/>
        </p:nvSpPr>
        <p:spPr>
          <a:xfrm>
            <a:off x="6306160" y="305866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3</a:t>
            </a:r>
            <a:endParaRPr lang="en-US" sz="1150" dirty="0"/>
          </a:p>
        </p:txBody>
      </p:sp>
      <p:sp>
        <p:nvSpPr>
          <p:cNvPr id="34" name="Text 32"/>
          <p:cNvSpPr txBox="1"/>
          <p:nvPr/>
        </p:nvSpPr>
        <p:spPr>
          <a:xfrm>
            <a:off x="6690208" y="303123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Fórmula, procedimiento y solución correcta.</a:t>
            </a:r>
            <a:endParaRPr lang="en-US" sz="1050" dirty="0"/>
          </a:p>
        </p:txBody>
      </p:sp>
      <p:sp>
        <p:nvSpPr>
          <p:cNvPr id="35" name="Shape 33"/>
          <p:cNvSpPr/>
          <p:nvPr/>
        </p:nvSpPr>
        <p:spPr>
          <a:xfrm>
            <a:off x="6306160" y="3561588"/>
            <a:ext cx="292608" cy="292608"/>
          </a:xfrm>
          <a:prstGeom prst="ellipse">
            <a:avLst/>
          </a:prstGeom>
          <a:solidFill>
            <a:srgbClr val="FFFFFF"/>
          </a:solidFill>
          <a:ln w="16510">
            <a:solidFill>
              <a:srgbClr val="C9A227"/>
            </a:solidFill>
            <a:prstDash val="solid"/>
          </a:ln>
        </p:spPr>
        <p:txBody>
          <a:bodyPr/>
          <a:lstStyle/>
          <a:p>
            <a:endParaRPr lang="en-PR"/>
          </a:p>
        </p:txBody>
      </p:sp>
      <p:sp>
        <p:nvSpPr>
          <p:cNvPr id="36" name="Text 34"/>
          <p:cNvSpPr txBox="1"/>
          <p:nvPr/>
        </p:nvSpPr>
        <p:spPr>
          <a:xfrm>
            <a:off x="6306160" y="356158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2</a:t>
            </a:r>
            <a:endParaRPr lang="en-US" sz="1150" dirty="0"/>
          </a:p>
        </p:txBody>
      </p:sp>
      <p:sp>
        <p:nvSpPr>
          <p:cNvPr id="37" name="Text 35"/>
          <p:cNvSpPr txBox="1"/>
          <p:nvPr/>
        </p:nvSpPr>
        <p:spPr>
          <a:xfrm>
            <a:off x="6690208" y="353415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38" name="Shape 36"/>
          <p:cNvSpPr/>
          <p:nvPr/>
        </p:nvSpPr>
        <p:spPr>
          <a:xfrm>
            <a:off x="6306160" y="4064508"/>
            <a:ext cx="292608" cy="292608"/>
          </a:xfrm>
          <a:prstGeom prst="ellipse">
            <a:avLst/>
          </a:prstGeom>
          <a:solidFill>
            <a:srgbClr val="FFFFFF"/>
          </a:solidFill>
          <a:ln w="16510">
            <a:solidFill>
              <a:srgbClr val="C9A227"/>
            </a:solidFill>
            <a:prstDash val="solid"/>
          </a:ln>
        </p:spPr>
        <p:txBody>
          <a:bodyPr/>
          <a:lstStyle/>
          <a:p>
            <a:endParaRPr lang="en-PR"/>
          </a:p>
        </p:txBody>
      </p:sp>
      <p:sp>
        <p:nvSpPr>
          <p:cNvPr id="39" name="Text 37"/>
          <p:cNvSpPr txBox="1"/>
          <p:nvPr/>
        </p:nvSpPr>
        <p:spPr>
          <a:xfrm>
            <a:off x="6306160" y="4064508"/>
            <a:ext cx="292608" cy="292608"/>
          </a:xfrm>
          <a:prstGeom prst="rect">
            <a:avLst/>
          </a:prstGeom>
          <a:noFill/>
          <a:ln/>
        </p:spPr>
        <p:txBody>
          <a:bodyPr wrap="square" lIns="0" tIns="0" rIns="0" bIns="0" rtlCol="0" anchor="ctr"/>
          <a:lstStyle/>
          <a:p>
            <a:pPr marL="0" indent="0" algn="ctr">
              <a:buNone/>
            </a:pPr>
            <a:r>
              <a:rPr lang="en-US" sz="1150" b="1" dirty="0">
                <a:solidFill>
                  <a:srgbClr val="C9A227"/>
                </a:solidFill>
                <a:latin typeface="Cambria" pitchFamily="34" charset="0"/>
                <a:ea typeface="Cambria" pitchFamily="34" charset="-122"/>
                <a:cs typeface="Cambria" pitchFamily="34" charset="-120"/>
              </a:rPr>
              <a:t>1</a:t>
            </a:r>
            <a:endParaRPr lang="en-US" sz="1150" dirty="0"/>
          </a:p>
        </p:txBody>
      </p:sp>
      <p:sp>
        <p:nvSpPr>
          <p:cNvPr id="40" name="Text 38"/>
          <p:cNvSpPr txBox="1"/>
          <p:nvPr/>
        </p:nvSpPr>
        <p:spPr>
          <a:xfrm>
            <a:off x="6690208" y="403707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escribe la contestación correcta.</a:t>
            </a:r>
            <a:endParaRPr lang="en-US" sz="1050" dirty="0"/>
          </a:p>
        </p:txBody>
      </p:sp>
      <p:sp>
        <p:nvSpPr>
          <p:cNvPr id="41" name="Shape 39"/>
          <p:cNvSpPr/>
          <p:nvPr/>
        </p:nvSpPr>
        <p:spPr>
          <a:xfrm>
            <a:off x="8956319" y="1737360"/>
            <a:ext cx="2668448" cy="3977640"/>
          </a:xfrm>
          <a:prstGeom prst="roundRect">
            <a:avLst>
              <a:gd name="adj" fmla="val 3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42" name="Shape 40"/>
          <p:cNvSpPr/>
          <p:nvPr/>
        </p:nvSpPr>
        <p:spPr>
          <a:xfrm>
            <a:off x="8956319" y="1737360"/>
            <a:ext cx="2668448" cy="512064"/>
          </a:xfrm>
          <a:prstGeom prst="roundRect">
            <a:avLst>
              <a:gd name="adj" fmla="val 16071"/>
            </a:avLst>
          </a:prstGeom>
          <a:solidFill>
            <a:srgbClr val="A8322D"/>
          </a:solidFill>
          <a:ln w="12700">
            <a:solidFill>
              <a:srgbClr val="A8322D"/>
            </a:solidFill>
            <a:prstDash val="solid"/>
          </a:ln>
        </p:spPr>
        <p:txBody>
          <a:bodyPr/>
          <a:lstStyle/>
          <a:p>
            <a:endParaRPr lang="en-PR"/>
          </a:p>
        </p:txBody>
      </p:sp>
      <p:sp>
        <p:nvSpPr>
          <p:cNvPr id="43" name="Text 41"/>
          <p:cNvSpPr txBox="1"/>
          <p:nvPr/>
        </p:nvSpPr>
        <p:spPr>
          <a:xfrm>
            <a:off x="9084335" y="1737360"/>
            <a:ext cx="2412416"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Rúbrica de 5 puntos</a:t>
            </a:r>
            <a:endParaRPr lang="en-US" sz="1300" dirty="0"/>
          </a:p>
        </p:txBody>
      </p:sp>
      <p:sp>
        <p:nvSpPr>
          <p:cNvPr id="44" name="Shape 42"/>
          <p:cNvSpPr/>
          <p:nvPr/>
        </p:nvSpPr>
        <p:spPr>
          <a:xfrm>
            <a:off x="9102623" y="2395728"/>
            <a:ext cx="292608" cy="292608"/>
          </a:xfrm>
          <a:prstGeom prst="ellipse">
            <a:avLst/>
          </a:prstGeom>
          <a:solidFill>
            <a:srgbClr val="FFFFFF"/>
          </a:solidFill>
          <a:ln w="16510">
            <a:solidFill>
              <a:srgbClr val="A8322D"/>
            </a:solidFill>
            <a:prstDash val="solid"/>
          </a:ln>
        </p:spPr>
        <p:txBody>
          <a:bodyPr/>
          <a:lstStyle/>
          <a:p>
            <a:endParaRPr lang="en-PR"/>
          </a:p>
        </p:txBody>
      </p:sp>
      <p:sp>
        <p:nvSpPr>
          <p:cNvPr id="45" name="Text 43"/>
          <p:cNvSpPr txBox="1"/>
          <p:nvPr/>
        </p:nvSpPr>
        <p:spPr>
          <a:xfrm>
            <a:off x="9102623" y="239572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5</a:t>
            </a:r>
            <a:endParaRPr lang="en-US" sz="1150" dirty="0"/>
          </a:p>
        </p:txBody>
      </p:sp>
      <p:sp>
        <p:nvSpPr>
          <p:cNvPr id="46" name="Text 44"/>
          <p:cNvSpPr txBox="1"/>
          <p:nvPr/>
        </p:nvSpPr>
        <p:spPr>
          <a:xfrm>
            <a:off x="9486671" y="236829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Dibujo o gráfico, fórmula, procedimiento, conversión de unidades y solución correcta.</a:t>
            </a:r>
            <a:endParaRPr lang="en-US" sz="1050" dirty="0"/>
          </a:p>
        </p:txBody>
      </p:sp>
      <p:sp>
        <p:nvSpPr>
          <p:cNvPr id="47" name="Shape 45"/>
          <p:cNvSpPr/>
          <p:nvPr/>
        </p:nvSpPr>
        <p:spPr>
          <a:xfrm>
            <a:off x="9102623" y="3058668"/>
            <a:ext cx="292608" cy="292608"/>
          </a:xfrm>
          <a:prstGeom prst="ellipse">
            <a:avLst/>
          </a:prstGeom>
          <a:solidFill>
            <a:srgbClr val="FFFFFF"/>
          </a:solidFill>
          <a:ln w="16510">
            <a:solidFill>
              <a:srgbClr val="A8322D"/>
            </a:solidFill>
            <a:prstDash val="solid"/>
          </a:ln>
        </p:spPr>
        <p:txBody>
          <a:bodyPr/>
          <a:lstStyle/>
          <a:p>
            <a:endParaRPr lang="en-PR"/>
          </a:p>
        </p:txBody>
      </p:sp>
      <p:sp>
        <p:nvSpPr>
          <p:cNvPr id="48" name="Text 46"/>
          <p:cNvSpPr txBox="1"/>
          <p:nvPr/>
        </p:nvSpPr>
        <p:spPr>
          <a:xfrm>
            <a:off x="9102623" y="305866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4</a:t>
            </a:r>
            <a:endParaRPr lang="en-US" sz="1150" dirty="0"/>
          </a:p>
        </p:txBody>
      </p:sp>
      <p:sp>
        <p:nvSpPr>
          <p:cNvPr id="49" name="Text 47"/>
          <p:cNvSpPr txBox="1"/>
          <p:nvPr/>
        </p:nvSpPr>
        <p:spPr>
          <a:xfrm>
            <a:off x="9486671" y="3031236"/>
            <a:ext cx="1973504" cy="603504"/>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Dibujo o gráfico, fórmula, procedimiento y solución correcta.</a:t>
            </a:r>
            <a:endParaRPr lang="en-US" sz="1050" dirty="0"/>
          </a:p>
        </p:txBody>
      </p:sp>
      <p:sp>
        <p:nvSpPr>
          <p:cNvPr id="50" name="Shape 48"/>
          <p:cNvSpPr/>
          <p:nvPr/>
        </p:nvSpPr>
        <p:spPr>
          <a:xfrm>
            <a:off x="9102623" y="3721608"/>
            <a:ext cx="292608" cy="292608"/>
          </a:xfrm>
          <a:prstGeom prst="ellipse">
            <a:avLst/>
          </a:prstGeom>
          <a:solidFill>
            <a:srgbClr val="FFFFFF"/>
          </a:solidFill>
          <a:ln w="16510">
            <a:solidFill>
              <a:srgbClr val="A8322D"/>
            </a:solidFill>
            <a:prstDash val="solid"/>
          </a:ln>
        </p:spPr>
        <p:txBody>
          <a:bodyPr/>
          <a:lstStyle/>
          <a:p>
            <a:endParaRPr lang="en-PR"/>
          </a:p>
        </p:txBody>
      </p:sp>
      <p:sp>
        <p:nvSpPr>
          <p:cNvPr id="51" name="Text 49"/>
          <p:cNvSpPr txBox="1"/>
          <p:nvPr/>
        </p:nvSpPr>
        <p:spPr>
          <a:xfrm>
            <a:off x="9102623" y="372160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3</a:t>
            </a:r>
            <a:endParaRPr lang="en-US" sz="1150" dirty="0"/>
          </a:p>
        </p:txBody>
      </p:sp>
      <p:sp>
        <p:nvSpPr>
          <p:cNvPr id="52" name="Text 50"/>
          <p:cNvSpPr txBox="1"/>
          <p:nvPr/>
        </p:nvSpPr>
        <p:spPr>
          <a:xfrm>
            <a:off x="9486671" y="369417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Fórmula, procedimiento y solución correcta.</a:t>
            </a:r>
            <a:endParaRPr lang="en-US" sz="1050" dirty="0"/>
          </a:p>
        </p:txBody>
      </p:sp>
      <p:sp>
        <p:nvSpPr>
          <p:cNvPr id="53" name="Shape 51"/>
          <p:cNvSpPr/>
          <p:nvPr/>
        </p:nvSpPr>
        <p:spPr>
          <a:xfrm>
            <a:off x="9102623" y="4224528"/>
            <a:ext cx="292608" cy="292608"/>
          </a:xfrm>
          <a:prstGeom prst="ellipse">
            <a:avLst/>
          </a:prstGeom>
          <a:solidFill>
            <a:srgbClr val="FFFFFF"/>
          </a:solidFill>
          <a:ln w="16510">
            <a:solidFill>
              <a:srgbClr val="A8322D"/>
            </a:solidFill>
            <a:prstDash val="solid"/>
          </a:ln>
        </p:spPr>
        <p:txBody>
          <a:bodyPr/>
          <a:lstStyle/>
          <a:p>
            <a:endParaRPr lang="en-PR"/>
          </a:p>
        </p:txBody>
      </p:sp>
      <p:sp>
        <p:nvSpPr>
          <p:cNvPr id="54" name="Text 52"/>
          <p:cNvSpPr txBox="1"/>
          <p:nvPr/>
        </p:nvSpPr>
        <p:spPr>
          <a:xfrm>
            <a:off x="9102623" y="422452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2</a:t>
            </a:r>
            <a:endParaRPr lang="en-US" sz="1150" dirty="0"/>
          </a:p>
        </p:txBody>
      </p:sp>
      <p:sp>
        <p:nvSpPr>
          <p:cNvPr id="55" name="Text 53"/>
          <p:cNvSpPr txBox="1"/>
          <p:nvPr/>
        </p:nvSpPr>
        <p:spPr>
          <a:xfrm>
            <a:off x="9486671" y="419709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Procedimiento y solución correcta.</a:t>
            </a:r>
            <a:endParaRPr lang="en-US" sz="1050" dirty="0"/>
          </a:p>
        </p:txBody>
      </p:sp>
      <p:sp>
        <p:nvSpPr>
          <p:cNvPr id="56" name="Shape 54"/>
          <p:cNvSpPr/>
          <p:nvPr/>
        </p:nvSpPr>
        <p:spPr>
          <a:xfrm>
            <a:off x="9102623" y="4727448"/>
            <a:ext cx="292608" cy="292608"/>
          </a:xfrm>
          <a:prstGeom prst="ellipse">
            <a:avLst/>
          </a:prstGeom>
          <a:solidFill>
            <a:srgbClr val="FFFFFF"/>
          </a:solidFill>
          <a:ln w="16510">
            <a:solidFill>
              <a:srgbClr val="A8322D"/>
            </a:solidFill>
            <a:prstDash val="solid"/>
          </a:ln>
        </p:spPr>
        <p:txBody>
          <a:bodyPr/>
          <a:lstStyle/>
          <a:p>
            <a:endParaRPr lang="en-PR"/>
          </a:p>
        </p:txBody>
      </p:sp>
      <p:sp>
        <p:nvSpPr>
          <p:cNvPr id="57" name="Text 55"/>
          <p:cNvSpPr txBox="1"/>
          <p:nvPr/>
        </p:nvSpPr>
        <p:spPr>
          <a:xfrm>
            <a:off x="9102623" y="4727448"/>
            <a:ext cx="292608" cy="292608"/>
          </a:xfrm>
          <a:prstGeom prst="rect">
            <a:avLst/>
          </a:prstGeom>
          <a:noFill/>
          <a:ln/>
        </p:spPr>
        <p:txBody>
          <a:bodyPr wrap="square" lIns="0" tIns="0" rIns="0" bIns="0" rtlCol="0" anchor="ctr"/>
          <a:lstStyle/>
          <a:p>
            <a:pPr marL="0" indent="0" algn="ctr">
              <a:buNone/>
            </a:pPr>
            <a:r>
              <a:rPr lang="en-US" sz="1150" b="1" dirty="0">
                <a:solidFill>
                  <a:srgbClr val="A8322D"/>
                </a:solidFill>
                <a:latin typeface="Cambria" pitchFamily="34" charset="0"/>
                <a:ea typeface="Cambria" pitchFamily="34" charset="-122"/>
                <a:cs typeface="Cambria" pitchFamily="34" charset="-120"/>
              </a:rPr>
              <a:t>1</a:t>
            </a:r>
            <a:endParaRPr lang="en-US" sz="1150" dirty="0"/>
          </a:p>
        </p:txBody>
      </p:sp>
      <p:sp>
        <p:nvSpPr>
          <p:cNvPr id="58" name="Text 56"/>
          <p:cNvSpPr txBox="1"/>
          <p:nvPr/>
        </p:nvSpPr>
        <p:spPr>
          <a:xfrm>
            <a:off x="9486671" y="4700016"/>
            <a:ext cx="1973504" cy="438912"/>
          </a:xfrm>
          <a:prstGeom prst="rect">
            <a:avLst/>
          </a:prstGeom>
          <a:noFill/>
          <a:ln/>
        </p:spPr>
        <p:txBody>
          <a:bodyPr wrap="square" lIns="0" tIns="0" rIns="0" bIns="0" rtlCol="0" anchor="t"/>
          <a:lstStyle/>
          <a:p>
            <a:pPr marL="0" indent="0">
              <a:lnSpc>
                <a:spcPct val="100000"/>
              </a:lnSpc>
              <a:buNone/>
            </a:pPr>
            <a:r>
              <a:rPr lang="en-US" sz="1050" dirty="0">
                <a:solidFill>
                  <a:srgbClr val="22303F"/>
                </a:solidFill>
                <a:latin typeface="Calibri" pitchFamily="34" charset="0"/>
                <a:ea typeface="Calibri" pitchFamily="34" charset="-122"/>
                <a:cs typeface="Calibri" pitchFamily="34" charset="-120"/>
              </a:rPr>
              <a:t>Solo escribe la contestación correcta.</a:t>
            </a:r>
            <a:endParaRPr lang="en-US" sz="1050" dirty="0"/>
          </a:p>
        </p:txBody>
      </p:sp>
      <p:sp>
        <p:nvSpPr>
          <p:cNvPr id="59" name="Text 5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Baremos tomados de la Planilla de especificaciones (Corraliza Montero, ORE-Ponce), en forma condensada. El baremo se selecciona según la evidencia que el ítem realmente pide.</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5</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Modelaje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3.º a 5.º grado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Tres ítems completos con baremo y planilla</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Perfil del evaluando y decisiones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A · Selección múltiple (3.º)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B · Respuesta abierta sencilla (5.º)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C · Respuesta abierta de aplicación (4.º)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Planilla de especificaciones de 4.º grado</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3.º A 5.º GRADO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Quién es el estudiante que va a contestar</a:t>
            </a:r>
            <a:endParaRPr lang="en-US" sz="2700" dirty="0"/>
          </a:p>
        </p:txBody>
      </p:sp>
      <p:sp>
        <p:nvSpPr>
          <p:cNvPr id="4" name="Shape 2"/>
          <p:cNvSpPr/>
          <p:nvPr/>
        </p:nvSpPr>
        <p:spPr>
          <a:xfrm>
            <a:off x="566928" y="1325880"/>
            <a:ext cx="5029200"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5029200" cy="603504"/>
          </a:xfrm>
          <a:prstGeom prst="roundRect">
            <a:avLst>
              <a:gd name="adj" fmla="val 13636"/>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822960" y="1325880"/>
            <a:ext cx="4572000" cy="603504"/>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Perfil del evaluando  ·  3.º a 5.º grado</a:t>
            </a:r>
            <a:endParaRPr lang="en-US" sz="1450" dirty="0"/>
          </a:p>
        </p:txBody>
      </p:sp>
      <p:sp>
        <p:nvSpPr>
          <p:cNvPr id="7" name="Text 5"/>
          <p:cNvSpPr txBox="1"/>
          <p:nvPr/>
        </p:nvSpPr>
        <p:spPr>
          <a:xfrm>
            <a:off x="841248" y="2103120"/>
            <a:ext cx="4526280" cy="370332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Su pensamiento matemático transita de lo concreto a lo pictórico y de ahí a lo simbólico.</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Su lectura todavía se está automatizando: un enunciado largo consume la energía que necesita para razonar.</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Trabaja mejor con cantidades y contextos que puede visualizar dentro de la escuela o la casa.</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Explica su razonamiento con más facilidad dibujando que escribiendo.</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La variabilidad dentro del salón es amplia: conviven lectores fluidos y lectores en desarrollo.</a:t>
            </a:r>
            <a:endParaRPr lang="en-US" sz="1280" dirty="0"/>
          </a:p>
        </p:txBody>
      </p:sp>
      <p:sp>
        <p:nvSpPr>
          <p:cNvPr id="8" name="Shape 6"/>
          <p:cNvSpPr/>
          <p:nvPr/>
        </p:nvSpPr>
        <p:spPr>
          <a:xfrm>
            <a:off x="5961888" y="1325880"/>
            <a:ext cx="5662879" cy="4617720"/>
          </a:xfrm>
          <a:prstGeom prst="roundRect">
            <a:avLst>
              <a:gd name="adj" fmla="val 17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6281928" y="1536192"/>
            <a:ext cx="5022799" cy="329184"/>
          </a:xfrm>
          <a:prstGeom prst="rect">
            <a:avLst/>
          </a:prstGeom>
          <a:noFill/>
          <a:ln/>
        </p:spPr>
        <p:txBody>
          <a:bodyPr wrap="square" lIns="0" tIns="0" rIns="0" bIns="0" rtlCol="0" anchor="ctr"/>
          <a:lstStyle/>
          <a:p>
            <a:pPr marL="0" indent="0">
              <a:buNone/>
            </a:pPr>
            <a:r>
              <a:rPr lang="en-US" sz="1650" b="1" dirty="0">
                <a:solidFill>
                  <a:srgbClr val="C9A84C"/>
                </a:solidFill>
                <a:latin typeface="Cambria" pitchFamily="34" charset="0"/>
                <a:ea typeface="Cambria" pitchFamily="34" charset="-122"/>
                <a:cs typeface="Cambria" pitchFamily="34" charset="-120"/>
              </a:rPr>
              <a:t>Decisiones de DUA para este nivel</a:t>
            </a:r>
            <a:endParaRPr lang="en-US" sz="1650" dirty="0"/>
          </a:p>
        </p:txBody>
      </p:sp>
      <p:sp>
        <p:nvSpPr>
          <p:cNvPr id="10" name="Shape 8"/>
          <p:cNvSpPr/>
          <p:nvPr/>
        </p:nvSpPr>
        <p:spPr>
          <a:xfrm>
            <a:off x="6236208" y="201168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1" name="Shape 9"/>
          <p:cNvSpPr/>
          <p:nvPr/>
        </p:nvSpPr>
        <p:spPr>
          <a:xfrm>
            <a:off x="6419088" y="2319833"/>
            <a:ext cx="100584" cy="100584"/>
          </a:xfrm>
          <a:prstGeom prst="ellipse">
            <a:avLst/>
          </a:prstGeom>
          <a:solidFill>
            <a:srgbClr val="C9A227"/>
          </a:solidFill>
          <a:ln/>
        </p:spPr>
        <p:txBody>
          <a:bodyPr/>
          <a:lstStyle/>
          <a:p>
            <a:endParaRPr lang="en-PR"/>
          </a:p>
        </p:txBody>
      </p:sp>
      <p:sp>
        <p:nvSpPr>
          <p:cNvPr id="12" name="Text 10"/>
          <p:cNvSpPr txBox="1"/>
          <p:nvPr/>
        </p:nvSpPr>
        <p:spPr>
          <a:xfrm>
            <a:off x="6675120" y="201168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El enunciado no pasa de dos oraciones cortas; una idea por oración.</a:t>
            </a:r>
            <a:endParaRPr lang="en-US" sz="1220" dirty="0"/>
          </a:p>
        </p:txBody>
      </p:sp>
      <p:sp>
        <p:nvSpPr>
          <p:cNvPr id="13" name="Shape 11"/>
          <p:cNvSpPr/>
          <p:nvPr/>
        </p:nvSpPr>
        <p:spPr>
          <a:xfrm>
            <a:off x="6236208" y="2838298"/>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4" name="Shape 12"/>
          <p:cNvSpPr/>
          <p:nvPr/>
        </p:nvSpPr>
        <p:spPr>
          <a:xfrm>
            <a:off x="6419088" y="3146450"/>
            <a:ext cx="100584" cy="100584"/>
          </a:xfrm>
          <a:prstGeom prst="ellipse">
            <a:avLst/>
          </a:prstGeom>
          <a:solidFill>
            <a:srgbClr val="C9A227"/>
          </a:solidFill>
          <a:ln/>
        </p:spPr>
        <p:txBody>
          <a:bodyPr/>
          <a:lstStyle/>
          <a:p>
            <a:endParaRPr lang="en-PR"/>
          </a:p>
        </p:txBody>
      </p:sp>
      <p:sp>
        <p:nvSpPr>
          <p:cNvPr id="15" name="Text 13"/>
          <p:cNvSpPr txBox="1"/>
          <p:nvPr/>
        </p:nvSpPr>
        <p:spPr>
          <a:xfrm>
            <a:off x="6675120" y="2838298"/>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Toda cantidad importante aparece también en tabla o dibujo.</a:t>
            </a:r>
            <a:endParaRPr lang="en-US" sz="1220" dirty="0"/>
          </a:p>
        </p:txBody>
      </p:sp>
      <p:sp>
        <p:nvSpPr>
          <p:cNvPr id="16" name="Shape 14"/>
          <p:cNvSpPr/>
          <p:nvPr/>
        </p:nvSpPr>
        <p:spPr>
          <a:xfrm>
            <a:off x="6236208" y="3664915"/>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7" name="Shape 15"/>
          <p:cNvSpPr/>
          <p:nvPr/>
        </p:nvSpPr>
        <p:spPr>
          <a:xfrm>
            <a:off x="6419088" y="3973068"/>
            <a:ext cx="100584" cy="100584"/>
          </a:xfrm>
          <a:prstGeom prst="ellipse">
            <a:avLst/>
          </a:prstGeom>
          <a:solidFill>
            <a:srgbClr val="C9A227"/>
          </a:solidFill>
          <a:ln/>
        </p:spPr>
        <p:txBody>
          <a:bodyPr/>
          <a:lstStyle/>
          <a:p>
            <a:endParaRPr lang="en-PR"/>
          </a:p>
        </p:txBody>
      </p:sp>
      <p:sp>
        <p:nvSpPr>
          <p:cNvPr id="18" name="Text 16"/>
          <p:cNvSpPr txBox="1"/>
          <p:nvPr/>
        </p:nvSpPr>
        <p:spPr>
          <a:xfrm>
            <a:off x="6675120" y="3664915"/>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ofrece siempre espacio para dibujar como forma válida de mostrar el procedimiento.</a:t>
            </a:r>
            <a:endParaRPr lang="en-US" sz="1220" dirty="0"/>
          </a:p>
        </p:txBody>
      </p:sp>
      <p:sp>
        <p:nvSpPr>
          <p:cNvPr id="19" name="Shape 17"/>
          <p:cNvSpPr/>
          <p:nvPr/>
        </p:nvSpPr>
        <p:spPr>
          <a:xfrm>
            <a:off x="6236208" y="4491533"/>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0" name="Shape 18"/>
          <p:cNvSpPr/>
          <p:nvPr/>
        </p:nvSpPr>
        <p:spPr>
          <a:xfrm>
            <a:off x="6419088" y="4799686"/>
            <a:ext cx="100584" cy="100584"/>
          </a:xfrm>
          <a:prstGeom prst="ellipse">
            <a:avLst/>
          </a:prstGeom>
          <a:solidFill>
            <a:srgbClr val="C9A227"/>
          </a:solidFill>
          <a:ln/>
        </p:spPr>
        <p:txBody>
          <a:bodyPr/>
          <a:lstStyle/>
          <a:p>
            <a:endParaRPr lang="en-PR"/>
          </a:p>
        </p:txBody>
      </p:sp>
      <p:sp>
        <p:nvSpPr>
          <p:cNvPr id="21" name="Text 19"/>
          <p:cNvSpPr txBox="1"/>
          <p:nvPr/>
        </p:nvSpPr>
        <p:spPr>
          <a:xfrm>
            <a:off x="6675120" y="4491533"/>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Las instrucciones específicas van en oración aparte y en negrita.</a:t>
            </a:r>
            <a:endParaRPr lang="en-US" sz="1220" dirty="0"/>
          </a:p>
        </p:txBody>
      </p:sp>
      <p:sp>
        <p:nvSpPr>
          <p:cNvPr id="22" name="Shape 20"/>
          <p:cNvSpPr/>
          <p:nvPr/>
        </p:nvSpPr>
        <p:spPr>
          <a:xfrm>
            <a:off x="6236208" y="531815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3" name="Shape 21"/>
          <p:cNvSpPr/>
          <p:nvPr/>
        </p:nvSpPr>
        <p:spPr>
          <a:xfrm>
            <a:off x="6419088" y="5626303"/>
            <a:ext cx="100584" cy="100584"/>
          </a:xfrm>
          <a:prstGeom prst="ellipse">
            <a:avLst/>
          </a:prstGeom>
          <a:solidFill>
            <a:srgbClr val="C9A227"/>
          </a:solidFill>
          <a:ln/>
        </p:spPr>
        <p:txBody>
          <a:bodyPr/>
          <a:lstStyle/>
          <a:p>
            <a:endParaRPr lang="en-PR"/>
          </a:p>
        </p:txBody>
      </p:sp>
      <p:sp>
        <p:nvSpPr>
          <p:cNvPr id="24" name="Text 22"/>
          <p:cNvSpPr txBox="1"/>
          <p:nvPr/>
        </p:nvSpPr>
        <p:spPr>
          <a:xfrm>
            <a:off x="6675120" y="531815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Cuatro opciones de respuesta breves, del mismo largo y en orden numérico ascendente.</a:t>
            </a:r>
            <a:endParaRPr lang="en-US" sz="12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Selección múltiple  ·  3.º grado  ·  Numeración y operación</a:t>
            </a:r>
            <a:endParaRPr lang="en-US" sz="2700" dirty="0"/>
          </a:p>
        </p:txBody>
      </p:sp>
      <p:sp>
        <p:nvSpPr>
          <p:cNvPr id="4" name="Shape 2"/>
          <p:cNvSpPr/>
          <p:nvPr/>
        </p:nvSpPr>
        <p:spPr>
          <a:xfrm>
            <a:off x="566928" y="1371600"/>
            <a:ext cx="6858000" cy="3657600"/>
          </a:xfrm>
          <a:prstGeom prst="roundRect">
            <a:avLst>
              <a:gd name="adj" fmla="val 150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1 PUNTO · DOK 2</a:t>
            </a:r>
            <a:endParaRPr lang="en-US" sz="950" dirty="0"/>
          </a:p>
        </p:txBody>
      </p:sp>
      <p:sp>
        <p:nvSpPr>
          <p:cNvPr id="7" name="Text 5"/>
          <p:cNvSpPr txBox="1"/>
          <p:nvPr/>
        </p:nvSpPr>
        <p:spPr>
          <a:xfrm>
            <a:off x="859536" y="1645920"/>
            <a:ext cx="6272784"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La tabla muestra la cantidad de libros que la biblioteca escolar prestó en cuatro meses.</a:t>
            </a:r>
            <a:endParaRPr lang="en-US" sz="123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59536" y="1975104"/>
          <a:ext cx="320040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24688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Libros prestados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septiembre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1,204</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octubre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1,240</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noviembre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246888">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diciembre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22303F"/>
                          </a:solidFill>
                          <a:latin typeface="Calibri" pitchFamily="34" charset="0"/>
                          <a:ea typeface="Calibri" pitchFamily="34" charset="-122"/>
                          <a:cs typeface="Calibri" pitchFamily="34" charset="-120"/>
                        </a:rPr>
                        <a:t>1,402</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9" name="Text 6"/>
          <p:cNvSpPr txBox="1"/>
          <p:nvPr/>
        </p:nvSpPr>
        <p:spPr>
          <a:xfrm>
            <a:off x="859536" y="3337560"/>
            <a:ext cx="6272784" cy="274320"/>
          </a:xfrm>
          <a:prstGeom prst="rect">
            <a:avLst/>
          </a:prstGeom>
          <a:noFill/>
          <a:ln/>
        </p:spPr>
        <p:txBody>
          <a:bodyPr wrap="square" lIns="0" tIns="0" rIns="0" bIns="0" rtlCol="0" anchor="ctr"/>
          <a:lstStyle/>
          <a:p>
            <a:pPr marL="0" indent="0">
              <a:buNone/>
            </a:pPr>
            <a:r>
              <a:rPr lang="en-US" sz="1230" b="1" dirty="0">
                <a:solidFill>
                  <a:srgbClr val="22303F"/>
                </a:solidFill>
                <a:latin typeface="Calibri" pitchFamily="34" charset="0"/>
                <a:ea typeface="Calibri" pitchFamily="34" charset="-122"/>
                <a:cs typeface="Calibri" pitchFamily="34" charset="-120"/>
              </a:rPr>
              <a:t>¿En qué mes la biblioteca prestó la mayor cantidad de libros?</a:t>
            </a:r>
            <a:endParaRPr lang="en-US" sz="1230" dirty="0"/>
          </a:p>
        </p:txBody>
      </p:sp>
      <p:sp>
        <p:nvSpPr>
          <p:cNvPr id="10" name="Shape 7"/>
          <p:cNvSpPr/>
          <p:nvPr/>
        </p:nvSpPr>
        <p:spPr>
          <a:xfrm>
            <a:off x="932688" y="3758184"/>
            <a:ext cx="155448" cy="155448"/>
          </a:xfrm>
          <a:prstGeom prst="ellipse">
            <a:avLst/>
          </a:prstGeom>
          <a:solidFill>
            <a:srgbClr val="FFFFFF"/>
          </a:solidFill>
          <a:ln w="12700">
            <a:solidFill>
              <a:srgbClr val="5F6E7E"/>
            </a:solidFill>
            <a:prstDash val="solid"/>
          </a:ln>
        </p:spPr>
        <p:txBody>
          <a:bodyPr/>
          <a:lstStyle/>
          <a:p>
            <a:endParaRPr lang="en-PR"/>
          </a:p>
        </p:txBody>
      </p:sp>
      <p:sp>
        <p:nvSpPr>
          <p:cNvPr id="11" name="Text 8"/>
          <p:cNvSpPr txBox="1"/>
          <p:nvPr/>
        </p:nvSpPr>
        <p:spPr>
          <a:xfrm>
            <a:off x="1225296" y="3703320"/>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A.   septiembre</a:t>
            </a:r>
            <a:endParaRPr lang="en-US" sz="1230" dirty="0"/>
          </a:p>
        </p:txBody>
      </p:sp>
      <p:sp>
        <p:nvSpPr>
          <p:cNvPr id="12" name="Shape 9"/>
          <p:cNvSpPr/>
          <p:nvPr/>
        </p:nvSpPr>
        <p:spPr>
          <a:xfrm>
            <a:off x="932688" y="4069080"/>
            <a:ext cx="155448" cy="155448"/>
          </a:xfrm>
          <a:prstGeom prst="ellipse">
            <a:avLst/>
          </a:prstGeom>
          <a:solidFill>
            <a:srgbClr val="FFFFFF"/>
          </a:solidFill>
          <a:ln w="12700">
            <a:solidFill>
              <a:srgbClr val="5F6E7E"/>
            </a:solidFill>
            <a:prstDash val="solid"/>
          </a:ln>
        </p:spPr>
        <p:txBody>
          <a:bodyPr/>
          <a:lstStyle/>
          <a:p>
            <a:endParaRPr lang="en-PR"/>
          </a:p>
        </p:txBody>
      </p:sp>
      <p:sp>
        <p:nvSpPr>
          <p:cNvPr id="13" name="Text 10"/>
          <p:cNvSpPr txBox="1"/>
          <p:nvPr/>
        </p:nvSpPr>
        <p:spPr>
          <a:xfrm>
            <a:off x="1225296" y="4014216"/>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B.   octubre</a:t>
            </a:r>
            <a:endParaRPr lang="en-US" sz="1230" dirty="0"/>
          </a:p>
        </p:txBody>
      </p:sp>
      <p:sp>
        <p:nvSpPr>
          <p:cNvPr id="14" name="Shape 11"/>
          <p:cNvSpPr/>
          <p:nvPr/>
        </p:nvSpPr>
        <p:spPr>
          <a:xfrm>
            <a:off x="932688" y="4379976"/>
            <a:ext cx="155448" cy="155448"/>
          </a:xfrm>
          <a:prstGeom prst="ellipse">
            <a:avLst/>
          </a:prstGeom>
          <a:solidFill>
            <a:srgbClr val="FFFFFF"/>
          </a:solidFill>
          <a:ln w="12700">
            <a:solidFill>
              <a:srgbClr val="5F6E7E"/>
            </a:solidFill>
            <a:prstDash val="solid"/>
          </a:ln>
        </p:spPr>
        <p:txBody>
          <a:bodyPr/>
          <a:lstStyle/>
          <a:p>
            <a:endParaRPr lang="en-PR"/>
          </a:p>
        </p:txBody>
      </p:sp>
      <p:sp>
        <p:nvSpPr>
          <p:cNvPr id="15" name="Text 12"/>
          <p:cNvSpPr txBox="1"/>
          <p:nvPr/>
        </p:nvSpPr>
        <p:spPr>
          <a:xfrm>
            <a:off x="1225296" y="4325112"/>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C.   noviembre</a:t>
            </a:r>
            <a:endParaRPr lang="en-US" sz="1230" dirty="0"/>
          </a:p>
        </p:txBody>
      </p:sp>
      <p:sp>
        <p:nvSpPr>
          <p:cNvPr id="16" name="Shape 13"/>
          <p:cNvSpPr/>
          <p:nvPr/>
        </p:nvSpPr>
        <p:spPr>
          <a:xfrm>
            <a:off x="932688" y="4690872"/>
            <a:ext cx="155448" cy="155448"/>
          </a:xfrm>
          <a:prstGeom prst="ellipse">
            <a:avLst/>
          </a:prstGeom>
          <a:solidFill>
            <a:srgbClr val="FFFFFF"/>
          </a:solidFill>
          <a:ln w="12700">
            <a:solidFill>
              <a:srgbClr val="5F6E7E"/>
            </a:solidFill>
            <a:prstDash val="solid"/>
          </a:ln>
        </p:spPr>
        <p:txBody>
          <a:bodyPr/>
          <a:lstStyle/>
          <a:p>
            <a:endParaRPr lang="en-PR"/>
          </a:p>
        </p:txBody>
      </p:sp>
      <p:sp>
        <p:nvSpPr>
          <p:cNvPr id="17" name="Text 14"/>
          <p:cNvSpPr txBox="1"/>
          <p:nvPr/>
        </p:nvSpPr>
        <p:spPr>
          <a:xfrm>
            <a:off x="1225296" y="4636008"/>
            <a:ext cx="2743200" cy="274320"/>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D.   diciembre</a:t>
            </a:r>
            <a:endParaRPr lang="en-US" sz="1230" dirty="0"/>
          </a:p>
        </p:txBody>
      </p:sp>
      <p:sp>
        <p:nvSpPr>
          <p:cNvPr id="18" name="Text 15"/>
          <p:cNvSpPr txBox="1"/>
          <p:nvPr/>
        </p:nvSpPr>
        <p:spPr>
          <a:xfrm>
            <a:off x="4407408" y="2103120"/>
            <a:ext cx="2743200" cy="731520"/>
          </a:xfrm>
          <a:prstGeom prst="rect">
            <a:avLst/>
          </a:prstGeom>
          <a:noFill/>
          <a:ln/>
        </p:spPr>
        <p:txBody>
          <a:bodyPr wrap="square" lIns="0" tIns="0" rIns="0" bIns="0" rtlCol="0" anchor="ctr"/>
          <a:lstStyle/>
          <a:p>
            <a:pPr marL="0" indent="0">
              <a:lnSpc>
                <a:spcPct val="104000"/>
              </a:lnSpc>
              <a:buNone/>
            </a:pPr>
            <a:r>
              <a:rPr lang="en-US" sz="1050" i="1" dirty="0">
                <a:solidFill>
                  <a:srgbClr val="2A9D8F"/>
                </a:solidFill>
                <a:latin typeface="Calibri" pitchFamily="34" charset="0"/>
                <a:ea typeface="Calibri" pitchFamily="34" charset="-122"/>
                <a:cs typeface="Calibri" pitchFamily="34" charset="-120"/>
              </a:rPr>
              <a:t>La tabla repite la información numérica del enunciado:</a:t>
            </a:r>
            <a:endParaRPr lang="en-US" sz="1050" dirty="0"/>
          </a:p>
          <a:p>
            <a:pPr marL="0" indent="0">
              <a:lnSpc>
                <a:spcPct val="104000"/>
              </a:lnSpc>
              <a:buNone/>
            </a:pPr>
            <a:r>
              <a:rPr lang="en-US" sz="1050" i="1" dirty="0">
                <a:solidFill>
                  <a:srgbClr val="2A9D8F"/>
                </a:solidFill>
                <a:latin typeface="Calibri" pitchFamily="34" charset="0"/>
                <a:ea typeface="Calibri" pitchFamily="34" charset="-122"/>
                <a:cs typeface="Calibri" pitchFamily="34" charset="-120"/>
              </a:rPr>
              <a:t>es la segunda representación que exige el DUA.</a:t>
            </a:r>
            <a:endParaRPr lang="en-US" sz="1050" dirty="0"/>
          </a:p>
        </p:txBody>
      </p:sp>
      <p:sp>
        <p:nvSpPr>
          <p:cNvPr id="19" name="Shape 16"/>
          <p:cNvSpPr/>
          <p:nvPr/>
        </p:nvSpPr>
        <p:spPr>
          <a:xfrm>
            <a:off x="7790688" y="1371600"/>
            <a:ext cx="3834079" cy="3657600"/>
          </a:xfrm>
          <a:prstGeom prst="roundRect">
            <a:avLst>
              <a:gd name="adj" fmla="val 22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7"/>
          <p:cNvSpPr/>
          <p:nvPr/>
        </p:nvSpPr>
        <p:spPr>
          <a:xfrm>
            <a:off x="7790688" y="1371600"/>
            <a:ext cx="38340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1" name="Text 18"/>
          <p:cNvSpPr txBox="1"/>
          <p:nvPr/>
        </p:nvSpPr>
        <p:spPr>
          <a:xfrm>
            <a:off x="7973568" y="1371600"/>
            <a:ext cx="34683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2" name="Text 19"/>
          <p:cNvSpPr txBox="1"/>
          <p:nvPr/>
        </p:nvSpPr>
        <p:spPr>
          <a:xfrm>
            <a:off x="8001000" y="1938528"/>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GRADO</a:t>
            </a:r>
            <a:endParaRPr lang="en-US" sz="950" dirty="0"/>
          </a:p>
        </p:txBody>
      </p:sp>
      <p:sp>
        <p:nvSpPr>
          <p:cNvPr id="23" name="Text 20"/>
          <p:cNvSpPr txBox="1"/>
          <p:nvPr/>
        </p:nvSpPr>
        <p:spPr>
          <a:xfrm>
            <a:off x="8001000" y="2121408"/>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3.º grado</a:t>
            </a:r>
            <a:endParaRPr lang="en-US" sz="1130" dirty="0"/>
          </a:p>
        </p:txBody>
      </p:sp>
      <p:sp>
        <p:nvSpPr>
          <p:cNvPr id="24" name="Text 21"/>
          <p:cNvSpPr txBox="1"/>
          <p:nvPr/>
        </p:nvSpPr>
        <p:spPr>
          <a:xfrm>
            <a:off x="8001000" y="2386438"/>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a:t>
            </a:r>
            <a:endParaRPr lang="en-US" sz="950" dirty="0"/>
          </a:p>
        </p:txBody>
      </p:sp>
      <p:sp>
        <p:nvSpPr>
          <p:cNvPr id="25" name="Text 22"/>
          <p:cNvSpPr txBox="1"/>
          <p:nvPr/>
        </p:nvSpPr>
        <p:spPr>
          <a:xfrm>
            <a:off x="8001000" y="2569318"/>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Numeración y operación (N)</a:t>
            </a:r>
            <a:endParaRPr lang="en-US" sz="1130" dirty="0"/>
          </a:p>
        </p:txBody>
      </p:sp>
      <p:sp>
        <p:nvSpPr>
          <p:cNvPr id="26" name="Text 23"/>
          <p:cNvSpPr txBox="1"/>
          <p:nvPr/>
        </p:nvSpPr>
        <p:spPr>
          <a:xfrm>
            <a:off x="8001000" y="2834347"/>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27" name="Text 24"/>
          <p:cNvSpPr txBox="1"/>
          <p:nvPr/>
        </p:nvSpPr>
        <p:spPr>
          <a:xfrm>
            <a:off x="8001000" y="3017227"/>
            <a:ext cx="341345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3.N.1 · Reconoce la relación entre los números, las cantidades que estos representan, el valor y el lugar posicional de los dígitos.</a:t>
            </a:r>
            <a:endParaRPr lang="en-US" sz="1130" dirty="0"/>
          </a:p>
        </p:txBody>
      </p:sp>
      <p:sp>
        <p:nvSpPr>
          <p:cNvPr id="28" name="Text 25"/>
          <p:cNvSpPr txBox="1"/>
          <p:nvPr/>
        </p:nvSpPr>
        <p:spPr>
          <a:xfrm>
            <a:off x="8001000" y="362943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29" name="Text 26"/>
          <p:cNvSpPr txBox="1"/>
          <p:nvPr/>
        </p:nvSpPr>
        <p:spPr>
          <a:xfrm>
            <a:off x="8001000" y="3812316"/>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Destreza y concepto</a:t>
            </a:r>
            <a:endParaRPr lang="en-US" sz="1130" dirty="0"/>
          </a:p>
        </p:txBody>
      </p:sp>
      <p:sp>
        <p:nvSpPr>
          <p:cNvPr id="30" name="Text 27"/>
          <p:cNvSpPr txBox="1"/>
          <p:nvPr/>
        </p:nvSpPr>
        <p:spPr>
          <a:xfrm>
            <a:off x="8001000" y="407734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 / CLAVE</a:t>
            </a:r>
            <a:endParaRPr lang="en-US" sz="950" dirty="0"/>
          </a:p>
        </p:txBody>
      </p:sp>
      <p:sp>
        <p:nvSpPr>
          <p:cNvPr id="31" name="Text 28"/>
          <p:cNvSpPr txBox="1"/>
          <p:nvPr/>
        </p:nvSpPr>
        <p:spPr>
          <a:xfrm>
            <a:off x="8001000" y="4260226"/>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 punto · Respuesta correcta: D</a:t>
            </a:r>
            <a:endParaRPr lang="en-US" sz="1130" dirty="0"/>
          </a:p>
        </p:txBody>
      </p:sp>
      <p:sp>
        <p:nvSpPr>
          <p:cNvPr id="32" name="Shape 29"/>
          <p:cNvSpPr/>
          <p:nvPr/>
        </p:nvSpPr>
        <p:spPr>
          <a:xfrm>
            <a:off x="566928" y="5138928"/>
            <a:ext cx="11057839" cy="896112"/>
          </a:xfrm>
          <a:prstGeom prst="roundRect">
            <a:avLst>
              <a:gd name="adj" fmla="val 9184"/>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33" name="Text 30"/>
          <p:cNvSpPr txBox="1"/>
          <p:nvPr/>
        </p:nvSpPr>
        <p:spPr>
          <a:xfrm>
            <a:off x="886968" y="5239512"/>
            <a:ext cx="10417759" cy="274320"/>
          </a:xfrm>
          <a:prstGeom prst="rect">
            <a:avLst/>
          </a:prstGeom>
          <a:noFill/>
          <a:ln/>
        </p:spPr>
        <p:txBody>
          <a:bodyPr wrap="square" lIns="0" tIns="0" rIns="0" bIns="0" rtlCol="0" anchor="ctr"/>
          <a:lstStyle/>
          <a:p>
            <a:pPr marL="0" indent="0">
              <a:buNone/>
            </a:pPr>
            <a:r>
              <a:rPr lang="en-US" sz="1350" b="1" dirty="0">
                <a:solidFill>
                  <a:srgbClr val="17624F"/>
                </a:solidFill>
                <a:latin typeface="Cambria" pitchFamily="34" charset="0"/>
                <a:ea typeface="Cambria" pitchFamily="34" charset="-122"/>
                <a:cs typeface="Cambria" pitchFamily="34" charset="-120"/>
              </a:rPr>
              <a:t>Chequeo DUA de este ítem</a:t>
            </a:r>
            <a:endParaRPr lang="en-US" sz="1350" dirty="0"/>
          </a:p>
        </p:txBody>
      </p:sp>
      <p:sp>
        <p:nvSpPr>
          <p:cNvPr id="34" name="Text 31"/>
          <p:cNvSpPr txBox="1"/>
          <p:nvPr/>
        </p:nvSpPr>
        <p:spPr>
          <a:xfrm>
            <a:off x="886968" y="5522976"/>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17624F"/>
                </a:solidFill>
                <a:latin typeface="Calibri" pitchFamily="34" charset="0"/>
                <a:ea typeface="Calibri" pitchFamily="34" charset="-122"/>
                <a:cs typeface="Calibri" pitchFamily="34" charset="-120"/>
              </a:rPr>
              <a:t>Enunciado de una sola oración · información numérica en texto y en tabla · opciones de una palabra, del mismo largo · contexto escolar accesible a cualquier estudiante · no exige lectura de un párrafo para llegar a la pregunta.</a:t>
            </a:r>
            <a:endParaRPr lang="en-US" sz="1180" dirty="0"/>
          </a:p>
        </p:txBody>
      </p:sp>
      <p:sp>
        <p:nvSpPr>
          <p:cNvPr id="35" name="Text 32"/>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diagnostica cada distractor</a:t>
            </a:r>
            <a:endParaRPr lang="en-US" sz="27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gridCol w="3925519">
                  <a:extLst>
                    <a:ext uri="{9D8B030D-6E8A-4147-A177-3AD203B41FA5}">
                      <a16:colId xmlns:a16="http://schemas.microsoft.com/office/drawing/2014/main" val="20003"/>
                    </a:ext>
                  </a:extLst>
                </a:gridCol>
              </a:tblGrid>
              <a:tr h="64008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Opción</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de la tabla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Error que representa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Reenseñanza que dispara</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ctr">
                        <a:buNone/>
                      </a:pPr>
                      <a:r>
                        <a:rPr lang="en-US" sz="1140" b="1" dirty="0">
                          <a:solidFill>
                            <a:srgbClr val="22303F"/>
                          </a:solidFill>
                          <a:latin typeface="Calibri" pitchFamily="34" charset="0"/>
                          <a:ea typeface="Calibri" pitchFamily="34" charset="-122"/>
                          <a:cs typeface="Calibri" pitchFamily="34" charset="-120"/>
                        </a:rPr>
                        <a:t>A · septiembre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40" dirty="0">
                          <a:solidFill>
                            <a:srgbClr val="22303F"/>
                          </a:solidFill>
                          <a:latin typeface="Calibri" pitchFamily="34" charset="0"/>
                          <a:ea typeface="Calibri" pitchFamily="34" charset="-122"/>
                          <a:cs typeface="Calibri" pitchFamily="34" charset="-120"/>
                        </a:rPr>
                        <a:t>1,204</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Comparó solo la primera cifra distinta y se detuvo en la centena.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Procedimiento completo de comparación de izquierda a derecha.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640080">
                <a:tc>
                  <a:txBody>
                    <a:bodyPr/>
                    <a:lstStyle/>
                    <a:p>
                      <a:pPr marL="0" indent="0" algn="ctr">
                        <a:buNone/>
                      </a:pPr>
                      <a:r>
                        <a:rPr lang="en-US" sz="1140" b="1" dirty="0">
                          <a:solidFill>
                            <a:srgbClr val="22303F"/>
                          </a:solidFill>
                          <a:latin typeface="Calibri" pitchFamily="34" charset="0"/>
                          <a:ea typeface="Calibri" pitchFamily="34" charset="-122"/>
                          <a:cs typeface="Calibri" pitchFamily="34" charset="-120"/>
                        </a:rPr>
                        <a:t>B · octubre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40" dirty="0">
                          <a:solidFill>
                            <a:srgbClr val="22303F"/>
                          </a:solidFill>
                          <a:latin typeface="Calibri" pitchFamily="34" charset="0"/>
                          <a:ea typeface="Calibri" pitchFamily="34" charset="-122"/>
                          <a:cs typeface="Calibri" pitchFamily="34" charset="-120"/>
                        </a:rPr>
                        <a:t>1,240</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Confundió 1,240 con 1,402: leyó los dígitos sin atender su posición.</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Valor posicional: el 4 en la centena vale más que el 4 en la decena.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640080">
                <a:tc>
                  <a:txBody>
                    <a:bodyPr/>
                    <a:lstStyle/>
                    <a:p>
                      <a:pPr marL="0" indent="0" algn="ctr">
                        <a:buNone/>
                      </a:pPr>
                      <a:r>
                        <a:rPr lang="en-US" sz="1140" b="1" dirty="0">
                          <a:solidFill>
                            <a:srgbClr val="22303F"/>
                          </a:solidFill>
                          <a:latin typeface="Calibri" pitchFamily="34" charset="0"/>
                          <a:ea typeface="Calibri" pitchFamily="34" charset="-122"/>
                          <a:cs typeface="Calibri" pitchFamily="34" charset="-120"/>
                        </a:rPr>
                        <a:t>C · noviembre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40" dirty="0">
                          <a:solidFill>
                            <a:srgbClr val="22303F"/>
                          </a:solidFill>
                          <a:latin typeface="Calibri" pitchFamily="34" charset="0"/>
                          <a:ea typeface="Calibri" pitchFamily="34" charset="-122"/>
                          <a:cs typeface="Calibri" pitchFamily="34" charset="-120"/>
                        </a:rPr>
                        <a:t>1,024</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Escogió el menor: invirtió el sentido de la pregunta.</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Vocabulario comparativo: mayor, menor, mayor cantidad.</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640080">
                <a:tc>
                  <a:txBody>
                    <a:bodyPr/>
                    <a:lstStyle/>
                    <a:p>
                      <a:pPr marL="0" indent="0" algn="ctr">
                        <a:buNone/>
                      </a:pPr>
                      <a:r>
                        <a:rPr lang="en-US" sz="1140" b="1" dirty="0">
                          <a:solidFill>
                            <a:srgbClr val="17624F"/>
                          </a:solidFill>
                          <a:latin typeface="Calibri" pitchFamily="34" charset="0"/>
                          <a:ea typeface="Calibri" pitchFamily="34" charset="-122"/>
                          <a:cs typeface="Calibri" pitchFamily="34" charset="-120"/>
                        </a:rPr>
                        <a:t>D · diciembre</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40" b="1" dirty="0">
                          <a:solidFill>
                            <a:srgbClr val="17624F"/>
                          </a:solidFill>
                          <a:latin typeface="Calibri" pitchFamily="34" charset="0"/>
                          <a:ea typeface="Calibri" pitchFamily="34" charset="-122"/>
                          <a:cs typeface="Calibri" pitchFamily="34" charset="-120"/>
                        </a:rPr>
                        <a:t>1,402</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17624F"/>
                          </a:solidFill>
                          <a:latin typeface="Calibri" pitchFamily="34" charset="0"/>
                          <a:ea typeface="Calibri" pitchFamily="34" charset="-122"/>
                          <a:cs typeface="Calibri" pitchFamily="34" charset="-120"/>
                        </a:rPr>
                        <a:t>Respuesta correcta: 1,402 es el mayor de los cuatro valores.</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40" dirty="0">
                          <a:solidFill>
                            <a:srgbClr val="22303F"/>
                          </a:solidFill>
                          <a:latin typeface="Calibri" pitchFamily="34" charset="0"/>
                          <a:ea typeface="Calibri" pitchFamily="34" charset="-122"/>
                          <a:cs typeface="Calibri" pitchFamily="34" charset="-120"/>
                        </a:rPr>
                        <a:t>—</a:t>
                      </a:r>
                      <a:endParaRPr lang="en-US" sz="114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5" name="Shape 2"/>
          <p:cNvSpPr/>
          <p:nvPr/>
        </p:nvSpPr>
        <p:spPr>
          <a:xfrm>
            <a:off x="566928" y="4828032"/>
            <a:ext cx="5394960" cy="1417320"/>
          </a:xfrm>
          <a:prstGeom prst="roundRect">
            <a:avLst>
              <a:gd name="adj" fmla="val 5806"/>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3"/>
          <p:cNvSpPr txBox="1"/>
          <p:nvPr/>
        </p:nvSpPr>
        <p:spPr>
          <a:xfrm>
            <a:off x="859536" y="4974336"/>
            <a:ext cx="4846320" cy="292608"/>
          </a:xfrm>
          <a:prstGeom prst="rect">
            <a:avLst/>
          </a:prstGeom>
          <a:noFill/>
          <a:ln/>
        </p:spPr>
        <p:txBody>
          <a:bodyPr wrap="square" lIns="0" tIns="0" rIns="0" bIns="0" rtlCol="0" anchor="ctr"/>
          <a:lstStyle/>
          <a:p>
            <a:pPr marL="0" indent="0">
              <a:buNone/>
            </a:pPr>
            <a:r>
              <a:rPr lang="en-US" sz="1400" b="1" dirty="0">
                <a:solidFill>
                  <a:srgbClr val="6E5610"/>
                </a:solidFill>
                <a:latin typeface="Cambria" pitchFamily="34" charset="0"/>
                <a:ea typeface="Cambria" pitchFamily="34" charset="-122"/>
                <a:cs typeface="Cambria" pitchFamily="34" charset="-120"/>
              </a:rPr>
              <a:t>Lo que este ítem le dice al maestro</a:t>
            </a:r>
            <a:endParaRPr lang="en-US" sz="1400" dirty="0"/>
          </a:p>
        </p:txBody>
      </p:sp>
      <p:sp>
        <p:nvSpPr>
          <p:cNvPr id="7" name="Text 4"/>
          <p:cNvSpPr txBox="1"/>
          <p:nvPr/>
        </p:nvSpPr>
        <p:spPr>
          <a:xfrm>
            <a:off x="859536" y="5303520"/>
            <a:ext cx="4846320" cy="822960"/>
          </a:xfrm>
          <a:prstGeom prst="rect">
            <a:avLst/>
          </a:prstGeom>
          <a:noFill/>
          <a:ln/>
        </p:spPr>
        <p:txBody>
          <a:bodyPr wrap="square" lIns="0" tIns="0" rIns="0" bIns="0" rtlCol="0" anchor="ctr"/>
          <a:lstStyle/>
          <a:p>
            <a:pPr marL="0" indent="0">
              <a:lnSpc>
                <a:spcPct val="105000"/>
              </a:lnSpc>
              <a:buNone/>
            </a:pPr>
            <a:r>
              <a:rPr lang="en-US" sz="1200" dirty="0">
                <a:solidFill>
                  <a:srgbClr val="6E5610"/>
                </a:solidFill>
                <a:latin typeface="Calibri" pitchFamily="34" charset="0"/>
                <a:ea typeface="Calibri" pitchFamily="34" charset="-122"/>
                <a:cs typeface="Calibri" pitchFamily="34" charset="-120"/>
              </a:rPr>
              <a:t>Si tres o más estudiantes escogen B, el grupo no ha consolidado valor posicional y hay que volver atrás antes de seguir con adición y sustracción de cuatro dígitos.</a:t>
            </a:r>
            <a:endParaRPr lang="en-US" sz="1200" dirty="0"/>
          </a:p>
        </p:txBody>
      </p:sp>
      <p:sp>
        <p:nvSpPr>
          <p:cNvPr id="8" name="Shape 5"/>
          <p:cNvSpPr/>
          <p:nvPr/>
        </p:nvSpPr>
        <p:spPr>
          <a:xfrm>
            <a:off x="6272784" y="4828032"/>
            <a:ext cx="5349240" cy="1417320"/>
          </a:xfrm>
          <a:prstGeom prst="roundRect">
            <a:avLst>
              <a:gd name="adj" fmla="val 5806"/>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6"/>
          <p:cNvSpPr txBox="1"/>
          <p:nvPr/>
        </p:nvSpPr>
        <p:spPr>
          <a:xfrm>
            <a:off x="6565392" y="4974336"/>
            <a:ext cx="4800600" cy="292608"/>
          </a:xfrm>
          <a:prstGeom prst="rect">
            <a:avLst/>
          </a:prstGeom>
          <a:noFill/>
          <a:ln/>
        </p:spPr>
        <p:txBody>
          <a:bodyPr wrap="square" lIns="0" tIns="0" rIns="0" bIns="0" rtlCol="0" anchor="ctr"/>
          <a:lstStyle/>
          <a:p>
            <a:pPr marL="0" indent="0">
              <a:buNone/>
            </a:pPr>
            <a:r>
              <a:rPr lang="en-US" sz="1400" b="1" dirty="0">
                <a:solidFill>
                  <a:srgbClr val="17624F"/>
                </a:solidFill>
                <a:latin typeface="Cambria" pitchFamily="34" charset="0"/>
                <a:ea typeface="Cambria" pitchFamily="34" charset="-122"/>
                <a:cs typeface="Cambria" pitchFamily="34" charset="-120"/>
              </a:rPr>
              <a:t>Variación para dar acceso adicional</a:t>
            </a:r>
            <a:endParaRPr lang="en-US" sz="1400" dirty="0"/>
          </a:p>
        </p:txBody>
      </p:sp>
      <p:sp>
        <p:nvSpPr>
          <p:cNvPr id="10" name="Text 7"/>
          <p:cNvSpPr txBox="1"/>
          <p:nvPr/>
        </p:nvSpPr>
        <p:spPr>
          <a:xfrm>
            <a:off x="6565392" y="5303520"/>
            <a:ext cx="4800600" cy="822960"/>
          </a:xfrm>
          <a:prstGeom prst="rect">
            <a:avLst/>
          </a:prstGeom>
          <a:noFill/>
          <a:ln/>
        </p:spPr>
        <p:txBody>
          <a:bodyPr wrap="square" lIns="0" tIns="0" rIns="0" bIns="0" rtlCol="0" anchor="ctr"/>
          <a:lstStyle/>
          <a:p>
            <a:pPr marL="0" indent="0">
              <a:lnSpc>
                <a:spcPct val="105000"/>
              </a:lnSpc>
              <a:buNone/>
            </a:pPr>
            <a:r>
              <a:rPr lang="en-US" sz="1200" dirty="0">
                <a:solidFill>
                  <a:srgbClr val="17624F"/>
                </a:solidFill>
                <a:latin typeface="Calibri" pitchFamily="34" charset="0"/>
                <a:ea typeface="Calibri" pitchFamily="34" charset="-122"/>
                <a:cs typeface="Calibri" pitchFamily="34" charset="-120"/>
              </a:rPr>
              <a:t>Para un grupo con lectores en desarrollo, sustituya la tabla por una gráfica de barras con los mismos cuatro valores. La expectativa medida y el nivel DOK no cambian.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B</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sencilla  ·  5.º grado  ·  Fracciones</a:t>
            </a:r>
            <a:endParaRPr lang="en-US" sz="2700" dirty="0"/>
          </a:p>
        </p:txBody>
      </p:sp>
      <p:sp>
        <p:nvSpPr>
          <p:cNvPr id="4" name="Shape 2"/>
          <p:cNvSpPr/>
          <p:nvPr/>
        </p:nvSpPr>
        <p:spPr>
          <a:xfrm>
            <a:off x="566928" y="1371600"/>
            <a:ext cx="5760720" cy="2651760"/>
          </a:xfrm>
          <a:prstGeom prst="roundRect">
            <a:avLst>
              <a:gd name="adj" fmla="val 206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2 PUNTOS · DOK 2</a:t>
            </a:r>
            <a:endParaRPr lang="en-US" sz="950" dirty="0"/>
          </a:p>
        </p:txBody>
      </p:sp>
      <p:sp>
        <p:nvSpPr>
          <p:cNvPr id="7" name="Text 5"/>
          <p:cNvSpPr txBox="1"/>
          <p:nvPr/>
        </p:nvSpPr>
        <p:spPr>
          <a:xfrm>
            <a:off x="841248" y="1627632"/>
            <a:ext cx="5212080" cy="566928"/>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En una clase de 5.º grado hay 24 estudiantes. Cinco octavos (5/8) de los estudiantes participan en el club de ciencias.</a:t>
            </a:r>
            <a:endParaRPr lang="en-US" sz="1220" dirty="0"/>
          </a:p>
        </p:txBody>
      </p:sp>
      <p:sp>
        <p:nvSpPr>
          <p:cNvPr id="8" name="Text 6"/>
          <p:cNvSpPr txBox="1"/>
          <p:nvPr/>
        </p:nvSpPr>
        <p:spPr>
          <a:xfrm>
            <a:off x="932688" y="2249424"/>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A.   ¿Cuántos estudiantes participan en el club de ciencias?</a:t>
            </a:r>
            <a:endParaRPr lang="en-US" sz="1220" dirty="0"/>
          </a:p>
        </p:txBody>
      </p:sp>
      <p:sp>
        <p:nvSpPr>
          <p:cNvPr id="9" name="Text 7"/>
          <p:cNvSpPr txBox="1"/>
          <p:nvPr/>
        </p:nvSpPr>
        <p:spPr>
          <a:xfrm>
            <a:off x="932688" y="2560320"/>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B.   Explica cómo determinaste tu respuesta.</a:t>
            </a:r>
            <a:endParaRPr lang="en-US" sz="1220" dirty="0"/>
          </a:p>
        </p:txBody>
      </p:sp>
      <p:sp>
        <p:nvSpPr>
          <p:cNvPr id="10" name="Text 8"/>
          <p:cNvSpPr txBox="1"/>
          <p:nvPr/>
        </p:nvSpPr>
        <p:spPr>
          <a:xfrm>
            <a:off x="841248" y="2926080"/>
            <a:ext cx="5212080" cy="548640"/>
          </a:xfrm>
          <a:prstGeom prst="rect">
            <a:avLst/>
          </a:prstGeom>
          <a:noFill/>
          <a:ln/>
        </p:spPr>
        <p:txBody>
          <a:bodyPr wrap="square" lIns="0" tIns="0" rIns="0" bIns="0" rtlCol="0" anchor="ctr"/>
          <a:lstStyle/>
          <a:p>
            <a:pPr marL="0" indent="0">
              <a:lnSpc>
                <a:spcPct val="104000"/>
              </a:lnSpc>
              <a:buNone/>
            </a:pPr>
            <a:r>
              <a:rPr lang="en-US" sz="1120" i="1" dirty="0">
                <a:solidFill>
                  <a:srgbClr val="1F3864"/>
                </a:solidFill>
                <a:latin typeface="Calibri" pitchFamily="34" charset="0"/>
                <a:ea typeface="Calibri" pitchFamily="34" charset="-122"/>
                <a:cs typeface="Calibri" pitchFamily="34" charset="-120"/>
              </a:rPr>
              <a:t>Contesta las partes A y B en el espacio provisto. Puedes usar un dibujo, una tabla o una operación.</a:t>
            </a:r>
            <a:endParaRPr lang="en-US" sz="1120" dirty="0"/>
          </a:p>
        </p:txBody>
      </p:sp>
      <p:sp>
        <p:nvSpPr>
          <p:cNvPr id="11" name="Shape 9"/>
          <p:cNvSpPr/>
          <p:nvPr/>
        </p:nvSpPr>
        <p:spPr>
          <a:xfrm>
            <a:off x="6693408" y="1371600"/>
            <a:ext cx="4931359" cy="2651760"/>
          </a:xfrm>
          <a:prstGeom prst="roundRect">
            <a:avLst>
              <a:gd name="adj" fmla="val 310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2" name="Shape 10"/>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3" name="Text 11"/>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4" name="Text 12"/>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 / EXPECTATIVA</a:t>
            </a:r>
            <a:endParaRPr lang="en-US" sz="950" dirty="0"/>
          </a:p>
        </p:txBody>
      </p:sp>
      <p:sp>
        <p:nvSpPr>
          <p:cNvPr id="15" name="Text 13"/>
          <p:cNvSpPr txBox="1"/>
          <p:nvPr/>
        </p:nvSpPr>
        <p:spPr>
          <a:xfrm>
            <a:off x="6903720" y="2121408"/>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5.N.3 · Operaciones con fracciones y decimales en la solución de problemas (verificar el indicador exacto).</a:t>
            </a:r>
            <a:endParaRPr lang="en-US" sz="1130" dirty="0"/>
          </a:p>
        </p:txBody>
      </p:sp>
      <p:sp>
        <p:nvSpPr>
          <p:cNvPr id="16" name="Text 14"/>
          <p:cNvSpPr txBox="1"/>
          <p:nvPr/>
        </p:nvSpPr>
        <p:spPr>
          <a:xfrm>
            <a:off x="6903720" y="25600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17" name="Text 15"/>
          <p:cNvSpPr txBox="1"/>
          <p:nvPr/>
        </p:nvSpPr>
        <p:spPr>
          <a:xfrm>
            <a:off x="6903720" y="27429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el estudiante ejecuta un procedimiento y comunica cómo lo hizo.</a:t>
            </a:r>
            <a:endParaRPr lang="en-US" sz="1130" dirty="0"/>
          </a:p>
        </p:txBody>
      </p:sp>
      <p:sp>
        <p:nvSpPr>
          <p:cNvPr id="18" name="Text 16"/>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19" name="Text 17"/>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2 puntos · baremo de respuesta corta</a:t>
            </a:r>
            <a:endParaRPr lang="en-US" sz="1130" dirty="0"/>
          </a:p>
        </p:txBody>
      </p:sp>
      <p:sp>
        <p:nvSpPr>
          <p:cNvPr id="20" name="Text 18"/>
          <p:cNvSpPr txBox="1"/>
          <p:nvPr/>
        </p:nvSpPr>
        <p:spPr>
          <a:xfrm>
            <a:off x="566928" y="4160520"/>
            <a:ext cx="57607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2 puntos</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4507992"/>
          <a:ext cx="576072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19379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Responde 15 en la parte A y explica el procedimiento en la parte B.</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responde 15 sin explicar, o explica correctamente el procedimiento con un error de cálculo.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la respuesta no se refiere a la pregunta.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22" name="Shape 19"/>
          <p:cNvSpPr/>
          <p:nvPr/>
        </p:nvSpPr>
        <p:spPr>
          <a:xfrm>
            <a:off x="6693408" y="4160520"/>
            <a:ext cx="4931359"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3" name="Text 20"/>
          <p:cNvSpPr txBox="1"/>
          <p:nvPr/>
        </p:nvSpPr>
        <p:spPr>
          <a:xfrm>
            <a:off x="6949440" y="4279392"/>
            <a:ext cx="448056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Respuestas posibles de 2 puntos</a:t>
            </a:r>
            <a:endParaRPr lang="en-US" sz="1400" dirty="0"/>
          </a:p>
        </p:txBody>
      </p:sp>
      <p:sp>
        <p:nvSpPr>
          <p:cNvPr id="24" name="Text 21"/>
          <p:cNvSpPr txBox="1"/>
          <p:nvPr/>
        </p:nvSpPr>
        <p:spPr>
          <a:xfrm>
            <a:off x="6949440" y="4626864"/>
            <a:ext cx="4434840" cy="1371600"/>
          </a:xfrm>
          <a:prstGeom prst="rect">
            <a:avLst/>
          </a:prstGeom>
          <a:noFill/>
          <a:ln/>
        </p:spPr>
        <p:txBody>
          <a:bodyPr wrap="square" lIns="0" tIns="0" rIns="0" bIns="0" rtlCol="0" anchor="ctr"/>
          <a:lstStyle/>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15 estudiantes.</a:t>
            </a:r>
            <a:endParaRPr lang="en-US" sz="1150" dirty="0"/>
          </a:p>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B, cualquiera de estas vías:</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Dividí 24 entre 8 y obtuve 3; luego multipliqué 3 × 5 = 15.</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Multipliqué 5/8 × 24 = 120/8 = 15.</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Dibujé 24 fichas en 8 grupos de 3 y conté 5 grupos: 15.</a:t>
            </a:r>
            <a:endParaRPr lang="en-US" sz="1150" dirty="0"/>
          </a:p>
        </p:txBody>
      </p:sp>
      <p:sp>
        <p:nvSpPr>
          <p:cNvPr id="25" name="Text 22"/>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de aplicación  ·  4.º grado  ·  Medición</a:t>
            </a:r>
            <a:endParaRPr lang="en-US" sz="2700" dirty="0"/>
          </a:p>
        </p:txBody>
      </p:sp>
      <p:sp>
        <p:nvSpPr>
          <p:cNvPr id="4" name="Shape 2"/>
          <p:cNvSpPr/>
          <p:nvPr/>
        </p:nvSpPr>
        <p:spPr>
          <a:xfrm>
            <a:off x="566928" y="1371600"/>
            <a:ext cx="5760720" cy="3246120"/>
          </a:xfrm>
          <a:prstGeom prst="roundRect">
            <a:avLst>
              <a:gd name="adj" fmla="val 169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4 PUNTOS · DOK 3</a:t>
            </a:r>
            <a:endParaRPr lang="en-US" sz="950" dirty="0"/>
          </a:p>
        </p:txBody>
      </p:sp>
      <p:sp>
        <p:nvSpPr>
          <p:cNvPr id="7" name="Text 5"/>
          <p:cNvSpPr txBox="1"/>
          <p:nvPr/>
        </p:nvSpPr>
        <p:spPr>
          <a:xfrm>
            <a:off x="841248" y="1627632"/>
            <a:ext cx="5212080" cy="786384"/>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La clase de 4.º grado quiere sembrar un huerto rectangular en el patio de la escuela. El huerto medirá 8 metros de largo y 5 metros de ancho. La clase tiene 30 metros de cerca.</a:t>
            </a:r>
            <a:endParaRPr lang="en-US" sz="1220" dirty="0"/>
          </a:p>
        </p:txBody>
      </p:sp>
      <p:sp>
        <p:nvSpPr>
          <p:cNvPr id="8" name="Text 6"/>
          <p:cNvSpPr txBox="1"/>
          <p:nvPr/>
        </p:nvSpPr>
        <p:spPr>
          <a:xfrm>
            <a:off x="932688" y="2468880"/>
            <a:ext cx="5120640" cy="438912"/>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A.   Haz un dibujo del huerto y rotula sus medidas.</a:t>
            </a:r>
            <a:endParaRPr lang="en-US" sz="1220" dirty="0"/>
          </a:p>
        </p:txBody>
      </p:sp>
      <p:sp>
        <p:nvSpPr>
          <p:cNvPr id="9" name="Text 7"/>
          <p:cNvSpPr txBox="1"/>
          <p:nvPr/>
        </p:nvSpPr>
        <p:spPr>
          <a:xfrm>
            <a:off x="932688" y="2944368"/>
            <a:ext cx="5120640" cy="438912"/>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B.   Determina cuánta cerca se necesita para rodear el huerto. Muestra tu procedimiento.</a:t>
            </a:r>
            <a:endParaRPr lang="en-US" sz="1220" dirty="0"/>
          </a:p>
        </p:txBody>
      </p:sp>
      <p:sp>
        <p:nvSpPr>
          <p:cNvPr id="10" name="Text 8"/>
          <p:cNvSpPr txBox="1"/>
          <p:nvPr/>
        </p:nvSpPr>
        <p:spPr>
          <a:xfrm>
            <a:off x="932688" y="3419856"/>
            <a:ext cx="5120640" cy="438912"/>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C.   Explica si los 30 metros de cerca son suficientes. Justifica tu respuesta con los cálculos.</a:t>
            </a:r>
            <a:endParaRPr lang="en-US" sz="1220" dirty="0"/>
          </a:p>
        </p:txBody>
      </p:sp>
      <p:sp>
        <p:nvSpPr>
          <p:cNvPr id="11" name="Text 9"/>
          <p:cNvSpPr txBox="1"/>
          <p:nvPr/>
        </p:nvSpPr>
        <p:spPr>
          <a:xfrm>
            <a:off x="841248" y="3986784"/>
            <a:ext cx="5212080" cy="274320"/>
          </a:xfrm>
          <a:prstGeom prst="rect">
            <a:avLst/>
          </a:prstGeom>
          <a:noFill/>
          <a:ln/>
        </p:spPr>
        <p:txBody>
          <a:bodyPr wrap="square" lIns="0" tIns="0" rIns="0" bIns="0" rtlCol="0" anchor="ctr"/>
          <a:lstStyle/>
          <a:p>
            <a:pPr marL="0" indent="0">
              <a:buNone/>
            </a:pPr>
            <a:r>
              <a:rPr lang="en-US" sz="1120" i="1" dirty="0">
                <a:solidFill>
                  <a:srgbClr val="1F3864"/>
                </a:solidFill>
                <a:latin typeface="Calibri" pitchFamily="34" charset="0"/>
                <a:ea typeface="Calibri" pitchFamily="34" charset="-122"/>
                <a:cs typeface="Calibri" pitchFamily="34" charset="-120"/>
              </a:rPr>
              <a:t>Contesta todas las partes de la pregunta en el espacio provisto.</a:t>
            </a:r>
            <a:endParaRPr lang="en-US" sz="1120" dirty="0"/>
          </a:p>
        </p:txBody>
      </p:sp>
      <p:sp>
        <p:nvSpPr>
          <p:cNvPr id="12" name="Shape 10"/>
          <p:cNvSpPr/>
          <p:nvPr/>
        </p:nvSpPr>
        <p:spPr>
          <a:xfrm>
            <a:off x="6693408" y="1371600"/>
            <a:ext cx="4931359" cy="3246120"/>
          </a:xfrm>
          <a:prstGeom prst="roundRect">
            <a:avLst>
              <a:gd name="adj" fmla="val 253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4" name="Text 12"/>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5" name="Text 13"/>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 / EXPECTATIVA</a:t>
            </a:r>
            <a:endParaRPr lang="en-US" sz="950" dirty="0"/>
          </a:p>
        </p:txBody>
      </p:sp>
      <p:sp>
        <p:nvSpPr>
          <p:cNvPr id="16" name="Text 14"/>
          <p:cNvSpPr txBox="1"/>
          <p:nvPr/>
        </p:nvSpPr>
        <p:spPr>
          <a:xfrm>
            <a:off x="6903720" y="2121408"/>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4.M.9 · Perímetro de figuras planas en situaciones de la vida diaria (verificar el indicador exacto).</a:t>
            </a:r>
            <a:endParaRPr lang="en-US" sz="1130" dirty="0"/>
          </a:p>
        </p:txBody>
      </p:sp>
      <p:sp>
        <p:nvSpPr>
          <p:cNvPr id="17" name="Text 15"/>
          <p:cNvSpPr txBox="1"/>
          <p:nvPr/>
        </p:nvSpPr>
        <p:spPr>
          <a:xfrm>
            <a:off x="6903720" y="25600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18" name="Text 16"/>
          <p:cNvSpPr txBox="1"/>
          <p:nvPr/>
        </p:nvSpPr>
        <p:spPr>
          <a:xfrm>
            <a:off x="6903720" y="27429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3 · el estudiante calcula, decide y justifica la decisión con los cálculos.</a:t>
            </a:r>
            <a:endParaRPr lang="en-US" sz="1130" dirty="0"/>
          </a:p>
        </p:txBody>
      </p:sp>
      <p:sp>
        <p:nvSpPr>
          <p:cNvPr id="19" name="Text 17"/>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20" name="Text 18"/>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4 puntos · baremo de la planilla de especificaciones</a:t>
            </a:r>
            <a:endParaRPr lang="en-US" sz="1130" dirty="0"/>
          </a:p>
        </p:txBody>
      </p:sp>
      <p:sp>
        <p:nvSpPr>
          <p:cNvPr id="21" name="Text 19"/>
          <p:cNvSpPr txBox="1"/>
          <p:nvPr/>
        </p:nvSpPr>
        <p:spPr>
          <a:xfrm>
            <a:off x="6903720" y="3629436"/>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ACCESO DUA</a:t>
            </a:r>
            <a:endParaRPr lang="en-US" sz="950" dirty="0"/>
          </a:p>
        </p:txBody>
      </p:sp>
      <p:sp>
        <p:nvSpPr>
          <p:cNvPr id="22" name="Text 20"/>
          <p:cNvSpPr txBox="1"/>
          <p:nvPr/>
        </p:nvSpPr>
        <p:spPr>
          <a:xfrm>
            <a:off x="6903720" y="3812316"/>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La parte A permite empezar por el dibujo; las tres partes son independientes, de modo que un error en B no anula el crédito de A ni el razonamiento de C.</a:t>
            </a:r>
            <a:endParaRPr lang="en-US" sz="1130" dirty="0"/>
          </a:p>
        </p:txBody>
      </p:sp>
      <p:sp>
        <p:nvSpPr>
          <p:cNvPr id="23" name="Shape 21"/>
          <p:cNvSpPr/>
          <p:nvPr/>
        </p:nvSpPr>
        <p:spPr>
          <a:xfrm>
            <a:off x="566928" y="4828032"/>
            <a:ext cx="11057839" cy="896112"/>
          </a:xfrm>
          <a:prstGeom prst="roundRect">
            <a:avLst>
              <a:gd name="adj" fmla="val 9184"/>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4" name="Text 22"/>
          <p:cNvSpPr txBox="1"/>
          <p:nvPr/>
        </p:nvSpPr>
        <p:spPr>
          <a:xfrm>
            <a:off x="886968" y="4928616"/>
            <a:ext cx="10417759" cy="274320"/>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Por qué este ítem es de aplicación y no sencillo</a:t>
            </a:r>
            <a:endParaRPr lang="en-US" sz="1350" dirty="0"/>
          </a:p>
        </p:txBody>
      </p:sp>
      <p:sp>
        <p:nvSpPr>
          <p:cNvPr id="25" name="Text 23"/>
          <p:cNvSpPr txBox="1"/>
          <p:nvPr/>
        </p:nvSpPr>
        <p:spPr>
          <a:xfrm>
            <a:off x="886968" y="5212080"/>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6E5610"/>
                </a:solidFill>
                <a:latin typeface="Calibri" pitchFamily="34" charset="0"/>
                <a:ea typeface="Calibri" pitchFamily="34" charset="-122"/>
                <a:cs typeface="Calibri" pitchFamily="34" charset="-120"/>
              </a:rPr>
              <a:t>No basta calcular el perímetro: el estudiante debe comparar 26 metros con 30 metros, tomar una decisión —sí alcanza— y defenderla con los números. Ese salto de calcular a decidir y justificar es lo que lo coloca en DOK 3.</a:t>
            </a:r>
            <a:endParaRPr lang="en-US" sz="1180" dirty="0"/>
          </a:p>
        </p:txBody>
      </p:sp>
      <p:sp>
        <p:nvSpPr>
          <p:cNvPr id="26" name="Text 24"/>
          <p:cNvSpPr txBox="1"/>
          <p:nvPr/>
        </p:nvSpPr>
        <p:spPr>
          <a:xfrm>
            <a:off x="566928" y="594360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Baremo de 4 puntos y respuestas posibles  ·  4.º grado</a:t>
            </a:r>
            <a:endParaRPr lang="en-US" sz="2700" dirty="0"/>
          </a:p>
        </p:txBody>
      </p:sp>
      <p:sp>
        <p:nvSpPr>
          <p:cNvPr id="4" name="Text 2"/>
          <p:cNvSpPr txBox="1"/>
          <p:nvPr/>
        </p:nvSpPr>
        <p:spPr>
          <a:xfrm>
            <a:off x="566928" y="1325880"/>
            <a:ext cx="594360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4 puntos</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73352"/>
          <a:ext cx="594360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37667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Dibuja y rotula el rectángulo, escribe la fórmula del perímetro, hace el procedimiento y concluye correctamente que la cerca alcanza.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Escribe la fórmula, hace el procedimiento y obtiene 26 m, pero no dibuja o no justifica la conclusión.</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Hace el procedimiento y obtiene 26 m, sin fórmula ni conclusión justificada.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escribe la contestación correcta (26 m o «sí alcanza») sin procedimiento.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el procedimiento no corresponde a la situación planteada.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6" name="Shape 3"/>
          <p:cNvSpPr/>
          <p:nvPr/>
        </p:nvSpPr>
        <p:spPr>
          <a:xfrm>
            <a:off x="6876288" y="1325880"/>
            <a:ext cx="4748479"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7132320" y="1481328"/>
            <a:ext cx="420624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Respuesta de 4 puntos</a:t>
            </a:r>
            <a:endParaRPr lang="en-US" sz="1500" dirty="0"/>
          </a:p>
        </p:txBody>
      </p:sp>
      <p:sp>
        <p:nvSpPr>
          <p:cNvPr id="8" name="Text 5"/>
          <p:cNvSpPr txBox="1"/>
          <p:nvPr/>
        </p:nvSpPr>
        <p:spPr>
          <a:xfrm>
            <a:off x="7132320" y="1874520"/>
            <a:ext cx="4160520" cy="1737360"/>
          </a:xfrm>
          <a:prstGeom prst="rect">
            <a:avLst/>
          </a:prstGeom>
          <a:noFill/>
          <a:ln/>
        </p:spPr>
        <p:txBody>
          <a:bodyPr wrap="square" lIns="0" tIns="0" rIns="0" bIns="0" rtlCol="0" anchor="ctr"/>
          <a:lstStyle/>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Parte A: </a:t>
            </a:r>
            <a:r>
              <a:rPr lang="en-US" sz="1200" dirty="0">
                <a:solidFill>
                  <a:srgbClr val="22303F"/>
                </a:solidFill>
                <a:latin typeface="Calibri" pitchFamily="34" charset="0"/>
                <a:ea typeface="Calibri" pitchFamily="34" charset="-122"/>
                <a:cs typeface="Calibri" pitchFamily="34" charset="-120"/>
              </a:rPr>
              <a:t>rectángulo rotulado con 8 m y 5 m.</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Parte B: </a:t>
            </a:r>
            <a:r>
              <a:rPr lang="en-US" sz="1200" dirty="0">
                <a:solidFill>
                  <a:srgbClr val="22303F"/>
                </a:solidFill>
                <a:latin typeface="Calibri" pitchFamily="34" charset="0"/>
                <a:ea typeface="Calibri" pitchFamily="34" charset="-122"/>
                <a:cs typeface="Calibri" pitchFamily="34" charset="-120"/>
              </a:rPr>
              <a:t>P = 2(l + a) = 2(8 + 5) = 2(13) = 26 metros.</a:t>
            </a:r>
            <a:endParaRPr lang="en-US" sz="1200" dirty="0"/>
          </a:p>
          <a:p>
            <a:pPr marL="0" indent="0">
              <a:lnSpc>
                <a:spcPct val="105000"/>
              </a:lnSpc>
              <a:spcAft>
                <a:spcPts val="500"/>
              </a:spcAft>
              <a:buNone/>
            </a:pPr>
            <a:r>
              <a:rPr lang="en-US" sz="1200" i="1" dirty="0">
                <a:solidFill>
                  <a:srgbClr val="5F6E7E"/>
                </a:solidFill>
                <a:latin typeface="Calibri" pitchFamily="34" charset="0"/>
                <a:ea typeface="Calibri" pitchFamily="34" charset="-122"/>
                <a:cs typeface="Calibri" pitchFamily="34" charset="-120"/>
              </a:rPr>
              <a:t>También vale: 8 + 5 + 8 + 5 = 26 metros.</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Parte C: </a:t>
            </a:r>
            <a:r>
              <a:rPr lang="en-US" sz="1200" dirty="0">
                <a:solidFill>
                  <a:srgbClr val="22303F"/>
                </a:solidFill>
                <a:latin typeface="Calibri" pitchFamily="34" charset="0"/>
                <a:ea typeface="Calibri" pitchFamily="34" charset="-122"/>
                <a:cs typeface="Calibri" pitchFamily="34" charset="-120"/>
              </a:rPr>
              <a:t>Sí son suficientes, porque 26 m &lt; 30 m; sobran 4 metros de cerca.</a:t>
            </a:r>
            <a:endParaRPr lang="en-US" sz="1200" dirty="0"/>
          </a:p>
        </p:txBody>
      </p:sp>
      <p:sp>
        <p:nvSpPr>
          <p:cNvPr id="9" name="Shape 6"/>
          <p:cNvSpPr/>
          <p:nvPr/>
        </p:nvSpPr>
        <p:spPr>
          <a:xfrm>
            <a:off x="7132320" y="3749040"/>
            <a:ext cx="4297680" cy="1965960"/>
          </a:xfrm>
          <a:prstGeom prst="roundRect">
            <a:avLst>
              <a:gd name="adj" fmla="val 4186"/>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0" name="Text 7"/>
          <p:cNvSpPr txBox="1"/>
          <p:nvPr/>
        </p:nvSpPr>
        <p:spPr>
          <a:xfrm>
            <a:off x="7370064" y="3877056"/>
            <a:ext cx="3840480" cy="274320"/>
          </a:xfrm>
          <a:prstGeom prst="rect">
            <a:avLst/>
          </a:prstGeom>
          <a:noFill/>
          <a:ln/>
        </p:spPr>
        <p:txBody>
          <a:bodyPr wrap="square" lIns="0" tIns="0" rIns="0" bIns="0" rtlCol="0" anchor="ctr"/>
          <a:lstStyle/>
          <a:p>
            <a:pPr marL="0" indent="0">
              <a:buNone/>
            </a:pPr>
            <a:r>
              <a:rPr lang="en-US" sz="1300" b="1" dirty="0">
                <a:solidFill>
                  <a:srgbClr val="17624F"/>
                </a:solidFill>
                <a:latin typeface="Cambria" pitchFamily="34" charset="0"/>
                <a:ea typeface="Cambria" pitchFamily="34" charset="-122"/>
                <a:cs typeface="Cambria" pitchFamily="34" charset="-120"/>
              </a:rPr>
              <a:t>Errores previsibles</a:t>
            </a:r>
            <a:endParaRPr lang="en-US" sz="1300" dirty="0"/>
          </a:p>
        </p:txBody>
      </p:sp>
      <p:sp>
        <p:nvSpPr>
          <p:cNvPr id="11" name="Text 8"/>
          <p:cNvSpPr txBox="1"/>
          <p:nvPr/>
        </p:nvSpPr>
        <p:spPr>
          <a:xfrm>
            <a:off x="7370064" y="4206240"/>
            <a:ext cx="3840480" cy="1371600"/>
          </a:xfrm>
          <a:prstGeom prst="rect">
            <a:avLst/>
          </a:prstGeom>
          <a:noFill/>
          <a:ln/>
        </p:spPr>
        <p:txBody>
          <a:bodyPr wrap="square" lIns="0" tIns="0" rIns="0" bIns="0" rtlCol="0" anchor="ctr"/>
          <a:lstStyle/>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Calcular el área (40 m²) en lugar del perímetro.</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Sumar solo dos lados: 8 + 5 = 13 m.</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Obtener 26 m y concluir que no alcanza por comparar mal.</a:t>
            </a:r>
            <a:endParaRPr lang="en-US" sz="1120" dirty="0"/>
          </a:p>
          <a:p>
            <a:pPr marL="0" indent="0">
              <a:lnSpc>
                <a:spcPct val="103000"/>
              </a:lnSpc>
              <a:spcAft>
                <a:spcPts val="400"/>
              </a:spcAft>
              <a:buNone/>
            </a:pPr>
            <a:r>
              <a:rPr lang="en-US" sz="1120" i="1" dirty="0">
                <a:solidFill>
                  <a:srgbClr val="5F6E7E"/>
                </a:solidFill>
                <a:latin typeface="Calibri" pitchFamily="34" charset="0"/>
                <a:ea typeface="Calibri" pitchFamily="34" charset="-122"/>
                <a:cs typeface="Calibri" pitchFamily="34" charset="-120"/>
              </a:rPr>
              <a:t>Cada uno de estos errores se convierte en una fila de la sección de reenseñanza.</a:t>
            </a:r>
            <a:endParaRPr lang="en-US" sz="1120" dirty="0"/>
          </a:p>
        </p:txBody>
      </p:sp>
      <p:sp>
        <p:nvSpPr>
          <p:cNvPr id="12" name="Text 9"/>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 adaptado de la Planilla de especificaciones (Corraliza Montero, ORE-Ponce).</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5  ·  PLANILLA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Planilla de especificaciones  ·  ejemplo de 4.º grado</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Prueba de Matemáticas  ·  4.º grado  ·  30 puntos  ·  duración estimada: 55 minutos</a:t>
            </a:r>
            <a:endParaRPr lang="en-US" sz="13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3925519">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Destrezas cubiertas en la prueba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Cantidad de ejercicios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 de cada ejercicio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Puntos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Nivel de profundidad / DOK</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Peso en la prueba %</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Valor posicional y comparación de números cardinales  (4.N.1)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Multiplicación y división de números cardinales  (4.N.2)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27 %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Perímetro: cálculo y comunicación del procedimiento  (4.M.9)</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 respuesta abierta sencilla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 – 3</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13 %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Aplicación del perímetro en el entorno escolar  (4.M.9)</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respuesta abierta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19 ejercicios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846320"/>
            <a:ext cx="3520440" cy="1371600"/>
          </a:xfrm>
          <a:prstGeom prst="roundRect">
            <a:avLst>
              <a:gd name="adj" fmla="val 60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822960" y="4974336"/>
            <a:ext cx="3017520" cy="274320"/>
          </a:xfrm>
          <a:prstGeom prst="rect">
            <a:avLst/>
          </a:prstGeom>
          <a:noFill/>
          <a:ln/>
        </p:spPr>
        <p:txBody>
          <a:bodyPr wrap="square" lIns="0" tIns="0" rIns="0" bIns="0" rtlCol="0" anchor="ctr"/>
          <a:lstStyle/>
          <a:p>
            <a:pPr marL="0" indent="0">
              <a:buNone/>
            </a:pPr>
            <a:r>
              <a:rPr lang="en-US" sz="1150" b="1" dirty="0">
                <a:solidFill>
                  <a:srgbClr val="C9A84C"/>
                </a:solidFill>
                <a:latin typeface="Calibri" pitchFamily="34" charset="0"/>
                <a:ea typeface="Calibri" pitchFamily="34" charset="-122"/>
                <a:cs typeface="Calibri" pitchFamily="34" charset="-120"/>
              </a:rPr>
              <a:t>Puntuación mínima de ejecución</a:t>
            </a:r>
            <a:endParaRPr lang="en-US" sz="1150" dirty="0"/>
          </a:p>
        </p:txBody>
      </p:sp>
      <p:sp>
        <p:nvSpPr>
          <p:cNvPr id="8" name="Text 5"/>
          <p:cNvSpPr txBox="1"/>
          <p:nvPr/>
        </p:nvSpPr>
        <p:spPr>
          <a:xfrm>
            <a:off x="822960" y="5266944"/>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21 / 30</a:t>
            </a:r>
            <a:endParaRPr lang="en-US" sz="3000" dirty="0"/>
          </a:p>
        </p:txBody>
      </p:sp>
      <p:sp>
        <p:nvSpPr>
          <p:cNvPr id="9" name="Text 6"/>
          <p:cNvSpPr txBox="1"/>
          <p:nvPr/>
        </p:nvSpPr>
        <p:spPr>
          <a:xfrm>
            <a:off x="822960" y="5815584"/>
            <a:ext cx="3017520" cy="274320"/>
          </a:xfrm>
          <a:prstGeom prst="rect">
            <a:avLst/>
          </a:prstGeom>
          <a:noFill/>
          <a:ln/>
        </p:spPr>
        <p:txBody>
          <a:bodyPr wrap="square" lIns="0" tIns="0" rIns="0" bIns="0" rtlCol="0" anchor="ctr"/>
          <a:lstStyle/>
          <a:p>
            <a:pPr marL="0" indent="0">
              <a:buNone/>
            </a:pPr>
            <a:r>
              <a:rPr lang="en-US" sz="1100" dirty="0">
                <a:solidFill>
                  <a:srgbClr val="C6D2E0"/>
                </a:solidFill>
                <a:latin typeface="Calibri" pitchFamily="34" charset="0"/>
                <a:ea typeface="Calibri" pitchFamily="34" charset="-122"/>
                <a:cs typeface="Calibri" pitchFamily="34" charset="-120"/>
              </a:rPr>
              <a:t>70 % de 30 puntos</a:t>
            </a:r>
            <a:endParaRPr lang="en-US" sz="1100" dirty="0"/>
          </a:p>
        </p:txBody>
      </p:sp>
      <p:sp>
        <p:nvSpPr>
          <p:cNvPr id="10" name="Shape 7"/>
          <p:cNvSpPr/>
          <p:nvPr/>
        </p:nvSpPr>
        <p:spPr>
          <a:xfrm>
            <a:off x="4361688" y="4846320"/>
            <a:ext cx="3520440" cy="1371600"/>
          </a:xfrm>
          <a:prstGeom prst="roundRect">
            <a:avLst>
              <a:gd name="adj" fmla="val 6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8"/>
          <p:cNvSpPr txBox="1"/>
          <p:nvPr/>
        </p:nvSpPr>
        <p:spPr>
          <a:xfrm>
            <a:off x="4617720" y="4974336"/>
            <a:ext cx="3017520" cy="274320"/>
          </a:xfrm>
          <a:prstGeom prst="rect">
            <a:avLst/>
          </a:prstGeom>
          <a:noFill/>
          <a:ln/>
        </p:spPr>
        <p:txBody>
          <a:bodyPr wrap="square" lIns="0" tIns="0" rIns="0" bIns="0" rtlCol="0" anchor="ctr"/>
          <a:lstStyle/>
          <a:p>
            <a:pPr marL="0" indent="0">
              <a:buNone/>
            </a:pPr>
            <a:r>
              <a:rPr lang="en-US" sz="1150" b="1" dirty="0">
                <a:solidFill>
                  <a:srgbClr val="6E5610"/>
                </a:solidFill>
                <a:latin typeface="Calibri" pitchFamily="34" charset="0"/>
                <a:ea typeface="Calibri" pitchFamily="34" charset="-122"/>
                <a:cs typeface="Calibri" pitchFamily="34" charset="-120"/>
              </a:rPr>
              <a:t>Puntuación en DOK 3 y 4</a:t>
            </a:r>
            <a:endParaRPr lang="en-US" sz="1150" dirty="0"/>
          </a:p>
        </p:txBody>
      </p:sp>
      <p:sp>
        <p:nvSpPr>
          <p:cNvPr id="12" name="Text 9"/>
          <p:cNvSpPr txBox="1"/>
          <p:nvPr/>
        </p:nvSpPr>
        <p:spPr>
          <a:xfrm>
            <a:off x="4617720" y="5266944"/>
            <a:ext cx="3017520" cy="548640"/>
          </a:xfrm>
          <a:prstGeom prst="rect">
            <a:avLst/>
          </a:prstGeom>
          <a:noFill/>
          <a:ln/>
        </p:spPr>
        <p:txBody>
          <a:bodyPr wrap="square" lIns="0" tIns="0" rIns="0" bIns="0" rtlCol="0" anchor="ctr"/>
          <a:lstStyle/>
          <a:p>
            <a:pPr marL="0" indent="0">
              <a:buNone/>
            </a:pPr>
            <a:r>
              <a:rPr lang="en-US" sz="3000" b="1" dirty="0">
                <a:solidFill>
                  <a:srgbClr val="6E5610"/>
                </a:solidFill>
                <a:latin typeface="Cambria" pitchFamily="34" charset="0"/>
                <a:ea typeface="Cambria" pitchFamily="34" charset="-122"/>
                <a:cs typeface="Cambria" pitchFamily="34" charset="-120"/>
              </a:rPr>
              <a:t>40 %</a:t>
            </a:r>
            <a:endParaRPr lang="en-US" sz="3000" dirty="0"/>
          </a:p>
        </p:txBody>
      </p:sp>
      <p:sp>
        <p:nvSpPr>
          <p:cNvPr id="13" name="Text 10"/>
          <p:cNvSpPr txBox="1"/>
          <p:nvPr/>
        </p:nvSpPr>
        <p:spPr>
          <a:xfrm>
            <a:off x="4617720" y="5815584"/>
            <a:ext cx="3017520" cy="274320"/>
          </a:xfrm>
          <a:prstGeom prst="rect">
            <a:avLst/>
          </a:prstGeom>
          <a:noFill/>
          <a:ln/>
        </p:spPr>
        <p:txBody>
          <a:bodyPr wrap="square" lIns="0" tIns="0" rIns="0" bIns="0" rtlCol="0" anchor="ctr"/>
          <a:lstStyle/>
          <a:p>
            <a:pPr marL="0" indent="0">
              <a:buNone/>
            </a:pPr>
            <a:r>
              <a:rPr lang="en-US" sz="1100" dirty="0">
                <a:solidFill>
                  <a:srgbClr val="8A6D12"/>
                </a:solidFill>
                <a:latin typeface="Calibri" pitchFamily="34" charset="0"/>
                <a:ea typeface="Calibri" pitchFamily="34" charset="-122"/>
                <a:cs typeface="Calibri" pitchFamily="34" charset="-120"/>
              </a:rPr>
              <a:t>12 de los 30 puntos exigen justificar o decidir</a:t>
            </a:r>
            <a:endParaRPr lang="en-US" sz="1100" dirty="0"/>
          </a:p>
        </p:txBody>
      </p:sp>
      <p:sp>
        <p:nvSpPr>
          <p:cNvPr id="14" name="Shape 11"/>
          <p:cNvSpPr/>
          <p:nvPr/>
        </p:nvSpPr>
        <p:spPr>
          <a:xfrm>
            <a:off x="8156448" y="4846320"/>
            <a:ext cx="3468319" cy="1371600"/>
          </a:xfrm>
          <a:prstGeom prst="roundRect">
            <a:avLst>
              <a:gd name="adj" fmla="val 6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5" name="Text 12"/>
          <p:cNvSpPr txBox="1"/>
          <p:nvPr/>
        </p:nvSpPr>
        <p:spPr>
          <a:xfrm>
            <a:off x="8412480" y="4974336"/>
            <a:ext cx="2926080" cy="274320"/>
          </a:xfrm>
          <a:prstGeom prst="rect">
            <a:avLst/>
          </a:prstGeom>
          <a:noFill/>
          <a:ln/>
        </p:spPr>
        <p:txBody>
          <a:bodyPr wrap="square" lIns="0" tIns="0" rIns="0" bIns="0" rtlCol="0" anchor="ctr"/>
          <a:lstStyle/>
          <a:p>
            <a:pPr marL="0" indent="0">
              <a:buNone/>
            </a:pPr>
            <a:r>
              <a:rPr lang="en-US" sz="1150" b="1" dirty="0">
                <a:solidFill>
                  <a:srgbClr val="17624F"/>
                </a:solidFill>
                <a:latin typeface="Calibri" pitchFamily="34" charset="0"/>
                <a:ea typeface="Calibri" pitchFamily="34" charset="-122"/>
                <a:cs typeface="Calibri" pitchFamily="34" charset="-120"/>
              </a:rPr>
              <a:t>Tiempo estimado</a:t>
            </a:r>
            <a:endParaRPr lang="en-US" sz="1150" dirty="0"/>
          </a:p>
        </p:txBody>
      </p:sp>
      <p:sp>
        <p:nvSpPr>
          <p:cNvPr id="16" name="Text 13"/>
          <p:cNvSpPr txBox="1"/>
          <p:nvPr/>
        </p:nvSpPr>
        <p:spPr>
          <a:xfrm>
            <a:off x="8412480" y="5266944"/>
            <a:ext cx="2926080" cy="548640"/>
          </a:xfrm>
          <a:prstGeom prst="rect">
            <a:avLst/>
          </a:prstGeom>
          <a:noFill/>
          <a:ln/>
        </p:spPr>
        <p:txBody>
          <a:bodyPr wrap="square" lIns="0" tIns="0" rIns="0" bIns="0" rtlCol="0" anchor="ctr"/>
          <a:lstStyle/>
          <a:p>
            <a:pPr marL="0" indent="0">
              <a:buNone/>
            </a:pPr>
            <a:r>
              <a:rPr lang="en-US" sz="3000" b="1" dirty="0">
                <a:solidFill>
                  <a:srgbClr val="17624F"/>
                </a:solidFill>
                <a:latin typeface="Cambria" pitchFamily="34" charset="0"/>
                <a:ea typeface="Cambria" pitchFamily="34" charset="-122"/>
                <a:cs typeface="Cambria" pitchFamily="34" charset="-120"/>
              </a:rPr>
              <a:t>55 min</a:t>
            </a:r>
            <a:endParaRPr lang="en-US" sz="3000" dirty="0"/>
          </a:p>
        </p:txBody>
      </p:sp>
      <p:sp>
        <p:nvSpPr>
          <p:cNvPr id="17" name="Text 14"/>
          <p:cNvSpPr txBox="1"/>
          <p:nvPr/>
        </p:nvSpPr>
        <p:spPr>
          <a:xfrm>
            <a:off x="8412480" y="5815584"/>
            <a:ext cx="3017520" cy="365760"/>
          </a:xfrm>
          <a:prstGeom prst="rect">
            <a:avLst/>
          </a:prstGeom>
          <a:noFill/>
          <a:ln/>
        </p:spPr>
        <p:txBody>
          <a:bodyPr wrap="square" lIns="0" tIns="0" rIns="0" bIns="0" rtlCol="0" anchor="ctr"/>
          <a:lstStyle/>
          <a:p>
            <a:pPr marL="0" indent="0">
              <a:lnSpc>
                <a:spcPct val="100000"/>
              </a:lnSpc>
              <a:buNone/>
            </a:pPr>
            <a:r>
              <a:rPr lang="en-US" sz="1050" dirty="0">
                <a:solidFill>
                  <a:srgbClr val="17624F"/>
                </a:solidFill>
                <a:latin typeface="Calibri" pitchFamily="34" charset="0"/>
                <a:ea typeface="Calibri" pitchFamily="34" charset="-122"/>
                <a:cs typeface="Calibri" pitchFamily="34" charset="-120"/>
              </a:rPr>
              <a:t>1 min por selección múltiple · 5 min por respuesta abierta de aplicación</a:t>
            </a:r>
            <a:endParaRPr lang="en-US" sz="1050" dirty="0"/>
          </a:p>
        </p:txBody>
      </p:sp>
      <p:sp>
        <p:nvSpPr>
          <p:cNvPr id="18" name="Text 15"/>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6</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Modelaje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6.º a 8.º grado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Del número racional a la función lineal</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Perfil del evaluando y decisiones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A · Selección múltiple (7.º)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B · Respuesta abierta sencilla (6.º)</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C · Respuesta abierta de aplicación (8.º · Álgebra I)</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Planilla de especificaciones de 7.º grado</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6.º A 8.º GRADO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Quién es el estudiante que va a contestar</a:t>
            </a:r>
            <a:endParaRPr lang="en-US" sz="2700" dirty="0"/>
          </a:p>
        </p:txBody>
      </p:sp>
      <p:sp>
        <p:nvSpPr>
          <p:cNvPr id="4" name="Shape 2"/>
          <p:cNvSpPr/>
          <p:nvPr/>
        </p:nvSpPr>
        <p:spPr>
          <a:xfrm>
            <a:off x="566928" y="1325880"/>
            <a:ext cx="5029200"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5029200" cy="603504"/>
          </a:xfrm>
          <a:prstGeom prst="roundRect">
            <a:avLst>
              <a:gd name="adj" fmla="val 13636"/>
            </a:avLst>
          </a:prstGeom>
          <a:solidFill>
            <a:srgbClr val="2A9D8F"/>
          </a:solidFill>
          <a:ln w="12700">
            <a:solidFill>
              <a:srgbClr val="2A9D8F"/>
            </a:solidFill>
            <a:prstDash val="solid"/>
          </a:ln>
        </p:spPr>
        <p:txBody>
          <a:bodyPr/>
          <a:lstStyle/>
          <a:p>
            <a:endParaRPr lang="en-PR"/>
          </a:p>
        </p:txBody>
      </p:sp>
      <p:sp>
        <p:nvSpPr>
          <p:cNvPr id="6" name="Text 4"/>
          <p:cNvSpPr txBox="1"/>
          <p:nvPr/>
        </p:nvSpPr>
        <p:spPr>
          <a:xfrm>
            <a:off x="822960" y="1325880"/>
            <a:ext cx="4572000" cy="603504"/>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Perfil del evaluando  ·  6.º a 8.º grado</a:t>
            </a:r>
            <a:endParaRPr lang="en-US" sz="1450" dirty="0"/>
          </a:p>
        </p:txBody>
      </p:sp>
      <p:sp>
        <p:nvSpPr>
          <p:cNvPr id="7" name="Text 5"/>
          <p:cNvSpPr txBox="1"/>
          <p:nvPr/>
        </p:nvSpPr>
        <p:spPr>
          <a:xfrm>
            <a:off x="841248" y="2103120"/>
            <a:ext cx="4526280" cy="370332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Transita del razonamiento aritmético al algebraico: la letra deja de ser una etiqueta y pasa a ser una cantidad variable.</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Es el nivel con mayor variabilidad de dominio dentro de un mismo salón: conviven rezagos de elemental con estudiantes listos para Álgebra I.</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Sostiene textos más largos, pero se desconcentra ante enunciados con datos irrelevantes.</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Le pesa el vocabulario algebraico nuevo: expresión, coeficiente, término, variable, razón.</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Reacciona bien a contextos de dinero, tiempo, deporte escolar y consumo, si los datos vienen dados.</a:t>
            </a:r>
            <a:endParaRPr lang="en-US" sz="1280" dirty="0"/>
          </a:p>
        </p:txBody>
      </p:sp>
      <p:sp>
        <p:nvSpPr>
          <p:cNvPr id="8" name="Shape 6"/>
          <p:cNvSpPr/>
          <p:nvPr/>
        </p:nvSpPr>
        <p:spPr>
          <a:xfrm>
            <a:off x="5961888" y="1325880"/>
            <a:ext cx="5662879" cy="4617720"/>
          </a:xfrm>
          <a:prstGeom prst="roundRect">
            <a:avLst>
              <a:gd name="adj" fmla="val 17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6281928" y="1536192"/>
            <a:ext cx="5022799" cy="329184"/>
          </a:xfrm>
          <a:prstGeom prst="rect">
            <a:avLst/>
          </a:prstGeom>
          <a:noFill/>
          <a:ln/>
        </p:spPr>
        <p:txBody>
          <a:bodyPr wrap="square" lIns="0" tIns="0" rIns="0" bIns="0" rtlCol="0" anchor="ctr"/>
          <a:lstStyle/>
          <a:p>
            <a:pPr marL="0" indent="0">
              <a:buNone/>
            </a:pPr>
            <a:r>
              <a:rPr lang="en-US" sz="1650" b="1" dirty="0">
                <a:solidFill>
                  <a:srgbClr val="C9A84C"/>
                </a:solidFill>
                <a:latin typeface="Cambria" pitchFamily="34" charset="0"/>
                <a:ea typeface="Cambria" pitchFamily="34" charset="-122"/>
                <a:cs typeface="Cambria" pitchFamily="34" charset="-120"/>
              </a:rPr>
              <a:t>Decisiones de DUA para este nivel</a:t>
            </a:r>
            <a:endParaRPr lang="en-US" sz="1650" dirty="0"/>
          </a:p>
        </p:txBody>
      </p:sp>
      <p:sp>
        <p:nvSpPr>
          <p:cNvPr id="10" name="Shape 8"/>
          <p:cNvSpPr/>
          <p:nvPr/>
        </p:nvSpPr>
        <p:spPr>
          <a:xfrm>
            <a:off x="6236208" y="201168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1" name="Shape 9"/>
          <p:cNvSpPr/>
          <p:nvPr/>
        </p:nvSpPr>
        <p:spPr>
          <a:xfrm>
            <a:off x="6419088" y="2319833"/>
            <a:ext cx="100584" cy="100584"/>
          </a:xfrm>
          <a:prstGeom prst="ellipse">
            <a:avLst/>
          </a:prstGeom>
          <a:solidFill>
            <a:srgbClr val="C9A227"/>
          </a:solidFill>
          <a:ln/>
        </p:spPr>
        <p:txBody>
          <a:bodyPr/>
          <a:lstStyle/>
          <a:p>
            <a:endParaRPr lang="en-PR"/>
          </a:p>
        </p:txBody>
      </p:sp>
      <p:sp>
        <p:nvSpPr>
          <p:cNvPr id="12" name="Text 10"/>
          <p:cNvSpPr txBox="1"/>
          <p:nvPr/>
        </p:nvSpPr>
        <p:spPr>
          <a:xfrm>
            <a:off x="6675120" y="201168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Todo dato necesario está en el enunciado o en la tabla; ninguno se supone.</a:t>
            </a:r>
            <a:endParaRPr lang="en-US" sz="1220" dirty="0"/>
          </a:p>
        </p:txBody>
      </p:sp>
      <p:sp>
        <p:nvSpPr>
          <p:cNvPr id="13" name="Shape 11"/>
          <p:cNvSpPr/>
          <p:nvPr/>
        </p:nvSpPr>
        <p:spPr>
          <a:xfrm>
            <a:off x="6236208" y="2838298"/>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4" name="Shape 12"/>
          <p:cNvSpPr/>
          <p:nvPr/>
        </p:nvSpPr>
        <p:spPr>
          <a:xfrm>
            <a:off x="6419088" y="3146450"/>
            <a:ext cx="100584" cy="100584"/>
          </a:xfrm>
          <a:prstGeom prst="ellipse">
            <a:avLst/>
          </a:prstGeom>
          <a:solidFill>
            <a:srgbClr val="C9A227"/>
          </a:solidFill>
          <a:ln/>
        </p:spPr>
        <p:txBody>
          <a:bodyPr/>
          <a:lstStyle/>
          <a:p>
            <a:endParaRPr lang="en-PR"/>
          </a:p>
        </p:txBody>
      </p:sp>
      <p:sp>
        <p:nvSpPr>
          <p:cNvPr id="15" name="Text 13"/>
          <p:cNvSpPr txBox="1"/>
          <p:nvPr/>
        </p:nvSpPr>
        <p:spPr>
          <a:xfrm>
            <a:off x="6675120" y="2838298"/>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Las partes del ítem son independientes: un error en B no bloquea C.</a:t>
            </a:r>
            <a:endParaRPr lang="en-US" sz="1220" dirty="0"/>
          </a:p>
        </p:txBody>
      </p:sp>
      <p:sp>
        <p:nvSpPr>
          <p:cNvPr id="16" name="Shape 14"/>
          <p:cNvSpPr/>
          <p:nvPr/>
        </p:nvSpPr>
        <p:spPr>
          <a:xfrm>
            <a:off x="6236208" y="3664915"/>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7" name="Shape 15"/>
          <p:cNvSpPr/>
          <p:nvPr/>
        </p:nvSpPr>
        <p:spPr>
          <a:xfrm>
            <a:off x="6419088" y="3973068"/>
            <a:ext cx="100584" cy="100584"/>
          </a:xfrm>
          <a:prstGeom prst="ellipse">
            <a:avLst/>
          </a:prstGeom>
          <a:solidFill>
            <a:srgbClr val="C9A227"/>
          </a:solidFill>
          <a:ln/>
        </p:spPr>
        <p:txBody>
          <a:bodyPr/>
          <a:lstStyle/>
          <a:p>
            <a:endParaRPr lang="en-PR"/>
          </a:p>
        </p:txBody>
      </p:sp>
      <p:sp>
        <p:nvSpPr>
          <p:cNvPr id="18" name="Text 16"/>
          <p:cNvSpPr txBox="1"/>
          <p:nvPr/>
        </p:nvSpPr>
        <p:spPr>
          <a:xfrm>
            <a:off x="6675120" y="3664915"/>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El vocabulario algebraico se define dentro del ítem la primera vez que aparece.</a:t>
            </a:r>
            <a:endParaRPr lang="en-US" sz="1220" dirty="0"/>
          </a:p>
        </p:txBody>
      </p:sp>
      <p:sp>
        <p:nvSpPr>
          <p:cNvPr id="19" name="Shape 17"/>
          <p:cNvSpPr/>
          <p:nvPr/>
        </p:nvSpPr>
        <p:spPr>
          <a:xfrm>
            <a:off x="6236208" y="4491533"/>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0" name="Shape 18"/>
          <p:cNvSpPr/>
          <p:nvPr/>
        </p:nvSpPr>
        <p:spPr>
          <a:xfrm>
            <a:off x="6419088" y="4799686"/>
            <a:ext cx="100584" cy="100584"/>
          </a:xfrm>
          <a:prstGeom prst="ellipse">
            <a:avLst/>
          </a:prstGeom>
          <a:solidFill>
            <a:srgbClr val="C9A227"/>
          </a:solidFill>
          <a:ln/>
        </p:spPr>
        <p:txBody>
          <a:bodyPr/>
          <a:lstStyle/>
          <a:p>
            <a:endParaRPr lang="en-PR"/>
          </a:p>
        </p:txBody>
      </p:sp>
      <p:sp>
        <p:nvSpPr>
          <p:cNvPr id="21" name="Text 19"/>
          <p:cNvSpPr txBox="1"/>
          <p:nvPr/>
        </p:nvSpPr>
        <p:spPr>
          <a:xfrm>
            <a:off x="6675120" y="4491533"/>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permite calculadora cuando la destreza medida no es el cálculo.</a:t>
            </a:r>
            <a:endParaRPr lang="en-US" sz="1220" dirty="0"/>
          </a:p>
        </p:txBody>
      </p:sp>
      <p:sp>
        <p:nvSpPr>
          <p:cNvPr id="22" name="Shape 20"/>
          <p:cNvSpPr/>
          <p:nvPr/>
        </p:nvSpPr>
        <p:spPr>
          <a:xfrm>
            <a:off x="6236208" y="531815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3" name="Shape 21"/>
          <p:cNvSpPr/>
          <p:nvPr/>
        </p:nvSpPr>
        <p:spPr>
          <a:xfrm>
            <a:off x="6419088" y="5626303"/>
            <a:ext cx="100584" cy="100584"/>
          </a:xfrm>
          <a:prstGeom prst="ellipse">
            <a:avLst/>
          </a:prstGeom>
          <a:solidFill>
            <a:srgbClr val="C9A227"/>
          </a:solidFill>
          <a:ln/>
        </p:spPr>
        <p:txBody>
          <a:bodyPr/>
          <a:lstStyle/>
          <a:p>
            <a:endParaRPr lang="en-PR"/>
          </a:p>
        </p:txBody>
      </p:sp>
      <p:sp>
        <p:nvSpPr>
          <p:cNvPr id="24" name="Text 22"/>
          <p:cNvSpPr txBox="1"/>
          <p:nvPr/>
        </p:nvSpPr>
        <p:spPr>
          <a:xfrm>
            <a:off x="6675120" y="531815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 tabla de valores acompaña a la ecuación como segunda representación.</a:t>
            </a:r>
            <a:endParaRPr lang="en-US" sz="122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Selección múltiple  ·  7.º grado  ·  Por ciento</a:t>
            </a:r>
            <a:endParaRPr lang="en-US" sz="2700" dirty="0"/>
          </a:p>
        </p:txBody>
      </p:sp>
      <p:sp>
        <p:nvSpPr>
          <p:cNvPr id="4" name="Shape 2"/>
          <p:cNvSpPr/>
          <p:nvPr/>
        </p:nvSpPr>
        <p:spPr>
          <a:xfrm>
            <a:off x="566928" y="1371600"/>
            <a:ext cx="6858000" cy="3063240"/>
          </a:xfrm>
          <a:prstGeom prst="roundRect">
            <a:avLst>
              <a:gd name="adj" fmla="val 1791"/>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1 PUNTO · DOK 2</a:t>
            </a:r>
            <a:endParaRPr lang="en-US" sz="950" dirty="0"/>
          </a:p>
        </p:txBody>
      </p:sp>
      <p:sp>
        <p:nvSpPr>
          <p:cNvPr id="7" name="Text 5"/>
          <p:cNvSpPr txBox="1"/>
          <p:nvPr/>
        </p:nvSpPr>
        <p:spPr>
          <a:xfrm>
            <a:off x="859536" y="1645920"/>
            <a:ext cx="6272784" cy="548640"/>
          </a:xfrm>
          <a:prstGeom prst="rect">
            <a:avLst/>
          </a:prstGeom>
          <a:noFill/>
          <a:ln/>
        </p:spPr>
        <p:txBody>
          <a:bodyPr wrap="square" lIns="0" tIns="0" rIns="0" bIns="0" rtlCol="0" anchor="ctr"/>
          <a:lstStyle/>
          <a:p>
            <a:pPr marL="0" indent="0">
              <a:lnSpc>
                <a:spcPct val="104000"/>
              </a:lnSpc>
              <a:buNone/>
            </a:pPr>
            <a:r>
              <a:rPr lang="en-US" sz="1230" dirty="0">
                <a:solidFill>
                  <a:srgbClr val="22303F"/>
                </a:solidFill>
                <a:latin typeface="Calibri" pitchFamily="34" charset="0"/>
                <a:ea typeface="Calibri" pitchFamily="34" charset="-122"/>
                <a:cs typeface="Calibri" pitchFamily="34" charset="-120"/>
              </a:rPr>
              <a:t>Una tienda vende una mochila escolar en $45.00. Durante una promoción, el precio se reduce en un 20 %.</a:t>
            </a:r>
            <a:endParaRPr lang="en-US" sz="1230" dirty="0"/>
          </a:p>
        </p:txBody>
      </p:sp>
      <p:sp>
        <p:nvSpPr>
          <p:cNvPr id="8" name="Text 6"/>
          <p:cNvSpPr txBox="1"/>
          <p:nvPr/>
        </p:nvSpPr>
        <p:spPr>
          <a:xfrm>
            <a:off x="859536" y="2249424"/>
            <a:ext cx="6272784" cy="274320"/>
          </a:xfrm>
          <a:prstGeom prst="rect">
            <a:avLst/>
          </a:prstGeom>
          <a:noFill/>
          <a:ln/>
        </p:spPr>
        <p:txBody>
          <a:bodyPr wrap="square" lIns="0" tIns="0" rIns="0" bIns="0" rtlCol="0" anchor="ctr"/>
          <a:lstStyle/>
          <a:p>
            <a:pPr marL="0" indent="0">
              <a:buNone/>
            </a:pPr>
            <a:r>
              <a:rPr lang="en-US" sz="1230" b="1" dirty="0">
                <a:solidFill>
                  <a:srgbClr val="22303F"/>
                </a:solidFill>
                <a:latin typeface="Calibri" pitchFamily="34" charset="0"/>
                <a:ea typeface="Calibri" pitchFamily="34" charset="-122"/>
                <a:cs typeface="Calibri" pitchFamily="34" charset="-120"/>
              </a:rPr>
              <a:t>¿Cuál es el precio de la mochila durante la promoción?</a:t>
            </a:r>
            <a:endParaRPr lang="en-US" sz="1230" dirty="0"/>
          </a:p>
        </p:txBody>
      </p:sp>
      <p:sp>
        <p:nvSpPr>
          <p:cNvPr id="9" name="Shape 7"/>
          <p:cNvSpPr/>
          <p:nvPr/>
        </p:nvSpPr>
        <p:spPr>
          <a:xfrm>
            <a:off x="932688" y="2715768"/>
            <a:ext cx="155448" cy="155448"/>
          </a:xfrm>
          <a:prstGeom prst="ellipse">
            <a:avLst/>
          </a:prstGeom>
          <a:solidFill>
            <a:srgbClr val="FFFFFF"/>
          </a:solidFill>
          <a:ln w="12700">
            <a:solidFill>
              <a:srgbClr val="5F6E7E"/>
            </a:solidFill>
            <a:prstDash val="solid"/>
          </a:ln>
        </p:spPr>
        <p:txBody>
          <a:bodyPr/>
          <a:lstStyle/>
          <a:p>
            <a:endParaRPr lang="en-PR"/>
          </a:p>
        </p:txBody>
      </p:sp>
      <p:sp>
        <p:nvSpPr>
          <p:cNvPr id="10" name="Text 8"/>
          <p:cNvSpPr txBox="1"/>
          <p:nvPr/>
        </p:nvSpPr>
        <p:spPr>
          <a:xfrm>
            <a:off x="1225296" y="263347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A.   $  9.00</a:t>
            </a:r>
            <a:endParaRPr lang="en-US" sz="1230" dirty="0"/>
          </a:p>
        </p:txBody>
      </p:sp>
      <p:sp>
        <p:nvSpPr>
          <p:cNvPr id="11" name="Shape 9"/>
          <p:cNvSpPr/>
          <p:nvPr/>
        </p:nvSpPr>
        <p:spPr>
          <a:xfrm>
            <a:off x="932688" y="3081528"/>
            <a:ext cx="155448" cy="155448"/>
          </a:xfrm>
          <a:prstGeom prst="ellipse">
            <a:avLst/>
          </a:prstGeom>
          <a:solidFill>
            <a:srgbClr val="FFFFFF"/>
          </a:solidFill>
          <a:ln w="12700">
            <a:solidFill>
              <a:srgbClr val="5F6E7E"/>
            </a:solidFill>
            <a:prstDash val="solid"/>
          </a:ln>
        </p:spPr>
        <p:txBody>
          <a:bodyPr/>
          <a:lstStyle/>
          <a:p>
            <a:endParaRPr lang="en-PR"/>
          </a:p>
        </p:txBody>
      </p:sp>
      <p:sp>
        <p:nvSpPr>
          <p:cNvPr id="12" name="Text 10"/>
          <p:cNvSpPr txBox="1"/>
          <p:nvPr/>
        </p:nvSpPr>
        <p:spPr>
          <a:xfrm>
            <a:off x="1225296" y="299923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B.   $ 25.00</a:t>
            </a:r>
            <a:endParaRPr lang="en-US" sz="1230" dirty="0"/>
          </a:p>
        </p:txBody>
      </p:sp>
      <p:sp>
        <p:nvSpPr>
          <p:cNvPr id="13" name="Shape 11"/>
          <p:cNvSpPr/>
          <p:nvPr/>
        </p:nvSpPr>
        <p:spPr>
          <a:xfrm>
            <a:off x="932688" y="3447288"/>
            <a:ext cx="155448" cy="155448"/>
          </a:xfrm>
          <a:prstGeom prst="ellipse">
            <a:avLst/>
          </a:prstGeom>
          <a:solidFill>
            <a:srgbClr val="FFFFFF"/>
          </a:solidFill>
          <a:ln w="12700">
            <a:solidFill>
              <a:srgbClr val="5F6E7E"/>
            </a:solidFill>
            <a:prstDash val="solid"/>
          </a:ln>
        </p:spPr>
        <p:txBody>
          <a:bodyPr/>
          <a:lstStyle/>
          <a:p>
            <a:endParaRPr lang="en-PR"/>
          </a:p>
        </p:txBody>
      </p:sp>
      <p:sp>
        <p:nvSpPr>
          <p:cNvPr id="14" name="Text 12"/>
          <p:cNvSpPr txBox="1"/>
          <p:nvPr/>
        </p:nvSpPr>
        <p:spPr>
          <a:xfrm>
            <a:off x="1225296" y="336499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C.   $ 36.00</a:t>
            </a:r>
            <a:endParaRPr lang="en-US" sz="1230" dirty="0"/>
          </a:p>
        </p:txBody>
      </p:sp>
      <p:sp>
        <p:nvSpPr>
          <p:cNvPr id="15" name="Shape 13"/>
          <p:cNvSpPr/>
          <p:nvPr/>
        </p:nvSpPr>
        <p:spPr>
          <a:xfrm>
            <a:off x="932688" y="3813048"/>
            <a:ext cx="155448" cy="155448"/>
          </a:xfrm>
          <a:prstGeom prst="ellipse">
            <a:avLst/>
          </a:prstGeom>
          <a:solidFill>
            <a:srgbClr val="FFFFFF"/>
          </a:solidFill>
          <a:ln w="12700">
            <a:solidFill>
              <a:srgbClr val="5F6E7E"/>
            </a:solidFill>
            <a:prstDash val="solid"/>
          </a:ln>
        </p:spPr>
        <p:txBody>
          <a:bodyPr/>
          <a:lstStyle/>
          <a:p>
            <a:endParaRPr lang="en-PR"/>
          </a:p>
        </p:txBody>
      </p:sp>
      <p:sp>
        <p:nvSpPr>
          <p:cNvPr id="16" name="Text 14"/>
          <p:cNvSpPr txBox="1"/>
          <p:nvPr/>
        </p:nvSpPr>
        <p:spPr>
          <a:xfrm>
            <a:off x="1225296" y="3730752"/>
            <a:ext cx="2377440" cy="329184"/>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D.   $ 54.00</a:t>
            </a:r>
            <a:endParaRPr lang="en-US" sz="1230" dirty="0"/>
          </a:p>
        </p:txBody>
      </p:sp>
      <p:sp>
        <p:nvSpPr>
          <p:cNvPr id="17" name="Shape 15"/>
          <p:cNvSpPr/>
          <p:nvPr/>
        </p:nvSpPr>
        <p:spPr>
          <a:xfrm>
            <a:off x="3858768" y="2560320"/>
            <a:ext cx="3291840" cy="1572768"/>
          </a:xfrm>
          <a:prstGeom prst="roundRect">
            <a:avLst>
              <a:gd name="adj" fmla="val 52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8" name="Text 16"/>
          <p:cNvSpPr txBox="1"/>
          <p:nvPr/>
        </p:nvSpPr>
        <p:spPr>
          <a:xfrm>
            <a:off x="4059936" y="2670048"/>
            <a:ext cx="2926080" cy="256032"/>
          </a:xfrm>
          <a:prstGeom prst="rect">
            <a:avLst/>
          </a:prstGeom>
          <a:noFill/>
          <a:ln/>
        </p:spPr>
        <p:txBody>
          <a:bodyPr wrap="square" lIns="0" tIns="0" rIns="0" bIns="0" rtlCol="0" anchor="ctr"/>
          <a:lstStyle/>
          <a:p>
            <a:pPr marL="0" indent="0">
              <a:buNone/>
            </a:pPr>
            <a:r>
              <a:rPr lang="en-US" sz="1050" b="1" kern="0" spc="100" dirty="0">
                <a:solidFill>
                  <a:srgbClr val="C9A227"/>
                </a:solidFill>
                <a:latin typeface="Calibri" pitchFamily="34" charset="0"/>
                <a:ea typeface="Calibri" pitchFamily="34" charset="-122"/>
                <a:cs typeface="Calibri" pitchFamily="34" charset="-120"/>
              </a:rPr>
              <a:t>Decisión de accesibilidad</a:t>
            </a:r>
            <a:endParaRPr lang="en-US" sz="1050" dirty="0"/>
          </a:p>
        </p:txBody>
      </p:sp>
      <p:sp>
        <p:nvSpPr>
          <p:cNvPr id="19" name="Text 17"/>
          <p:cNvSpPr txBox="1"/>
          <p:nvPr/>
        </p:nvSpPr>
        <p:spPr>
          <a:xfrm>
            <a:off x="4059936" y="2944368"/>
            <a:ext cx="2926080" cy="1097280"/>
          </a:xfrm>
          <a:prstGeom prst="rect">
            <a:avLst/>
          </a:prstGeom>
          <a:noFill/>
          <a:ln/>
        </p:spPr>
        <p:txBody>
          <a:bodyPr wrap="square" lIns="0" tIns="0" rIns="0" bIns="0" rtlCol="0" anchor="ctr"/>
          <a:lstStyle/>
          <a:p>
            <a:pPr marL="0" indent="0">
              <a:lnSpc>
                <a:spcPct val="104000"/>
              </a:lnSpc>
              <a:buNone/>
            </a:pPr>
            <a:r>
              <a:rPr lang="en-US" sz="1080" dirty="0">
                <a:solidFill>
                  <a:srgbClr val="22303F"/>
                </a:solidFill>
                <a:latin typeface="Calibri" pitchFamily="34" charset="0"/>
                <a:ea typeface="Calibri" pitchFamily="34" charset="-122"/>
                <a:cs typeface="Calibri" pitchFamily="34" charset="-120"/>
              </a:rPr>
              <a:t>Las cuatro opciones se escriben con el mismo formato monetario y en orden ascendente. La alineación de los signos de dólar evita que el estudiante compare mal por efecto visual.</a:t>
            </a:r>
            <a:endParaRPr lang="en-US" sz="1080" dirty="0"/>
          </a:p>
        </p:txBody>
      </p:sp>
      <p:sp>
        <p:nvSpPr>
          <p:cNvPr id="20" name="Shape 18"/>
          <p:cNvSpPr/>
          <p:nvPr/>
        </p:nvSpPr>
        <p:spPr>
          <a:xfrm>
            <a:off x="7790688" y="1371600"/>
            <a:ext cx="3834079" cy="3063240"/>
          </a:xfrm>
          <a:prstGeom prst="roundRect">
            <a:avLst>
              <a:gd name="adj" fmla="val 268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790688" y="1371600"/>
            <a:ext cx="38340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2" name="Text 20"/>
          <p:cNvSpPr txBox="1"/>
          <p:nvPr/>
        </p:nvSpPr>
        <p:spPr>
          <a:xfrm>
            <a:off x="7973568" y="1371600"/>
            <a:ext cx="34683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3" name="Text 21"/>
          <p:cNvSpPr txBox="1"/>
          <p:nvPr/>
        </p:nvSpPr>
        <p:spPr>
          <a:xfrm>
            <a:off x="8001000" y="1938528"/>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GRADO / CURSO</a:t>
            </a:r>
            <a:endParaRPr lang="en-US" sz="850" dirty="0"/>
          </a:p>
        </p:txBody>
      </p:sp>
      <p:sp>
        <p:nvSpPr>
          <p:cNvPr id="24" name="Text 22"/>
          <p:cNvSpPr txBox="1"/>
          <p:nvPr/>
        </p:nvSpPr>
        <p:spPr>
          <a:xfrm>
            <a:off x="8001000" y="2121408"/>
            <a:ext cx="3413455" cy="237378"/>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7.º grado · Preálgebra</a:t>
            </a:r>
            <a:endParaRPr lang="en-US" sz="950" dirty="0"/>
          </a:p>
        </p:txBody>
      </p:sp>
      <p:sp>
        <p:nvSpPr>
          <p:cNvPr id="25" name="Text 23"/>
          <p:cNvSpPr txBox="1"/>
          <p:nvPr/>
        </p:nvSpPr>
        <p:spPr>
          <a:xfrm>
            <a:off x="8001000" y="2358786"/>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ESTÁNDAR</a:t>
            </a:r>
            <a:endParaRPr lang="en-US" sz="850" dirty="0"/>
          </a:p>
        </p:txBody>
      </p:sp>
      <p:sp>
        <p:nvSpPr>
          <p:cNvPr id="26" name="Text 24"/>
          <p:cNvSpPr txBox="1"/>
          <p:nvPr/>
        </p:nvSpPr>
        <p:spPr>
          <a:xfrm>
            <a:off x="8001000" y="2541666"/>
            <a:ext cx="3413455" cy="237378"/>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Numeración y operación (N)</a:t>
            </a:r>
            <a:endParaRPr lang="en-US" sz="950" dirty="0"/>
          </a:p>
        </p:txBody>
      </p:sp>
      <p:sp>
        <p:nvSpPr>
          <p:cNvPr id="27" name="Text 25"/>
          <p:cNvSpPr txBox="1"/>
          <p:nvPr/>
        </p:nvSpPr>
        <p:spPr>
          <a:xfrm>
            <a:off x="8001000" y="2779044"/>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EXPECTATIVA</a:t>
            </a:r>
            <a:endParaRPr lang="en-US" sz="850" dirty="0"/>
          </a:p>
        </p:txBody>
      </p:sp>
      <p:sp>
        <p:nvSpPr>
          <p:cNvPr id="28" name="Text 26"/>
          <p:cNvSpPr txBox="1"/>
          <p:nvPr/>
        </p:nvSpPr>
        <p:spPr>
          <a:xfrm>
            <a:off x="8001000" y="2961924"/>
            <a:ext cx="3413455" cy="383316"/>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7.N.2 · Razón, proporción y por ciento en la solución de problemas (verificar el indicador exacto).</a:t>
            </a:r>
            <a:endParaRPr lang="en-US" sz="950" dirty="0"/>
          </a:p>
        </p:txBody>
      </p:sp>
      <p:sp>
        <p:nvSpPr>
          <p:cNvPr id="29" name="Text 27"/>
          <p:cNvSpPr txBox="1"/>
          <p:nvPr/>
        </p:nvSpPr>
        <p:spPr>
          <a:xfrm>
            <a:off x="8001000" y="3345241"/>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DOK</a:t>
            </a:r>
            <a:endParaRPr lang="en-US" sz="850" dirty="0"/>
          </a:p>
        </p:txBody>
      </p:sp>
      <p:sp>
        <p:nvSpPr>
          <p:cNvPr id="30" name="Text 28"/>
          <p:cNvSpPr txBox="1"/>
          <p:nvPr/>
        </p:nvSpPr>
        <p:spPr>
          <a:xfrm>
            <a:off x="8001000" y="3528121"/>
            <a:ext cx="3413455" cy="383316"/>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Nivel 2 · aplicación de un procedimiento conocido en contexto.</a:t>
            </a:r>
            <a:endParaRPr lang="en-US" sz="950" dirty="0"/>
          </a:p>
        </p:txBody>
      </p:sp>
      <p:sp>
        <p:nvSpPr>
          <p:cNvPr id="31" name="Text 29"/>
          <p:cNvSpPr txBox="1"/>
          <p:nvPr/>
        </p:nvSpPr>
        <p:spPr>
          <a:xfrm>
            <a:off x="8001000" y="3911437"/>
            <a:ext cx="3413455" cy="182880"/>
          </a:xfrm>
          <a:prstGeom prst="rect">
            <a:avLst/>
          </a:prstGeom>
          <a:noFill/>
          <a:ln/>
        </p:spPr>
        <p:txBody>
          <a:bodyPr wrap="square" lIns="0" tIns="0" rIns="0" bIns="0"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VALOR / CLAVE</a:t>
            </a:r>
            <a:endParaRPr lang="en-US" sz="850" dirty="0"/>
          </a:p>
        </p:txBody>
      </p:sp>
      <p:sp>
        <p:nvSpPr>
          <p:cNvPr id="32" name="Text 30"/>
          <p:cNvSpPr txBox="1"/>
          <p:nvPr/>
        </p:nvSpPr>
        <p:spPr>
          <a:xfrm>
            <a:off x="8001000" y="4094317"/>
            <a:ext cx="3413455" cy="237378"/>
          </a:xfrm>
          <a:prstGeom prst="rect">
            <a:avLst/>
          </a:prstGeom>
          <a:noFill/>
          <a:ln/>
        </p:spPr>
        <p:txBody>
          <a:bodyPr wrap="square" lIns="0" tIns="0" rIns="0" bIns="0" rtlCol="0" anchor="t"/>
          <a:lstStyle/>
          <a:p>
            <a:pPr marL="0" indent="0">
              <a:lnSpc>
                <a:spcPct val="100000"/>
              </a:lnSpc>
              <a:buNone/>
            </a:pPr>
            <a:r>
              <a:rPr lang="en-US" sz="950" dirty="0">
                <a:solidFill>
                  <a:srgbClr val="22303F"/>
                </a:solidFill>
                <a:latin typeface="Calibri" pitchFamily="34" charset="0"/>
                <a:ea typeface="Calibri" pitchFamily="34" charset="-122"/>
                <a:cs typeface="Calibri" pitchFamily="34" charset="-120"/>
              </a:rPr>
              <a:t>1 punto · Respuesta correcta: C  ($36.00)</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4617720"/>
          <a:ext cx="1105783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9686239">
                  <a:extLst>
                    <a:ext uri="{9D8B030D-6E8A-4147-A177-3AD203B41FA5}">
                      <a16:colId xmlns:a16="http://schemas.microsoft.com/office/drawing/2014/main" val="20001"/>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Opción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Error que representa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$9.00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Calculó solo el descuento (0.20 × 45 = 9) y lo reportó como precio final.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$25.00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Restó 20 unidades en lugar del 20 %: 45 − 20 = 25. Confunde por ciento con cantidad.</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10896">
                <a:tc>
                  <a:txBody>
                    <a:bodyPr/>
                    <a:lstStyle/>
                    <a:p>
                      <a:pPr marL="0" indent="0" algn="ctr">
                        <a:buNone/>
                      </a:pPr>
                      <a:r>
                        <a:rPr lang="en-US" sz="1100" b="1" dirty="0">
                          <a:solidFill>
                            <a:srgbClr val="17624F"/>
                          </a:solidFill>
                          <a:latin typeface="Calibri" pitchFamily="34" charset="0"/>
                          <a:ea typeface="Calibri" pitchFamily="34" charset="-122"/>
                          <a:cs typeface="Calibri" pitchFamily="34" charset="-120"/>
                        </a:rPr>
                        <a:t>$36.00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7624F"/>
                          </a:solidFill>
                          <a:latin typeface="Calibri" pitchFamily="34" charset="0"/>
                          <a:ea typeface="Calibri" pitchFamily="34" charset="-122"/>
                          <a:cs typeface="Calibri" pitchFamily="34" charset="-120"/>
                        </a:rPr>
                        <a:t>Correcta: 45 − (0.20 × 45) = 45 − 9 = 36.  También 0.80 × 45 = 36.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$54.00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Aumentó el 20 % en vez de reducirlo: 45 + 9 = 54.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34" name="Text 31"/>
          <p:cNvSpPr txBox="1"/>
          <p:nvPr/>
        </p:nvSpPr>
        <p:spPr>
          <a:xfrm>
            <a:off x="566928" y="630936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B</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sencilla  ·  6.º grado  ·  Números enteros</a:t>
            </a:r>
            <a:endParaRPr lang="en-US" sz="2700" dirty="0"/>
          </a:p>
        </p:txBody>
      </p:sp>
      <p:sp>
        <p:nvSpPr>
          <p:cNvPr id="4" name="Shape 2"/>
          <p:cNvSpPr/>
          <p:nvPr/>
        </p:nvSpPr>
        <p:spPr>
          <a:xfrm>
            <a:off x="566928" y="1371600"/>
            <a:ext cx="5760720" cy="2651760"/>
          </a:xfrm>
          <a:prstGeom prst="roundRect">
            <a:avLst>
              <a:gd name="adj" fmla="val 206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2 PUNTOS · DOK 2</a:t>
            </a:r>
            <a:endParaRPr lang="en-US" sz="950" dirty="0"/>
          </a:p>
        </p:txBody>
      </p:sp>
      <p:sp>
        <p:nvSpPr>
          <p:cNvPr id="7" name="Text 5"/>
          <p:cNvSpPr txBox="1"/>
          <p:nvPr/>
        </p:nvSpPr>
        <p:spPr>
          <a:xfrm>
            <a:off x="841248" y="1627632"/>
            <a:ext cx="5212080" cy="310896"/>
          </a:xfrm>
          <a:prstGeom prst="rect">
            <a:avLst/>
          </a:prstGeom>
          <a:noFill/>
          <a:ln/>
        </p:spPr>
        <p:txBody>
          <a:bodyPr wrap="square" lIns="0" tIns="0" rIns="0" bIns="0" rtlCol="0" anchor="ctr"/>
          <a:lstStyle/>
          <a:p>
            <a:pPr marL="0" indent="0">
              <a:buNone/>
            </a:pPr>
            <a:r>
              <a:rPr lang="en-US" sz="1220" dirty="0">
                <a:solidFill>
                  <a:srgbClr val="22303F"/>
                </a:solidFill>
                <a:latin typeface="Calibri" pitchFamily="34" charset="0"/>
                <a:ea typeface="Calibri" pitchFamily="34" charset="-122"/>
                <a:cs typeface="Calibri" pitchFamily="34" charset="-120"/>
              </a:rPr>
              <a:t>La temperatura de un laboratorio bajó de 8 °C a −3 °C en dos horas.</a:t>
            </a:r>
            <a:endParaRPr lang="en-US" sz="1220" dirty="0"/>
          </a:p>
        </p:txBody>
      </p:sp>
      <p:sp>
        <p:nvSpPr>
          <p:cNvPr id="8" name="Text 6"/>
          <p:cNvSpPr txBox="1"/>
          <p:nvPr/>
        </p:nvSpPr>
        <p:spPr>
          <a:xfrm>
            <a:off x="932688" y="2029968"/>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A.   ¿Cuántos grados bajó la temperatura?</a:t>
            </a:r>
            <a:endParaRPr lang="en-US" sz="1220" dirty="0"/>
          </a:p>
        </p:txBody>
      </p:sp>
      <p:sp>
        <p:nvSpPr>
          <p:cNvPr id="9" name="Text 7"/>
          <p:cNvSpPr txBox="1"/>
          <p:nvPr/>
        </p:nvSpPr>
        <p:spPr>
          <a:xfrm>
            <a:off x="932688" y="2340864"/>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B.   Explica cómo determinaste tu respuesta.</a:t>
            </a:r>
            <a:endParaRPr lang="en-US" sz="1220" dirty="0"/>
          </a:p>
        </p:txBody>
      </p:sp>
      <p:sp>
        <p:nvSpPr>
          <p:cNvPr id="10" name="Text 8"/>
          <p:cNvSpPr txBox="1"/>
          <p:nvPr/>
        </p:nvSpPr>
        <p:spPr>
          <a:xfrm>
            <a:off x="841248" y="2688336"/>
            <a:ext cx="5212080" cy="274320"/>
          </a:xfrm>
          <a:prstGeom prst="rect">
            <a:avLst/>
          </a:prstGeom>
          <a:noFill/>
          <a:ln/>
        </p:spPr>
        <p:txBody>
          <a:bodyPr wrap="square" lIns="0" tIns="0" rIns="0" bIns="0" rtlCol="0" anchor="ctr"/>
          <a:lstStyle/>
          <a:p>
            <a:pPr marL="0" indent="0">
              <a:buNone/>
            </a:pPr>
            <a:r>
              <a:rPr lang="en-US" sz="1120" i="1" dirty="0">
                <a:solidFill>
                  <a:srgbClr val="1F3864"/>
                </a:solidFill>
                <a:latin typeface="Calibri" pitchFamily="34" charset="0"/>
                <a:ea typeface="Calibri" pitchFamily="34" charset="-122"/>
                <a:cs typeface="Calibri" pitchFamily="34" charset="-120"/>
              </a:rPr>
              <a:t>Contesta las partes A y B. Puedes apoyarte en la recta numérica que aparece abajo.</a:t>
            </a:r>
            <a:endParaRPr lang="en-US" sz="1120" dirty="0"/>
          </a:p>
        </p:txBody>
      </p:sp>
      <p:sp>
        <p:nvSpPr>
          <p:cNvPr id="11" name="Shape 9"/>
          <p:cNvSpPr/>
          <p:nvPr/>
        </p:nvSpPr>
        <p:spPr>
          <a:xfrm>
            <a:off x="1069848" y="3218688"/>
            <a:ext cx="4754880" cy="0"/>
          </a:xfrm>
          <a:prstGeom prst="line">
            <a:avLst/>
          </a:prstGeom>
          <a:noFill/>
          <a:ln w="17780">
            <a:solidFill>
              <a:srgbClr val="1B2A4A"/>
            </a:solidFill>
            <a:prstDash val="solid"/>
          </a:ln>
        </p:spPr>
        <p:txBody>
          <a:bodyPr/>
          <a:lstStyle/>
          <a:p>
            <a:endParaRPr lang="en-PR"/>
          </a:p>
        </p:txBody>
      </p:sp>
      <p:sp>
        <p:nvSpPr>
          <p:cNvPr id="12" name="Shape 10"/>
          <p:cNvSpPr/>
          <p:nvPr/>
        </p:nvSpPr>
        <p:spPr>
          <a:xfrm>
            <a:off x="1069848" y="3154680"/>
            <a:ext cx="0" cy="128016"/>
          </a:xfrm>
          <a:prstGeom prst="line">
            <a:avLst/>
          </a:prstGeom>
          <a:noFill/>
          <a:ln w="15240">
            <a:solidFill>
              <a:srgbClr val="1B2A4A"/>
            </a:solidFill>
            <a:prstDash val="solid"/>
          </a:ln>
        </p:spPr>
        <p:txBody>
          <a:bodyPr/>
          <a:lstStyle/>
          <a:p>
            <a:endParaRPr lang="en-PR"/>
          </a:p>
        </p:txBody>
      </p:sp>
      <p:sp>
        <p:nvSpPr>
          <p:cNvPr id="13" name="Text 11"/>
          <p:cNvSpPr txBox="1"/>
          <p:nvPr/>
        </p:nvSpPr>
        <p:spPr>
          <a:xfrm>
            <a:off x="86868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−4</a:t>
            </a:r>
            <a:endParaRPr lang="en-US" sz="900" dirty="0"/>
          </a:p>
        </p:txBody>
      </p:sp>
      <p:sp>
        <p:nvSpPr>
          <p:cNvPr id="14" name="Shape 12"/>
          <p:cNvSpPr/>
          <p:nvPr/>
        </p:nvSpPr>
        <p:spPr>
          <a:xfrm>
            <a:off x="1862328" y="3154680"/>
            <a:ext cx="0" cy="128016"/>
          </a:xfrm>
          <a:prstGeom prst="line">
            <a:avLst/>
          </a:prstGeom>
          <a:noFill/>
          <a:ln w="15240">
            <a:solidFill>
              <a:srgbClr val="1B2A4A"/>
            </a:solidFill>
            <a:prstDash val="solid"/>
          </a:ln>
        </p:spPr>
        <p:txBody>
          <a:bodyPr/>
          <a:lstStyle/>
          <a:p>
            <a:endParaRPr lang="en-PR"/>
          </a:p>
        </p:txBody>
      </p:sp>
      <p:sp>
        <p:nvSpPr>
          <p:cNvPr id="15" name="Text 13"/>
          <p:cNvSpPr txBox="1"/>
          <p:nvPr/>
        </p:nvSpPr>
        <p:spPr>
          <a:xfrm>
            <a:off x="166116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−2</a:t>
            </a:r>
            <a:endParaRPr lang="en-US" sz="900" dirty="0"/>
          </a:p>
        </p:txBody>
      </p:sp>
      <p:sp>
        <p:nvSpPr>
          <p:cNvPr id="16" name="Shape 14"/>
          <p:cNvSpPr/>
          <p:nvPr/>
        </p:nvSpPr>
        <p:spPr>
          <a:xfrm>
            <a:off x="2654808" y="3154680"/>
            <a:ext cx="0" cy="128016"/>
          </a:xfrm>
          <a:prstGeom prst="line">
            <a:avLst/>
          </a:prstGeom>
          <a:noFill/>
          <a:ln w="15240">
            <a:solidFill>
              <a:srgbClr val="1B2A4A"/>
            </a:solidFill>
            <a:prstDash val="solid"/>
          </a:ln>
        </p:spPr>
        <p:txBody>
          <a:bodyPr/>
          <a:lstStyle/>
          <a:p>
            <a:endParaRPr lang="en-PR"/>
          </a:p>
        </p:txBody>
      </p:sp>
      <p:sp>
        <p:nvSpPr>
          <p:cNvPr id="17" name="Text 15"/>
          <p:cNvSpPr txBox="1"/>
          <p:nvPr/>
        </p:nvSpPr>
        <p:spPr>
          <a:xfrm>
            <a:off x="245364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0</a:t>
            </a:r>
            <a:endParaRPr lang="en-US" sz="900" dirty="0"/>
          </a:p>
        </p:txBody>
      </p:sp>
      <p:sp>
        <p:nvSpPr>
          <p:cNvPr id="18" name="Shape 16"/>
          <p:cNvSpPr/>
          <p:nvPr/>
        </p:nvSpPr>
        <p:spPr>
          <a:xfrm>
            <a:off x="3447288" y="3154680"/>
            <a:ext cx="0" cy="128016"/>
          </a:xfrm>
          <a:prstGeom prst="line">
            <a:avLst/>
          </a:prstGeom>
          <a:noFill/>
          <a:ln w="15240">
            <a:solidFill>
              <a:srgbClr val="1B2A4A"/>
            </a:solidFill>
            <a:prstDash val="solid"/>
          </a:ln>
        </p:spPr>
        <p:txBody>
          <a:bodyPr/>
          <a:lstStyle/>
          <a:p>
            <a:endParaRPr lang="en-PR"/>
          </a:p>
        </p:txBody>
      </p:sp>
      <p:sp>
        <p:nvSpPr>
          <p:cNvPr id="19" name="Text 17"/>
          <p:cNvSpPr txBox="1"/>
          <p:nvPr/>
        </p:nvSpPr>
        <p:spPr>
          <a:xfrm>
            <a:off x="324612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2</a:t>
            </a:r>
            <a:endParaRPr lang="en-US" sz="900" dirty="0"/>
          </a:p>
        </p:txBody>
      </p:sp>
      <p:sp>
        <p:nvSpPr>
          <p:cNvPr id="20" name="Shape 18"/>
          <p:cNvSpPr/>
          <p:nvPr/>
        </p:nvSpPr>
        <p:spPr>
          <a:xfrm>
            <a:off x="4239768" y="3154680"/>
            <a:ext cx="0" cy="128016"/>
          </a:xfrm>
          <a:prstGeom prst="line">
            <a:avLst/>
          </a:prstGeom>
          <a:noFill/>
          <a:ln w="15240">
            <a:solidFill>
              <a:srgbClr val="1B2A4A"/>
            </a:solidFill>
            <a:prstDash val="solid"/>
          </a:ln>
        </p:spPr>
        <p:txBody>
          <a:bodyPr/>
          <a:lstStyle/>
          <a:p>
            <a:endParaRPr lang="en-PR"/>
          </a:p>
        </p:txBody>
      </p:sp>
      <p:sp>
        <p:nvSpPr>
          <p:cNvPr id="21" name="Text 19"/>
          <p:cNvSpPr txBox="1"/>
          <p:nvPr/>
        </p:nvSpPr>
        <p:spPr>
          <a:xfrm>
            <a:off x="403860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4</a:t>
            </a:r>
            <a:endParaRPr lang="en-US" sz="900" dirty="0"/>
          </a:p>
        </p:txBody>
      </p:sp>
      <p:sp>
        <p:nvSpPr>
          <p:cNvPr id="22" name="Shape 20"/>
          <p:cNvSpPr/>
          <p:nvPr/>
        </p:nvSpPr>
        <p:spPr>
          <a:xfrm>
            <a:off x="5032248" y="3154680"/>
            <a:ext cx="0" cy="128016"/>
          </a:xfrm>
          <a:prstGeom prst="line">
            <a:avLst/>
          </a:prstGeom>
          <a:noFill/>
          <a:ln w="15240">
            <a:solidFill>
              <a:srgbClr val="1B2A4A"/>
            </a:solidFill>
            <a:prstDash val="solid"/>
          </a:ln>
        </p:spPr>
        <p:txBody>
          <a:bodyPr/>
          <a:lstStyle/>
          <a:p>
            <a:endParaRPr lang="en-PR"/>
          </a:p>
        </p:txBody>
      </p:sp>
      <p:sp>
        <p:nvSpPr>
          <p:cNvPr id="23" name="Text 21"/>
          <p:cNvSpPr txBox="1"/>
          <p:nvPr/>
        </p:nvSpPr>
        <p:spPr>
          <a:xfrm>
            <a:off x="483108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6</a:t>
            </a:r>
            <a:endParaRPr lang="en-US" sz="900" dirty="0"/>
          </a:p>
        </p:txBody>
      </p:sp>
      <p:sp>
        <p:nvSpPr>
          <p:cNvPr id="24" name="Shape 22"/>
          <p:cNvSpPr/>
          <p:nvPr/>
        </p:nvSpPr>
        <p:spPr>
          <a:xfrm>
            <a:off x="5824728" y="3154680"/>
            <a:ext cx="0" cy="128016"/>
          </a:xfrm>
          <a:prstGeom prst="line">
            <a:avLst/>
          </a:prstGeom>
          <a:noFill/>
          <a:ln w="15240">
            <a:solidFill>
              <a:srgbClr val="1B2A4A"/>
            </a:solidFill>
            <a:prstDash val="solid"/>
          </a:ln>
        </p:spPr>
        <p:txBody>
          <a:bodyPr/>
          <a:lstStyle/>
          <a:p>
            <a:endParaRPr lang="en-PR"/>
          </a:p>
        </p:txBody>
      </p:sp>
      <p:sp>
        <p:nvSpPr>
          <p:cNvPr id="25" name="Text 23"/>
          <p:cNvSpPr txBox="1"/>
          <p:nvPr/>
        </p:nvSpPr>
        <p:spPr>
          <a:xfrm>
            <a:off x="5623560" y="3291840"/>
            <a:ext cx="402336" cy="201168"/>
          </a:xfrm>
          <a:prstGeom prst="rect">
            <a:avLst/>
          </a:prstGeom>
          <a:noFill/>
          <a:ln/>
        </p:spPr>
        <p:txBody>
          <a:bodyPr wrap="square" lIns="0" tIns="0" rIns="0" bIns="0" rtlCol="0" anchor="ctr"/>
          <a:lstStyle/>
          <a:p>
            <a:pPr marL="0" indent="0" algn="ctr">
              <a:buNone/>
            </a:pPr>
            <a:r>
              <a:rPr lang="en-US" sz="900" dirty="0">
                <a:solidFill>
                  <a:srgbClr val="5F6E7E"/>
                </a:solidFill>
                <a:latin typeface="Calibri" pitchFamily="34" charset="0"/>
                <a:ea typeface="Calibri" pitchFamily="34" charset="-122"/>
                <a:cs typeface="Calibri" pitchFamily="34" charset="-120"/>
              </a:rPr>
              <a:t>8</a:t>
            </a:r>
            <a:endParaRPr lang="en-US" sz="900" dirty="0"/>
          </a:p>
        </p:txBody>
      </p:sp>
      <p:sp>
        <p:nvSpPr>
          <p:cNvPr id="26" name="Shape 24"/>
          <p:cNvSpPr/>
          <p:nvPr/>
        </p:nvSpPr>
        <p:spPr>
          <a:xfrm>
            <a:off x="6693408" y="1371600"/>
            <a:ext cx="4931359" cy="2651760"/>
          </a:xfrm>
          <a:prstGeom prst="roundRect">
            <a:avLst>
              <a:gd name="adj" fmla="val 310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7" name="Shape 25"/>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8" name="Text 26"/>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9" name="Text 27"/>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ESTÁNDAR / EXPECTATIVA</a:t>
            </a:r>
            <a:endParaRPr lang="en-US" sz="950" dirty="0"/>
          </a:p>
        </p:txBody>
      </p:sp>
      <p:sp>
        <p:nvSpPr>
          <p:cNvPr id="30" name="Text 28"/>
          <p:cNvSpPr txBox="1"/>
          <p:nvPr/>
        </p:nvSpPr>
        <p:spPr>
          <a:xfrm>
            <a:off x="6903720" y="2121408"/>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6.N.1 · Entiende el ordenamiento y el valor absoluto de los números enteros (verificar el indicador exacto).</a:t>
            </a:r>
            <a:endParaRPr lang="en-US" sz="1130" dirty="0"/>
          </a:p>
        </p:txBody>
      </p:sp>
      <p:sp>
        <p:nvSpPr>
          <p:cNvPr id="31" name="Text 29"/>
          <p:cNvSpPr txBox="1"/>
          <p:nvPr/>
        </p:nvSpPr>
        <p:spPr>
          <a:xfrm>
            <a:off x="6903720" y="25600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32" name="Text 30"/>
          <p:cNvSpPr txBox="1"/>
          <p:nvPr/>
        </p:nvSpPr>
        <p:spPr>
          <a:xfrm>
            <a:off x="6903720" y="27429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interpreta una situación con enteros y comunica el procedimiento.</a:t>
            </a:r>
            <a:endParaRPr lang="en-US" sz="1130" dirty="0"/>
          </a:p>
        </p:txBody>
      </p:sp>
      <p:sp>
        <p:nvSpPr>
          <p:cNvPr id="33" name="Text 31"/>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34" name="Text 32"/>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2 puntos · baremo de respuesta corta</a:t>
            </a:r>
            <a:endParaRPr lang="en-US" sz="1130" dirty="0"/>
          </a:p>
        </p:txBody>
      </p:sp>
      <p:sp>
        <p:nvSpPr>
          <p:cNvPr id="35" name="Text 33"/>
          <p:cNvSpPr txBox="1"/>
          <p:nvPr/>
        </p:nvSpPr>
        <p:spPr>
          <a:xfrm>
            <a:off x="566928" y="4160520"/>
            <a:ext cx="57607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2 puntos</a:t>
            </a:r>
            <a:endParaRPr lang="en-US" sz="1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4507992"/>
          <a:ext cx="576072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19379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Responde 11 grados en la parte A y explica el procedimiento en la parte B.</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responde 11 sin explicar, o explica bien el procedimiento con un error de signo o de cálculo.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la respuesta no se refiere a la pregunta.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37" name="Shape 34"/>
          <p:cNvSpPr/>
          <p:nvPr/>
        </p:nvSpPr>
        <p:spPr>
          <a:xfrm>
            <a:off x="6693408" y="4160520"/>
            <a:ext cx="4931359"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8" name="Text 35"/>
          <p:cNvSpPr txBox="1"/>
          <p:nvPr/>
        </p:nvSpPr>
        <p:spPr>
          <a:xfrm>
            <a:off x="6949440" y="4279392"/>
            <a:ext cx="448056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Respuestas posibles de 2 puntos</a:t>
            </a:r>
            <a:endParaRPr lang="en-US" sz="1400" dirty="0"/>
          </a:p>
        </p:txBody>
      </p:sp>
      <p:sp>
        <p:nvSpPr>
          <p:cNvPr id="39" name="Text 36"/>
          <p:cNvSpPr txBox="1"/>
          <p:nvPr/>
        </p:nvSpPr>
        <p:spPr>
          <a:xfrm>
            <a:off x="6949440" y="4626864"/>
            <a:ext cx="4434840" cy="1371600"/>
          </a:xfrm>
          <a:prstGeom prst="rect">
            <a:avLst/>
          </a:prstGeom>
          <a:noFill/>
          <a:ln/>
        </p:spPr>
        <p:txBody>
          <a:bodyPr wrap="square" lIns="0" tIns="0" rIns="0" bIns="0" rtlCol="0" anchor="ctr"/>
          <a:lstStyle/>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11 grados.</a:t>
            </a:r>
            <a:endParaRPr lang="en-US" sz="1150" dirty="0"/>
          </a:p>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B, cualquiera de estas vías:</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Resté: 8 − (−3) = 8 + 3 = 11.</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Conté en la recta numérica de 8 a 0 (8 grados) y de 0 a −3 (3 grados): 8 + 3 = 11.</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Usé el valor absoluto: |8| + |−3| = 11.</a:t>
            </a:r>
            <a:endParaRPr lang="en-US" sz="1150" dirty="0"/>
          </a:p>
        </p:txBody>
      </p:sp>
      <p:sp>
        <p:nvSpPr>
          <p:cNvPr id="40" name="Text 37"/>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de aplicación  ·  8.º grado  ·  Álgebra I</a:t>
            </a:r>
            <a:endParaRPr lang="en-US" sz="2700" dirty="0"/>
          </a:p>
        </p:txBody>
      </p:sp>
      <p:sp>
        <p:nvSpPr>
          <p:cNvPr id="4" name="Shape 2"/>
          <p:cNvSpPr/>
          <p:nvPr/>
        </p:nvSpPr>
        <p:spPr>
          <a:xfrm>
            <a:off x="566928" y="1371600"/>
            <a:ext cx="5760720" cy="3429000"/>
          </a:xfrm>
          <a:prstGeom prst="roundRect">
            <a:avLst>
              <a:gd name="adj" fmla="val 1600"/>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4 PUNTOS · DOK 3</a:t>
            </a:r>
            <a:endParaRPr lang="en-US" sz="950" dirty="0"/>
          </a:p>
        </p:txBody>
      </p:sp>
      <p:sp>
        <p:nvSpPr>
          <p:cNvPr id="7" name="Text 5"/>
          <p:cNvSpPr txBox="1"/>
          <p:nvPr/>
        </p:nvSpPr>
        <p:spPr>
          <a:xfrm>
            <a:off x="841248" y="1627632"/>
            <a:ext cx="5212080" cy="54864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Un centro comunitario alquila bicicletas. Cobra $8.00 por la renta inicial más $3.00 por cada hora de uso.</a:t>
            </a:r>
            <a:endParaRPr lang="en-US" sz="1220" dirty="0"/>
          </a:p>
        </p:txBody>
      </p:sp>
      <p:sp>
        <p:nvSpPr>
          <p:cNvPr id="8" name="Text 6"/>
          <p:cNvSpPr txBox="1"/>
          <p:nvPr/>
        </p:nvSpPr>
        <p:spPr>
          <a:xfrm>
            <a:off x="932688" y="223113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A.   Escribe una ecuación que represente el costo total c en función del número de horas h.</a:t>
            </a:r>
            <a:endParaRPr lang="en-US" sz="1220" dirty="0"/>
          </a:p>
        </p:txBody>
      </p:sp>
      <p:sp>
        <p:nvSpPr>
          <p:cNvPr id="9" name="Text 7"/>
          <p:cNvSpPr txBox="1"/>
          <p:nvPr/>
        </p:nvSpPr>
        <p:spPr>
          <a:xfrm>
            <a:off x="932688" y="273405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B.   Determina el costo de alquilar una bicicleta por 5 horas. Muestra tu procedimiento.</a:t>
            </a:r>
            <a:endParaRPr lang="en-US" sz="1220" dirty="0"/>
          </a:p>
        </p:txBody>
      </p:sp>
      <p:sp>
        <p:nvSpPr>
          <p:cNvPr id="10" name="Text 8"/>
          <p:cNvSpPr txBox="1"/>
          <p:nvPr/>
        </p:nvSpPr>
        <p:spPr>
          <a:xfrm>
            <a:off x="932688" y="323697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C.   Una persona pagó $29.00. Determina por cuántas horas alquiló la bicicleta. Muestra tu procedimiento.</a:t>
            </a:r>
            <a:endParaRPr lang="en-US" sz="1220" dirty="0"/>
          </a:p>
        </p:txBody>
      </p:sp>
      <p:sp>
        <p:nvSpPr>
          <p:cNvPr id="11" name="Text 9"/>
          <p:cNvSpPr txBox="1"/>
          <p:nvPr/>
        </p:nvSpPr>
        <p:spPr>
          <a:xfrm>
            <a:off x="932688" y="3739896"/>
            <a:ext cx="5120640" cy="475488"/>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D.   Explica qué representa el valor 8 en esta situación.</a:t>
            </a:r>
            <a:endParaRPr lang="en-US" sz="1220" dirty="0"/>
          </a:p>
        </p:txBody>
      </p:sp>
      <p:sp>
        <p:nvSpPr>
          <p:cNvPr id="12" name="Text 10"/>
          <p:cNvSpPr txBox="1"/>
          <p:nvPr/>
        </p:nvSpPr>
        <p:spPr>
          <a:xfrm>
            <a:off x="841248" y="4261104"/>
            <a:ext cx="5212080" cy="274320"/>
          </a:xfrm>
          <a:prstGeom prst="rect">
            <a:avLst/>
          </a:prstGeom>
          <a:noFill/>
          <a:ln/>
        </p:spPr>
        <p:txBody>
          <a:bodyPr wrap="square" lIns="0" tIns="0" rIns="0" bIns="0" rtlCol="0" anchor="ctr"/>
          <a:lstStyle/>
          <a:p>
            <a:pPr marL="0" indent="0">
              <a:buNone/>
            </a:pPr>
            <a:r>
              <a:rPr lang="en-US" sz="1120" i="1" dirty="0">
                <a:solidFill>
                  <a:srgbClr val="1F3864"/>
                </a:solidFill>
                <a:latin typeface="Calibri" pitchFamily="34" charset="0"/>
                <a:ea typeface="Calibri" pitchFamily="34" charset="-122"/>
                <a:cs typeface="Calibri" pitchFamily="34" charset="-120"/>
              </a:rPr>
              <a:t>Contesta todas las partes en el espacio provisto.</a:t>
            </a:r>
            <a:endParaRPr lang="en-US" sz="1120" dirty="0"/>
          </a:p>
        </p:txBody>
      </p:sp>
      <p:sp>
        <p:nvSpPr>
          <p:cNvPr id="13" name="Shape 11"/>
          <p:cNvSpPr/>
          <p:nvPr/>
        </p:nvSpPr>
        <p:spPr>
          <a:xfrm>
            <a:off x="6693408" y="1371600"/>
            <a:ext cx="4931359" cy="3429000"/>
          </a:xfrm>
          <a:prstGeom prst="roundRect">
            <a:avLst>
              <a:gd name="adj" fmla="val 24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4" name="Shape 12"/>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5" name="Text 13"/>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6" name="Text 14"/>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ESTÁNDAR</a:t>
            </a:r>
            <a:endParaRPr lang="en-US" sz="950" dirty="0"/>
          </a:p>
        </p:txBody>
      </p:sp>
      <p:sp>
        <p:nvSpPr>
          <p:cNvPr id="17" name="Text 15"/>
          <p:cNvSpPr txBox="1"/>
          <p:nvPr/>
        </p:nvSpPr>
        <p:spPr>
          <a:xfrm>
            <a:off x="6903720" y="2121408"/>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8.º grado · Álgebra I · Estándar de Álgebra (A)</a:t>
            </a:r>
            <a:endParaRPr lang="en-US" sz="1130" dirty="0"/>
          </a:p>
        </p:txBody>
      </p:sp>
      <p:sp>
        <p:nvSpPr>
          <p:cNvPr id="18" name="Text 16"/>
          <p:cNvSpPr txBox="1"/>
          <p:nvPr/>
        </p:nvSpPr>
        <p:spPr>
          <a:xfrm>
            <a:off x="6903720" y="238643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19" name="Text 17"/>
          <p:cNvSpPr txBox="1"/>
          <p:nvPr/>
        </p:nvSpPr>
        <p:spPr>
          <a:xfrm>
            <a:off x="6903720" y="2569318"/>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8.A · Representa y resuelve situaciones de la vida real mediante funciones lineales (verificar el código y el indicador exactos).</a:t>
            </a:r>
            <a:endParaRPr lang="en-US" sz="1130" dirty="0"/>
          </a:p>
        </p:txBody>
      </p:sp>
      <p:sp>
        <p:nvSpPr>
          <p:cNvPr id="20" name="Text 18"/>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21" name="Text 19"/>
          <p:cNvSpPr txBox="1"/>
          <p:nvPr/>
        </p:nvSpPr>
        <p:spPr>
          <a:xfrm>
            <a:off x="6903720" y="3364407"/>
            <a:ext cx="451073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3 · modela, resuelve en dos direcciones e interpreta el significado de un parámetro.</a:t>
            </a:r>
            <a:endParaRPr lang="en-US" sz="1130" dirty="0"/>
          </a:p>
        </p:txBody>
      </p:sp>
      <p:sp>
        <p:nvSpPr>
          <p:cNvPr id="22" name="Text 20"/>
          <p:cNvSpPr txBox="1"/>
          <p:nvPr/>
        </p:nvSpPr>
        <p:spPr>
          <a:xfrm>
            <a:off x="6903720" y="3803026"/>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ACCESO DUA</a:t>
            </a:r>
            <a:endParaRPr lang="en-US" sz="950" dirty="0"/>
          </a:p>
        </p:txBody>
      </p:sp>
      <p:sp>
        <p:nvSpPr>
          <p:cNvPr id="23" name="Text 21"/>
          <p:cNvSpPr txBox="1"/>
          <p:nvPr/>
        </p:nvSpPr>
        <p:spPr>
          <a:xfrm>
            <a:off x="6903720" y="3985906"/>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Las cuatro partes son independientes. El estudiante que no logra escribir la ecuación en A puede aun así resolver B con aritmética y obtener crédito.</a:t>
            </a:r>
            <a:endParaRPr lang="en-US" sz="1130" dirty="0"/>
          </a:p>
        </p:txBody>
      </p:sp>
      <p:sp>
        <p:nvSpPr>
          <p:cNvPr id="24" name="Shape 22"/>
          <p:cNvSpPr/>
          <p:nvPr/>
        </p:nvSpPr>
        <p:spPr>
          <a:xfrm>
            <a:off x="566928" y="5010912"/>
            <a:ext cx="11057839" cy="896112"/>
          </a:xfrm>
          <a:prstGeom prst="roundRect">
            <a:avLst>
              <a:gd name="adj" fmla="val 9184"/>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886968" y="5111496"/>
            <a:ext cx="10417759" cy="274320"/>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La parte D es la que sube el ítem a DOK 3</a:t>
            </a:r>
            <a:endParaRPr lang="en-US" sz="1350" dirty="0"/>
          </a:p>
        </p:txBody>
      </p:sp>
      <p:sp>
        <p:nvSpPr>
          <p:cNvPr id="26" name="Text 24"/>
          <p:cNvSpPr txBox="1"/>
          <p:nvPr/>
        </p:nvSpPr>
        <p:spPr>
          <a:xfrm>
            <a:off x="886968" y="5394960"/>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6E5610"/>
                </a:solidFill>
                <a:latin typeface="Calibri" pitchFamily="34" charset="0"/>
                <a:ea typeface="Calibri" pitchFamily="34" charset="-122"/>
                <a:cs typeface="Calibri" pitchFamily="34" charset="-120"/>
              </a:rPr>
              <a:t>Calcular el costo (B) y despejar las horas (C) son procedimientos. Interpretar qué representa el 8 en la situación —el costo fijo que se paga aunque no se use ni una hora— exige conectar el parámetro algebraico con el contexto real. Sin la parte D, este ítem se quedaría en DOK 2.</a:t>
            </a:r>
            <a:endParaRPr lang="en-US" sz="1180" dirty="0"/>
          </a:p>
        </p:txBody>
      </p:sp>
      <p:sp>
        <p:nvSpPr>
          <p:cNvPr id="27" name="Text 25"/>
          <p:cNvSpPr txBox="1"/>
          <p:nvPr/>
        </p:nvSpPr>
        <p:spPr>
          <a:xfrm>
            <a:off x="566928" y="6080760"/>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Baremo de 4 puntos y respuestas posibles  ·  8.º grado</a:t>
            </a:r>
            <a:endParaRPr lang="en-US" sz="2700" dirty="0"/>
          </a:p>
        </p:txBody>
      </p:sp>
      <p:sp>
        <p:nvSpPr>
          <p:cNvPr id="4" name="Text 2"/>
          <p:cNvSpPr txBox="1"/>
          <p:nvPr/>
        </p:nvSpPr>
        <p:spPr>
          <a:xfrm>
            <a:off x="566928" y="1325880"/>
            <a:ext cx="594360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4 puntos</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673352"/>
          <a:ext cx="594360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37667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Escribe la ecuación correcta, resuelve B y C con procedimiento visible e interpreta correctamente el valor 8 en el contexto.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Escribe la ecuación y resuelve B y C correctamente, pero la interpretación de la parte D es incompleta o ausente.</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Resuelve B y C con procedimiento correcto sin escribir la ecuación, o escribe la ecuación y resuelve solo una de las dos partes.</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escribe una contestación correcta sin procedimiento.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el procedimiento no corresponde a la situación planteada.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6" name="Shape 3"/>
          <p:cNvSpPr/>
          <p:nvPr/>
        </p:nvSpPr>
        <p:spPr>
          <a:xfrm>
            <a:off x="6876288" y="1325880"/>
            <a:ext cx="4748479"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7132320" y="1481328"/>
            <a:ext cx="420624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Respuesta de 4 puntos</a:t>
            </a:r>
            <a:endParaRPr lang="en-US" sz="1500" dirty="0"/>
          </a:p>
        </p:txBody>
      </p:sp>
      <p:sp>
        <p:nvSpPr>
          <p:cNvPr id="8" name="Text 5"/>
          <p:cNvSpPr txBox="1"/>
          <p:nvPr/>
        </p:nvSpPr>
        <p:spPr>
          <a:xfrm>
            <a:off x="7132320" y="1874520"/>
            <a:ext cx="4160520" cy="1828800"/>
          </a:xfrm>
          <a:prstGeom prst="rect">
            <a:avLst/>
          </a:prstGeom>
          <a:noFill/>
          <a:ln/>
        </p:spPr>
        <p:txBody>
          <a:bodyPr wrap="square" lIns="0" tIns="0" rIns="0" bIns="0" rtlCol="0" anchor="ctr"/>
          <a:lstStyle/>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A: </a:t>
            </a:r>
            <a:r>
              <a:rPr lang="en-US" sz="1200" dirty="0">
                <a:solidFill>
                  <a:srgbClr val="22303F"/>
                </a:solidFill>
                <a:latin typeface="Calibri" pitchFamily="34" charset="0"/>
                <a:ea typeface="Calibri" pitchFamily="34" charset="-122"/>
                <a:cs typeface="Calibri" pitchFamily="34" charset="-120"/>
              </a:rPr>
              <a:t>c = 8 + 3h   (también válida: c = 3h + 8).</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B: </a:t>
            </a:r>
            <a:r>
              <a:rPr lang="en-US" sz="1200" dirty="0">
                <a:solidFill>
                  <a:srgbClr val="22303F"/>
                </a:solidFill>
                <a:latin typeface="Calibri" pitchFamily="34" charset="0"/>
                <a:ea typeface="Calibri" pitchFamily="34" charset="-122"/>
                <a:cs typeface="Calibri" pitchFamily="34" charset="-120"/>
              </a:rPr>
              <a:t>c = 8 + 3(5) = 8 + 15 = $23.00.</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C: </a:t>
            </a:r>
            <a:r>
              <a:rPr lang="en-US" sz="1200" dirty="0">
                <a:solidFill>
                  <a:srgbClr val="22303F"/>
                </a:solidFill>
                <a:latin typeface="Calibri" pitchFamily="34" charset="0"/>
                <a:ea typeface="Calibri" pitchFamily="34" charset="-122"/>
                <a:cs typeface="Calibri" pitchFamily="34" charset="-120"/>
              </a:rPr>
              <a:t>29 = 8 + 3h  →  21 = 3h  →  h = 7 horas.</a:t>
            </a:r>
            <a:endParaRPr lang="en-US" sz="1200" dirty="0"/>
          </a:p>
          <a:p>
            <a:pPr marL="0" indent="0">
              <a:lnSpc>
                <a:spcPct val="105000"/>
              </a:lnSpc>
              <a:spcAft>
                <a:spcPts val="500"/>
              </a:spcAft>
              <a:buNone/>
            </a:pPr>
            <a:r>
              <a:rPr lang="en-US" sz="1200" b="1" dirty="0">
                <a:solidFill>
                  <a:srgbClr val="22303F"/>
                </a:solidFill>
                <a:latin typeface="Calibri" pitchFamily="34" charset="0"/>
                <a:ea typeface="Calibri" pitchFamily="34" charset="-122"/>
                <a:cs typeface="Calibri" pitchFamily="34" charset="-120"/>
              </a:rPr>
              <a:t>D: </a:t>
            </a:r>
            <a:r>
              <a:rPr lang="en-US" sz="1200" dirty="0">
                <a:solidFill>
                  <a:srgbClr val="22303F"/>
                </a:solidFill>
                <a:latin typeface="Calibri" pitchFamily="34" charset="0"/>
                <a:ea typeface="Calibri" pitchFamily="34" charset="-122"/>
                <a:cs typeface="Calibri" pitchFamily="34" charset="-120"/>
              </a:rPr>
              <a:t>El 8 es el costo fijo de la renta inicial: se paga al alquilar, aunque se use la bicicleta cero horas.</a:t>
            </a:r>
            <a:endParaRPr lang="en-US" sz="1200" dirty="0"/>
          </a:p>
        </p:txBody>
      </p:sp>
      <p:sp>
        <p:nvSpPr>
          <p:cNvPr id="9" name="Shape 6"/>
          <p:cNvSpPr/>
          <p:nvPr/>
        </p:nvSpPr>
        <p:spPr>
          <a:xfrm>
            <a:off x="7132320" y="3840480"/>
            <a:ext cx="4297680" cy="1874520"/>
          </a:xfrm>
          <a:prstGeom prst="roundRect">
            <a:avLst>
              <a:gd name="adj" fmla="val 439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0" name="Text 7"/>
          <p:cNvSpPr txBox="1"/>
          <p:nvPr/>
        </p:nvSpPr>
        <p:spPr>
          <a:xfrm>
            <a:off x="7370064" y="3968496"/>
            <a:ext cx="3840480" cy="274320"/>
          </a:xfrm>
          <a:prstGeom prst="rect">
            <a:avLst/>
          </a:prstGeom>
          <a:noFill/>
          <a:ln/>
        </p:spPr>
        <p:txBody>
          <a:bodyPr wrap="square" lIns="0" tIns="0" rIns="0" bIns="0" rtlCol="0" anchor="ctr"/>
          <a:lstStyle/>
          <a:p>
            <a:pPr marL="0" indent="0">
              <a:buNone/>
            </a:pPr>
            <a:r>
              <a:rPr lang="en-US" sz="1300" b="1" dirty="0">
                <a:solidFill>
                  <a:srgbClr val="17624F"/>
                </a:solidFill>
                <a:latin typeface="Cambria" pitchFamily="34" charset="0"/>
                <a:ea typeface="Cambria" pitchFamily="34" charset="-122"/>
                <a:cs typeface="Cambria" pitchFamily="34" charset="-120"/>
              </a:rPr>
              <a:t>Errores previsibles</a:t>
            </a:r>
            <a:endParaRPr lang="en-US" sz="1300" dirty="0"/>
          </a:p>
        </p:txBody>
      </p:sp>
      <p:sp>
        <p:nvSpPr>
          <p:cNvPr id="11" name="Text 8"/>
          <p:cNvSpPr txBox="1"/>
          <p:nvPr/>
        </p:nvSpPr>
        <p:spPr>
          <a:xfrm>
            <a:off x="7370064" y="4297680"/>
            <a:ext cx="3840480" cy="1280160"/>
          </a:xfrm>
          <a:prstGeom prst="rect">
            <a:avLst/>
          </a:prstGeom>
          <a:noFill/>
          <a:ln/>
        </p:spPr>
        <p:txBody>
          <a:bodyPr wrap="square" lIns="0" tIns="0" rIns="0" bIns="0" rtlCol="0" anchor="ctr"/>
          <a:lstStyle/>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Escribir c = 8h + 3, invirtiendo el costo fijo y la tasa.</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En C, dividir 29 entre 3 sin restar primero la renta inicial.</a:t>
            </a:r>
            <a:endParaRPr lang="en-US" sz="1120" dirty="0"/>
          </a:p>
          <a:p>
            <a:pPr marL="342900" indent="-342900">
              <a:lnSpc>
                <a:spcPct val="103000"/>
              </a:lnSpc>
              <a:spcAft>
                <a:spcPts val="400"/>
              </a:spcAft>
              <a:buSzPct val="100000"/>
              <a:buChar char="▪"/>
            </a:pPr>
            <a:r>
              <a:rPr lang="en-US" sz="1120" dirty="0">
                <a:solidFill>
                  <a:srgbClr val="17624F"/>
                </a:solidFill>
                <a:latin typeface="Calibri" pitchFamily="34" charset="0"/>
                <a:ea typeface="Calibri" pitchFamily="34" charset="-122"/>
                <a:cs typeface="Calibri" pitchFamily="34" charset="-120"/>
              </a:rPr>
              <a:t>En D, describir el 8 como «lo que se paga por hora».</a:t>
            </a:r>
            <a:endParaRPr lang="en-US" sz="1120" dirty="0"/>
          </a:p>
        </p:txBody>
      </p:sp>
      <p:sp>
        <p:nvSpPr>
          <p:cNvPr id="12" name="Text 9"/>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 adaptado de la Planilla de especificaciones (Corraliza Montero, ORE-Ponce).</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6  ·  PLANILLA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Planilla de especificaciones  ·  ejemplo de 7.º grado</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Prueba de Matemáticas  ·  7.º grado (Preálgebra)  ·  36 puntos  ·  duración estimada: 60 minutos</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3925519">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Destrezas cubiertas en la prueba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Cantidad de ejercicios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 de cada ejercicio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Puntos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Nivel de profundidad / DOK</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Peso en la prueba %</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Razón, proporción y por ciento  (7.N.2)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22 %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Operaciones con números racionales  (7.N.4)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17 %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Expresiones y ecuaciones: procedimiento y explicación  (7.A.7)</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5 respuesta abierta sencilla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28 %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Aplicación de la proporcionalidad en contexto  (7.N.2 · 7.A.7)</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respuesta abierta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33 %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22 ejercicios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846320"/>
            <a:ext cx="3520440" cy="1371600"/>
          </a:xfrm>
          <a:prstGeom prst="roundRect">
            <a:avLst>
              <a:gd name="adj" fmla="val 60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822960" y="4974336"/>
            <a:ext cx="3017520" cy="274320"/>
          </a:xfrm>
          <a:prstGeom prst="rect">
            <a:avLst/>
          </a:prstGeom>
          <a:noFill/>
          <a:ln/>
        </p:spPr>
        <p:txBody>
          <a:bodyPr wrap="square" lIns="0" tIns="0" rIns="0" bIns="0" rtlCol="0" anchor="ctr"/>
          <a:lstStyle/>
          <a:p>
            <a:pPr marL="0" indent="0">
              <a:buNone/>
            </a:pPr>
            <a:r>
              <a:rPr lang="en-US" sz="1150" b="1" dirty="0">
                <a:solidFill>
                  <a:srgbClr val="C9A84C"/>
                </a:solidFill>
                <a:latin typeface="Calibri" pitchFamily="34" charset="0"/>
                <a:ea typeface="Calibri" pitchFamily="34" charset="-122"/>
                <a:cs typeface="Calibri" pitchFamily="34" charset="-120"/>
              </a:rPr>
              <a:t>Puntuación mínima de ejecución</a:t>
            </a:r>
            <a:endParaRPr lang="en-US" sz="1150" dirty="0"/>
          </a:p>
        </p:txBody>
      </p:sp>
      <p:sp>
        <p:nvSpPr>
          <p:cNvPr id="8" name="Text 5"/>
          <p:cNvSpPr txBox="1"/>
          <p:nvPr/>
        </p:nvSpPr>
        <p:spPr>
          <a:xfrm>
            <a:off x="822960" y="5266944"/>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25 / 36</a:t>
            </a:r>
            <a:endParaRPr lang="en-US" sz="3000" dirty="0"/>
          </a:p>
        </p:txBody>
      </p:sp>
      <p:sp>
        <p:nvSpPr>
          <p:cNvPr id="9" name="Text 6"/>
          <p:cNvSpPr txBox="1"/>
          <p:nvPr/>
        </p:nvSpPr>
        <p:spPr>
          <a:xfrm>
            <a:off x="822960" y="5815584"/>
            <a:ext cx="3108960" cy="274320"/>
          </a:xfrm>
          <a:prstGeom prst="rect">
            <a:avLst/>
          </a:prstGeom>
          <a:noFill/>
          <a:ln/>
        </p:spPr>
        <p:txBody>
          <a:bodyPr wrap="square" lIns="0" tIns="0" rIns="0" bIns="0" rtlCol="0" anchor="ctr"/>
          <a:lstStyle/>
          <a:p>
            <a:pPr marL="0" indent="0">
              <a:buNone/>
            </a:pPr>
            <a:r>
              <a:rPr lang="en-US" sz="1100" dirty="0">
                <a:solidFill>
                  <a:srgbClr val="C6D2E0"/>
                </a:solidFill>
                <a:latin typeface="Calibri" pitchFamily="34" charset="0"/>
                <a:ea typeface="Calibri" pitchFamily="34" charset="-122"/>
                <a:cs typeface="Calibri" pitchFamily="34" charset="-120"/>
              </a:rPr>
              <a:t>70 % de 36 = 25.2, redondeado a 25</a:t>
            </a:r>
            <a:endParaRPr lang="en-US" sz="1100" dirty="0"/>
          </a:p>
        </p:txBody>
      </p:sp>
      <p:sp>
        <p:nvSpPr>
          <p:cNvPr id="10" name="Shape 7"/>
          <p:cNvSpPr/>
          <p:nvPr/>
        </p:nvSpPr>
        <p:spPr>
          <a:xfrm>
            <a:off x="4361688" y="4846320"/>
            <a:ext cx="3520440" cy="1371600"/>
          </a:xfrm>
          <a:prstGeom prst="roundRect">
            <a:avLst>
              <a:gd name="adj" fmla="val 6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8"/>
          <p:cNvSpPr txBox="1"/>
          <p:nvPr/>
        </p:nvSpPr>
        <p:spPr>
          <a:xfrm>
            <a:off x="4617720" y="4974336"/>
            <a:ext cx="3017520" cy="274320"/>
          </a:xfrm>
          <a:prstGeom prst="rect">
            <a:avLst/>
          </a:prstGeom>
          <a:noFill/>
          <a:ln/>
        </p:spPr>
        <p:txBody>
          <a:bodyPr wrap="square" lIns="0" tIns="0" rIns="0" bIns="0" rtlCol="0" anchor="ctr"/>
          <a:lstStyle/>
          <a:p>
            <a:pPr marL="0" indent="0">
              <a:buNone/>
            </a:pPr>
            <a:r>
              <a:rPr lang="en-US" sz="1150" b="1" dirty="0">
                <a:solidFill>
                  <a:srgbClr val="6E5610"/>
                </a:solidFill>
                <a:latin typeface="Calibri" pitchFamily="34" charset="0"/>
                <a:ea typeface="Calibri" pitchFamily="34" charset="-122"/>
                <a:cs typeface="Calibri" pitchFamily="34" charset="-120"/>
              </a:rPr>
              <a:t>Puntuación en DOK 3 y 4</a:t>
            </a:r>
            <a:endParaRPr lang="en-US" sz="1150" dirty="0"/>
          </a:p>
        </p:txBody>
      </p:sp>
      <p:sp>
        <p:nvSpPr>
          <p:cNvPr id="12" name="Text 9"/>
          <p:cNvSpPr txBox="1"/>
          <p:nvPr/>
        </p:nvSpPr>
        <p:spPr>
          <a:xfrm>
            <a:off x="4617720" y="5266944"/>
            <a:ext cx="3017520" cy="548640"/>
          </a:xfrm>
          <a:prstGeom prst="rect">
            <a:avLst/>
          </a:prstGeom>
          <a:noFill/>
          <a:ln/>
        </p:spPr>
        <p:txBody>
          <a:bodyPr wrap="square" lIns="0" tIns="0" rIns="0" bIns="0" rtlCol="0" anchor="ctr"/>
          <a:lstStyle/>
          <a:p>
            <a:pPr marL="0" indent="0">
              <a:buNone/>
            </a:pPr>
            <a:r>
              <a:rPr lang="en-US" sz="3000" b="1" dirty="0">
                <a:solidFill>
                  <a:srgbClr val="6E5610"/>
                </a:solidFill>
                <a:latin typeface="Cambria" pitchFamily="34" charset="0"/>
                <a:ea typeface="Cambria" pitchFamily="34" charset="-122"/>
                <a:cs typeface="Cambria" pitchFamily="34" charset="-120"/>
              </a:rPr>
              <a:t>33 %</a:t>
            </a:r>
            <a:endParaRPr lang="en-US" sz="3000" dirty="0"/>
          </a:p>
        </p:txBody>
      </p:sp>
      <p:sp>
        <p:nvSpPr>
          <p:cNvPr id="13" name="Text 10"/>
          <p:cNvSpPr txBox="1"/>
          <p:nvPr/>
        </p:nvSpPr>
        <p:spPr>
          <a:xfrm>
            <a:off x="4617720" y="5815584"/>
            <a:ext cx="3017520" cy="274320"/>
          </a:xfrm>
          <a:prstGeom prst="rect">
            <a:avLst/>
          </a:prstGeom>
          <a:noFill/>
          <a:ln/>
        </p:spPr>
        <p:txBody>
          <a:bodyPr wrap="square" lIns="0" tIns="0" rIns="0" bIns="0" rtlCol="0" anchor="ctr"/>
          <a:lstStyle/>
          <a:p>
            <a:pPr marL="0" indent="0">
              <a:buNone/>
            </a:pPr>
            <a:r>
              <a:rPr lang="en-US" sz="1100" dirty="0">
                <a:solidFill>
                  <a:srgbClr val="8A6D12"/>
                </a:solidFill>
                <a:latin typeface="Calibri" pitchFamily="34" charset="0"/>
                <a:ea typeface="Calibri" pitchFamily="34" charset="-122"/>
                <a:cs typeface="Calibri" pitchFamily="34" charset="-120"/>
              </a:rPr>
              <a:t>12 de los 36 puntos exigen modelar o justificar</a:t>
            </a:r>
            <a:endParaRPr lang="en-US" sz="1100" dirty="0"/>
          </a:p>
        </p:txBody>
      </p:sp>
      <p:sp>
        <p:nvSpPr>
          <p:cNvPr id="14" name="Shape 11"/>
          <p:cNvSpPr/>
          <p:nvPr/>
        </p:nvSpPr>
        <p:spPr>
          <a:xfrm>
            <a:off x="8156448" y="4846320"/>
            <a:ext cx="3468319" cy="1371600"/>
          </a:xfrm>
          <a:prstGeom prst="roundRect">
            <a:avLst>
              <a:gd name="adj" fmla="val 6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5" name="Text 12"/>
          <p:cNvSpPr txBox="1"/>
          <p:nvPr/>
        </p:nvSpPr>
        <p:spPr>
          <a:xfrm>
            <a:off x="8412480" y="4974336"/>
            <a:ext cx="2926080" cy="274320"/>
          </a:xfrm>
          <a:prstGeom prst="rect">
            <a:avLst/>
          </a:prstGeom>
          <a:noFill/>
          <a:ln/>
        </p:spPr>
        <p:txBody>
          <a:bodyPr wrap="square" lIns="0" tIns="0" rIns="0" bIns="0" rtlCol="0" anchor="ctr"/>
          <a:lstStyle/>
          <a:p>
            <a:pPr marL="0" indent="0">
              <a:buNone/>
            </a:pPr>
            <a:r>
              <a:rPr lang="en-US" sz="1150" b="1" dirty="0">
                <a:solidFill>
                  <a:srgbClr val="17624F"/>
                </a:solidFill>
                <a:latin typeface="Calibri" pitchFamily="34" charset="0"/>
                <a:ea typeface="Calibri" pitchFamily="34" charset="-122"/>
                <a:cs typeface="Calibri" pitchFamily="34" charset="-120"/>
              </a:rPr>
              <a:t>Regla de redondeo</a:t>
            </a:r>
            <a:endParaRPr lang="en-US" sz="1150" dirty="0"/>
          </a:p>
        </p:txBody>
      </p:sp>
      <p:sp>
        <p:nvSpPr>
          <p:cNvPr id="16" name="Text 13"/>
          <p:cNvSpPr txBox="1"/>
          <p:nvPr/>
        </p:nvSpPr>
        <p:spPr>
          <a:xfrm>
            <a:off x="8412480" y="5266944"/>
            <a:ext cx="2926080" cy="548640"/>
          </a:xfrm>
          <a:prstGeom prst="rect">
            <a:avLst/>
          </a:prstGeom>
          <a:noFill/>
          <a:ln/>
        </p:spPr>
        <p:txBody>
          <a:bodyPr wrap="square" lIns="0" tIns="0" rIns="0" bIns="0" rtlCol="0" anchor="ctr"/>
          <a:lstStyle/>
          <a:p>
            <a:pPr marL="0" indent="0">
              <a:buNone/>
            </a:pPr>
            <a:r>
              <a:rPr lang="en-US" sz="2400" b="1" dirty="0">
                <a:solidFill>
                  <a:srgbClr val="17624F"/>
                </a:solidFill>
                <a:latin typeface="Cambria" pitchFamily="34" charset="0"/>
                <a:ea typeface="Cambria" pitchFamily="34" charset="-122"/>
                <a:cs typeface="Cambria" pitchFamily="34" charset="-120"/>
              </a:rPr>
              <a:t>Hacia abajo</a:t>
            </a:r>
            <a:endParaRPr lang="en-US" sz="2400" dirty="0"/>
          </a:p>
        </p:txBody>
      </p:sp>
      <p:sp>
        <p:nvSpPr>
          <p:cNvPr id="17" name="Text 14"/>
          <p:cNvSpPr txBox="1"/>
          <p:nvPr/>
        </p:nvSpPr>
        <p:spPr>
          <a:xfrm>
            <a:off x="8412480" y="5760720"/>
            <a:ext cx="3017520" cy="402336"/>
          </a:xfrm>
          <a:prstGeom prst="rect">
            <a:avLst/>
          </a:prstGeom>
          <a:noFill/>
          <a:ln/>
        </p:spPr>
        <p:txBody>
          <a:bodyPr wrap="square" lIns="0" tIns="0" rIns="0" bIns="0" rtlCol="0" anchor="ctr"/>
          <a:lstStyle/>
          <a:p>
            <a:pPr marL="0" indent="0">
              <a:lnSpc>
                <a:spcPct val="100000"/>
              </a:lnSpc>
              <a:buNone/>
            </a:pPr>
            <a:r>
              <a:rPr lang="en-US" sz="1050" dirty="0">
                <a:solidFill>
                  <a:srgbClr val="17624F"/>
                </a:solidFill>
                <a:latin typeface="Calibri" pitchFamily="34" charset="0"/>
                <a:ea typeface="Calibri" pitchFamily="34" charset="-122"/>
                <a:cs typeface="Calibri" pitchFamily="34" charset="-120"/>
              </a:rPr>
              <a:t>La puntuación mínima se redondea a favor del estudiante y se anuncia antes de administrar la prueba.</a:t>
            </a:r>
            <a:endParaRPr lang="en-US" sz="1050" dirty="0"/>
          </a:p>
        </p:txBody>
      </p:sp>
      <p:sp>
        <p:nvSpPr>
          <p:cNvPr id="18" name="Text 15"/>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7</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Modelaje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9.º a 12.º grado</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25 minutos  ·  De la función cuadrática al análisis de datos</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Perfil del evaluando y decisiones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A · Selección múltiple (10.º · Geometría)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B · Respuesta abierta sencilla (9.º · Álgebra II)</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Modelo C · Respuesta abierta de aplicación (12.º · Estadísticas)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Planilla de especificaciones de 10.º grado</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9.º A 12.º GRADO</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Quién es el estudiante que va a contestar</a:t>
            </a:r>
            <a:endParaRPr lang="en-US" sz="2700" dirty="0"/>
          </a:p>
        </p:txBody>
      </p:sp>
      <p:sp>
        <p:nvSpPr>
          <p:cNvPr id="4" name="Shape 2"/>
          <p:cNvSpPr/>
          <p:nvPr/>
        </p:nvSpPr>
        <p:spPr>
          <a:xfrm>
            <a:off x="566928" y="1325880"/>
            <a:ext cx="5029200" cy="4617720"/>
          </a:xfrm>
          <a:prstGeom prst="roundRect">
            <a:avLst>
              <a:gd name="adj" fmla="val 1782"/>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5029200" cy="603504"/>
          </a:xfrm>
          <a:prstGeom prst="roundRect">
            <a:avLst>
              <a:gd name="adj" fmla="val 13636"/>
            </a:avLst>
          </a:prstGeom>
          <a:solidFill>
            <a:srgbClr val="C9A227"/>
          </a:solidFill>
          <a:ln w="12700">
            <a:solidFill>
              <a:srgbClr val="C9A227"/>
            </a:solidFill>
            <a:prstDash val="solid"/>
          </a:ln>
        </p:spPr>
        <p:txBody>
          <a:bodyPr/>
          <a:lstStyle/>
          <a:p>
            <a:endParaRPr lang="en-PR"/>
          </a:p>
        </p:txBody>
      </p:sp>
      <p:sp>
        <p:nvSpPr>
          <p:cNvPr id="6" name="Text 4"/>
          <p:cNvSpPr txBox="1"/>
          <p:nvPr/>
        </p:nvSpPr>
        <p:spPr>
          <a:xfrm>
            <a:off x="822960" y="1325880"/>
            <a:ext cx="4572000" cy="603504"/>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Perfil del evaluando  ·  9.º a 12.º grado</a:t>
            </a:r>
            <a:endParaRPr lang="en-US" sz="1450" dirty="0"/>
          </a:p>
        </p:txBody>
      </p:sp>
      <p:sp>
        <p:nvSpPr>
          <p:cNvPr id="7" name="Text 5"/>
          <p:cNvSpPr txBox="1"/>
          <p:nvPr/>
        </p:nvSpPr>
        <p:spPr>
          <a:xfrm>
            <a:off x="841248" y="2103120"/>
            <a:ext cx="4526280" cy="370332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Opera con razonamiento formal: generaliza, demuestra y trabaja con representaciones múltiples de una misma relación.</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Ya arrastra una historia de éxito o de fracaso con las matemáticas que condiciona su disposición ante la prueba.</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Puede sostener enunciados largos, pero un enunciado denso sin necesidad sigue siendo una barrera de lectura.</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Necesita saber con precisión qué nivel de justificación se le exige: ¿basta el cálculo o hace falta argumentar?</a:t>
            </a:r>
            <a:endParaRPr lang="en-US" sz="1280" dirty="0"/>
          </a:p>
          <a:p>
            <a:pPr marL="342900" indent="-342900">
              <a:lnSpc>
                <a:spcPct val="105000"/>
              </a:lnSpc>
              <a:spcAft>
                <a:spcPts val="1100"/>
              </a:spcAft>
              <a:buSzPct val="100000"/>
              <a:buChar char="▪"/>
            </a:pPr>
            <a:r>
              <a:rPr lang="en-US" sz="1280" dirty="0">
                <a:solidFill>
                  <a:srgbClr val="22303F"/>
                </a:solidFill>
                <a:latin typeface="Calibri" pitchFamily="34" charset="0"/>
                <a:ea typeface="Calibri" pitchFamily="34" charset="-122"/>
                <a:cs typeface="Calibri" pitchFamily="34" charset="-120"/>
              </a:rPr>
              <a:t>Trabaja con contextos de trabajo, presupuesto, datos y ciudadanía si los datos están completos en el ítem.</a:t>
            </a:r>
            <a:endParaRPr lang="en-US" sz="1280" dirty="0"/>
          </a:p>
        </p:txBody>
      </p:sp>
      <p:sp>
        <p:nvSpPr>
          <p:cNvPr id="8" name="Shape 6"/>
          <p:cNvSpPr/>
          <p:nvPr/>
        </p:nvSpPr>
        <p:spPr>
          <a:xfrm>
            <a:off x="5961888" y="1325880"/>
            <a:ext cx="5662879" cy="4617720"/>
          </a:xfrm>
          <a:prstGeom prst="roundRect">
            <a:avLst>
              <a:gd name="adj" fmla="val 1782"/>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7"/>
          <p:cNvSpPr txBox="1"/>
          <p:nvPr/>
        </p:nvSpPr>
        <p:spPr>
          <a:xfrm>
            <a:off x="6281928" y="1536192"/>
            <a:ext cx="5022799" cy="329184"/>
          </a:xfrm>
          <a:prstGeom prst="rect">
            <a:avLst/>
          </a:prstGeom>
          <a:noFill/>
          <a:ln/>
        </p:spPr>
        <p:txBody>
          <a:bodyPr wrap="square" lIns="0" tIns="0" rIns="0" bIns="0" rtlCol="0" anchor="ctr"/>
          <a:lstStyle/>
          <a:p>
            <a:pPr marL="0" indent="0">
              <a:buNone/>
            </a:pPr>
            <a:r>
              <a:rPr lang="en-US" sz="1650" b="1" dirty="0">
                <a:solidFill>
                  <a:srgbClr val="C9A84C"/>
                </a:solidFill>
                <a:latin typeface="Cambria" pitchFamily="34" charset="0"/>
                <a:ea typeface="Cambria" pitchFamily="34" charset="-122"/>
                <a:cs typeface="Cambria" pitchFamily="34" charset="-120"/>
              </a:rPr>
              <a:t>Decisiones de DUA para este nivel</a:t>
            </a:r>
            <a:endParaRPr lang="en-US" sz="1650" dirty="0"/>
          </a:p>
        </p:txBody>
      </p:sp>
      <p:sp>
        <p:nvSpPr>
          <p:cNvPr id="10" name="Shape 8"/>
          <p:cNvSpPr/>
          <p:nvPr/>
        </p:nvSpPr>
        <p:spPr>
          <a:xfrm>
            <a:off x="6236208" y="201168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1" name="Shape 9"/>
          <p:cNvSpPr/>
          <p:nvPr/>
        </p:nvSpPr>
        <p:spPr>
          <a:xfrm>
            <a:off x="6419088" y="2319833"/>
            <a:ext cx="100584" cy="100584"/>
          </a:xfrm>
          <a:prstGeom prst="ellipse">
            <a:avLst/>
          </a:prstGeom>
          <a:solidFill>
            <a:srgbClr val="C9A227"/>
          </a:solidFill>
          <a:ln/>
        </p:spPr>
        <p:txBody>
          <a:bodyPr/>
          <a:lstStyle/>
          <a:p>
            <a:endParaRPr lang="en-PR"/>
          </a:p>
        </p:txBody>
      </p:sp>
      <p:sp>
        <p:nvSpPr>
          <p:cNvPr id="12" name="Text 10"/>
          <p:cNvSpPr txBox="1"/>
          <p:nvPr/>
        </p:nvSpPr>
        <p:spPr>
          <a:xfrm>
            <a:off x="6675120" y="201168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Las fórmulas que no son objeto de medición se proveen dentro del ítem.</a:t>
            </a:r>
            <a:endParaRPr lang="en-US" sz="1220" dirty="0"/>
          </a:p>
        </p:txBody>
      </p:sp>
      <p:sp>
        <p:nvSpPr>
          <p:cNvPr id="13" name="Shape 11"/>
          <p:cNvSpPr/>
          <p:nvPr/>
        </p:nvSpPr>
        <p:spPr>
          <a:xfrm>
            <a:off x="6236208" y="2838298"/>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4" name="Shape 12"/>
          <p:cNvSpPr/>
          <p:nvPr/>
        </p:nvSpPr>
        <p:spPr>
          <a:xfrm>
            <a:off x="6419088" y="3146450"/>
            <a:ext cx="100584" cy="100584"/>
          </a:xfrm>
          <a:prstGeom prst="ellipse">
            <a:avLst/>
          </a:prstGeom>
          <a:solidFill>
            <a:srgbClr val="C9A227"/>
          </a:solidFill>
          <a:ln/>
        </p:spPr>
        <p:txBody>
          <a:bodyPr/>
          <a:lstStyle/>
          <a:p>
            <a:endParaRPr lang="en-PR"/>
          </a:p>
        </p:txBody>
      </p:sp>
      <p:sp>
        <p:nvSpPr>
          <p:cNvPr id="15" name="Text 13"/>
          <p:cNvSpPr txBox="1"/>
          <p:nvPr/>
        </p:nvSpPr>
        <p:spPr>
          <a:xfrm>
            <a:off x="6675120" y="2838298"/>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Toda figura geométrica aparece rotulada y a escala razonable.</a:t>
            </a:r>
            <a:endParaRPr lang="en-US" sz="1220" dirty="0"/>
          </a:p>
        </p:txBody>
      </p:sp>
      <p:sp>
        <p:nvSpPr>
          <p:cNvPr id="16" name="Shape 14"/>
          <p:cNvSpPr/>
          <p:nvPr/>
        </p:nvSpPr>
        <p:spPr>
          <a:xfrm>
            <a:off x="6236208" y="3664915"/>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17" name="Shape 15"/>
          <p:cNvSpPr/>
          <p:nvPr/>
        </p:nvSpPr>
        <p:spPr>
          <a:xfrm>
            <a:off x="6419088" y="3973068"/>
            <a:ext cx="100584" cy="100584"/>
          </a:xfrm>
          <a:prstGeom prst="ellipse">
            <a:avLst/>
          </a:prstGeom>
          <a:solidFill>
            <a:srgbClr val="C9A227"/>
          </a:solidFill>
          <a:ln/>
        </p:spPr>
        <p:txBody>
          <a:bodyPr/>
          <a:lstStyle/>
          <a:p>
            <a:endParaRPr lang="en-PR"/>
          </a:p>
        </p:txBody>
      </p:sp>
      <p:sp>
        <p:nvSpPr>
          <p:cNvPr id="18" name="Text 16"/>
          <p:cNvSpPr txBox="1"/>
          <p:nvPr/>
        </p:nvSpPr>
        <p:spPr>
          <a:xfrm>
            <a:off x="6675120" y="3664915"/>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aceptan gráfica, tabla, ecuación o argumento verbal como evidencia del mismo razonamiento.</a:t>
            </a:r>
            <a:endParaRPr lang="en-US" sz="1220" dirty="0"/>
          </a:p>
        </p:txBody>
      </p:sp>
      <p:sp>
        <p:nvSpPr>
          <p:cNvPr id="19" name="Shape 17"/>
          <p:cNvSpPr/>
          <p:nvPr/>
        </p:nvSpPr>
        <p:spPr>
          <a:xfrm>
            <a:off x="6236208" y="4491533"/>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0" name="Shape 18"/>
          <p:cNvSpPr/>
          <p:nvPr/>
        </p:nvSpPr>
        <p:spPr>
          <a:xfrm>
            <a:off x="6419088" y="4799686"/>
            <a:ext cx="100584" cy="100584"/>
          </a:xfrm>
          <a:prstGeom prst="ellipse">
            <a:avLst/>
          </a:prstGeom>
          <a:solidFill>
            <a:srgbClr val="C9A227"/>
          </a:solidFill>
          <a:ln/>
        </p:spPr>
        <p:txBody>
          <a:bodyPr/>
          <a:lstStyle/>
          <a:p>
            <a:endParaRPr lang="en-PR"/>
          </a:p>
        </p:txBody>
      </p:sp>
      <p:sp>
        <p:nvSpPr>
          <p:cNvPr id="21" name="Text 19"/>
          <p:cNvSpPr txBox="1"/>
          <p:nvPr/>
        </p:nvSpPr>
        <p:spPr>
          <a:xfrm>
            <a:off x="6675120" y="4491533"/>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La instrucción declara el nivel de justificación esperado: «muestra el procedimiento», «justifica con los datos».</a:t>
            </a:r>
            <a:endParaRPr lang="en-US" sz="1220" dirty="0"/>
          </a:p>
        </p:txBody>
      </p:sp>
      <p:sp>
        <p:nvSpPr>
          <p:cNvPr id="22" name="Shape 20"/>
          <p:cNvSpPr/>
          <p:nvPr/>
        </p:nvSpPr>
        <p:spPr>
          <a:xfrm>
            <a:off x="6236208" y="5318150"/>
            <a:ext cx="5114239" cy="716890"/>
          </a:xfrm>
          <a:prstGeom prst="roundRect">
            <a:avLst>
              <a:gd name="adj" fmla="val 8929"/>
            </a:avLst>
          </a:prstGeom>
          <a:solidFill>
            <a:srgbClr val="24365C"/>
          </a:solidFill>
          <a:ln w="12700">
            <a:solidFill>
              <a:srgbClr val="35507E"/>
            </a:solidFill>
            <a:prstDash val="solid"/>
          </a:ln>
        </p:spPr>
        <p:txBody>
          <a:bodyPr/>
          <a:lstStyle/>
          <a:p>
            <a:endParaRPr lang="en-PR"/>
          </a:p>
        </p:txBody>
      </p:sp>
      <p:sp>
        <p:nvSpPr>
          <p:cNvPr id="23" name="Shape 21"/>
          <p:cNvSpPr/>
          <p:nvPr/>
        </p:nvSpPr>
        <p:spPr>
          <a:xfrm>
            <a:off x="6419088" y="5626303"/>
            <a:ext cx="100584" cy="100584"/>
          </a:xfrm>
          <a:prstGeom prst="ellipse">
            <a:avLst/>
          </a:prstGeom>
          <a:solidFill>
            <a:srgbClr val="C9A227"/>
          </a:solidFill>
          <a:ln/>
        </p:spPr>
        <p:txBody>
          <a:bodyPr/>
          <a:lstStyle/>
          <a:p>
            <a:endParaRPr lang="en-PR"/>
          </a:p>
        </p:txBody>
      </p:sp>
      <p:sp>
        <p:nvSpPr>
          <p:cNvPr id="24" name="Text 22"/>
          <p:cNvSpPr txBox="1"/>
          <p:nvPr/>
        </p:nvSpPr>
        <p:spPr>
          <a:xfrm>
            <a:off x="6675120" y="5318150"/>
            <a:ext cx="4519879" cy="716890"/>
          </a:xfrm>
          <a:prstGeom prst="rect">
            <a:avLst/>
          </a:prstGeom>
          <a:noFill/>
          <a:ln/>
        </p:spPr>
        <p:txBody>
          <a:bodyPr wrap="square" lIns="0" tIns="0" rIns="0" bIns="0" rtlCol="0" anchor="ctr"/>
          <a:lstStyle/>
          <a:p>
            <a:pPr marL="0" indent="0">
              <a:lnSpc>
                <a:spcPct val="103000"/>
              </a:lnSpc>
              <a:buNone/>
            </a:pPr>
            <a:r>
              <a:rPr lang="en-US" sz="1220" dirty="0">
                <a:solidFill>
                  <a:srgbClr val="DCE6F2"/>
                </a:solidFill>
                <a:latin typeface="Calibri" pitchFamily="34" charset="0"/>
                <a:ea typeface="Calibri" pitchFamily="34" charset="-122"/>
                <a:cs typeface="Calibri" pitchFamily="34" charset="-120"/>
              </a:rPr>
              <a:t>Se elimina todo dato del enunciado que no se use para resolver.</a:t>
            </a:r>
            <a:endParaRPr lang="en-US" sz="122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Selección múltiple  ·  10.º grado  ·  Geometría</a:t>
            </a:r>
            <a:endParaRPr lang="en-US" sz="2700" dirty="0"/>
          </a:p>
        </p:txBody>
      </p:sp>
      <p:sp>
        <p:nvSpPr>
          <p:cNvPr id="4" name="Shape 2"/>
          <p:cNvSpPr/>
          <p:nvPr/>
        </p:nvSpPr>
        <p:spPr>
          <a:xfrm>
            <a:off x="566928" y="1371600"/>
            <a:ext cx="6858000" cy="3154680"/>
          </a:xfrm>
          <a:prstGeom prst="roundRect">
            <a:avLst>
              <a:gd name="adj" fmla="val 173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1 PUNTO · DOK 2</a:t>
            </a:r>
            <a:endParaRPr lang="en-US" sz="950" dirty="0"/>
          </a:p>
        </p:txBody>
      </p:sp>
      <p:sp>
        <p:nvSpPr>
          <p:cNvPr id="7" name="Text 5"/>
          <p:cNvSpPr txBox="1"/>
          <p:nvPr/>
        </p:nvSpPr>
        <p:spPr>
          <a:xfrm>
            <a:off x="859536" y="1645920"/>
            <a:ext cx="6272784" cy="310896"/>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En el triángulo rectángulo ABC, el cateto AB mide 9 cm y el cateto BC mide 12 cm.</a:t>
            </a:r>
            <a:endParaRPr lang="en-US" sz="1230" dirty="0"/>
          </a:p>
        </p:txBody>
      </p:sp>
      <p:sp>
        <p:nvSpPr>
          <p:cNvPr id="8" name="Shape 6"/>
          <p:cNvSpPr/>
          <p:nvPr/>
        </p:nvSpPr>
        <p:spPr>
          <a:xfrm>
            <a:off x="4544568" y="2103120"/>
            <a:ext cx="1920240" cy="1463040"/>
          </a:xfrm>
          <a:prstGeom prst="rtTriangle">
            <a:avLst/>
          </a:prstGeom>
          <a:solidFill>
            <a:srgbClr val="E8EEF5"/>
          </a:solidFill>
          <a:ln w="20320">
            <a:solidFill>
              <a:srgbClr val="1B2A4A"/>
            </a:solidFill>
            <a:prstDash val="solid"/>
          </a:ln>
        </p:spPr>
        <p:txBody>
          <a:bodyPr/>
          <a:lstStyle/>
          <a:p>
            <a:endParaRPr lang="en-PR"/>
          </a:p>
        </p:txBody>
      </p:sp>
      <p:sp>
        <p:nvSpPr>
          <p:cNvPr id="9" name="Shape 7"/>
          <p:cNvSpPr/>
          <p:nvPr/>
        </p:nvSpPr>
        <p:spPr>
          <a:xfrm>
            <a:off x="4572000" y="3401568"/>
            <a:ext cx="146304" cy="146304"/>
          </a:xfrm>
          <a:prstGeom prst="rect">
            <a:avLst/>
          </a:prstGeom>
          <a:solidFill>
            <a:srgbClr val="FFFFFF"/>
          </a:solidFill>
          <a:ln w="12700">
            <a:solidFill>
              <a:srgbClr val="1B2A4A"/>
            </a:solidFill>
            <a:prstDash val="solid"/>
          </a:ln>
        </p:spPr>
        <p:txBody>
          <a:bodyPr/>
          <a:lstStyle/>
          <a:p>
            <a:endParaRPr lang="en-PR"/>
          </a:p>
        </p:txBody>
      </p:sp>
      <p:sp>
        <p:nvSpPr>
          <p:cNvPr id="10" name="Text 8"/>
          <p:cNvSpPr txBox="1"/>
          <p:nvPr/>
        </p:nvSpPr>
        <p:spPr>
          <a:xfrm>
            <a:off x="4288536" y="3474720"/>
            <a:ext cx="274320" cy="21945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B</a:t>
            </a:r>
            <a:endParaRPr lang="en-US" sz="1000" dirty="0"/>
          </a:p>
        </p:txBody>
      </p:sp>
      <p:sp>
        <p:nvSpPr>
          <p:cNvPr id="11" name="Text 9"/>
          <p:cNvSpPr txBox="1"/>
          <p:nvPr/>
        </p:nvSpPr>
        <p:spPr>
          <a:xfrm>
            <a:off x="6391656" y="3474720"/>
            <a:ext cx="274320" cy="21945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A</a:t>
            </a:r>
            <a:endParaRPr lang="en-US" sz="1000" dirty="0"/>
          </a:p>
        </p:txBody>
      </p:sp>
      <p:sp>
        <p:nvSpPr>
          <p:cNvPr id="12" name="Text 10"/>
          <p:cNvSpPr txBox="1"/>
          <p:nvPr/>
        </p:nvSpPr>
        <p:spPr>
          <a:xfrm>
            <a:off x="4288536" y="1920240"/>
            <a:ext cx="274320" cy="21945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C</a:t>
            </a:r>
            <a:endParaRPr lang="en-US" sz="1000" dirty="0"/>
          </a:p>
        </p:txBody>
      </p:sp>
      <p:sp>
        <p:nvSpPr>
          <p:cNvPr id="13" name="Text 11"/>
          <p:cNvSpPr txBox="1"/>
          <p:nvPr/>
        </p:nvSpPr>
        <p:spPr>
          <a:xfrm>
            <a:off x="5047488" y="3621024"/>
            <a:ext cx="914400" cy="219456"/>
          </a:xfrm>
          <a:prstGeom prst="rect">
            <a:avLst/>
          </a:prstGeom>
          <a:noFill/>
          <a:ln/>
        </p:spPr>
        <p:txBody>
          <a:bodyPr wrap="square" lIns="0" tIns="0" rIns="0" bIns="0" rtlCol="0" anchor="ctr"/>
          <a:lstStyle/>
          <a:p>
            <a:pPr marL="0" indent="0" algn="ctr">
              <a:buNone/>
            </a:pPr>
            <a:r>
              <a:rPr lang="en-US" sz="1000" dirty="0">
                <a:solidFill>
                  <a:srgbClr val="1F3864"/>
                </a:solidFill>
                <a:latin typeface="Calibri" pitchFamily="34" charset="0"/>
                <a:ea typeface="Calibri" pitchFamily="34" charset="-122"/>
                <a:cs typeface="Calibri" pitchFamily="34" charset="-120"/>
              </a:rPr>
              <a:t>9 cm</a:t>
            </a:r>
            <a:endParaRPr lang="en-US" sz="1000" dirty="0"/>
          </a:p>
        </p:txBody>
      </p:sp>
      <p:sp>
        <p:nvSpPr>
          <p:cNvPr id="14" name="Text 12"/>
          <p:cNvSpPr txBox="1"/>
          <p:nvPr/>
        </p:nvSpPr>
        <p:spPr>
          <a:xfrm>
            <a:off x="3630168" y="2724912"/>
            <a:ext cx="868680" cy="219456"/>
          </a:xfrm>
          <a:prstGeom prst="rect">
            <a:avLst/>
          </a:prstGeom>
          <a:noFill/>
          <a:ln/>
        </p:spPr>
        <p:txBody>
          <a:bodyPr wrap="square" lIns="0" tIns="0" rIns="0" bIns="0" rtlCol="0" anchor="ctr"/>
          <a:lstStyle/>
          <a:p>
            <a:pPr marL="0" indent="0" algn="r">
              <a:buNone/>
            </a:pPr>
            <a:r>
              <a:rPr lang="en-US" sz="1000" dirty="0">
                <a:solidFill>
                  <a:srgbClr val="1F3864"/>
                </a:solidFill>
                <a:latin typeface="Calibri" pitchFamily="34" charset="0"/>
                <a:ea typeface="Calibri" pitchFamily="34" charset="-122"/>
                <a:cs typeface="Calibri" pitchFamily="34" charset="-120"/>
              </a:rPr>
              <a:t>12 cm</a:t>
            </a:r>
            <a:endParaRPr lang="en-US" sz="1000" dirty="0"/>
          </a:p>
        </p:txBody>
      </p:sp>
      <p:sp>
        <p:nvSpPr>
          <p:cNvPr id="15" name="Text 13"/>
          <p:cNvSpPr txBox="1"/>
          <p:nvPr/>
        </p:nvSpPr>
        <p:spPr>
          <a:xfrm>
            <a:off x="4453128" y="3931920"/>
            <a:ext cx="2377440" cy="457200"/>
          </a:xfrm>
          <a:prstGeom prst="rect">
            <a:avLst/>
          </a:prstGeom>
          <a:noFill/>
          <a:ln/>
        </p:spPr>
        <p:txBody>
          <a:bodyPr wrap="square" lIns="0" tIns="0" rIns="0" bIns="0" rtlCol="0" anchor="ctr"/>
          <a:lstStyle/>
          <a:p>
            <a:pPr marL="0" indent="0" algn="ctr">
              <a:lnSpc>
                <a:spcPct val="102000"/>
              </a:lnSpc>
              <a:buNone/>
            </a:pPr>
            <a:r>
              <a:rPr lang="en-US" sz="950" i="1" dirty="0">
                <a:solidFill>
                  <a:srgbClr val="2A9D8F"/>
                </a:solidFill>
                <a:latin typeface="Calibri" pitchFamily="34" charset="0"/>
                <a:ea typeface="Calibri" pitchFamily="34" charset="-122"/>
                <a:cs typeface="Calibri" pitchFamily="34" charset="-120"/>
              </a:rPr>
              <a:t>Figura rotulada: segunda representación de los datos del enunciado.</a:t>
            </a:r>
            <a:endParaRPr lang="en-US" sz="950" dirty="0"/>
          </a:p>
        </p:txBody>
      </p:sp>
      <p:sp>
        <p:nvSpPr>
          <p:cNvPr id="16" name="Text 14"/>
          <p:cNvSpPr txBox="1"/>
          <p:nvPr/>
        </p:nvSpPr>
        <p:spPr>
          <a:xfrm>
            <a:off x="859536" y="2084832"/>
            <a:ext cx="3474720" cy="274320"/>
          </a:xfrm>
          <a:prstGeom prst="rect">
            <a:avLst/>
          </a:prstGeom>
          <a:noFill/>
          <a:ln/>
        </p:spPr>
        <p:txBody>
          <a:bodyPr wrap="square" lIns="0" tIns="0" rIns="0" bIns="0" rtlCol="0" anchor="ctr"/>
          <a:lstStyle/>
          <a:p>
            <a:pPr marL="0" indent="0">
              <a:buNone/>
            </a:pPr>
            <a:r>
              <a:rPr lang="en-US" sz="1230" b="1" dirty="0">
                <a:solidFill>
                  <a:srgbClr val="22303F"/>
                </a:solidFill>
                <a:latin typeface="Calibri" pitchFamily="34" charset="0"/>
                <a:ea typeface="Calibri" pitchFamily="34" charset="-122"/>
                <a:cs typeface="Calibri" pitchFamily="34" charset="-120"/>
              </a:rPr>
              <a:t>¿Cuál es la longitud de la hipotenusa AC?</a:t>
            </a:r>
            <a:endParaRPr lang="en-US" sz="1230" dirty="0"/>
          </a:p>
        </p:txBody>
      </p:sp>
      <p:sp>
        <p:nvSpPr>
          <p:cNvPr id="17" name="Shape 15"/>
          <p:cNvSpPr/>
          <p:nvPr/>
        </p:nvSpPr>
        <p:spPr>
          <a:xfrm>
            <a:off x="932688" y="2560320"/>
            <a:ext cx="155448" cy="155448"/>
          </a:xfrm>
          <a:prstGeom prst="ellipse">
            <a:avLst/>
          </a:prstGeom>
          <a:solidFill>
            <a:srgbClr val="FFFFFF"/>
          </a:solidFill>
          <a:ln w="12700">
            <a:solidFill>
              <a:srgbClr val="5F6E7E"/>
            </a:solidFill>
            <a:prstDash val="solid"/>
          </a:ln>
        </p:spPr>
        <p:txBody>
          <a:bodyPr/>
          <a:lstStyle/>
          <a:p>
            <a:endParaRPr lang="en-PR"/>
          </a:p>
        </p:txBody>
      </p:sp>
      <p:sp>
        <p:nvSpPr>
          <p:cNvPr id="18" name="Text 16"/>
          <p:cNvSpPr txBox="1"/>
          <p:nvPr/>
        </p:nvSpPr>
        <p:spPr>
          <a:xfrm>
            <a:off x="1225296" y="2468880"/>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A.     3 cm</a:t>
            </a:r>
            <a:endParaRPr lang="en-US" sz="1230" dirty="0"/>
          </a:p>
        </p:txBody>
      </p:sp>
      <p:sp>
        <p:nvSpPr>
          <p:cNvPr id="19" name="Shape 17"/>
          <p:cNvSpPr/>
          <p:nvPr/>
        </p:nvSpPr>
        <p:spPr>
          <a:xfrm>
            <a:off x="932688" y="2944368"/>
            <a:ext cx="155448" cy="155448"/>
          </a:xfrm>
          <a:prstGeom prst="ellipse">
            <a:avLst/>
          </a:prstGeom>
          <a:solidFill>
            <a:srgbClr val="FFFFFF"/>
          </a:solidFill>
          <a:ln w="12700">
            <a:solidFill>
              <a:srgbClr val="5F6E7E"/>
            </a:solidFill>
            <a:prstDash val="solid"/>
          </a:ln>
        </p:spPr>
        <p:txBody>
          <a:bodyPr/>
          <a:lstStyle/>
          <a:p>
            <a:endParaRPr lang="en-PR"/>
          </a:p>
        </p:txBody>
      </p:sp>
      <p:sp>
        <p:nvSpPr>
          <p:cNvPr id="20" name="Text 18"/>
          <p:cNvSpPr txBox="1"/>
          <p:nvPr/>
        </p:nvSpPr>
        <p:spPr>
          <a:xfrm>
            <a:off x="1225296" y="2852928"/>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B.   15 cm</a:t>
            </a:r>
            <a:endParaRPr lang="en-US" sz="1230" dirty="0"/>
          </a:p>
        </p:txBody>
      </p:sp>
      <p:sp>
        <p:nvSpPr>
          <p:cNvPr id="21" name="Shape 19"/>
          <p:cNvSpPr/>
          <p:nvPr/>
        </p:nvSpPr>
        <p:spPr>
          <a:xfrm>
            <a:off x="932688" y="3328416"/>
            <a:ext cx="155448" cy="155448"/>
          </a:xfrm>
          <a:prstGeom prst="ellipse">
            <a:avLst/>
          </a:prstGeom>
          <a:solidFill>
            <a:srgbClr val="FFFFFF"/>
          </a:solidFill>
          <a:ln w="12700">
            <a:solidFill>
              <a:srgbClr val="5F6E7E"/>
            </a:solidFill>
            <a:prstDash val="solid"/>
          </a:ln>
        </p:spPr>
        <p:txBody>
          <a:bodyPr/>
          <a:lstStyle/>
          <a:p>
            <a:endParaRPr lang="en-PR"/>
          </a:p>
        </p:txBody>
      </p:sp>
      <p:sp>
        <p:nvSpPr>
          <p:cNvPr id="22" name="Text 20"/>
          <p:cNvSpPr txBox="1"/>
          <p:nvPr/>
        </p:nvSpPr>
        <p:spPr>
          <a:xfrm>
            <a:off x="1225296" y="3236976"/>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C.   21 cm</a:t>
            </a:r>
            <a:endParaRPr lang="en-US" sz="1230" dirty="0"/>
          </a:p>
        </p:txBody>
      </p:sp>
      <p:sp>
        <p:nvSpPr>
          <p:cNvPr id="23" name="Shape 21"/>
          <p:cNvSpPr/>
          <p:nvPr/>
        </p:nvSpPr>
        <p:spPr>
          <a:xfrm>
            <a:off x="932688" y="3712464"/>
            <a:ext cx="155448" cy="155448"/>
          </a:xfrm>
          <a:prstGeom prst="ellipse">
            <a:avLst/>
          </a:prstGeom>
          <a:solidFill>
            <a:srgbClr val="FFFFFF"/>
          </a:solidFill>
          <a:ln w="12700">
            <a:solidFill>
              <a:srgbClr val="5F6E7E"/>
            </a:solidFill>
            <a:prstDash val="solid"/>
          </a:ln>
        </p:spPr>
        <p:txBody>
          <a:bodyPr/>
          <a:lstStyle/>
          <a:p>
            <a:endParaRPr lang="en-PR"/>
          </a:p>
        </p:txBody>
      </p:sp>
      <p:sp>
        <p:nvSpPr>
          <p:cNvPr id="24" name="Text 22"/>
          <p:cNvSpPr txBox="1"/>
          <p:nvPr/>
        </p:nvSpPr>
        <p:spPr>
          <a:xfrm>
            <a:off x="1225296" y="3621024"/>
            <a:ext cx="2194560" cy="347472"/>
          </a:xfrm>
          <a:prstGeom prst="rect">
            <a:avLst/>
          </a:prstGeom>
          <a:noFill/>
          <a:ln/>
        </p:spPr>
        <p:txBody>
          <a:bodyPr wrap="square" lIns="0" tIns="0" rIns="0" bIns="0" rtlCol="0" anchor="ctr"/>
          <a:lstStyle/>
          <a:p>
            <a:pPr marL="0" indent="0">
              <a:buNone/>
            </a:pPr>
            <a:r>
              <a:rPr lang="en-US" sz="1230" dirty="0">
                <a:solidFill>
                  <a:srgbClr val="22303F"/>
                </a:solidFill>
                <a:latin typeface="Calibri" pitchFamily="34" charset="0"/>
                <a:ea typeface="Calibri" pitchFamily="34" charset="-122"/>
                <a:cs typeface="Calibri" pitchFamily="34" charset="-120"/>
              </a:rPr>
              <a:t>D.  225 cm</a:t>
            </a:r>
            <a:endParaRPr lang="en-US" sz="1230" dirty="0"/>
          </a:p>
        </p:txBody>
      </p:sp>
      <p:sp>
        <p:nvSpPr>
          <p:cNvPr id="25" name="Text 23"/>
          <p:cNvSpPr txBox="1"/>
          <p:nvPr/>
        </p:nvSpPr>
        <p:spPr>
          <a:xfrm>
            <a:off x="859536" y="4133088"/>
            <a:ext cx="3566160" cy="292608"/>
          </a:xfrm>
          <a:prstGeom prst="rect">
            <a:avLst/>
          </a:prstGeom>
          <a:noFill/>
          <a:ln/>
        </p:spPr>
        <p:txBody>
          <a:bodyPr wrap="square" lIns="0" tIns="0" rIns="0" bIns="0" rtlCol="0" anchor="ctr"/>
          <a:lstStyle/>
          <a:p>
            <a:pPr marL="0" indent="0">
              <a:buNone/>
            </a:pPr>
            <a:r>
              <a:rPr lang="en-US" sz="1150" b="1" dirty="0">
                <a:solidFill>
                  <a:srgbClr val="C9A227"/>
                </a:solidFill>
                <a:latin typeface="Calibri" pitchFamily="34" charset="0"/>
                <a:ea typeface="Calibri" pitchFamily="34" charset="-122"/>
                <a:cs typeface="Calibri" pitchFamily="34" charset="-120"/>
              </a:rPr>
              <a:t>Fórmula provista:   a² + b² = c²</a:t>
            </a:r>
            <a:endParaRPr lang="en-US" sz="1150" dirty="0"/>
          </a:p>
        </p:txBody>
      </p:sp>
      <p:sp>
        <p:nvSpPr>
          <p:cNvPr id="26" name="Shape 24"/>
          <p:cNvSpPr/>
          <p:nvPr/>
        </p:nvSpPr>
        <p:spPr>
          <a:xfrm>
            <a:off x="7790688" y="1371600"/>
            <a:ext cx="3834079" cy="3154680"/>
          </a:xfrm>
          <a:prstGeom prst="roundRect">
            <a:avLst>
              <a:gd name="adj" fmla="val 260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7" name="Shape 25"/>
          <p:cNvSpPr/>
          <p:nvPr/>
        </p:nvSpPr>
        <p:spPr>
          <a:xfrm>
            <a:off x="7790688" y="1371600"/>
            <a:ext cx="38340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28" name="Text 26"/>
          <p:cNvSpPr txBox="1"/>
          <p:nvPr/>
        </p:nvSpPr>
        <p:spPr>
          <a:xfrm>
            <a:off x="7973568" y="1371600"/>
            <a:ext cx="34683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29" name="Text 27"/>
          <p:cNvSpPr txBox="1"/>
          <p:nvPr/>
        </p:nvSpPr>
        <p:spPr>
          <a:xfrm>
            <a:off x="8001000" y="1938528"/>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ESTÁNDAR</a:t>
            </a:r>
            <a:endParaRPr lang="en-US" sz="950" dirty="0"/>
          </a:p>
        </p:txBody>
      </p:sp>
      <p:sp>
        <p:nvSpPr>
          <p:cNvPr id="30" name="Text 28"/>
          <p:cNvSpPr txBox="1"/>
          <p:nvPr/>
        </p:nvSpPr>
        <p:spPr>
          <a:xfrm>
            <a:off x="8001000" y="2121408"/>
            <a:ext cx="34134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10.º grado · Geometría · Estándar de Geometría (G)</a:t>
            </a:r>
            <a:endParaRPr lang="en-US" sz="1130" dirty="0"/>
          </a:p>
        </p:txBody>
      </p:sp>
      <p:sp>
        <p:nvSpPr>
          <p:cNvPr id="31" name="Text 29"/>
          <p:cNvSpPr txBox="1"/>
          <p:nvPr/>
        </p:nvSpPr>
        <p:spPr>
          <a:xfrm>
            <a:off x="8001000" y="2560027"/>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32" name="Text 30"/>
          <p:cNvSpPr txBox="1"/>
          <p:nvPr/>
        </p:nvSpPr>
        <p:spPr>
          <a:xfrm>
            <a:off x="8001000" y="2742907"/>
            <a:ext cx="341345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10.G · Aplica el teorema de Pitágoras para resolver problemas con triángulos rectángulos (verificar el código y el indicador exactos).</a:t>
            </a:r>
            <a:endParaRPr lang="en-US" sz="1130" dirty="0"/>
          </a:p>
        </p:txBody>
      </p:sp>
      <p:sp>
        <p:nvSpPr>
          <p:cNvPr id="33" name="Text 31"/>
          <p:cNvSpPr txBox="1"/>
          <p:nvPr/>
        </p:nvSpPr>
        <p:spPr>
          <a:xfrm>
            <a:off x="8001000" y="335511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34" name="Text 32"/>
          <p:cNvSpPr txBox="1"/>
          <p:nvPr/>
        </p:nvSpPr>
        <p:spPr>
          <a:xfrm>
            <a:off x="8001000" y="3537996"/>
            <a:ext cx="34134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aplicación directa de una relación conocida.</a:t>
            </a:r>
            <a:endParaRPr lang="en-US" sz="1130" dirty="0"/>
          </a:p>
        </p:txBody>
      </p:sp>
      <p:sp>
        <p:nvSpPr>
          <p:cNvPr id="35" name="Text 33"/>
          <p:cNvSpPr txBox="1"/>
          <p:nvPr/>
        </p:nvSpPr>
        <p:spPr>
          <a:xfrm>
            <a:off x="8001000" y="3976616"/>
            <a:ext cx="34134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 / CLAVE</a:t>
            </a:r>
            <a:endParaRPr lang="en-US" sz="950" dirty="0"/>
          </a:p>
        </p:txBody>
      </p:sp>
      <p:sp>
        <p:nvSpPr>
          <p:cNvPr id="36" name="Text 34"/>
          <p:cNvSpPr txBox="1"/>
          <p:nvPr/>
        </p:nvSpPr>
        <p:spPr>
          <a:xfrm>
            <a:off x="8001000" y="4159496"/>
            <a:ext cx="34134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 punto · Respuesta correcta: B  (15 cm)</a:t>
            </a:r>
            <a:endParaRPr lang="en-US" sz="113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4709160"/>
          <a:ext cx="1105783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9686239">
                  <a:extLst>
                    <a:ext uri="{9D8B030D-6E8A-4147-A177-3AD203B41FA5}">
                      <a16:colId xmlns:a16="http://schemas.microsoft.com/office/drawing/2014/main" val="20001"/>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Opción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Error que representa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3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Restó los catetos: 12 − 9 = 3. Trata la relación como aditiva.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10896">
                <a:tc>
                  <a:txBody>
                    <a:bodyPr/>
                    <a:lstStyle/>
                    <a:p>
                      <a:pPr marL="0" indent="0" algn="ctr">
                        <a:buNone/>
                      </a:pPr>
                      <a:r>
                        <a:rPr lang="en-US" sz="1100" b="1" dirty="0">
                          <a:solidFill>
                            <a:srgbClr val="17624F"/>
                          </a:solidFill>
                          <a:latin typeface="Calibri" pitchFamily="34" charset="0"/>
                          <a:ea typeface="Calibri" pitchFamily="34" charset="-122"/>
                          <a:cs typeface="Calibri" pitchFamily="34" charset="-120"/>
                        </a:rPr>
                        <a:t>15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17624F"/>
                          </a:solidFill>
                          <a:latin typeface="Calibri" pitchFamily="34" charset="0"/>
                          <a:ea typeface="Calibri" pitchFamily="34" charset="-122"/>
                          <a:cs typeface="Calibri" pitchFamily="34" charset="-120"/>
                        </a:rPr>
                        <a:t>Correcta: 9² + 12² = 81 + 144 = 225;  √225 = 15.</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21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Sumó los catetos: 9 + 12 = 21. Aplica la desigualdad triangular como si fuera igualdad.</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10896">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225 cm</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Calculó c² correctamente pero no extrajo la raíz cuadrada. Es el distractor más frecuente.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38" name="Text 35"/>
          <p:cNvSpPr txBox="1"/>
          <p:nvPr/>
        </p:nvSpPr>
        <p:spPr>
          <a:xfrm>
            <a:off x="566928" y="638251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B</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sencilla  ·  9.º grado  ·  Álgebra II</a:t>
            </a:r>
            <a:endParaRPr lang="en-US" sz="2700" dirty="0"/>
          </a:p>
        </p:txBody>
      </p:sp>
      <p:sp>
        <p:nvSpPr>
          <p:cNvPr id="4" name="Shape 2"/>
          <p:cNvSpPr/>
          <p:nvPr/>
        </p:nvSpPr>
        <p:spPr>
          <a:xfrm>
            <a:off x="566928" y="1371600"/>
            <a:ext cx="5760720" cy="2651760"/>
          </a:xfrm>
          <a:prstGeom prst="roundRect">
            <a:avLst>
              <a:gd name="adj" fmla="val 2069"/>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2 PUNTOS · DOK 2</a:t>
            </a:r>
            <a:endParaRPr lang="en-US" sz="950" dirty="0"/>
          </a:p>
        </p:txBody>
      </p:sp>
      <p:sp>
        <p:nvSpPr>
          <p:cNvPr id="7" name="Text 5"/>
          <p:cNvSpPr txBox="1"/>
          <p:nvPr/>
        </p:nvSpPr>
        <p:spPr>
          <a:xfrm>
            <a:off x="841248" y="1645920"/>
            <a:ext cx="5212080" cy="310896"/>
          </a:xfrm>
          <a:prstGeom prst="rect">
            <a:avLst/>
          </a:prstGeom>
          <a:noFill/>
          <a:ln/>
        </p:spPr>
        <p:txBody>
          <a:bodyPr wrap="square" lIns="0" tIns="0" rIns="0" bIns="0" rtlCol="0" anchor="ctr"/>
          <a:lstStyle/>
          <a:p>
            <a:pPr marL="0" indent="0">
              <a:buNone/>
            </a:pPr>
            <a:r>
              <a:rPr lang="en-US" sz="1260" b="1" dirty="0">
                <a:solidFill>
                  <a:srgbClr val="1F3864"/>
                </a:solidFill>
                <a:latin typeface="Calibri" pitchFamily="34" charset="0"/>
                <a:ea typeface="Calibri" pitchFamily="34" charset="-122"/>
                <a:cs typeface="Calibri" pitchFamily="34" charset="-120"/>
              </a:rPr>
              <a:t>Considera la función  f(x) = x² − 6x + 5.</a:t>
            </a:r>
            <a:endParaRPr lang="en-US" sz="1260" dirty="0"/>
          </a:p>
        </p:txBody>
      </p:sp>
      <p:sp>
        <p:nvSpPr>
          <p:cNvPr id="8" name="Text 6"/>
          <p:cNvSpPr txBox="1"/>
          <p:nvPr/>
        </p:nvSpPr>
        <p:spPr>
          <a:xfrm>
            <a:off x="932688" y="2084832"/>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A.   Determina los ceros de la función.</a:t>
            </a:r>
            <a:endParaRPr lang="en-US" sz="1220" dirty="0"/>
          </a:p>
        </p:txBody>
      </p:sp>
      <p:sp>
        <p:nvSpPr>
          <p:cNvPr id="9" name="Text 7"/>
          <p:cNvSpPr txBox="1"/>
          <p:nvPr/>
        </p:nvSpPr>
        <p:spPr>
          <a:xfrm>
            <a:off x="932688" y="2395728"/>
            <a:ext cx="5120640" cy="274320"/>
          </a:xfrm>
          <a:prstGeom prst="rect">
            <a:avLst/>
          </a:prstGeom>
          <a:noFill/>
          <a:ln/>
        </p:spPr>
        <p:txBody>
          <a:bodyPr wrap="square" lIns="0" tIns="0" rIns="0" bIns="0" rtlCol="0" anchor="ctr"/>
          <a:lstStyle/>
          <a:p>
            <a:pPr marL="0" indent="0">
              <a:buNone/>
            </a:pPr>
            <a:r>
              <a:rPr lang="en-US" sz="1220" b="1" dirty="0">
                <a:solidFill>
                  <a:srgbClr val="22303F"/>
                </a:solidFill>
                <a:latin typeface="Calibri" pitchFamily="34" charset="0"/>
                <a:ea typeface="Calibri" pitchFamily="34" charset="-122"/>
                <a:cs typeface="Calibri" pitchFamily="34" charset="-120"/>
              </a:rPr>
              <a:t>B.   Explica el método que utilizaste para determinarlos.</a:t>
            </a:r>
            <a:endParaRPr lang="en-US" sz="1220" dirty="0"/>
          </a:p>
        </p:txBody>
      </p:sp>
      <p:sp>
        <p:nvSpPr>
          <p:cNvPr id="10" name="Text 8"/>
          <p:cNvSpPr txBox="1"/>
          <p:nvPr/>
        </p:nvSpPr>
        <p:spPr>
          <a:xfrm>
            <a:off x="841248" y="2761488"/>
            <a:ext cx="5212080" cy="548640"/>
          </a:xfrm>
          <a:prstGeom prst="rect">
            <a:avLst/>
          </a:prstGeom>
          <a:noFill/>
          <a:ln/>
        </p:spPr>
        <p:txBody>
          <a:bodyPr wrap="square" lIns="0" tIns="0" rIns="0" bIns="0" rtlCol="0" anchor="ctr"/>
          <a:lstStyle/>
          <a:p>
            <a:pPr marL="0" indent="0">
              <a:lnSpc>
                <a:spcPct val="104000"/>
              </a:lnSpc>
              <a:buNone/>
            </a:pPr>
            <a:r>
              <a:rPr lang="en-US" sz="1120" i="1" dirty="0">
                <a:solidFill>
                  <a:srgbClr val="1F3864"/>
                </a:solidFill>
                <a:latin typeface="Calibri" pitchFamily="34" charset="0"/>
                <a:ea typeface="Calibri" pitchFamily="34" charset="-122"/>
                <a:cs typeface="Calibri" pitchFamily="34" charset="-120"/>
              </a:rPr>
              <a:t>Contesta las partes A y B. Puedes factorizar, completar el cuadrado, aplicar la fórmula cuadrática o analizar la gráfica.</a:t>
            </a:r>
            <a:endParaRPr lang="en-US" sz="1120" dirty="0"/>
          </a:p>
        </p:txBody>
      </p:sp>
      <p:sp>
        <p:nvSpPr>
          <p:cNvPr id="11" name="Text 9"/>
          <p:cNvSpPr txBox="1"/>
          <p:nvPr/>
        </p:nvSpPr>
        <p:spPr>
          <a:xfrm>
            <a:off x="841248" y="3310128"/>
            <a:ext cx="5212080" cy="2743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Fórmula provista:   x = [ −b ± √(b² − 4ac) ] ÷ 2a</a:t>
            </a:r>
            <a:endParaRPr lang="en-US" sz="1100" dirty="0"/>
          </a:p>
        </p:txBody>
      </p:sp>
      <p:sp>
        <p:nvSpPr>
          <p:cNvPr id="12" name="Shape 10"/>
          <p:cNvSpPr/>
          <p:nvPr/>
        </p:nvSpPr>
        <p:spPr>
          <a:xfrm>
            <a:off x="6693408" y="1371600"/>
            <a:ext cx="4931359" cy="2651760"/>
          </a:xfrm>
          <a:prstGeom prst="roundRect">
            <a:avLst>
              <a:gd name="adj" fmla="val 310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6693408" y="1371600"/>
            <a:ext cx="493135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4" name="Text 12"/>
          <p:cNvSpPr txBox="1"/>
          <p:nvPr/>
        </p:nvSpPr>
        <p:spPr>
          <a:xfrm>
            <a:off x="6876288" y="1371600"/>
            <a:ext cx="456559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5" name="Text 13"/>
          <p:cNvSpPr txBox="1"/>
          <p:nvPr/>
        </p:nvSpPr>
        <p:spPr>
          <a:xfrm>
            <a:off x="6903720" y="1938528"/>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EXPECTATIVA</a:t>
            </a:r>
            <a:endParaRPr lang="en-US" sz="950" dirty="0"/>
          </a:p>
        </p:txBody>
      </p:sp>
      <p:sp>
        <p:nvSpPr>
          <p:cNvPr id="16" name="Text 14"/>
          <p:cNvSpPr txBox="1"/>
          <p:nvPr/>
        </p:nvSpPr>
        <p:spPr>
          <a:xfrm>
            <a:off x="6903720" y="2121408"/>
            <a:ext cx="451073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9.º grado · Álgebra II · 9.A · Determina e interpreta los ceros de una función cuadrática (verificar el código y el indicador exactos).</a:t>
            </a:r>
            <a:endParaRPr lang="en-US" sz="1130" dirty="0"/>
          </a:p>
        </p:txBody>
      </p:sp>
      <p:sp>
        <p:nvSpPr>
          <p:cNvPr id="17" name="Text 15"/>
          <p:cNvSpPr txBox="1"/>
          <p:nvPr/>
        </p:nvSpPr>
        <p:spPr>
          <a:xfrm>
            <a:off x="6903720" y="273361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18" name="Text 16"/>
          <p:cNvSpPr txBox="1"/>
          <p:nvPr/>
        </p:nvSpPr>
        <p:spPr>
          <a:xfrm>
            <a:off x="6903720" y="291649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2 · ejecuta un método y comunica cuál usó y por qué.</a:t>
            </a:r>
            <a:endParaRPr lang="en-US" sz="1130" dirty="0"/>
          </a:p>
        </p:txBody>
      </p:sp>
      <p:sp>
        <p:nvSpPr>
          <p:cNvPr id="19" name="Text 17"/>
          <p:cNvSpPr txBox="1"/>
          <p:nvPr/>
        </p:nvSpPr>
        <p:spPr>
          <a:xfrm>
            <a:off x="6903720" y="3181527"/>
            <a:ext cx="451073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20" name="Text 18"/>
          <p:cNvSpPr txBox="1"/>
          <p:nvPr/>
        </p:nvSpPr>
        <p:spPr>
          <a:xfrm>
            <a:off x="6903720" y="3364407"/>
            <a:ext cx="451073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2 puntos · baremo de respuesta corta</a:t>
            </a:r>
            <a:endParaRPr lang="en-US" sz="1130" dirty="0"/>
          </a:p>
        </p:txBody>
      </p:sp>
      <p:sp>
        <p:nvSpPr>
          <p:cNvPr id="21" name="Text 19"/>
          <p:cNvSpPr txBox="1"/>
          <p:nvPr/>
        </p:nvSpPr>
        <p:spPr>
          <a:xfrm>
            <a:off x="566928" y="4160520"/>
            <a:ext cx="57607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2 puntos</a:t>
            </a:r>
            <a:endParaRPr lang="en-US" sz="14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6928" y="4507992"/>
          <a:ext cx="576072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19379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Identifica x = 1 y x = 5 en la parte A y nombra y describe el método usado en la parte B.</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Identifica los dos ceros sin explicar el método, o describe correctamente un método válido con un error aritmético.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la respuesta no se refiere a la pregunta.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23" name="Shape 20"/>
          <p:cNvSpPr/>
          <p:nvPr/>
        </p:nvSpPr>
        <p:spPr>
          <a:xfrm>
            <a:off x="6693408" y="4160520"/>
            <a:ext cx="4931359" cy="1874520"/>
          </a:xfrm>
          <a:prstGeom prst="roundRect">
            <a:avLst>
              <a:gd name="adj" fmla="val 439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4" name="Text 21"/>
          <p:cNvSpPr txBox="1"/>
          <p:nvPr/>
        </p:nvSpPr>
        <p:spPr>
          <a:xfrm>
            <a:off x="6949440" y="4279392"/>
            <a:ext cx="448056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Respuestas posibles de 2 puntos</a:t>
            </a:r>
            <a:endParaRPr lang="en-US" sz="1400" dirty="0"/>
          </a:p>
        </p:txBody>
      </p:sp>
      <p:sp>
        <p:nvSpPr>
          <p:cNvPr id="25" name="Text 22"/>
          <p:cNvSpPr txBox="1"/>
          <p:nvPr/>
        </p:nvSpPr>
        <p:spPr>
          <a:xfrm>
            <a:off x="6949440" y="4626864"/>
            <a:ext cx="4434840" cy="1371600"/>
          </a:xfrm>
          <a:prstGeom prst="rect">
            <a:avLst/>
          </a:prstGeom>
          <a:noFill/>
          <a:ln/>
        </p:spPr>
        <p:txBody>
          <a:bodyPr wrap="square" lIns="0" tIns="0" rIns="0" bIns="0" rtlCol="0" anchor="ctr"/>
          <a:lstStyle/>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A: </a:t>
            </a:r>
            <a:r>
              <a:rPr lang="en-US" sz="1150" dirty="0">
                <a:solidFill>
                  <a:srgbClr val="22303F"/>
                </a:solidFill>
                <a:latin typeface="Calibri" pitchFamily="34" charset="0"/>
                <a:ea typeface="Calibri" pitchFamily="34" charset="-122"/>
                <a:cs typeface="Calibri" pitchFamily="34" charset="-120"/>
              </a:rPr>
              <a:t>x = 1  y  x = 5.</a:t>
            </a:r>
            <a:endParaRPr lang="en-US" sz="1150" dirty="0"/>
          </a:p>
          <a:p>
            <a:pPr marL="0" indent="0">
              <a:lnSpc>
                <a:spcPct val="104000"/>
              </a:lnSpc>
              <a:spcAft>
                <a:spcPts val="400"/>
              </a:spcAft>
              <a:buNone/>
            </a:pPr>
            <a:r>
              <a:rPr lang="en-US" sz="1150" b="1" dirty="0">
                <a:solidFill>
                  <a:srgbClr val="22303F"/>
                </a:solidFill>
                <a:latin typeface="Calibri" pitchFamily="34" charset="0"/>
                <a:ea typeface="Calibri" pitchFamily="34" charset="-122"/>
                <a:cs typeface="Calibri" pitchFamily="34" charset="-120"/>
              </a:rPr>
              <a:t>Parte B, cualquiera de estas vías:</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Factoricé: x² − 6x + 5 = (x − 1)(x − 5) = 0.</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Apliqué la fórmula cuadrática con a = 1, b = −6, c = 5.</a:t>
            </a:r>
            <a:endParaRPr lang="en-US" sz="1150" dirty="0"/>
          </a:p>
          <a:p>
            <a:pPr marL="342900" indent="-342900">
              <a:lnSpc>
                <a:spcPct val="104000"/>
              </a:lnSpc>
              <a:spcAft>
                <a:spcPts val="400"/>
              </a:spcAft>
              <a:buSzPct val="100000"/>
              <a:buChar char="▪"/>
            </a:pPr>
            <a:r>
              <a:rPr lang="en-US" sz="1150" dirty="0">
                <a:solidFill>
                  <a:srgbClr val="22303F"/>
                </a:solidFill>
                <a:latin typeface="Calibri" pitchFamily="34" charset="0"/>
                <a:ea typeface="Calibri" pitchFamily="34" charset="-122"/>
                <a:cs typeface="Calibri" pitchFamily="34" charset="-120"/>
              </a:rPr>
              <a:t>Grafiqué la parábola y leí los interceptos en x.</a:t>
            </a:r>
            <a:endParaRPr lang="en-US" sz="1150" dirty="0"/>
          </a:p>
        </p:txBody>
      </p:sp>
      <p:sp>
        <p:nvSpPr>
          <p:cNvPr id="26" name="Text 23"/>
          <p:cNvSpPr txBox="1"/>
          <p:nvPr/>
        </p:nvSpPr>
        <p:spPr>
          <a:xfrm>
            <a:off x="566928" y="6108192"/>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Respuesta abierta de aplicación  ·  12.º grado  ·  Estadísticas</a:t>
            </a:r>
            <a:endParaRPr lang="en-US" sz="2700" dirty="0"/>
          </a:p>
        </p:txBody>
      </p:sp>
      <p:sp>
        <p:nvSpPr>
          <p:cNvPr id="4" name="Shape 2"/>
          <p:cNvSpPr/>
          <p:nvPr/>
        </p:nvSpPr>
        <p:spPr>
          <a:xfrm>
            <a:off x="566928" y="1371600"/>
            <a:ext cx="5943600" cy="3520440"/>
          </a:xfrm>
          <a:prstGeom prst="roundRect">
            <a:avLst>
              <a:gd name="adj" fmla="val 1558"/>
            </a:avLst>
          </a:prstGeom>
          <a:solidFill>
            <a:srgbClr val="FFFFFF"/>
          </a:solidFill>
          <a:ln w="15875">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229868"/>
            <a:ext cx="2286000" cy="283464"/>
          </a:xfrm>
          <a:prstGeom prst="roundRect">
            <a:avLst>
              <a:gd name="adj" fmla="val 19355"/>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86384" y="1229868"/>
            <a:ext cx="2286000" cy="28346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ÍTEM · 5 PUNTOS · DOK 4</a:t>
            </a:r>
            <a:endParaRPr lang="en-US" sz="950" dirty="0"/>
          </a:p>
        </p:txBody>
      </p:sp>
      <p:sp>
        <p:nvSpPr>
          <p:cNvPr id="7" name="Text 5"/>
          <p:cNvSpPr txBox="1"/>
          <p:nvPr/>
        </p:nvSpPr>
        <p:spPr>
          <a:xfrm>
            <a:off x="841248" y="1627632"/>
            <a:ext cx="5394960" cy="310896"/>
          </a:xfrm>
          <a:prstGeom prst="rect">
            <a:avLst/>
          </a:prstGeom>
          <a:noFill/>
          <a:ln/>
        </p:spPr>
        <p:txBody>
          <a:bodyPr wrap="square" lIns="0" tIns="0" rIns="0" bIns="0" rtlCol="0" anchor="ctr"/>
          <a:lstStyle/>
          <a:p>
            <a:pPr marL="0" indent="0">
              <a:buNone/>
            </a:pPr>
            <a:r>
              <a:rPr lang="en-US" sz="1220" dirty="0">
                <a:solidFill>
                  <a:srgbClr val="22303F"/>
                </a:solidFill>
                <a:latin typeface="Calibri" pitchFamily="34" charset="0"/>
                <a:ea typeface="Calibri" pitchFamily="34" charset="-122"/>
                <a:cs typeface="Calibri" pitchFamily="34" charset="-120"/>
              </a:rPr>
              <a:t>Un maestro registró las puntuaciones de 10 estudiantes en una prueba de matemáticas:</a:t>
            </a:r>
            <a:endParaRPr lang="en-US" sz="1220" dirty="0"/>
          </a:p>
        </p:txBody>
      </p:sp>
      <p:sp>
        <p:nvSpPr>
          <p:cNvPr id="8" name="Shape 6"/>
          <p:cNvSpPr/>
          <p:nvPr/>
        </p:nvSpPr>
        <p:spPr>
          <a:xfrm>
            <a:off x="886968" y="1975104"/>
            <a:ext cx="5303520" cy="365760"/>
          </a:xfrm>
          <a:prstGeom prst="rect">
            <a:avLst/>
          </a:prstGeom>
          <a:solidFill>
            <a:srgbClr val="F8FAFC"/>
          </a:solidFill>
          <a:ln w="12700">
            <a:solidFill>
              <a:srgbClr val="5F6E7E"/>
            </a:solidFill>
            <a:prstDash val="solid"/>
          </a:ln>
        </p:spPr>
        <p:txBody>
          <a:bodyPr/>
          <a:lstStyle/>
          <a:p>
            <a:endParaRPr lang="en-PR"/>
          </a:p>
        </p:txBody>
      </p:sp>
      <p:sp>
        <p:nvSpPr>
          <p:cNvPr id="9" name="Text 7"/>
          <p:cNvSpPr txBox="1"/>
          <p:nvPr/>
        </p:nvSpPr>
        <p:spPr>
          <a:xfrm>
            <a:off x="886968" y="1975104"/>
            <a:ext cx="5303520" cy="365760"/>
          </a:xfrm>
          <a:prstGeom prst="rect">
            <a:avLst/>
          </a:prstGeom>
          <a:noFill/>
          <a:ln/>
        </p:spPr>
        <p:txBody>
          <a:bodyPr wrap="square" lIns="0" tIns="0" rIns="0" bIns="0" rtlCol="0" anchor="ctr"/>
          <a:lstStyle/>
          <a:p>
            <a:pPr marL="0" indent="0" algn="ctr">
              <a:buNone/>
            </a:pPr>
            <a:r>
              <a:rPr lang="en-US" sz="1250" b="1" dirty="0">
                <a:solidFill>
                  <a:srgbClr val="1F3864"/>
                </a:solidFill>
                <a:latin typeface="Calibri" pitchFamily="34" charset="0"/>
                <a:ea typeface="Calibri" pitchFamily="34" charset="-122"/>
                <a:cs typeface="Calibri" pitchFamily="34" charset="-120"/>
              </a:rPr>
              <a:t>72,   85,   90,   68,   95,   78,   88,   90,   74,   80</a:t>
            </a:r>
            <a:endParaRPr lang="en-US" sz="1250" dirty="0"/>
          </a:p>
        </p:txBody>
      </p:sp>
      <p:sp>
        <p:nvSpPr>
          <p:cNvPr id="10" name="Text 8"/>
          <p:cNvSpPr txBox="1"/>
          <p:nvPr/>
        </p:nvSpPr>
        <p:spPr>
          <a:xfrm>
            <a:off x="932688" y="2432304"/>
            <a:ext cx="5303520" cy="512064"/>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A.   Determina la media y la mediana del conjunto de datos. Muestra tu procedimiento.</a:t>
            </a:r>
            <a:endParaRPr lang="en-US" sz="1220" dirty="0"/>
          </a:p>
        </p:txBody>
      </p:sp>
      <p:sp>
        <p:nvSpPr>
          <p:cNvPr id="11" name="Text 9"/>
          <p:cNvSpPr txBox="1"/>
          <p:nvPr/>
        </p:nvSpPr>
        <p:spPr>
          <a:xfrm>
            <a:off x="932688" y="2889504"/>
            <a:ext cx="5303520" cy="512064"/>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B.   Determina el rango del conjunto de datos.</a:t>
            </a:r>
            <a:endParaRPr lang="en-US" sz="1220" dirty="0"/>
          </a:p>
        </p:txBody>
      </p:sp>
      <p:sp>
        <p:nvSpPr>
          <p:cNvPr id="12" name="Text 10"/>
          <p:cNvSpPr txBox="1"/>
          <p:nvPr/>
        </p:nvSpPr>
        <p:spPr>
          <a:xfrm>
            <a:off x="932688" y="3236976"/>
            <a:ext cx="5303520" cy="512064"/>
          </a:xfrm>
          <a:prstGeom prst="rect">
            <a:avLst/>
          </a:prstGeom>
          <a:noFill/>
          <a:ln/>
        </p:spPr>
        <p:txBody>
          <a:bodyPr wrap="square" lIns="0" tIns="0" rIns="0" bIns="0" rtlCol="0" anchor="ctr"/>
          <a:lstStyle/>
          <a:p>
            <a:pPr marL="0" indent="0">
              <a:lnSpc>
                <a:spcPct val="102000"/>
              </a:lnSpc>
              <a:buNone/>
            </a:pPr>
            <a:r>
              <a:rPr lang="en-US" sz="1220" b="1" dirty="0">
                <a:solidFill>
                  <a:srgbClr val="22303F"/>
                </a:solidFill>
                <a:latin typeface="Calibri" pitchFamily="34" charset="0"/>
                <a:ea typeface="Calibri" pitchFamily="34" charset="-122"/>
                <a:cs typeface="Calibri" pitchFamily="34" charset="-120"/>
              </a:rPr>
              <a:t>C.   Un estudiante afirma: «la mayoría de los estudiantes obtuvo 90 o más». Evalúa la afirmación usando los datos y justifica tu conclusión.</a:t>
            </a:r>
            <a:endParaRPr lang="en-US" sz="1220" dirty="0"/>
          </a:p>
        </p:txBody>
      </p:sp>
      <p:sp>
        <p:nvSpPr>
          <p:cNvPr id="13" name="Text 11"/>
          <p:cNvSpPr txBox="1"/>
          <p:nvPr/>
        </p:nvSpPr>
        <p:spPr>
          <a:xfrm>
            <a:off x="841248" y="4169664"/>
            <a:ext cx="5394960" cy="548640"/>
          </a:xfrm>
          <a:prstGeom prst="rect">
            <a:avLst/>
          </a:prstGeom>
          <a:noFill/>
          <a:ln/>
        </p:spPr>
        <p:txBody>
          <a:bodyPr wrap="square" lIns="0" tIns="0" rIns="0" bIns="0" rtlCol="0" anchor="ctr"/>
          <a:lstStyle/>
          <a:p>
            <a:pPr marL="0" indent="0">
              <a:lnSpc>
                <a:spcPct val="104000"/>
              </a:lnSpc>
              <a:buNone/>
            </a:pPr>
            <a:r>
              <a:rPr lang="en-US" sz="1120" i="1" dirty="0">
                <a:solidFill>
                  <a:srgbClr val="1F3864"/>
                </a:solidFill>
                <a:latin typeface="Calibri" pitchFamily="34" charset="0"/>
                <a:ea typeface="Calibri" pitchFamily="34" charset="-122"/>
                <a:cs typeface="Calibri" pitchFamily="34" charset="-120"/>
              </a:rPr>
              <a:t>Contesta todas las partes en el espacio provisto. Puedes organizar los datos en una tabla o en un diagrama antes de calcular.</a:t>
            </a:r>
            <a:endParaRPr lang="en-US" sz="1120" dirty="0"/>
          </a:p>
        </p:txBody>
      </p:sp>
      <p:sp>
        <p:nvSpPr>
          <p:cNvPr id="14" name="Shape 12"/>
          <p:cNvSpPr/>
          <p:nvPr/>
        </p:nvSpPr>
        <p:spPr>
          <a:xfrm>
            <a:off x="6876288" y="1371600"/>
            <a:ext cx="4748479" cy="3520440"/>
          </a:xfrm>
          <a:prstGeom prst="roundRect">
            <a:avLst>
              <a:gd name="adj" fmla="val 2338"/>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6876288" y="1371600"/>
            <a:ext cx="4748479" cy="457200"/>
          </a:xfrm>
          <a:prstGeom prst="roundRect">
            <a:avLst>
              <a:gd name="adj" fmla="val 18000"/>
            </a:avLst>
          </a:prstGeom>
          <a:solidFill>
            <a:srgbClr val="1B2A4A"/>
          </a:solidFill>
          <a:ln w="12700">
            <a:solidFill>
              <a:srgbClr val="1B2A4A"/>
            </a:solidFill>
            <a:prstDash val="solid"/>
          </a:ln>
        </p:spPr>
        <p:txBody>
          <a:bodyPr/>
          <a:lstStyle/>
          <a:p>
            <a:endParaRPr lang="en-PR"/>
          </a:p>
        </p:txBody>
      </p:sp>
      <p:sp>
        <p:nvSpPr>
          <p:cNvPr id="16" name="Text 14"/>
          <p:cNvSpPr txBox="1"/>
          <p:nvPr/>
        </p:nvSpPr>
        <p:spPr>
          <a:xfrm>
            <a:off x="7059168" y="1371600"/>
            <a:ext cx="4382719" cy="457200"/>
          </a:xfrm>
          <a:prstGeom prst="rect">
            <a:avLst/>
          </a:prstGeom>
          <a:noFill/>
          <a:ln/>
        </p:spPr>
        <p:txBody>
          <a:bodyPr wrap="square" lIns="0" tIns="0" rIns="0" bIns="0" rtlCol="0" anchor="ctr"/>
          <a:lstStyle/>
          <a:p>
            <a:pPr marL="0" indent="0">
              <a:buNone/>
            </a:pPr>
            <a:r>
              <a:rPr lang="en-US" sz="1050" b="1" kern="0" spc="140" dirty="0">
                <a:solidFill>
                  <a:srgbClr val="C9A84C"/>
                </a:solidFill>
                <a:latin typeface="Calibri" pitchFamily="34" charset="0"/>
                <a:ea typeface="Calibri" pitchFamily="34" charset="-122"/>
                <a:cs typeface="Calibri" pitchFamily="34" charset="-120"/>
              </a:rPr>
              <a:t>FICHA DE ALINEACIÓN</a:t>
            </a:r>
            <a:endParaRPr lang="en-US" sz="1050" dirty="0"/>
          </a:p>
        </p:txBody>
      </p:sp>
      <p:sp>
        <p:nvSpPr>
          <p:cNvPr id="17" name="Text 15"/>
          <p:cNvSpPr txBox="1"/>
          <p:nvPr/>
        </p:nvSpPr>
        <p:spPr>
          <a:xfrm>
            <a:off x="7086600" y="1938528"/>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CURSO / ESTÁNDAR</a:t>
            </a:r>
            <a:endParaRPr lang="en-US" sz="950" dirty="0"/>
          </a:p>
        </p:txBody>
      </p:sp>
      <p:sp>
        <p:nvSpPr>
          <p:cNvPr id="18" name="Text 16"/>
          <p:cNvSpPr txBox="1"/>
          <p:nvPr/>
        </p:nvSpPr>
        <p:spPr>
          <a:xfrm>
            <a:off x="7086600" y="2121408"/>
            <a:ext cx="43278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12.º grado · Estadísticas · Análisis de datos y probabilidad (E)</a:t>
            </a:r>
            <a:endParaRPr lang="en-US" sz="1130" dirty="0"/>
          </a:p>
        </p:txBody>
      </p:sp>
      <p:sp>
        <p:nvSpPr>
          <p:cNvPr id="19" name="Text 17"/>
          <p:cNvSpPr txBox="1"/>
          <p:nvPr/>
        </p:nvSpPr>
        <p:spPr>
          <a:xfrm>
            <a:off x="7086600" y="2560027"/>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EXPECTATIVA</a:t>
            </a:r>
            <a:endParaRPr lang="en-US" sz="950" dirty="0"/>
          </a:p>
        </p:txBody>
      </p:sp>
      <p:sp>
        <p:nvSpPr>
          <p:cNvPr id="20" name="Text 18"/>
          <p:cNvSpPr txBox="1"/>
          <p:nvPr/>
        </p:nvSpPr>
        <p:spPr>
          <a:xfrm>
            <a:off x="7086600" y="2742907"/>
            <a:ext cx="4327855" cy="61220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12.E · Calcula e interpreta medidas de tendencia central y de dispersión para evaluar afirmaciones sobre un conjunto de datos (verificar el código y el indicador exactos).</a:t>
            </a:r>
            <a:endParaRPr lang="en-US" sz="1130" dirty="0"/>
          </a:p>
        </p:txBody>
      </p:sp>
      <p:sp>
        <p:nvSpPr>
          <p:cNvPr id="21" name="Text 19"/>
          <p:cNvSpPr txBox="1"/>
          <p:nvPr/>
        </p:nvSpPr>
        <p:spPr>
          <a:xfrm>
            <a:off x="7086600" y="3355116"/>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DOK</a:t>
            </a:r>
            <a:endParaRPr lang="en-US" sz="950" dirty="0"/>
          </a:p>
        </p:txBody>
      </p:sp>
      <p:sp>
        <p:nvSpPr>
          <p:cNvPr id="22" name="Text 20"/>
          <p:cNvSpPr txBox="1"/>
          <p:nvPr/>
        </p:nvSpPr>
        <p:spPr>
          <a:xfrm>
            <a:off x="7086600" y="3537996"/>
            <a:ext cx="4327855" cy="438619"/>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Nivel 4 · conecta varias medidas, evalúa una afirmación ajena y construye un argumento con evidencia numérica.</a:t>
            </a:r>
            <a:endParaRPr lang="en-US" sz="1130" dirty="0"/>
          </a:p>
        </p:txBody>
      </p:sp>
      <p:sp>
        <p:nvSpPr>
          <p:cNvPr id="23" name="Text 21"/>
          <p:cNvSpPr txBox="1"/>
          <p:nvPr/>
        </p:nvSpPr>
        <p:spPr>
          <a:xfrm>
            <a:off x="7086600" y="3976616"/>
            <a:ext cx="4327855" cy="182880"/>
          </a:xfrm>
          <a:prstGeom prst="rect">
            <a:avLst/>
          </a:prstGeom>
          <a:noFill/>
          <a:ln/>
        </p:spPr>
        <p:txBody>
          <a:bodyPr wrap="square" lIns="0" tIns="0" rIns="0" bIns="0" rtlCol="0" anchor="ctr"/>
          <a:lstStyle/>
          <a:p>
            <a:pPr marL="0" indent="0">
              <a:buNone/>
            </a:pPr>
            <a:r>
              <a:rPr lang="en-US" sz="950" b="1" kern="0" spc="80" dirty="0">
                <a:solidFill>
                  <a:srgbClr val="C9A227"/>
                </a:solidFill>
                <a:latin typeface="Calibri" pitchFamily="34" charset="0"/>
                <a:ea typeface="Calibri" pitchFamily="34" charset="-122"/>
                <a:cs typeface="Calibri" pitchFamily="34" charset="-120"/>
              </a:rPr>
              <a:t>VALOR</a:t>
            </a:r>
            <a:endParaRPr lang="en-US" sz="950" dirty="0"/>
          </a:p>
        </p:txBody>
      </p:sp>
      <p:sp>
        <p:nvSpPr>
          <p:cNvPr id="24" name="Text 22"/>
          <p:cNvSpPr txBox="1"/>
          <p:nvPr/>
        </p:nvSpPr>
        <p:spPr>
          <a:xfrm>
            <a:off x="7086600" y="4159496"/>
            <a:ext cx="4327855" cy="265030"/>
          </a:xfrm>
          <a:prstGeom prst="rect">
            <a:avLst/>
          </a:prstGeom>
          <a:noFill/>
          <a:ln/>
        </p:spPr>
        <p:txBody>
          <a:bodyPr wrap="square" lIns="0" tIns="0" rIns="0" bIns="0" rtlCol="0" anchor="t"/>
          <a:lstStyle/>
          <a:p>
            <a:pPr marL="0" indent="0">
              <a:lnSpc>
                <a:spcPct val="100000"/>
              </a:lnSpc>
              <a:buNone/>
            </a:pPr>
            <a:r>
              <a:rPr lang="en-US" sz="1130" dirty="0">
                <a:solidFill>
                  <a:srgbClr val="22303F"/>
                </a:solidFill>
                <a:latin typeface="Calibri" pitchFamily="34" charset="0"/>
                <a:ea typeface="Calibri" pitchFamily="34" charset="-122"/>
                <a:cs typeface="Calibri" pitchFamily="34" charset="-120"/>
              </a:rPr>
              <a:t>5 puntos · baremo de cinco niveles</a:t>
            </a:r>
            <a:endParaRPr lang="en-US" sz="1130" dirty="0"/>
          </a:p>
        </p:txBody>
      </p:sp>
      <p:sp>
        <p:nvSpPr>
          <p:cNvPr id="25" name="Shape 23"/>
          <p:cNvSpPr/>
          <p:nvPr/>
        </p:nvSpPr>
        <p:spPr>
          <a:xfrm>
            <a:off x="566928" y="5074920"/>
            <a:ext cx="11057839" cy="896112"/>
          </a:xfrm>
          <a:prstGeom prst="roundRect">
            <a:avLst>
              <a:gd name="adj" fmla="val 9184"/>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6" name="Text 24"/>
          <p:cNvSpPr txBox="1"/>
          <p:nvPr/>
        </p:nvSpPr>
        <p:spPr>
          <a:xfrm>
            <a:off x="886968" y="5175504"/>
            <a:ext cx="10417759" cy="274320"/>
          </a:xfrm>
          <a:prstGeom prst="rect">
            <a:avLst/>
          </a:prstGeom>
          <a:noFill/>
          <a:ln/>
        </p:spPr>
        <p:txBody>
          <a:bodyPr wrap="square" lIns="0" tIns="0" rIns="0" bIns="0" rtlCol="0" anchor="ctr"/>
          <a:lstStyle/>
          <a:p>
            <a:pPr marL="0" indent="0">
              <a:buNone/>
            </a:pPr>
            <a:r>
              <a:rPr lang="en-US" sz="1350" b="1" dirty="0">
                <a:solidFill>
                  <a:srgbClr val="6E5610"/>
                </a:solidFill>
                <a:latin typeface="Cambria" pitchFamily="34" charset="0"/>
                <a:ea typeface="Cambria" pitchFamily="34" charset="-122"/>
                <a:cs typeface="Cambria" pitchFamily="34" charset="-120"/>
              </a:rPr>
              <a:t>Por qué este ítem alcanza DOK 4</a:t>
            </a:r>
            <a:endParaRPr lang="en-US" sz="1350" dirty="0"/>
          </a:p>
        </p:txBody>
      </p:sp>
      <p:sp>
        <p:nvSpPr>
          <p:cNvPr id="27" name="Text 25"/>
          <p:cNvSpPr txBox="1"/>
          <p:nvPr/>
        </p:nvSpPr>
        <p:spPr>
          <a:xfrm>
            <a:off x="886968" y="5458968"/>
            <a:ext cx="10417759" cy="457200"/>
          </a:xfrm>
          <a:prstGeom prst="rect">
            <a:avLst/>
          </a:prstGeom>
          <a:noFill/>
          <a:ln/>
        </p:spPr>
        <p:txBody>
          <a:bodyPr wrap="square" lIns="0" tIns="0" rIns="0" bIns="0" rtlCol="0" anchor="t"/>
          <a:lstStyle/>
          <a:p>
            <a:pPr marL="0" indent="0">
              <a:lnSpc>
                <a:spcPct val="103000"/>
              </a:lnSpc>
              <a:buNone/>
            </a:pPr>
            <a:r>
              <a:rPr lang="en-US" sz="1180" dirty="0">
                <a:solidFill>
                  <a:srgbClr val="6E5610"/>
                </a:solidFill>
                <a:latin typeface="Calibri" pitchFamily="34" charset="0"/>
                <a:ea typeface="Calibri" pitchFamily="34" charset="-122"/>
                <a:cs typeface="Calibri" pitchFamily="34" charset="-120"/>
              </a:rPr>
              <a:t>El estudiante no solo calcula: debe juzgar la validez de una afirmación que otra persona hizo, escoger cuál de las medidas calculadas sostiene su juicio y construir el argumento. Evaluar la afirmación de un tercero con evidencia propia es la marca del pensamiento extendido.</a:t>
            </a:r>
            <a:endParaRPr lang="en-US" sz="1180" dirty="0"/>
          </a:p>
        </p:txBody>
      </p:sp>
      <p:sp>
        <p:nvSpPr>
          <p:cNvPr id="28" name="Text 26"/>
          <p:cNvSpPr txBox="1"/>
          <p:nvPr/>
        </p:nvSpPr>
        <p:spPr>
          <a:xfrm>
            <a:off x="566928" y="614476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MODELO C</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Baremo de 5 puntos y respuestas posibles  ·  12.º grado</a:t>
            </a:r>
            <a:endParaRPr lang="en-US" sz="2700" dirty="0"/>
          </a:p>
        </p:txBody>
      </p:sp>
      <p:sp>
        <p:nvSpPr>
          <p:cNvPr id="4" name="Text 2"/>
          <p:cNvSpPr txBox="1"/>
          <p:nvPr/>
        </p:nvSpPr>
        <p:spPr>
          <a:xfrm>
            <a:off x="566928" y="1325880"/>
            <a:ext cx="594360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Baremo de 5 puntos</a:t>
            </a:r>
            <a:endParaRPr lang="en-US" sz="14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66928" y="1673352"/>
          <a:ext cx="5943600" cy="914400"/>
        </p:xfrm>
        <a:graphic>
          <a:graphicData uri="http://schemas.openxmlformats.org/drawingml/2006/table">
            <a:tbl>
              <a:tblPr/>
              <a:tblGrid>
                <a:gridCol w="566928">
                  <a:extLst>
                    <a:ext uri="{9D8B030D-6E8A-4147-A177-3AD203B41FA5}">
                      <a16:colId xmlns:a16="http://schemas.microsoft.com/office/drawing/2014/main" val="20000"/>
                    </a:ext>
                  </a:extLst>
                </a:gridCol>
                <a:gridCol w="5376672">
                  <a:extLst>
                    <a:ext uri="{9D8B030D-6E8A-4147-A177-3AD203B41FA5}">
                      <a16:colId xmlns:a16="http://schemas.microsoft.com/office/drawing/2014/main" val="20001"/>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Pts.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Descripción del desempeño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Organiza los datos, calcula media y mediana con procedimiento, determina el rango y evalúa la afirmación con evidencia numérica explícita.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Cumple todo lo anterior salvo la organización previa de los datos, o la justificación de C es correcta pero incompleta.</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Calcula correctamente media y mediana con procedimiento, pero falla el rango o no evalúa la afirmación.</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Hace un procedimiento correcto y obtiene una sola de las medidas solicitadas.</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Solo escribe una contestación correcta sin procedimiento.</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84048">
                <a:tc>
                  <a:txBody>
                    <a:bodyPr/>
                    <a:lstStyle/>
                    <a:p>
                      <a:pPr marL="0" indent="0" algn="ctr">
                        <a:buNone/>
                      </a:pPr>
                      <a:r>
                        <a:rPr lang="en-US" sz="1080" b="1" dirty="0">
                          <a:solidFill>
                            <a:srgbClr val="22303F"/>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80" dirty="0">
                          <a:solidFill>
                            <a:srgbClr val="22303F"/>
                          </a:solidFill>
                          <a:latin typeface="Calibri" pitchFamily="34" charset="0"/>
                          <a:ea typeface="Calibri" pitchFamily="34" charset="-122"/>
                          <a:cs typeface="Calibri" pitchFamily="34" charset="-120"/>
                        </a:rPr>
                        <a:t>No responde, o el procedimiento no corresponde a los datos ofrecidos.</a:t>
                      </a:r>
                      <a:endParaRPr lang="en-US" sz="108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6" name="Shape 3"/>
          <p:cNvSpPr/>
          <p:nvPr/>
        </p:nvSpPr>
        <p:spPr>
          <a:xfrm>
            <a:off x="6876288" y="1325880"/>
            <a:ext cx="4748479" cy="4846320"/>
          </a:xfrm>
          <a:prstGeom prst="roundRect">
            <a:avLst>
              <a:gd name="adj" fmla="val 173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7132320" y="1463040"/>
            <a:ext cx="420624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Respuesta de 5 puntos</a:t>
            </a:r>
            <a:endParaRPr lang="en-US" sz="1500" dirty="0"/>
          </a:p>
        </p:txBody>
      </p:sp>
      <p:sp>
        <p:nvSpPr>
          <p:cNvPr id="8" name="Text 5"/>
          <p:cNvSpPr txBox="1"/>
          <p:nvPr/>
        </p:nvSpPr>
        <p:spPr>
          <a:xfrm>
            <a:off x="7132320" y="1828800"/>
            <a:ext cx="4160520" cy="2788920"/>
          </a:xfrm>
          <a:prstGeom prst="rect">
            <a:avLst/>
          </a:prstGeom>
          <a:noFill/>
          <a:ln/>
        </p:spPr>
        <p:txBody>
          <a:bodyPr wrap="square" lIns="0" tIns="0" rIns="0" bIns="0" rtlCol="0" anchor="ctr"/>
          <a:lstStyle/>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Datos ordenados: </a:t>
            </a:r>
            <a:r>
              <a:rPr lang="en-US" sz="1160" dirty="0">
                <a:solidFill>
                  <a:srgbClr val="22303F"/>
                </a:solidFill>
                <a:latin typeface="Calibri" pitchFamily="34" charset="0"/>
                <a:ea typeface="Calibri" pitchFamily="34" charset="-122"/>
                <a:cs typeface="Calibri" pitchFamily="34" charset="-120"/>
              </a:rPr>
              <a:t>68, 72, 74, 78, 80, 85, 88, 90, 90, 95.</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A · Media: </a:t>
            </a:r>
            <a:r>
              <a:rPr lang="en-US" sz="1160" dirty="0">
                <a:solidFill>
                  <a:srgbClr val="22303F"/>
                </a:solidFill>
                <a:latin typeface="Calibri" pitchFamily="34" charset="0"/>
                <a:ea typeface="Calibri" pitchFamily="34" charset="-122"/>
                <a:cs typeface="Calibri" pitchFamily="34" charset="-120"/>
              </a:rPr>
              <a:t>820 ÷ 10 = 82.</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A · Mediana: </a:t>
            </a:r>
            <a:r>
              <a:rPr lang="en-US" sz="1160" dirty="0">
                <a:solidFill>
                  <a:srgbClr val="22303F"/>
                </a:solidFill>
                <a:latin typeface="Calibri" pitchFamily="34" charset="0"/>
                <a:ea typeface="Calibri" pitchFamily="34" charset="-122"/>
                <a:cs typeface="Calibri" pitchFamily="34" charset="-120"/>
              </a:rPr>
              <a:t>(80 + 85) ÷ 2 = 82.5.</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B · Rango: </a:t>
            </a:r>
            <a:r>
              <a:rPr lang="en-US" sz="1160" dirty="0">
                <a:solidFill>
                  <a:srgbClr val="22303F"/>
                </a:solidFill>
                <a:latin typeface="Calibri" pitchFamily="34" charset="0"/>
                <a:ea typeface="Calibri" pitchFamily="34" charset="-122"/>
                <a:cs typeface="Calibri" pitchFamily="34" charset="-120"/>
              </a:rPr>
              <a:t>95 − 68 = 27.</a:t>
            </a:r>
            <a:endParaRPr lang="en-US" sz="1160" dirty="0"/>
          </a:p>
          <a:p>
            <a:pPr marL="0" indent="0">
              <a:lnSpc>
                <a:spcPct val="105000"/>
              </a:lnSpc>
              <a:spcAft>
                <a:spcPts val="500"/>
              </a:spcAft>
              <a:buNone/>
            </a:pPr>
            <a:r>
              <a:rPr lang="en-US" sz="1160" b="1" dirty="0">
                <a:solidFill>
                  <a:srgbClr val="22303F"/>
                </a:solidFill>
                <a:latin typeface="Calibri" pitchFamily="34" charset="0"/>
                <a:ea typeface="Calibri" pitchFamily="34" charset="-122"/>
                <a:cs typeface="Calibri" pitchFamily="34" charset="-120"/>
              </a:rPr>
              <a:t>C · Evaluación: </a:t>
            </a:r>
            <a:r>
              <a:rPr lang="en-US" sz="1160" dirty="0">
                <a:solidFill>
                  <a:srgbClr val="22303F"/>
                </a:solidFill>
                <a:latin typeface="Calibri" pitchFamily="34" charset="0"/>
                <a:ea typeface="Calibri" pitchFamily="34" charset="-122"/>
                <a:cs typeface="Calibri" pitchFamily="34" charset="-120"/>
              </a:rPr>
              <a:t>la afirmación es incorrecta. Solo 3 de los 10 estudiantes (90, 90 y 95) obtuvieron 90 o más; eso es el 30 %, que no constituye una mayoría. La mediana de 82.5 confirma que la mitad del grupo quedó por debajo de 83.</a:t>
            </a:r>
            <a:endParaRPr lang="en-US" sz="1160" dirty="0"/>
          </a:p>
        </p:txBody>
      </p:sp>
      <p:sp>
        <p:nvSpPr>
          <p:cNvPr id="9" name="Text 6"/>
          <p:cNvSpPr txBox="1"/>
          <p:nvPr/>
        </p:nvSpPr>
        <p:spPr>
          <a:xfrm>
            <a:off x="7132320" y="4846320"/>
            <a:ext cx="4160520" cy="1097280"/>
          </a:xfrm>
          <a:prstGeom prst="rect">
            <a:avLst/>
          </a:prstGeom>
          <a:noFill/>
          <a:ln/>
        </p:spPr>
        <p:txBody>
          <a:bodyPr wrap="square" lIns="0" tIns="0" rIns="0" bIns="0" rtlCol="0" anchor="ctr"/>
          <a:lstStyle/>
          <a:p>
            <a:pPr marL="0" indent="0">
              <a:lnSpc>
                <a:spcPct val="104000"/>
              </a:lnSpc>
              <a:buNone/>
            </a:pPr>
            <a:r>
              <a:rPr lang="en-US" sz="1080" i="1" dirty="0">
                <a:solidFill>
                  <a:srgbClr val="5F6E7E"/>
                </a:solidFill>
                <a:latin typeface="Calibri" pitchFamily="34" charset="0"/>
                <a:ea typeface="Calibri" pitchFamily="34" charset="-122"/>
                <a:cs typeface="Calibri" pitchFamily="34" charset="-120"/>
              </a:rPr>
              <a:t>Nota para el maestro: la media (82) y la mediana (82.5) son casi iguales, lo que indica una distribución sin valores extremos que la distorsionen. Ese dato puede convertirse en una parte D opcional.</a:t>
            </a:r>
            <a:endParaRPr lang="en-US" sz="1080" dirty="0"/>
          </a:p>
        </p:txBody>
      </p:sp>
      <p:sp>
        <p:nvSpPr>
          <p:cNvPr id="10" name="Text 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Baremo adaptado de la Planilla de especificaciones (Corraliza Montero, ORE-Ponce).</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7  ·  PLANILLA</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Planilla de especificaciones  ·  ejemplo de 10.º grado (Geometría)</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Prueba de Geometría  ·  10.º grado  ·  40 puntos  ·  duración estimada: 70 minutos</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3925519">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Destrezas cubiertas en la prueba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Cantidad de ejercicios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 de cada ejercicio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Puntos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Nivel de profundidad / DOK</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Peso en la prueba %</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Relaciones entre ángulos y rectas paralelas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10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25 %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Teorema de Pitágoras y triángulos rectángulos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 selección múltiple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15 %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Área y volumen: procedimiento y comunicación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respuesta abierta sencilla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 – 3</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Modelación geométrica de una situación real  (10.G)</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respuesta abierta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24 ejercicios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r>
                        <a:rPr lang="en-US" sz="1100" b="1" dirty="0">
                          <a:solidFill>
                            <a:srgbClr val="22303F"/>
                          </a:solidFill>
                          <a:latin typeface="Calibri" pitchFamily="34" charset="0"/>
                          <a:ea typeface="Calibri" pitchFamily="34" charset="-122"/>
                          <a:cs typeface="Calibri" pitchFamily="34" charset="-120"/>
                        </a:rPr>
                        <a:t>100 %</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846320"/>
            <a:ext cx="3520440" cy="1371600"/>
          </a:xfrm>
          <a:prstGeom prst="roundRect">
            <a:avLst>
              <a:gd name="adj" fmla="val 60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7" name="Text 4"/>
          <p:cNvSpPr txBox="1"/>
          <p:nvPr/>
        </p:nvSpPr>
        <p:spPr>
          <a:xfrm>
            <a:off x="822960" y="4974336"/>
            <a:ext cx="3017520" cy="274320"/>
          </a:xfrm>
          <a:prstGeom prst="rect">
            <a:avLst/>
          </a:prstGeom>
          <a:noFill/>
          <a:ln/>
        </p:spPr>
        <p:txBody>
          <a:bodyPr wrap="square" lIns="0" tIns="0" rIns="0" bIns="0" rtlCol="0" anchor="ctr"/>
          <a:lstStyle/>
          <a:p>
            <a:pPr marL="0" indent="0">
              <a:buNone/>
            </a:pPr>
            <a:r>
              <a:rPr lang="en-US" sz="1150" b="1" dirty="0">
                <a:solidFill>
                  <a:srgbClr val="C9A84C"/>
                </a:solidFill>
                <a:latin typeface="Calibri" pitchFamily="34" charset="0"/>
                <a:ea typeface="Calibri" pitchFamily="34" charset="-122"/>
                <a:cs typeface="Calibri" pitchFamily="34" charset="-120"/>
              </a:rPr>
              <a:t>Puntuación mínima de ejecución</a:t>
            </a:r>
            <a:endParaRPr lang="en-US" sz="1150" dirty="0"/>
          </a:p>
        </p:txBody>
      </p:sp>
      <p:sp>
        <p:nvSpPr>
          <p:cNvPr id="8" name="Text 5"/>
          <p:cNvSpPr txBox="1"/>
          <p:nvPr/>
        </p:nvSpPr>
        <p:spPr>
          <a:xfrm>
            <a:off x="822960" y="5266944"/>
            <a:ext cx="30175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28 / 40</a:t>
            </a:r>
            <a:endParaRPr lang="en-US" sz="3000" dirty="0"/>
          </a:p>
        </p:txBody>
      </p:sp>
      <p:sp>
        <p:nvSpPr>
          <p:cNvPr id="9" name="Text 6"/>
          <p:cNvSpPr txBox="1"/>
          <p:nvPr/>
        </p:nvSpPr>
        <p:spPr>
          <a:xfrm>
            <a:off x="822960" y="5815584"/>
            <a:ext cx="3017520" cy="274320"/>
          </a:xfrm>
          <a:prstGeom prst="rect">
            <a:avLst/>
          </a:prstGeom>
          <a:noFill/>
          <a:ln/>
        </p:spPr>
        <p:txBody>
          <a:bodyPr wrap="square" lIns="0" tIns="0" rIns="0" bIns="0" rtlCol="0" anchor="ctr"/>
          <a:lstStyle/>
          <a:p>
            <a:pPr marL="0" indent="0">
              <a:buNone/>
            </a:pPr>
            <a:r>
              <a:rPr lang="en-US" sz="1100" dirty="0">
                <a:solidFill>
                  <a:srgbClr val="C6D2E0"/>
                </a:solidFill>
                <a:latin typeface="Calibri" pitchFamily="34" charset="0"/>
                <a:ea typeface="Calibri" pitchFamily="34" charset="-122"/>
                <a:cs typeface="Calibri" pitchFamily="34" charset="-120"/>
              </a:rPr>
              <a:t>70 % de 40 puntos</a:t>
            </a:r>
            <a:endParaRPr lang="en-US" sz="1100" dirty="0"/>
          </a:p>
        </p:txBody>
      </p:sp>
      <p:sp>
        <p:nvSpPr>
          <p:cNvPr id="10" name="Shape 7"/>
          <p:cNvSpPr/>
          <p:nvPr/>
        </p:nvSpPr>
        <p:spPr>
          <a:xfrm>
            <a:off x="4361688" y="4846320"/>
            <a:ext cx="3520440" cy="1371600"/>
          </a:xfrm>
          <a:prstGeom prst="roundRect">
            <a:avLst>
              <a:gd name="adj" fmla="val 6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8"/>
          <p:cNvSpPr txBox="1"/>
          <p:nvPr/>
        </p:nvSpPr>
        <p:spPr>
          <a:xfrm>
            <a:off x="4617720" y="4974336"/>
            <a:ext cx="3017520" cy="274320"/>
          </a:xfrm>
          <a:prstGeom prst="rect">
            <a:avLst/>
          </a:prstGeom>
          <a:noFill/>
          <a:ln/>
        </p:spPr>
        <p:txBody>
          <a:bodyPr wrap="square" lIns="0" tIns="0" rIns="0" bIns="0" rtlCol="0" anchor="ctr"/>
          <a:lstStyle/>
          <a:p>
            <a:pPr marL="0" indent="0">
              <a:buNone/>
            </a:pPr>
            <a:r>
              <a:rPr lang="en-US" sz="1150" b="1" dirty="0">
                <a:solidFill>
                  <a:srgbClr val="6E5610"/>
                </a:solidFill>
                <a:latin typeface="Calibri" pitchFamily="34" charset="0"/>
                <a:ea typeface="Calibri" pitchFamily="34" charset="-122"/>
                <a:cs typeface="Calibri" pitchFamily="34" charset="-120"/>
              </a:rPr>
              <a:t>Puntuación en DOK 3 y 4</a:t>
            </a:r>
            <a:endParaRPr lang="en-US" sz="1150" dirty="0"/>
          </a:p>
        </p:txBody>
      </p:sp>
      <p:sp>
        <p:nvSpPr>
          <p:cNvPr id="12" name="Text 9"/>
          <p:cNvSpPr txBox="1"/>
          <p:nvPr/>
        </p:nvSpPr>
        <p:spPr>
          <a:xfrm>
            <a:off x="4617720" y="5266944"/>
            <a:ext cx="3017520" cy="548640"/>
          </a:xfrm>
          <a:prstGeom prst="rect">
            <a:avLst/>
          </a:prstGeom>
          <a:noFill/>
          <a:ln/>
        </p:spPr>
        <p:txBody>
          <a:bodyPr wrap="square" lIns="0" tIns="0" rIns="0" bIns="0" rtlCol="0" anchor="ctr"/>
          <a:lstStyle/>
          <a:p>
            <a:pPr marL="0" indent="0">
              <a:buNone/>
            </a:pPr>
            <a:r>
              <a:rPr lang="en-US" sz="3000" b="1" dirty="0">
                <a:solidFill>
                  <a:srgbClr val="6E5610"/>
                </a:solidFill>
                <a:latin typeface="Cambria" pitchFamily="34" charset="0"/>
                <a:ea typeface="Cambria" pitchFamily="34" charset="-122"/>
                <a:cs typeface="Cambria" pitchFamily="34" charset="-120"/>
              </a:rPr>
              <a:t>40 %</a:t>
            </a:r>
            <a:endParaRPr lang="en-US" sz="3000" dirty="0"/>
          </a:p>
        </p:txBody>
      </p:sp>
      <p:sp>
        <p:nvSpPr>
          <p:cNvPr id="13" name="Text 10"/>
          <p:cNvSpPr txBox="1"/>
          <p:nvPr/>
        </p:nvSpPr>
        <p:spPr>
          <a:xfrm>
            <a:off x="4617720" y="5815584"/>
            <a:ext cx="3017520" cy="274320"/>
          </a:xfrm>
          <a:prstGeom prst="rect">
            <a:avLst/>
          </a:prstGeom>
          <a:noFill/>
          <a:ln/>
        </p:spPr>
        <p:txBody>
          <a:bodyPr wrap="square" lIns="0" tIns="0" rIns="0" bIns="0" rtlCol="0" anchor="ctr"/>
          <a:lstStyle/>
          <a:p>
            <a:pPr marL="0" indent="0">
              <a:buNone/>
            </a:pPr>
            <a:r>
              <a:rPr lang="en-US" sz="1100" dirty="0">
                <a:solidFill>
                  <a:srgbClr val="8A6D12"/>
                </a:solidFill>
                <a:latin typeface="Calibri" pitchFamily="34" charset="0"/>
                <a:ea typeface="Calibri" pitchFamily="34" charset="-122"/>
                <a:cs typeface="Calibri" pitchFamily="34" charset="-120"/>
              </a:rPr>
              <a:t>16 de los 40 puntos exigen modelar o justificar</a:t>
            </a:r>
            <a:endParaRPr lang="en-US" sz="1100" dirty="0"/>
          </a:p>
        </p:txBody>
      </p:sp>
      <p:sp>
        <p:nvSpPr>
          <p:cNvPr id="14" name="Shape 11"/>
          <p:cNvSpPr/>
          <p:nvPr/>
        </p:nvSpPr>
        <p:spPr>
          <a:xfrm>
            <a:off x="8156448" y="4846320"/>
            <a:ext cx="3468319" cy="1371600"/>
          </a:xfrm>
          <a:prstGeom prst="roundRect">
            <a:avLst>
              <a:gd name="adj" fmla="val 6000"/>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15" name="Text 12"/>
          <p:cNvSpPr txBox="1"/>
          <p:nvPr/>
        </p:nvSpPr>
        <p:spPr>
          <a:xfrm>
            <a:off x="8412480" y="4974336"/>
            <a:ext cx="2926080" cy="274320"/>
          </a:xfrm>
          <a:prstGeom prst="rect">
            <a:avLst/>
          </a:prstGeom>
          <a:noFill/>
          <a:ln/>
        </p:spPr>
        <p:txBody>
          <a:bodyPr wrap="square" lIns="0" tIns="0" rIns="0" bIns="0" rtlCol="0" anchor="ctr"/>
          <a:lstStyle/>
          <a:p>
            <a:pPr marL="0" indent="0">
              <a:buNone/>
            </a:pPr>
            <a:r>
              <a:rPr lang="en-US" sz="1150" b="1" dirty="0">
                <a:solidFill>
                  <a:srgbClr val="17624F"/>
                </a:solidFill>
                <a:latin typeface="Calibri" pitchFamily="34" charset="0"/>
                <a:ea typeface="Calibri" pitchFamily="34" charset="-122"/>
                <a:cs typeface="Calibri" pitchFamily="34" charset="-120"/>
              </a:rPr>
              <a:t>Comparación entre los tres niveles</a:t>
            </a:r>
            <a:endParaRPr lang="en-US" sz="1150" dirty="0"/>
          </a:p>
        </p:txBody>
      </p:sp>
      <p:sp>
        <p:nvSpPr>
          <p:cNvPr id="16" name="Text 13"/>
          <p:cNvSpPr txBox="1"/>
          <p:nvPr/>
        </p:nvSpPr>
        <p:spPr>
          <a:xfrm>
            <a:off x="8412480" y="5303520"/>
            <a:ext cx="3017520" cy="822960"/>
          </a:xfrm>
          <a:prstGeom prst="rect">
            <a:avLst/>
          </a:prstGeom>
          <a:noFill/>
          <a:ln/>
        </p:spPr>
        <p:txBody>
          <a:bodyPr wrap="square" lIns="0" tIns="0" rIns="0" bIns="0" rtlCol="0" anchor="ctr"/>
          <a:lstStyle/>
          <a:p>
            <a:pPr marL="0" indent="0">
              <a:lnSpc>
                <a:spcPct val="106000"/>
              </a:lnSpc>
              <a:buNone/>
            </a:pPr>
            <a:r>
              <a:rPr lang="en-US" sz="1150" dirty="0">
                <a:solidFill>
                  <a:srgbClr val="17624F"/>
                </a:solidFill>
                <a:latin typeface="Calibri" pitchFamily="34" charset="0"/>
                <a:ea typeface="Calibri" pitchFamily="34" charset="-122"/>
                <a:cs typeface="Calibri" pitchFamily="34" charset="-120"/>
              </a:rPr>
              <a:t>4.º grado: 40 % en DOK 3–4</a:t>
            </a:r>
            <a:endParaRPr lang="en-US" sz="1150" dirty="0"/>
          </a:p>
          <a:p>
            <a:pPr marL="0" indent="0">
              <a:lnSpc>
                <a:spcPct val="106000"/>
              </a:lnSpc>
              <a:buNone/>
            </a:pPr>
            <a:r>
              <a:rPr lang="en-US" sz="1150" dirty="0">
                <a:solidFill>
                  <a:srgbClr val="17624F"/>
                </a:solidFill>
                <a:latin typeface="Calibri" pitchFamily="34" charset="0"/>
                <a:ea typeface="Calibri" pitchFamily="34" charset="-122"/>
                <a:cs typeface="Calibri" pitchFamily="34" charset="-120"/>
              </a:rPr>
              <a:t>7.º grado: 33 % en DOK 3–4</a:t>
            </a:r>
            <a:endParaRPr lang="en-US" sz="1150" dirty="0"/>
          </a:p>
          <a:p>
            <a:pPr marL="0" indent="0">
              <a:lnSpc>
                <a:spcPct val="106000"/>
              </a:lnSpc>
              <a:buNone/>
            </a:pPr>
            <a:r>
              <a:rPr lang="en-US" sz="1150" dirty="0">
                <a:solidFill>
                  <a:srgbClr val="17624F"/>
                </a:solidFill>
                <a:latin typeface="Calibri" pitchFamily="34" charset="0"/>
                <a:ea typeface="Calibri" pitchFamily="34" charset="-122"/>
                <a:cs typeface="Calibri" pitchFamily="34" charset="-120"/>
              </a:rPr>
              <a:t>10.º grado: 40 % en DOK 3–4</a:t>
            </a:r>
            <a:endParaRPr lang="en-US" sz="1150" dirty="0"/>
          </a:p>
        </p:txBody>
      </p:sp>
      <p:sp>
        <p:nvSpPr>
          <p:cNvPr id="17" name="Text 14"/>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1000" i="1" dirty="0">
                <a:solidFill>
                  <a:srgbClr val="A8322D"/>
                </a:solidFill>
                <a:latin typeface="Calibri" pitchFamily="34" charset="0"/>
                <a:ea typeface="Calibri" pitchFamily="34" charset="-122"/>
                <a:cs typeface="Calibri" pitchFamily="34" charset="-120"/>
              </a:rPr>
              <a:t>⚠  Los códigos de expectativa son ilustrativos del formato oficial. Verifique el código exacto en Estándares y expectativas — Programa de Matemáticas (DEPR, 2022) antes de usarlos.</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8</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La planilla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especificaciones</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30 minutos  ·  El plano del examen antes de construirlo</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Las seis columnas y qué decide cada una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Cómo se calculan pesos, dominio y tiempo</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De la corrección a la reenseñanza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Errores frecuentes al completarla</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8</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Las seis columnas de la planilla y qué decide cada una</a:t>
            </a:r>
            <a:endParaRPr lang="en-US" sz="2700" dirty="0"/>
          </a:p>
        </p:txBody>
      </p:sp>
      <p:sp>
        <p:nvSpPr>
          <p:cNvPr id="4" name="Shape 2"/>
          <p:cNvSpPr/>
          <p:nvPr/>
        </p:nvSpPr>
        <p:spPr>
          <a:xfrm>
            <a:off x="566928"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1B2A4A"/>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26464"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Destrezas cubiertas en la prueba</a:t>
            </a:r>
            <a:endParaRPr lang="en-US" sz="1450" dirty="0"/>
          </a:p>
        </p:txBody>
      </p:sp>
      <p:sp>
        <p:nvSpPr>
          <p:cNvPr id="8" name="Text 6"/>
          <p:cNvSpPr txBox="1"/>
          <p:nvPr/>
        </p:nvSpPr>
        <p:spPr>
          <a:xfrm>
            <a:off x="804672"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expectativa o el indicador del Programa de Matemáticas que se va a medir, escrito con su código. Una fila por destreza.</a:t>
            </a:r>
            <a:endParaRPr lang="en-US" sz="1200" dirty="0"/>
          </a:p>
        </p:txBody>
      </p:sp>
      <p:sp>
        <p:nvSpPr>
          <p:cNvPr id="9" name="Shape 7"/>
          <p:cNvSpPr/>
          <p:nvPr/>
        </p:nvSpPr>
        <p:spPr>
          <a:xfrm>
            <a:off x="6251296" y="1325880"/>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6489040" y="1545336"/>
            <a:ext cx="457200" cy="457200"/>
          </a:xfrm>
          <a:prstGeom prst="ellipse">
            <a:avLst/>
          </a:prstGeom>
          <a:solidFill>
            <a:srgbClr val="1F3864"/>
          </a:solidFill>
          <a:ln/>
        </p:spPr>
        <p:txBody>
          <a:bodyPr/>
          <a:lstStyle/>
          <a:p>
            <a:endParaRPr lang="en-PR"/>
          </a:p>
        </p:txBody>
      </p:sp>
      <p:sp>
        <p:nvSpPr>
          <p:cNvPr id="11" name="Text 9"/>
          <p:cNvSpPr txBox="1"/>
          <p:nvPr/>
        </p:nvSpPr>
        <p:spPr>
          <a:xfrm>
            <a:off x="648904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10832" y="1527048"/>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Cantidad de ejercicios</a:t>
            </a:r>
            <a:endParaRPr lang="en-US" sz="1450" dirty="0"/>
          </a:p>
        </p:txBody>
      </p:sp>
      <p:sp>
        <p:nvSpPr>
          <p:cNvPr id="13" name="Text 11"/>
          <p:cNvSpPr txBox="1"/>
          <p:nvPr/>
        </p:nvSpPr>
        <p:spPr>
          <a:xfrm>
            <a:off x="6489040" y="2148840"/>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Cuántos ítems miden esa destreza y de qué tipo. Ninguna destreza importante se mide con un solo ítem.</a:t>
            </a:r>
            <a:endParaRPr lang="en-US" sz="1200" dirty="0"/>
          </a:p>
        </p:txBody>
      </p:sp>
      <p:sp>
        <p:nvSpPr>
          <p:cNvPr id="14" name="Shape 12"/>
          <p:cNvSpPr/>
          <p:nvPr/>
        </p:nvSpPr>
        <p:spPr>
          <a:xfrm>
            <a:off x="566928"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04672" y="3264408"/>
            <a:ext cx="457200" cy="457200"/>
          </a:xfrm>
          <a:prstGeom prst="ellipse">
            <a:avLst/>
          </a:prstGeom>
          <a:solidFill>
            <a:srgbClr val="2A9D8F"/>
          </a:solidFill>
          <a:ln/>
        </p:spPr>
        <p:txBody>
          <a:bodyPr/>
          <a:lstStyle/>
          <a:p>
            <a:endParaRPr lang="en-PR"/>
          </a:p>
        </p:txBody>
      </p:sp>
      <p:sp>
        <p:nvSpPr>
          <p:cNvPr id="16" name="Text 14"/>
          <p:cNvSpPr txBox="1"/>
          <p:nvPr/>
        </p:nvSpPr>
        <p:spPr>
          <a:xfrm>
            <a:off x="804672"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26464"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Valor de los ejercicios</a:t>
            </a:r>
            <a:endParaRPr lang="en-US" sz="1450" dirty="0"/>
          </a:p>
        </p:txBody>
      </p:sp>
      <p:sp>
        <p:nvSpPr>
          <p:cNvPr id="18" name="Text 16"/>
          <p:cNvSpPr txBox="1"/>
          <p:nvPr/>
        </p:nvSpPr>
        <p:spPr>
          <a:xfrm>
            <a:off x="804672"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Puntos por ítem. La selección múltiple vale 1; la respuesta abierta, entre 2 y 5 según el baremo escogido.</a:t>
            </a:r>
            <a:endParaRPr lang="en-US" sz="1200" dirty="0"/>
          </a:p>
        </p:txBody>
      </p:sp>
      <p:sp>
        <p:nvSpPr>
          <p:cNvPr id="19" name="Shape 17"/>
          <p:cNvSpPr/>
          <p:nvPr/>
        </p:nvSpPr>
        <p:spPr>
          <a:xfrm>
            <a:off x="6251296" y="3044952"/>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6489040" y="3264408"/>
            <a:ext cx="457200" cy="457200"/>
          </a:xfrm>
          <a:prstGeom prst="ellipse">
            <a:avLst/>
          </a:prstGeom>
          <a:solidFill>
            <a:srgbClr val="4A6FA5"/>
          </a:solidFill>
          <a:ln/>
        </p:spPr>
        <p:txBody>
          <a:bodyPr/>
          <a:lstStyle/>
          <a:p>
            <a:endParaRPr lang="en-PR"/>
          </a:p>
        </p:txBody>
      </p:sp>
      <p:sp>
        <p:nvSpPr>
          <p:cNvPr id="21" name="Text 19"/>
          <p:cNvSpPr txBox="1"/>
          <p:nvPr/>
        </p:nvSpPr>
        <p:spPr>
          <a:xfrm>
            <a:off x="6489040" y="32644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10832" y="3246120"/>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Puntuación mínima de ejecución (70 %)</a:t>
            </a:r>
            <a:endParaRPr lang="en-US" sz="1450" dirty="0"/>
          </a:p>
        </p:txBody>
      </p:sp>
      <p:sp>
        <p:nvSpPr>
          <p:cNvPr id="23" name="Text 21"/>
          <p:cNvSpPr txBox="1"/>
          <p:nvPr/>
        </p:nvSpPr>
        <p:spPr>
          <a:xfrm>
            <a:off x="6489040" y="3867912"/>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El punto de corte de dominio. Se calcula sobre el total y se comunica al estudiante antes de administrar la prueba.</a:t>
            </a:r>
            <a:endParaRPr lang="en-US" sz="1200" dirty="0"/>
          </a:p>
        </p:txBody>
      </p:sp>
      <p:sp>
        <p:nvSpPr>
          <p:cNvPr id="24" name="Shape 22"/>
          <p:cNvSpPr/>
          <p:nvPr/>
        </p:nvSpPr>
        <p:spPr>
          <a:xfrm>
            <a:off x="566928"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804672" y="4983480"/>
            <a:ext cx="457200" cy="457200"/>
          </a:xfrm>
          <a:prstGeom prst="ellipse">
            <a:avLst/>
          </a:prstGeom>
          <a:solidFill>
            <a:srgbClr val="C9A227"/>
          </a:solidFill>
          <a:ln/>
        </p:spPr>
        <p:txBody>
          <a:bodyPr/>
          <a:lstStyle/>
          <a:p>
            <a:endParaRPr lang="en-PR"/>
          </a:p>
        </p:txBody>
      </p:sp>
      <p:sp>
        <p:nvSpPr>
          <p:cNvPr id="26" name="Text 24"/>
          <p:cNvSpPr txBox="1"/>
          <p:nvPr/>
        </p:nvSpPr>
        <p:spPr>
          <a:xfrm>
            <a:off x="804672"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26464"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Nivel de profundidad / DOK</a:t>
            </a:r>
            <a:endParaRPr lang="en-US" sz="1450" dirty="0"/>
          </a:p>
        </p:txBody>
      </p:sp>
      <p:sp>
        <p:nvSpPr>
          <p:cNvPr id="28" name="Text 26"/>
          <p:cNvSpPr txBox="1"/>
          <p:nvPr/>
        </p:nvSpPr>
        <p:spPr>
          <a:xfrm>
            <a:off x="804672"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El rango DOK de los ítems de esa fila. Permite ver de un vistazo si la prueba se quedó en memoria.</a:t>
            </a:r>
            <a:endParaRPr lang="en-US" sz="1200" dirty="0"/>
          </a:p>
        </p:txBody>
      </p:sp>
      <p:sp>
        <p:nvSpPr>
          <p:cNvPr id="29" name="Shape 27"/>
          <p:cNvSpPr/>
          <p:nvPr/>
        </p:nvSpPr>
        <p:spPr>
          <a:xfrm>
            <a:off x="6251296" y="4764024"/>
            <a:ext cx="5373472" cy="1481328"/>
          </a:xfrm>
          <a:prstGeom prst="roundRect">
            <a:avLst>
              <a:gd name="adj" fmla="val 555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0" name="Shape 28"/>
          <p:cNvSpPr/>
          <p:nvPr/>
        </p:nvSpPr>
        <p:spPr>
          <a:xfrm>
            <a:off x="6489040" y="4983480"/>
            <a:ext cx="457200" cy="457200"/>
          </a:xfrm>
          <a:prstGeom prst="ellipse">
            <a:avLst/>
          </a:prstGeom>
          <a:solidFill>
            <a:srgbClr val="A8322D"/>
          </a:solidFill>
          <a:ln/>
        </p:spPr>
        <p:txBody>
          <a:bodyPr/>
          <a:lstStyle/>
          <a:p>
            <a:endParaRPr lang="en-PR"/>
          </a:p>
        </p:txBody>
      </p:sp>
      <p:sp>
        <p:nvSpPr>
          <p:cNvPr id="31" name="Text 29"/>
          <p:cNvSpPr txBox="1"/>
          <p:nvPr/>
        </p:nvSpPr>
        <p:spPr>
          <a:xfrm>
            <a:off x="6489040" y="4983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7110832" y="4965192"/>
            <a:ext cx="425790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Peso en la prueba (%)</a:t>
            </a:r>
            <a:endParaRPr lang="en-US" sz="1450" dirty="0"/>
          </a:p>
        </p:txBody>
      </p:sp>
      <p:sp>
        <p:nvSpPr>
          <p:cNvPr id="33" name="Text 31"/>
          <p:cNvSpPr txBox="1"/>
          <p:nvPr/>
        </p:nvSpPr>
        <p:spPr>
          <a:xfrm>
            <a:off x="6489040" y="5586984"/>
            <a:ext cx="4897984" cy="420624"/>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proporción del total que aporta esa destreza. Debe corresponder al tiempo de enseñanza que se le dedicó.</a:t>
            </a:r>
            <a:endParaRPr lang="en-US" sz="1200" dirty="0"/>
          </a:p>
        </p:txBody>
      </p:sp>
      <p:sp>
        <p:nvSpPr>
          <p:cNvPr id="34" name="Text 3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Estructura de la Planilla de especificaciones (Corraliza Montero, ORE-Ponce), completada con los encabezados del formulario original.</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8</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Cómo se calculan el peso, el dominio y el tiempo</a:t>
            </a:r>
            <a:endParaRPr lang="en-US" sz="2700" dirty="0"/>
          </a:p>
        </p:txBody>
      </p:sp>
      <p:sp>
        <p:nvSpPr>
          <p:cNvPr id="4" name="Shape 2"/>
          <p:cNvSpPr/>
          <p:nvPr/>
        </p:nvSpPr>
        <p:spPr>
          <a:xfrm>
            <a:off x="566928" y="1325880"/>
            <a:ext cx="3533546" cy="356616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566928" y="1325880"/>
            <a:ext cx="3533546" cy="566928"/>
          </a:xfrm>
          <a:prstGeom prst="roundRect">
            <a:avLst>
              <a:gd name="adj" fmla="val 14516"/>
            </a:avLst>
          </a:prstGeom>
          <a:solidFill>
            <a:srgbClr val="1B2A4A"/>
          </a:solidFill>
          <a:ln w="12700">
            <a:solidFill>
              <a:srgbClr val="1B2A4A"/>
            </a:solidFill>
            <a:prstDash val="solid"/>
          </a:ln>
        </p:spPr>
        <p:txBody>
          <a:bodyPr/>
          <a:lstStyle/>
          <a:p>
            <a:endParaRPr lang="en-PR"/>
          </a:p>
        </p:txBody>
      </p:sp>
      <p:sp>
        <p:nvSpPr>
          <p:cNvPr id="6" name="Text 4"/>
          <p:cNvSpPr txBox="1"/>
          <p:nvPr/>
        </p:nvSpPr>
        <p:spPr>
          <a:xfrm>
            <a:off x="749808" y="1325880"/>
            <a:ext cx="3167786" cy="56692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Peso porcentual</a:t>
            </a:r>
            <a:endParaRPr lang="en-US" sz="1450" dirty="0"/>
          </a:p>
        </p:txBody>
      </p:sp>
      <p:sp>
        <p:nvSpPr>
          <p:cNvPr id="7" name="Shape 5"/>
          <p:cNvSpPr/>
          <p:nvPr/>
        </p:nvSpPr>
        <p:spPr>
          <a:xfrm>
            <a:off x="749808" y="2029968"/>
            <a:ext cx="3167786" cy="658368"/>
          </a:xfrm>
          <a:prstGeom prst="roundRect">
            <a:avLst>
              <a:gd name="adj" fmla="val 8333"/>
            </a:avLst>
          </a:prstGeom>
          <a:solidFill>
            <a:srgbClr val="E8EEF5"/>
          </a:solidFill>
          <a:ln w="12700">
            <a:solidFill>
              <a:srgbClr val="DCE3EA"/>
            </a:solidFill>
            <a:prstDash val="solid"/>
          </a:ln>
        </p:spPr>
        <p:txBody>
          <a:bodyPr/>
          <a:lstStyle/>
          <a:p>
            <a:endParaRPr lang="en-PR"/>
          </a:p>
        </p:txBody>
      </p:sp>
      <p:sp>
        <p:nvSpPr>
          <p:cNvPr id="8" name="Text 6"/>
          <p:cNvSpPr txBox="1"/>
          <p:nvPr/>
        </p:nvSpPr>
        <p:spPr>
          <a:xfrm>
            <a:off x="841248" y="2029968"/>
            <a:ext cx="2984906" cy="658368"/>
          </a:xfrm>
          <a:prstGeom prst="rect">
            <a:avLst/>
          </a:prstGeom>
          <a:noFill/>
          <a:ln/>
        </p:spPr>
        <p:txBody>
          <a:bodyPr wrap="square" lIns="0" tIns="0" rIns="0" bIns="0" rtlCol="0" anchor="ctr"/>
          <a:lstStyle/>
          <a:p>
            <a:pPr marL="0" indent="0" algn="ctr">
              <a:lnSpc>
                <a:spcPct val="102000"/>
              </a:lnSpc>
              <a:buNone/>
            </a:pPr>
            <a:r>
              <a:rPr lang="en-US" sz="1150" b="1" dirty="0">
                <a:solidFill>
                  <a:srgbClr val="1F3864"/>
                </a:solidFill>
                <a:latin typeface="Calibri" pitchFamily="34" charset="0"/>
                <a:ea typeface="Calibri" pitchFamily="34" charset="-122"/>
                <a:cs typeface="Calibri" pitchFamily="34" charset="-120"/>
              </a:rPr>
              <a:t>Puntos de la fila ÷ Puntos totales × 100</a:t>
            </a:r>
            <a:endParaRPr lang="en-US" sz="1150" dirty="0"/>
          </a:p>
        </p:txBody>
      </p:sp>
      <p:sp>
        <p:nvSpPr>
          <p:cNvPr id="9" name="Text 7"/>
          <p:cNvSpPr txBox="1"/>
          <p:nvPr/>
        </p:nvSpPr>
        <p:spPr>
          <a:xfrm>
            <a:off x="749808" y="2798064"/>
            <a:ext cx="3167786" cy="19659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Ejemplo de 7.º grado:</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12 ÷ 36 × 100 = 33 %</a:t>
            </a:r>
            <a:endParaRPr lang="en-US" sz="1150" dirty="0"/>
          </a:p>
          <a:p>
            <a:pPr marL="0" indent="0">
              <a:lnSpc>
                <a:spcPct val="105000"/>
              </a:lnSpc>
              <a:buNone/>
            </a:pP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Los pesos de todas las filas deben sumar 100 %. Si no suman, hay puntos sin destreza asignada.</a:t>
            </a:r>
            <a:endParaRPr lang="en-US" sz="1150" dirty="0"/>
          </a:p>
        </p:txBody>
      </p:sp>
      <p:sp>
        <p:nvSpPr>
          <p:cNvPr id="10" name="Shape 8"/>
          <p:cNvSpPr/>
          <p:nvPr/>
        </p:nvSpPr>
        <p:spPr>
          <a:xfrm>
            <a:off x="4329074" y="1325880"/>
            <a:ext cx="3533546" cy="356616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4329074" y="1325880"/>
            <a:ext cx="3533546" cy="566928"/>
          </a:xfrm>
          <a:prstGeom prst="roundRect">
            <a:avLst>
              <a:gd name="adj" fmla="val 14516"/>
            </a:avLst>
          </a:prstGeom>
          <a:solidFill>
            <a:srgbClr val="2A9D8F"/>
          </a:solidFill>
          <a:ln w="12700">
            <a:solidFill>
              <a:srgbClr val="2A9D8F"/>
            </a:solidFill>
            <a:prstDash val="solid"/>
          </a:ln>
        </p:spPr>
        <p:txBody>
          <a:bodyPr/>
          <a:lstStyle/>
          <a:p>
            <a:endParaRPr lang="en-PR"/>
          </a:p>
        </p:txBody>
      </p:sp>
      <p:sp>
        <p:nvSpPr>
          <p:cNvPr id="12" name="Text 10"/>
          <p:cNvSpPr txBox="1"/>
          <p:nvPr/>
        </p:nvSpPr>
        <p:spPr>
          <a:xfrm>
            <a:off x="4511954" y="1325880"/>
            <a:ext cx="3167786" cy="56692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Puntuación mínima de ejecución</a:t>
            </a:r>
            <a:endParaRPr lang="en-US" sz="1450" dirty="0"/>
          </a:p>
        </p:txBody>
      </p:sp>
      <p:sp>
        <p:nvSpPr>
          <p:cNvPr id="13" name="Shape 11"/>
          <p:cNvSpPr/>
          <p:nvPr/>
        </p:nvSpPr>
        <p:spPr>
          <a:xfrm>
            <a:off x="4511954" y="2029968"/>
            <a:ext cx="3167786" cy="658368"/>
          </a:xfrm>
          <a:prstGeom prst="roundRect">
            <a:avLst>
              <a:gd name="adj" fmla="val 8333"/>
            </a:avLst>
          </a:prstGeom>
          <a:solidFill>
            <a:srgbClr val="E8EEF5"/>
          </a:solidFill>
          <a:ln w="12700">
            <a:solidFill>
              <a:srgbClr val="DCE3EA"/>
            </a:solidFill>
            <a:prstDash val="solid"/>
          </a:ln>
        </p:spPr>
        <p:txBody>
          <a:bodyPr/>
          <a:lstStyle/>
          <a:p>
            <a:endParaRPr lang="en-PR"/>
          </a:p>
        </p:txBody>
      </p:sp>
      <p:sp>
        <p:nvSpPr>
          <p:cNvPr id="14" name="Text 12"/>
          <p:cNvSpPr txBox="1"/>
          <p:nvPr/>
        </p:nvSpPr>
        <p:spPr>
          <a:xfrm>
            <a:off x="4603394" y="2029968"/>
            <a:ext cx="2984906" cy="658368"/>
          </a:xfrm>
          <a:prstGeom prst="rect">
            <a:avLst/>
          </a:prstGeom>
          <a:noFill/>
          <a:ln/>
        </p:spPr>
        <p:txBody>
          <a:bodyPr wrap="square" lIns="0" tIns="0" rIns="0" bIns="0" rtlCol="0" anchor="ctr"/>
          <a:lstStyle/>
          <a:p>
            <a:pPr marL="0" indent="0" algn="ctr">
              <a:lnSpc>
                <a:spcPct val="102000"/>
              </a:lnSpc>
              <a:buNone/>
            </a:pPr>
            <a:r>
              <a:rPr lang="en-US" sz="1150" b="1" dirty="0">
                <a:solidFill>
                  <a:srgbClr val="1F3864"/>
                </a:solidFill>
                <a:latin typeface="Calibri" pitchFamily="34" charset="0"/>
                <a:ea typeface="Calibri" pitchFamily="34" charset="-122"/>
                <a:cs typeface="Calibri" pitchFamily="34" charset="-120"/>
              </a:rPr>
              <a:t>Puntos totales × 0.70</a:t>
            </a:r>
            <a:endParaRPr lang="en-US" sz="1150" dirty="0"/>
          </a:p>
        </p:txBody>
      </p:sp>
      <p:sp>
        <p:nvSpPr>
          <p:cNvPr id="15" name="Text 13"/>
          <p:cNvSpPr txBox="1"/>
          <p:nvPr/>
        </p:nvSpPr>
        <p:spPr>
          <a:xfrm>
            <a:off x="4511954" y="2798064"/>
            <a:ext cx="3167786" cy="19659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Ejemplo de 7.º grado:</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36 × 0.70 = 25.2  →  25 puntos</a:t>
            </a:r>
            <a:endParaRPr lang="en-US" sz="1150" dirty="0"/>
          </a:p>
          <a:p>
            <a:pPr marL="0" indent="0">
              <a:lnSpc>
                <a:spcPct val="105000"/>
              </a:lnSpc>
              <a:buNone/>
            </a:pP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El redondeo se hace a favor del estudiante y se decide antes de administrar la prueba.</a:t>
            </a:r>
            <a:endParaRPr lang="en-US" sz="1150" dirty="0"/>
          </a:p>
        </p:txBody>
      </p:sp>
      <p:sp>
        <p:nvSpPr>
          <p:cNvPr id="16" name="Shape 14"/>
          <p:cNvSpPr/>
          <p:nvPr/>
        </p:nvSpPr>
        <p:spPr>
          <a:xfrm>
            <a:off x="8091221" y="1325880"/>
            <a:ext cx="3533546" cy="356616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8091221" y="1325880"/>
            <a:ext cx="3533546" cy="566928"/>
          </a:xfrm>
          <a:prstGeom prst="roundRect">
            <a:avLst>
              <a:gd name="adj" fmla="val 14516"/>
            </a:avLst>
          </a:prstGeom>
          <a:solidFill>
            <a:srgbClr val="C9A227"/>
          </a:solidFill>
          <a:ln w="12700">
            <a:solidFill>
              <a:srgbClr val="C9A227"/>
            </a:solidFill>
            <a:prstDash val="solid"/>
          </a:ln>
        </p:spPr>
        <p:txBody>
          <a:bodyPr/>
          <a:lstStyle/>
          <a:p>
            <a:endParaRPr lang="en-PR"/>
          </a:p>
        </p:txBody>
      </p:sp>
      <p:sp>
        <p:nvSpPr>
          <p:cNvPr id="18" name="Text 16"/>
          <p:cNvSpPr txBox="1"/>
          <p:nvPr/>
        </p:nvSpPr>
        <p:spPr>
          <a:xfrm>
            <a:off x="8274101" y="1325880"/>
            <a:ext cx="3167786" cy="56692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Tiempo estimado</a:t>
            </a:r>
            <a:endParaRPr lang="en-US" sz="1450" dirty="0"/>
          </a:p>
        </p:txBody>
      </p:sp>
      <p:sp>
        <p:nvSpPr>
          <p:cNvPr id="19" name="Shape 17"/>
          <p:cNvSpPr/>
          <p:nvPr/>
        </p:nvSpPr>
        <p:spPr>
          <a:xfrm>
            <a:off x="8274101" y="2029968"/>
            <a:ext cx="3167786" cy="658368"/>
          </a:xfrm>
          <a:prstGeom prst="roundRect">
            <a:avLst>
              <a:gd name="adj" fmla="val 8333"/>
            </a:avLst>
          </a:prstGeom>
          <a:solidFill>
            <a:srgbClr val="E8EEF5"/>
          </a:solidFill>
          <a:ln w="12700">
            <a:solidFill>
              <a:srgbClr val="DCE3EA"/>
            </a:solidFill>
            <a:prstDash val="solid"/>
          </a:ln>
        </p:spPr>
        <p:txBody>
          <a:bodyPr/>
          <a:lstStyle/>
          <a:p>
            <a:endParaRPr lang="en-PR"/>
          </a:p>
        </p:txBody>
      </p:sp>
      <p:sp>
        <p:nvSpPr>
          <p:cNvPr id="20" name="Text 18"/>
          <p:cNvSpPr txBox="1"/>
          <p:nvPr/>
        </p:nvSpPr>
        <p:spPr>
          <a:xfrm>
            <a:off x="8365541" y="2029968"/>
            <a:ext cx="2984906" cy="658368"/>
          </a:xfrm>
          <a:prstGeom prst="rect">
            <a:avLst/>
          </a:prstGeom>
          <a:noFill/>
          <a:ln/>
        </p:spPr>
        <p:txBody>
          <a:bodyPr wrap="square" lIns="0" tIns="0" rIns="0" bIns="0" rtlCol="0" anchor="ctr"/>
          <a:lstStyle/>
          <a:p>
            <a:pPr marL="0" indent="0" algn="ctr">
              <a:lnSpc>
                <a:spcPct val="102000"/>
              </a:lnSpc>
              <a:buNone/>
            </a:pPr>
            <a:r>
              <a:rPr lang="en-US" sz="1150" b="1" dirty="0">
                <a:solidFill>
                  <a:srgbClr val="1F3864"/>
                </a:solidFill>
                <a:latin typeface="Calibri" pitchFamily="34" charset="0"/>
                <a:ea typeface="Calibri" pitchFamily="34" charset="-122"/>
                <a:cs typeface="Calibri" pitchFamily="34" charset="-120"/>
              </a:rPr>
              <a:t>1 min por SM  ·  3 min por RA sencilla  ·  5 min por RA de aplicación</a:t>
            </a:r>
            <a:endParaRPr lang="en-US" sz="1150" dirty="0"/>
          </a:p>
        </p:txBody>
      </p:sp>
      <p:sp>
        <p:nvSpPr>
          <p:cNvPr id="21" name="Text 19"/>
          <p:cNvSpPr txBox="1"/>
          <p:nvPr/>
        </p:nvSpPr>
        <p:spPr>
          <a:xfrm>
            <a:off x="8274101" y="2798064"/>
            <a:ext cx="3167786" cy="19659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Ejemplo de 7.º grado:</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14(1) + 5(3) + 3(5) = 44 min</a:t>
            </a: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+ 25 % de holgura ≈ 55–60 min</a:t>
            </a:r>
            <a:endParaRPr lang="en-US" sz="1150" dirty="0"/>
          </a:p>
          <a:p>
            <a:pPr marL="0" indent="0">
              <a:lnSpc>
                <a:spcPct val="105000"/>
              </a:lnSpc>
              <a:buNone/>
            </a:pPr>
            <a:endParaRPr lang="en-US" sz="1150" dirty="0"/>
          </a:p>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Si el tiempo excede el período de clase, se recorta la prueba, no al estudiante.</a:t>
            </a:r>
            <a:endParaRPr lang="en-US" sz="1150" dirty="0"/>
          </a:p>
        </p:txBody>
      </p:sp>
      <p:sp>
        <p:nvSpPr>
          <p:cNvPr id="22" name="Shape 20"/>
          <p:cNvSpPr/>
          <p:nvPr/>
        </p:nvSpPr>
        <p:spPr>
          <a:xfrm>
            <a:off x="566928" y="5074920"/>
            <a:ext cx="11057839" cy="1170432"/>
          </a:xfrm>
          <a:prstGeom prst="roundRect">
            <a:avLst>
              <a:gd name="adj" fmla="val 7031"/>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3" name="Text 21"/>
          <p:cNvSpPr txBox="1"/>
          <p:nvPr/>
        </p:nvSpPr>
        <p:spPr>
          <a:xfrm>
            <a:off x="932688" y="5212080"/>
            <a:ext cx="10326319" cy="292608"/>
          </a:xfrm>
          <a:prstGeom prst="rect">
            <a:avLst/>
          </a:prstGeom>
          <a:noFill/>
          <a:ln/>
        </p:spPr>
        <p:txBody>
          <a:bodyPr wrap="square" lIns="0" tIns="0" rIns="0" bIns="0" rtlCol="0" anchor="ctr"/>
          <a:lstStyle/>
          <a:p>
            <a:pPr marL="0" indent="0">
              <a:buNone/>
            </a:pPr>
            <a:r>
              <a:rPr lang="en-US" sz="1450" b="1" dirty="0">
                <a:solidFill>
                  <a:srgbClr val="C9A84C"/>
                </a:solidFill>
                <a:latin typeface="Cambria" pitchFamily="34" charset="0"/>
                <a:ea typeface="Cambria" pitchFamily="34" charset="-122"/>
                <a:cs typeface="Cambria" pitchFamily="34" charset="-120"/>
              </a:rPr>
              <a:t>Prueba de coherencia antes de imprimir</a:t>
            </a:r>
            <a:endParaRPr lang="en-US" sz="1450" dirty="0"/>
          </a:p>
        </p:txBody>
      </p:sp>
      <p:sp>
        <p:nvSpPr>
          <p:cNvPr id="24" name="Text 22"/>
          <p:cNvSpPr txBox="1"/>
          <p:nvPr/>
        </p:nvSpPr>
        <p:spPr>
          <a:xfrm>
            <a:off x="932688" y="5541264"/>
            <a:ext cx="10326319" cy="548640"/>
          </a:xfrm>
          <a:prstGeom prst="rect">
            <a:avLst/>
          </a:prstGeom>
          <a:noFill/>
          <a:ln/>
        </p:spPr>
        <p:txBody>
          <a:bodyPr wrap="square" lIns="0" tIns="0" rIns="0" bIns="0" rtlCol="0" anchor="t"/>
          <a:lstStyle/>
          <a:p>
            <a:pPr marL="0" indent="0">
              <a:lnSpc>
                <a:spcPct val="105000"/>
              </a:lnSpc>
              <a:buNone/>
            </a:pPr>
            <a:r>
              <a:rPr lang="en-US" sz="1250" dirty="0">
                <a:solidFill>
                  <a:srgbClr val="DCE6F2"/>
                </a:solidFill>
                <a:latin typeface="Calibri" pitchFamily="34" charset="0"/>
                <a:ea typeface="Calibri" pitchFamily="34" charset="-122"/>
                <a:cs typeface="Calibri" pitchFamily="34" charset="-120"/>
              </a:rPr>
              <a:t>Los pesos suman 100 %  ·  la suma de puntos por fila iguala el total  ·  ninguna destreza queda con un solo ítem  ·  entre el 30 % y el 45 % de la puntuación está en DOK 3–4  ·  el tiempo estimado cabe en el período.</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8</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De la corrección a la decisión: la segunda mitad de la planilla</a:t>
            </a:r>
            <a:endParaRPr lang="en-US" sz="2700" dirty="0"/>
          </a:p>
        </p:txBody>
      </p:sp>
      <p:sp>
        <p:nvSpPr>
          <p:cNvPr id="4" name="Text 2"/>
          <p:cNvSpPr txBox="1"/>
          <p:nvPr/>
        </p:nvSpPr>
        <p:spPr>
          <a:xfrm>
            <a:off x="566928" y="1261872"/>
            <a:ext cx="11057839" cy="365760"/>
          </a:xfrm>
          <a:prstGeom prst="rect">
            <a:avLst/>
          </a:prstGeom>
          <a:noFill/>
          <a:ln/>
        </p:spPr>
        <p:txBody>
          <a:bodyPr wrap="square" lIns="0" tIns="0" rIns="0" bIns="0" rtlCol="0" anchor="ctr"/>
          <a:lstStyle/>
          <a:p>
            <a:pPr marL="0" indent="0">
              <a:buNone/>
            </a:pPr>
            <a:r>
              <a:rPr lang="en-US" sz="1300" dirty="0">
                <a:solidFill>
                  <a:srgbClr val="22303F"/>
                </a:solidFill>
                <a:latin typeface="Calibri" pitchFamily="34" charset="0"/>
                <a:ea typeface="Calibri" pitchFamily="34" charset="-122"/>
                <a:cs typeface="Calibri" pitchFamily="34" charset="-120"/>
              </a:rPr>
              <a:t>La planilla no termina cuando se imprime la prueba. Sus dos últimas secciones se completan después de corregir y son las que convierten la calificación en enseñanza.</a:t>
            </a:r>
            <a:endParaRPr lang="en-US" sz="1300" dirty="0"/>
          </a:p>
        </p:txBody>
      </p:sp>
      <p:sp>
        <p:nvSpPr>
          <p:cNvPr id="5" name="Shape 3"/>
          <p:cNvSpPr/>
          <p:nvPr/>
        </p:nvSpPr>
        <p:spPr>
          <a:xfrm>
            <a:off x="566928" y="1737360"/>
            <a:ext cx="4206240" cy="4023360"/>
          </a:xfrm>
          <a:prstGeom prst="roundRect">
            <a:avLst>
              <a:gd name="adj" fmla="val 204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4"/>
          <p:cNvSpPr txBox="1"/>
          <p:nvPr/>
        </p:nvSpPr>
        <p:spPr>
          <a:xfrm>
            <a:off x="841248" y="1874520"/>
            <a:ext cx="36576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Distribución de notas</a:t>
            </a:r>
            <a:endParaRPr lang="en-US" sz="15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841248" y="2240280"/>
          <a:ext cx="36576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Total de estudiantes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A  (100 – 90)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B  (89 – 80)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C  (79 – 70)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D  (69 – 60)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11480">
                <a:tc>
                  <a:txBody>
                    <a:bodyPr/>
                    <a:lstStyle/>
                    <a:p>
                      <a:pPr marL="0" indent="0" algn="l">
                        <a:buNone/>
                      </a:pPr>
                      <a:r>
                        <a:rPr lang="en-US" sz="1150" dirty="0">
                          <a:solidFill>
                            <a:srgbClr val="22303F"/>
                          </a:solidFill>
                          <a:latin typeface="Calibri" pitchFamily="34" charset="0"/>
                          <a:ea typeface="Calibri" pitchFamily="34" charset="-122"/>
                          <a:cs typeface="Calibri" pitchFamily="34" charset="-120"/>
                        </a:rPr>
                        <a:t>F  (59 – 0)</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411480">
                <a:tc>
                  <a:txBody>
                    <a:bodyPr/>
                    <a:lstStyle/>
                    <a:p>
                      <a:pPr marL="0" indent="0" algn="l">
                        <a:buNone/>
                      </a:pPr>
                      <a:r>
                        <a:rPr lang="en-US" sz="1150" b="1" dirty="0">
                          <a:solidFill>
                            <a:srgbClr val="22303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tc>
                  <a:txBody>
                    <a:bodyPr/>
                    <a:lstStyle/>
                    <a:p>
                      <a:pPr marL="0" indent="0" algn="ctr">
                        <a:buNone/>
                      </a:pP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4EAF2"/>
                    </a:solidFill>
                  </a:tcPr>
                </a:tc>
                <a:extLst>
                  <a:ext uri="{0D108BD9-81ED-4DB2-BD59-A6C34878D82A}">
                    <a16:rowId xmlns:a16="http://schemas.microsoft.com/office/drawing/2014/main" val="10006"/>
                  </a:ext>
                </a:extLst>
              </a:tr>
            </a:tbl>
          </a:graphicData>
        </a:graphic>
      </p:graphicFrame>
      <p:sp>
        <p:nvSpPr>
          <p:cNvPr id="8" name="Shape 5"/>
          <p:cNvSpPr/>
          <p:nvPr/>
        </p:nvSpPr>
        <p:spPr>
          <a:xfrm>
            <a:off x="5093208" y="1737360"/>
            <a:ext cx="3108960" cy="4023360"/>
          </a:xfrm>
          <a:prstGeom prst="roundRect">
            <a:avLst>
              <a:gd name="adj" fmla="val 2647"/>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Text 6"/>
          <p:cNvSpPr txBox="1"/>
          <p:nvPr/>
        </p:nvSpPr>
        <p:spPr>
          <a:xfrm>
            <a:off x="5367528" y="1874520"/>
            <a:ext cx="265176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Estudiantes a dar reenseñanza</a:t>
            </a:r>
            <a:endParaRPr lang="en-US" sz="1550" dirty="0"/>
          </a:p>
        </p:txBody>
      </p:sp>
      <p:sp>
        <p:nvSpPr>
          <p:cNvPr id="10" name="Text 7"/>
          <p:cNvSpPr txBox="1"/>
          <p:nvPr/>
        </p:nvSpPr>
        <p:spPr>
          <a:xfrm>
            <a:off x="5367528" y="228600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1.</a:t>
            </a:r>
            <a:endParaRPr lang="en-US" sz="1200" dirty="0"/>
          </a:p>
        </p:txBody>
      </p:sp>
      <p:sp>
        <p:nvSpPr>
          <p:cNvPr id="11" name="Shape 8"/>
          <p:cNvSpPr/>
          <p:nvPr/>
        </p:nvSpPr>
        <p:spPr>
          <a:xfrm>
            <a:off x="5687568" y="2560320"/>
            <a:ext cx="2240280" cy="0"/>
          </a:xfrm>
          <a:prstGeom prst="line">
            <a:avLst/>
          </a:prstGeom>
          <a:noFill/>
          <a:ln w="12700">
            <a:solidFill>
              <a:srgbClr val="DCE3EA"/>
            </a:solidFill>
            <a:prstDash val="solid"/>
          </a:ln>
        </p:spPr>
        <p:txBody>
          <a:bodyPr/>
          <a:lstStyle/>
          <a:p>
            <a:endParaRPr lang="en-PR"/>
          </a:p>
        </p:txBody>
      </p:sp>
      <p:sp>
        <p:nvSpPr>
          <p:cNvPr id="12" name="Text 9"/>
          <p:cNvSpPr txBox="1"/>
          <p:nvPr/>
        </p:nvSpPr>
        <p:spPr>
          <a:xfrm>
            <a:off x="5367528" y="265176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2.</a:t>
            </a:r>
            <a:endParaRPr lang="en-US" sz="1200" dirty="0"/>
          </a:p>
        </p:txBody>
      </p:sp>
      <p:sp>
        <p:nvSpPr>
          <p:cNvPr id="13" name="Shape 10"/>
          <p:cNvSpPr/>
          <p:nvPr/>
        </p:nvSpPr>
        <p:spPr>
          <a:xfrm>
            <a:off x="5687568" y="2926080"/>
            <a:ext cx="2240280" cy="0"/>
          </a:xfrm>
          <a:prstGeom prst="line">
            <a:avLst/>
          </a:prstGeom>
          <a:noFill/>
          <a:ln w="12700">
            <a:solidFill>
              <a:srgbClr val="DCE3EA"/>
            </a:solidFill>
            <a:prstDash val="solid"/>
          </a:ln>
        </p:spPr>
        <p:txBody>
          <a:bodyPr/>
          <a:lstStyle/>
          <a:p>
            <a:endParaRPr lang="en-PR"/>
          </a:p>
        </p:txBody>
      </p:sp>
      <p:sp>
        <p:nvSpPr>
          <p:cNvPr id="14" name="Text 11"/>
          <p:cNvSpPr txBox="1"/>
          <p:nvPr/>
        </p:nvSpPr>
        <p:spPr>
          <a:xfrm>
            <a:off x="5367528" y="301752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3.</a:t>
            </a:r>
            <a:endParaRPr lang="en-US" sz="1200" dirty="0"/>
          </a:p>
        </p:txBody>
      </p:sp>
      <p:sp>
        <p:nvSpPr>
          <p:cNvPr id="15" name="Shape 12"/>
          <p:cNvSpPr/>
          <p:nvPr/>
        </p:nvSpPr>
        <p:spPr>
          <a:xfrm>
            <a:off x="5687568" y="3291840"/>
            <a:ext cx="2240280" cy="0"/>
          </a:xfrm>
          <a:prstGeom prst="line">
            <a:avLst/>
          </a:prstGeom>
          <a:noFill/>
          <a:ln w="12700">
            <a:solidFill>
              <a:srgbClr val="DCE3EA"/>
            </a:solidFill>
            <a:prstDash val="solid"/>
          </a:ln>
        </p:spPr>
        <p:txBody>
          <a:bodyPr/>
          <a:lstStyle/>
          <a:p>
            <a:endParaRPr lang="en-PR"/>
          </a:p>
        </p:txBody>
      </p:sp>
      <p:sp>
        <p:nvSpPr>
          <p:cNvPr id="16" name="Text 13"/>
          <p:cNvSpPr txBox="1"/>
          <p:nvPr/>
        </p:nvSpPr>
        <p:spPr>
          <a:xfrm>
            <a:off x="5367528" y="338328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4.</a:t>
            </a:r>
            <a:endParaRPr lang="en-US" sz="1200" dirty="0"/>
          </a:p>
        </p:txBody>
      </p:sp>
      <p:sp>
        <p:nvSpPr>
          <p:cNvPr id="17" name="Shape 14"/>
          <p:cNvSpPr/>
          <p:nvPr/>
        </p:nvSpPr>
        <p:spPr>
          <a:xfrm>
            <a:off x="5687568" y="3657600"/>
            <a:ext cx="2240280" cy="0"/>
          </a:xfrm>
          <a:prstGeom prst="line">
            <a:avLst/>
          </a:prstGeom>
          <a:noFill/>
          <a:ln w="12700">
            <a:solidFill>
              <a:srgbClr val="DCE3EA"/>
            </a:solidFill>
            <a:prstDash val="solid"/>
          </a:ln>
        </p:spPr>
        <p:txBody>
          <a:bodyPr/>
          <a:lstStyle/>
          <a:p>
            <a:endParaRPr lang="en-PR"/>
          </a:p>
        </p:txBody>
      </p:sp>
      <p:sp>
        <p:nvSpPr>
          <p:cNvPr id="18" name="Text 15"/>
          <p:cNvSpPr txBox="1"/>
          <p:nvPr/>
        </p:nvSpPr>
        <p:spPr>
          <a:xfrm>
            <a:off x="5367528" y="374904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5.</a:t>
            </a:r>
            <a:endParaRPr lang="en-US" sz="1200" dirty="0"/>
          </a:p>
        </p:txBody>
      </p:sp>
      <p:sp>
        <p:nvSpPr>
          <p:cNvPr id="19" name="Shape 16"/>
          <p:cNvSpPr/>
          <p:nvPr/>
        </p:nvSpPr>
        <p:spPr>
          <a:xfrm>
            <a:off x="5687568" y="4023360"/>
            <a:ext cx="2240280" cy="0"/>
          </a:xfrm>
          <a:prstGeom prst="line">
            <a:avLst/>
          </a:prstGeom>
          <a:noFill/>
          <a:ln w="12700">
            <a:solidFill>
              <a:srgbClr val="DCE3EA"/>
            </a:solidFill>
            <a:prstDash val="solid"/>
          </a:ln>
        </p:spPr>
        <p:txBody>
          <a:bodyPr/>
          <a:lstStyle/>
          <a:p>
            <a:endParaRPr lang="en-PR"/>
          </a:p>
        </p:txBody>
      </p:sp>
      <p:sp>
        <p:nvSpPr>
          <p:cNvPr id="20" name="Text 17"/>
          <p:cNvSpPr txBox="1"/>
          <p:nvPr/>
        </p:nvSpPr>
        <p:spPr>
          <a:xfrm>
            <a:off x="5367528" y="411480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6.</a:t>
            </a:r>
            <a:endParaRPr lang="en-US" sz="1200" dirty="0"/>
          </a:p>
        </p:txBody>
      </p:sp>
      <p:sp>
        <p:nvSpPr>
          <p:cNvPr id="21" name="Shape 18"/>
          <p:cNvSpPr/>
          <p:nvPr/>
        </p:nvSpPr>
        <p:spPr>
          <a:xfrm>
            <a:off x="5687568" y="4389120"/>
            <a:ext cx="2240280" cy="0"/>
          </a:xfrm>
          <a:prstGeom prst="line">
            <a:avLst/>
          </a:prstGeom>
          <a:noFill/>
          <a:ln w="12700">
            <a:solidFill>
              <a:srgbClr val="DCE3EA"/>
            </a:solidFill>
            <a:prstDash val="solid"/>
          </a:ln>
        </p:spPr>
        <p:txBody>
          <a:bodyPr/>
          <a:lstStyle/>
          <a:p>
            <a:endParaRPr lang="en-PR"/>
          </a:p>
        </p:txBody>
      </p:sp>
      <p:sp>
        <p:nvSpPr>
          <p:cNvPr id="22" name="Text 19"/>
          <p:cNvSpPr txBox="1"/>
          <p:nvPr/>
        </p:nvSpPr>
        <p:spPr>
          <a:xfrm>
            <a:off x="5367528" y="448056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7.</a:t>
            </a:r>
            <a:endParaRPr lang="en-US" sz="1200" dirty="0"/>
          </a:p>
        </p:txBody>
      </p:sp>
      <p:sp>
        <p:nvSpPr>
          <p:cNvPr id="23" name="Shape 20"/>
          <p:cNvSpPr/>
          <p:nvPr/>
        </p:nvSpPr>
        <p:spPr>
          <a:xfrm>
            <a:off x="5687568" y="4754880"/>
            <a:ext cx="2240280" cy="0"/>
          </a:xfrm>
          <a:prstGeom prst="line">
            <a:avLst/>
          </a:prstGeom>
          <a:noFill/>
          <a:ln w="12700">
            <a:solidFill>
              <a:srgbClr val="DCE3EA"/>
            </a:solidFill>
            <a:prstDash val="solid"/>
          </a:ln>
        </p:spPr>
        <p:txBody>
          <a:bodyPr/>
          <a:lstStyle/>
          <a:p>
            <a:endParaRPr lang="en-PR"/>
          </a:p>
        </p:txBody>
      </p:sp>
      <p:sp>
        <p:nvSpPr>
          <p:cNvPr id="24" name="Text 21"/>
          <p:cNvSpPr txBox="1"/>
          <p:nvPr/>
        </p:nvSpPr>
        <p:spPr>
          <a:xfrm>
            <a:off x="5367528" y="484632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8.</a:t>
            </a:r>
            <a:endParaRPr lang="en-US" sz="1200" dirty="0"/>
          </a:p>
        </p:txBody>
      </p:sp>
      <p:sp>
        <p:nvSpPr>
          <p:cNvPr id="25" name="Shape 22"/>
          <p:cNvSpPr/>
          <p:nvPr/>
        </p:nvSpPr>
        <p:spPr>
          <a:xfrm>
            <a:off x="5687568" y="5120640"/>
            <a:ext cx="2240280" cy="0"/>
          </a:xfrm>
          <a:prstGeom prst="line">
            <a:avLst/>
          </a:prstGeom>
          <a:noFill/>
          <a:ln w="12700">
            <a:solidFill>
              <a:srgbClr val="DCE3EA"/>
            </a:solidFill>
            <a:prstDash val="solid"/>
          </a:ln>
        </p:spPr>
        <p:txBody>
          <a:bodyPr/>
          <a:lstStyle/>
          <a:p>
            <a:endParaRPr lang="en-PR"/>
          </a:p>
        </p:txBody>
      </p:sp>
      <p:sp>
        <p:nvSpPr>
          <p:cNvPr id="26" name="Text 23"/>
          <p:cNvSpPr txBox="1"/>
          <p:nvPr/>
        </p:nvSpPr>
        <p:spPr>
          <a:xfrm>
            <a:off x="5367528" y="5212080"/>
            <a:ext cx="365760" cy="329184"/>
          </a:xfrm>
          <a:prstGeom prst="rect">
            <a:avLst/>
          </a:prstGeom>
          <a:noFill/>
          <a:ln/>
        </p:spPr>
        <p:txBody>
          <a:bodyPr wrap="square" lIns="0" tIns="0" rIns="0" bIns="0" rtlCol="0" anchor="ctr"/>
          <a:lstStyle/>
          <a:p>
            <a:pPr marL="0" indent="0">
              <a:buNone/>
            </a:pPr>
            <a:r>
              <a:rPr lang="en-US" sz="1200" b="1" dirty="0">
                <a:solidFill>
                  <a:srgbClr val="5F6E7E"/>
                </a:solidFill>
                <a:latin typeface="Calibri" pitchFamily="34" charset="0"/>
                <a:ea typeface="Calibri" pitchFamily="34" charset="-122"/>
                <a:cs typeface="Calibri" pitchFamily="34" charset="-120"/>
              </a:rPr>
              <a:t>9.</a:t>
            </a:r>
            <a:endParaRPr lang="en-US" sz="1200" dirty="0"/>
          </a:p>
        </p:txBody>
      </p:sp>
      <p:sp>
        <p:nvSpPr>
          <p:cNvPr id="27" name="Shape 24"/>
          <p:cNvSpPr/>
          <p:nvPr/>
        </p:nvSpPr>
        <p:spPr>
          <a:xfrm>
            <a:off x="5687568" y="5486400"/>
            <a:ext cx="2240280" cy="0"/>
          </a:xfrm>
          <a:prstGeom prst="line">
            <a:avLst/>
          </a:prstGeom>
          <a:noFill/>
          <a:ln w="12700">
            <a:solidFill>
              <a:srgbClr val="DCE3EA"/>
            </a:solidFill>
            <a:prstDash val="solid"/>
          </a:ln>
        </p:spPr>
        <p:txBody>
          <a:bodyPr/>
          <a:lstStyle/>
          <a:p>
            <a:endParaRPr lang="en-PR"/>
          </a:p>
        </p:txBody>
      </p:sp>
      <p:sp>
        <p:nvSpPr>
          <p:cNvPr id="28" name="Shape 25"/>
          <p:cNvSpPr/>
          <p:nvPr/>
        </p:nvSpPr>
        <p:spPr>
          <a:xfrm>
            <a:off x="8522208" y="1737360"/>
            <a:ext cx="3102559" cy="4023360"/>
          </a:xfrm>
          <a:prstGeom prst="roundRect">
            <a:avLst>
              <a:gd name="adj" fmla="val 2653"/>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9" name="Text 26"/>
          <p:cNvSpPr txBox="1"/>
          <p:nvPr/>
        </p:nvSpPr>
        <p:spPr>
          <a:xfrm>
            <a:off x="8796528" y="1874520"/>
            <a:ext cx="2651760" cy="310896"/>
          </a:xfrm>
          <a:prstGeom prst="rect">
            <a:avLst/>
          </a:prstGeom>
          <a:noFill/>
          <a:ln/>
        </p:spPr>
        <p:txBody>
          <a:bodyPr wrap="square" lIns="0" tIns="0" rIns="0" bIns="0" rtlCol="0" anchor="ctr"/>
          <a:lstStyle/>
          <a:p>
            <a:pPr marL="0" indent="0">
              <a:buNone/>
            </a:pPr>
            <a:r>
              <a:rPr lang="en-US" sz="1550" b="1" dirty="0">
                <a:solidFill>
                  <a:srgbClr val="C9A84C"/>
                </a:solidFill>
                <a:latin typeface="Cambria" pitchFamily="34" charset="0"/>
                <a:ea typeface="Cambria" pitchFamily="34" charset="-122"/>
                <a:cs typeface="Cambria" pitchFamily="34" charset="-120"/>
              </a:rPr>
              <a:t>Cómo se usa</a:t>
            </a:r>
            <a:endParaRPr lang="en-US" sz="1550" dirty="0"/>
          </a:p>
        </p:txBody>
      </p:sp>
      <p:sp>
        <p:nvSpPr>
          <p:cNvPr id="30" name="Text 27"/>
          <p:cNvSpPr txBox="1"/>
          <p:nvPr/>
        </p:nvSpPr>
        <p:spPr>
          <a:xfrm>
            <a:off x="8796528" y="2286000"/>
            <a:ext cx="2514600" cy="3291840"/>
          </a:xfrm>
          <a:prstGeom prst="rect">
            <a:avLst/>
          </a:prstGeom>
          <a:noFill/>
          <a:ln/>
        </p:spPr>
        <p:txBody>
          <a:bodyPr wrap="square" lIns="0" tIns="0" rIns="0" bIns="0" rtlCol="0" anchor="ctr"/>
          <a:lstStyle/>
          <a:p>
            <a:pPr marL="0" indent="0">
              <a:lnSpc>
                <a:spcPct val="106000"/>
              </a:lnSpc>
              <a:buNone/>
            </a:pPr>
            <a:r>
              <a:rPr lang="en-US" sz="1180" dirty="0">
                <a:solidFill>
                  <a:srgbClr val="DCE6F2"/>
                </a:solidFill>
                <a:latin typeface="Calibri" pitchFamily="34" charset="0"/>
                <a:ea typeface="Calibri" pitchFamily="34" charset="-122"/>
                <a:cs typeface="Calibri" pitchFamily="34" charset="-120"/>
              </a:rPr>
              <a:t>La distribución de notas se compara con la puntuación mínima de ejecución. Si más del 30 % del grupo queda bajo el punto de corte, el problema no es individual: es de enseñanza o de instrumento.</a:t>
            </a:r>
            <a:endParaRPr lang="en-US" sz="1180" dirty="0"/>
          </a:p>
          <a:p>
            <a:pPr marL="0" indent="0">
              <a:lnSpc>
                <a:spcPct val="106000"/>
              </a:lnSpc>
              <a:buNone/>
            </a:pPr>
            <a:r>
              <a:rPr lang="en-US" sz="600" dirty="0">
                <a:solidFill>
                  <a:srgbClr val="DCE6F2"/>
                </a:solidFill>
                <a:latin typeface="Calibri" pitchFamily="34" charset="0"/>
                <a:ea typeface="Calibri" pitchFamily="34" charset="-122"/>
                <a:cs typeface="Calibri" pitchFamily="34" charset="-120"/>
              </a:rPr>
              <a:t>​</a:t>
            </a:r>
            <a:endParaRPr lang="en-US" sz="1180" dirty="0"/>
          </a:p>
          <a:p>
            <a:pPr marL="0" indent="0">
              <a:lnSpc>
                <a:spcPct val="106000"/>
              </a:lnSpc>
              <a:buNone/>
            </a:pPr>
            <a:r>
              <a:rPr lang="en-US" sz="1180" dirty="0">
                <a:solidFill>
                  <a:srgbClr val="DCE6F2"/>
                </a:solidFill>
                <a:latin typeface="Calibri" pitchFamily="34" charset="0"/>
                <a:ea typeface="Calibri" pitchFamily="34" charset="-122"/>
                <a:cs typeface="Calibri" pitchFamily="34" charset="-120"/>
              </a:rPr>
              <a:t>La lista de reenseñanza se organiza por destreza, no por estudiante: se agrupan los que fallaron la misma expectativa.</a:t>
            </a:r>
            <a:endParaRPr lang="en-US" sz="1180" dirty="0"/>
          </a:p>
          <a:p>
            <a:pPr marL="0" indent="0">
              <a:lnSpc>
                <a:spcPct val="106000"/>
              </a:lnSpc>
              <a:buNone/>
            </a:pPr>
            <a:r>
              <a:rPr lang="en-US" sz="600" dirty="0">
                <a:solidFill>
                  <a:srgbClr val="DCE6F2"/>
                </a:solidFill>
                <a:latin typeface="Calibri" pitchFamily="34" charset="0"/>
                <a:ea typeface="Calibri" pitchFamily="34" charset="-122"/>
                <a:cs typeface="Calibri" pitchFamily="34" charset="-120"/>
              </a:rPr>
              <a:t>​</a:t>
            </a:r>
            <a:endParaRPr lang="en-US" sz="1180" dirty="0"/>
          </a:p>
          <a:p>
            <a:pPr marL="0" indent="0">
              <a:lnSpc>
                <a:spcPct val="106000"/>
              </a:lnSpc>
              <a:buNone/>
            </a:pPr>
            <a:r>
              <a:rPr lang="en-US" sz="1180" dirty="0">
                <a:solidFill>
                  <a:srgbClr val="DCE6F2"/>
                </a:solidFill>
                <a:latin typeface="Calibri" pitchFamily="34" charset="0"/>
                <a:ea typeface="Calibri" pitchFamily="34" charset="-122"/>
                <a:cs typeface="Calibri" pitchFamily="34" charset="-120"/>
              </a:rPr>
              <a:t>Los distractores más escogidos dicen qué reenseñar; las respuestas de 1 punto en el baremo dicen qué está a medio construir.</a:t>
            </a:r>
            <a:endParaRPr lang="en-US" sz="1180" dirty="0"/>
          </a:p>
        </p:txBody>
      </p:sp>
      <p:sp>
        <p:nvSpPr>
          <p:cNvPr id="31" name="Text 28"/>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Secciones tomadas de la Planilla de especificaciones (Corraliza Montero, ORE-Ponce).</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A</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Actividad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aplicación 1</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60 minutos  ·  1:10 – 2:10 p.m.</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Construye tu bloque de ítems</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Trabajo en tríos por nivel</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Producto: 3 ítems + baremos + fila de planilla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Coevaluación con lista de cotejo</a:t>
            </a:r>
            <a:endParaRPr lang="en-US" sz="12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Construye tu bloque de ítems</a:t>
            </a:r>
            <a:endParaRPr lang="en-US" sz="2700" dirty="0"/>
          </a:p>
        </p:txBody>
      </p:sp>
      <p:sp>
        <p:nvSpPr>
          <p:cNvPr id="4" name="Text 2"/>
          <p:cNvSpPr txBox="1"/>
          <p:nvPr/>
        </p:nvSpPr>
        <p:spPr>
          <a:xfrm>
            <a:off x="566928" y="1261872"/>
            <a:ext cx="11057839" cy="365760"/>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Organización: tríos por nivel (3.º–5.º, 6.º–8.º, 9.º–12.º).   Producto: un bloque de tres ítems con baremos y una fila completa de la planilla de especificaciones.</a:t>
            </a:r>
            <a:endParaRPr lang="en-US" sz="1300" dirty="0"/>
          </a:p>
        </p:txBody>
      </p:sp>
      <p:sp>
        <p:nvSpPr>
          <p:cNvPr id="5" name="Shape 3"/>
          <p:cNvSpPr/>
          <p:nvPr/>
        </p:nvSpPr>
        <p:spPr>
          <a:xfrm>
            <a:off x="566928" y="1737360"/>
            <a:ext cx="11057839" cy="718718"/>
          </a:xfrm>
          <a:prstGeom prst="roundRect">
            <a:avLst>
              <a:gd name="adj" fmla="val 114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768096" y="1895551"/>
            <a:ext cx="402336" cy="402336"/>
          </a:xfrm>
          <a:prstGeom prst="ellipse">
            <a:avLst/>
          </a:prstGeom>
          <a:solidFill>
            <a:srgbClr val="1B2A4A"/>
          </a:solidFill>
          <a:ln/>
        </p:spPr>
        <p:txBody>
          <a:bodyPr/>
          <a:lstStyle/>
          <a:p>
            <a:endParaRPr lang="en-PR"/>
          </a:p>
        </p:txBody>
      </p:sp>
      <p:sp>
        <p:nvSpPr>
          <p:cNvPr id="7" name="Text 5"/>
          <p:cNvSpPr txBox="1"/>
          <p:nvPr/>
        </p:nvSpPr>
        <p:spPr>
          <a:xfrm>
            <a:off x="768096" y="1895551"/>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353312" y="185623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5 min · Escoge la expectativa</a:t>
            </a:r>
            <a:endParaRPr lang="en-US" sz="1350" dirty="0"/>
          </a:p>
        </p:txBody>
      </p:sp>
      <p:sp>
        <p:nvSpPr>
          <p:cNvPr id="9" name="Text 7"/>
          <p:cNvSpPr txBox="1"/>
          <p:nvPr/>
        </p:nvSpPr>
        <p:spPr>
          <a:xfrm>
            <a:off x="1353312" y="2139696"/>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Abre el documento del Programa de Matemáticas (DEPR, 2022), selecciona una expectativa de tu grado y anota su código completo y el indicador que vas a medir.</a:t>
            </a:r>
            <a:endParaRPr lang="en-US" sz="1180" dirty="0"/>
          </a:p>
        </p:txBody>
      </p:sp>
      <p:sp>
        <p:nvSpPr>
          <p:cNvPr id="10" name="Shape 8"/>
          <p:cNvSpPr/>
          <p:nvPr/>
        </p:nvSpPr>
        <p:spPr>
          <a:xfrm>
            <a:off x="566928" y="2574950"/>
            <a:ext cx="11057839" cy="718718"/>
          </a:xfrm>
          <a:prstGeom prst="roundRect">
            <a:avLst>
              <a:gd name="adj" fmla="val 1145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768096" y="2733142"/>
            <a:ext cx="402336" cy="402336"/>
          </a:xfrm>
          <a:prstGeom prst="ellipse">
            <a:avLst/>
          </a:prstGeom>
          <a:solidFill>
            <a:srgbClr val="1F3864"/>
          </a:solidFill>
          <a:ln/>
        </p:spPr>
        <p:txBody>
          <a:bodyPr/>
          <a:lstStyle/>
          <a:p>
            <a:endParaRPr lang="en-PR"/>
          </a:p>
        </p:txBody>
      </p:sp>
      <p:sp>
        <p:nvSpPr>
          <p:cNvPr id="12" name="Text 10"/>
          <p:cNvSpPr txBox="1"/>
          <p:nvPr/>
        </p:nvSpPr>
        <p:spPr>
          <a:xfrm>
            <a:off x="768096" y="273314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353312" y="269382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15 min · Ítem de selección múltiple</a:t>
            </a:r>
            <a:endParaRPr lang="en-US" sz="1350" dirty="0"/>
          </a:p>
        </p:txBody>
      </p:sp>
      <p:sp>
        <p:nvSpPr>
          <p:cNvPr id="14" name="Text 12"/>
          <p:cNvSpPr txBox="1"/>
          <p:nvPr/>
        </p:nvSpPr>
        <p:spPr>
          <a:xfrm>
            <a:off x="1353312" y="2977286"/>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Redacta un ítem de DOK 1 o 2 con premisa, estímulo opcional y cuatro opciones. Escribe al lado de cada distractor el error conceptual que representa.</a:t>
            </a:r>
            <a:endParaRPr lang="en-US" sz="1180" dirty="0"/>
          </a:p>
        </p:txBody>
      </p:sp>
      <p:sp>
        <p:nvSpPr>
          <p:cNvPr id="15" name="Shape 13"/>
          <p:cNvSpPr/>
          <p:nvPr/>
        </p:nvSpPr>
        <p:spPr>
          <a:xfrm>
            <a:off x="566928" y="3412541"/>
            <a:ext cx="11057839" cy="718718"/>
          </a:xfrm>
          <a:prstGeom prst="roundRect">
            <a:avLst>
              <a:gd name="adj" fmla="val 114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6" name="Shape 14"/>
          <p:cNvSpPr/>
          <p:nvPr/>
        </p:nvSpPr>
        <p:spPr>
          <a:xfrm>
            <a:off x="768096" y="3570732"/>
            <a:ext cx="402336" cy="402336"/>
          </a:xfrm>
          <a:prstGeom prst="ellipse">
            <a:avLst/>
          </a:prstGeom>
          <a:solidFill>
            <a:srgbClr val="2A9D8F"/>
          </a:solidFill>
          <a:ln/>
        </p:spPr>
        <p:txBody>
          <a:bodyPr/>
          <a:lstStyle/>
          <a:p>
            <a:endParaRPr lang="en-PR"/>
          </a:p>
        </p:txBody>
      </p:sp>
      <p:sp>
        <p:nvSpPr>
          <p:cNvPr id="17" name="Text 15"/>
          <p:cNvSpPr txBox="1"/>
          <p:nvPr/>
        </p:nvSpPr>
        <p:spPr>
          <a:xfrm>
            <a:off x="768096" y="35707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1353312" y="3531413"/>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15 min · Respuesta abierta sencilla</a:t>
            </a:r>
            <a:endParaRPr lang="en-US" sz="1350" dirty="0"/>
          </a:p>
        </p:txBody>
      </p:sp>
      <p:sp>
        <p:nvSpPr>
          <p:cNvPr id="19" name="Text 17"/>
          <p:cNvSpPr txBox="1"/>
          <p:nvPr/>
        </p:nvSpPr>
        <p:spPr>
          <a:xfrm>
            <a:off x="1353312" y="3814877"/>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Redacta un ítem de 2 puntos con partes A y B, instrucciones específicas y su baremo. Anota al menos dos vías distintas de respuesta correcta.</a:t>
            </a:r>
            <a:endParaRPr lang="en-US" sz="1180" dirty="0"/>
          </a:p>
        </p:txBody>
      </p:sp>
      <p:sp>
        <p:nvSpPr>
          <p:cNvPr id="20" name="Shape 18"/>
          <p:cNvSpPr/>
          <p:nvPr/>
        </p:nvSpPr>
        <p:spPr>
          <a:xfrm>
            <a:off x="566928" y="4250131"/>
            <a:ext cx="11057839" cy="718718"/>
          </a:xfrm>
          <a:prstGeom prst="roundRect">
            <a:avLst>
              <a:gd name="adj" fmla="val 1145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68096" y="4408322"/>
            <a:ext cx="402336" cy="402336"/>
          </a:xfrm>
          <a:prstGeom prst="ellipse">
            <a:avLst/>
          </a:prstGeom>
          <a:solidFill>
            <a:srgbClr val="C9A227"/>
          </a:solidFill>
          <a:ln/>
        </p:spPr>
        <p:txBody>
          <a:bodyPr/>
          <a:lstStyle/>
          <a:p>
            <a:endParaRPr lang="en-PR"/>
          </a:p>
        </p:txBody>
      </p:sp>
      <p:sp>
        <p:nvSpPr>
          <p:cNvPr id="22" name="Text 20"/>
          <p:cNvSpPr txBox="1"/>
          <p:nvPr/>
        </p:nvSpPr>
        <p:spPr>
          <a:xfrm>
            <a:off x="768096" y="440832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353312" y="4369003"/>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15 min · Respuesta abierta de aplicación</a:t>
            </a:r>
            <a:endParaRPr lang="en-US" sz="1350" dirty="0"/>
          </a:p>
        </p:txBody>
      </p:sp>
      <p:sp>
        <p:nvSpPr>
          <p:cNvPr id="24" name="Text 22"/>
          <p:cNvSpPr txBox="1"/>
          <p:nvPr/>
        </p:nvSpPr>
        <p:spPr>
          <a:xfrm>
            <a:off x="1353312" y="4652467"/>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Redacta un ítem de 4 puntos con al menos tres partes independientes, una de las cuales exija decidir o justificar. Añade el baremo y las respuestas posibles.</a:t>
            </a:r>
            <a:endParaRPr lang="en-US" sz="1180" dirty="0"/>
          </a:p>
        </p:txBody>
      </p:sp>
      <p:sp>
        <p:nvSpPr>
          <p:cNvPr id="25" name="Shape 23"/>
          <p:cNvSpPr/>
          <p:nvPr/>
        </p:nvSpPr>
        <p:spPr>
          <a:xfrm>
            <a:off x="566928" y="5087722"/>
            <a:ext cx="11057839" cy="718718"/>
          </a:xfrm>
          <a:prstGeom prst="roundRect">
            <a:avLst>
              <a:gd name="adj" fmla="val 1145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768096" y="5245913"/>
            <a:ext cx="402336" cy="402336"/>
          </a:xfrm>
          <a:prstGeom prst="ellipse">
            <a:avLst/>
          </a:prstGeom>
          <a:solidFill>
            <a:srgbClr val="A8322D"/>
          </a:solidFill>
          <a:ln/>
        </p:spPr>
        <p:txBody>
          <a:bodyPr/>
          <a:lstStyle/>
          <a:p>
            <a:endParaRPr lang="en-PR"/>
          </a:p>
        </p:txBody>
      </p:sp>
      <p:sp>
        <p:nvSpPr>
          <p:cNvPr id="27" name="Text 25"/>
          <p:cNvSpPr txBox="1"/>
          <p:nvPr/>
        </p:nvSpPr>
        <p:spPr>
          <a:xfrm>
            <a:off x="768096" y="5245913"/>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1353312" y="5206594"/>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10 min · Completa la planilla</a:t>
            </a:r>
            <a:endParaRPr lang="en-US" sz="1350" dirty="0"/>
          </a:p>
        </p:txBody>
      </p:sp>
      <p:sp>
        <p:nvSpPr>
          <p:cNvPr id="29" name="Text 27"/>
          <p:cNvSpPr txBox="1"/>
          <p:nvPr/>
        </p:nvSpPr>
        <p:spPr>
          <a:xfrm>
            <a:off x="1353312" y="5490058"/>
            <a:ext cx="10033711" cy="215798"/>
          </a:xfrm>
          <a:prstGeom prst="rect">
            <a:avLst/>
          </a:prstGeom>
          <a:noFill/>
          <a:ln/>
        </p:spPr>
        <p:txBody>
          <a:bodyPr wrap="square" lIns="0" tIns="0" rIns="0" bIns="0" rtlCol="0" anchor="t"/>
          <a:lstStyle/>
          <a:p>
            <a:pPr marL="0" indent="0">
              <a:lnSpc>
                <a:spcPct val="104000"/>
              </a:lnSpc>
              <a:buNone/>
            </a:pPr>
            <a:r>
              <a:rPr lang="en-US" sz="1180" dirty="0">
                <a:solidFill>
                  <a:srgbClr val="22303F"/>
                </a:solidFill>
                <a:latin typeface="Calibri" pitchFamily="34" charset="0"/>
                <a:ea typeface="Calibri" pitchFamily="34" charset="-122"/>
                <a:cs typeface="Calibri" pitchFamily="34" charset="-120"/>
              </a:rPr>
              <a:t>Llena la fila correspondiente: destreza y código, cantidad de ejercicios, valor, puntos, rango DOK y peso porcentual dentro de la prueba que estás planificando.</a:t>
            </a:r>
            <a:endParaRPr lang="en-US" sz="1180" dirty="0"/>
          </a:p>
        </p:txBody>
      </p:sp>
      <p:sp>
        <p:nvSpPr>
          <p:cNvPr id="30" name="Text 28"/>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Materiales: hoja de trabajo impresa, lista de cotejo del ítem, planilla de especificaciones en blanco y el documento del Programa de Matemáticas.</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Hoja de trabajo: qué debe contener cada ítem</a:t>
            </a:r>
            <a:endParaRPr lang="en-US" sz="27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4688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919679">
                  <a:extLst>
                    <a:ext uri="{9D8B030D-6E8A-4147-A177-3AD203B41FA5}">
                      <a16:colId xmlns:a16="http://schemas.microsoft.com/office/drawing/2014/main" val="20003"/>
                    </a:ext>
                  </a:extLst>
                </a:gridCol>
              </a:tblGrid>
              <a:tr h="438912">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Campo</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Ítem de selección múltiple</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Respuesta abierta sencilla</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Respuesta abierta de aplicación</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Código de expectativa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Estímulo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Opcional (recomendado)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Opcional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Premisa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Una pregunta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Partes A y B</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Tres o cuatro partes independientes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Instrucciones específicas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5F6E7E"/>
                          </a:solidFill>
                          <a:latin typeface="Calibri" pitchFamily="34" charset="0"/>
                          <a:ea typeface="Calibri" pitchFamily="34" charset="-122"/>
                          <a:cs typeface="Calibri" pitchFamily="34" charset="-120"/>
                        </a:rPr>
                        <a:t>No aplica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Obligatorias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Opciones / baremo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opciones + error de cada distractor</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Baremo de 2 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Baremo de 4 o 5 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Respuestas posibles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Clave</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Al menos dos vías válidas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Respuesta completa y una parcial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Nivel DOK declarado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3 – 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438912">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Valor en puntos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22303F"/>
                          </a:solidFill>
                          <a:latin typeface="Calibri" pitchFamily="34" charset="0"/>
                          <a:ea typeface="Calibri" pitchFamily="34" charset="-122"/>
                          <a:cs typeface="Calibri" pitchFamily="34" charset="-120"/>
                        </a:rPr>
                        <a:t>4 o 5</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bl>
          </a:graphicData>
        </a:graphic>
      </p:graphicFrame>
      <p:sp>
        <p:nvSpPr>
          <p:cNvPr id="5" name="Shape 2"/>
          <p:cNvSpPr/>
          <p:nvPr/>
        </p:nvSpPr>
        <p:spPr>
          <a:xfrm>
            <a:off x="566928" y="5623560"/>
            <a:ext cx="11057839" cy="621792"/>
          </a:xfrm>
          <a:prstGeom prst="roundRect">
            <a:avLst>
              <a:gd name="adj" fmla="val 13235"/>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3"/>
          <p:cNvSpPr txBox="1"/>
          <p:nvPr/>
        </p:nvSpPr>
        <p:spPr>
          <a:xfrm>
            <a:off x="886968" y="5623560"/>
            <a:ext cx="10417759" cy="621792"/>
          </a:xfrm>
          <a:prstGeom prst="rect">
            <a:avLst/>
          </a:prstGeom>
          <a:noFill/>
          <a:ln/>
        </p:spPr>
        <p:txBody>
          <a:bodyPr wrap="square" lIns="0" tIns="0" rIns="0" bIns="0" rtlCol="0" anchor="ctr"/>
          <a:lstStyle/>
          <a:p>
            <a:pPr marL="0" indent="0">
              <a:buNone/>
            </a:pPr>
            <a:r>
              <a:rPr lang="en-US" sz="1280" b="1" dirty="0">
                <a:solidFill>
                  <a:srgbClr val="6E5610"/>
                </a:solidFill>
                <a:latin typeface="Calibri" pitchFamily="34" charset="0"/>
                <a:ea typeface="Calibri" pitchFamily="34" charset="-122"/>
                <a:cs typeface="Calibri" pitchFamily="34" charset="-120"/>
              </a:rPr>
              <a:t>Ningún ítem se considera terminado hasta que la lista de cotejo esté completa y otro trío lo haya revisado.</a:t>
            </a:r>
            <a:endParaRPr lang="en-US" sz="12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Lista de cotejo del ítem</a:t>
            </a:r>
            <a:endParaRPr lang="en-US" sz="2700" dirty="0"/>
          </a:p>
        </p:txBody>
      </p:sp>
      <p:sp>
        <p:nvSpPr>
          <p:cNvPr id="4" name="Shape 2"/>
          <p:cNvSpPr/>
          <p:nvPr/>
        </p:nvSpPr>
        <p:spPr>
          <a:xfrm>
            <a:off x="566928" y="1371600"/>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49808" y="1481328"/>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6" name="Text 4"/>
          <p:cNvSpPr txBox="1"/>
          <p:nvPr/>
        </p:nvSpPr>
        <p:spPr>
          <a:xfrm>
            <a:off x="1097280" y="1371600"/>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371600" y="1389888"/>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¿El ítem mide los conocimientos y la destreza que menciona la expectativa o el indicador del estándar?</a:t>
            </a:r>
            <a:endParaRPr lang="en-US" sz="1120" dirty="0"/>
          </a:p>
        </p:txBody>
      </p:sp>
      <p:sp>
        <p:nvSpPr>
          <p:cNvPr id="8" name="Shape 6"/>
          <p:cNvSpPr/>
          <p:nvPr/>
        </p:nvSpPr>
        <p:spPr>
          <a:xfrm>
            <a:off x="566928" y="2020824"/>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749808" y="2130552"/>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10" name="Text 8"/>
          <p:cNvSpPr txBox="1"/>
          <p:nvPr/>
        </p:nvSpPr>
        <p:spPr>
          <a:xfrm>
            <a:off x="1097280" y="2020824"/>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1371600" y="2039112"/>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¿La pregunta es clara y comprensible, y no requiere que el estudiante lea las opciones de respuesta para entenderla?</a:t>
            </a:r>
            <a:endParaRPr lang="en-US" sz="1120" dirty="0"/>
          </a:p>
        </p:txBody>
      </p:sp>
      <p:sp>
        <p:nvSpPr>
          <p:cNvPr id="12" name="Shape 10"/>
          <p:cNvSpPr/>
          <p:nvPr/>
        </p:nvSpPr>
        <p:spPr>
          <a:xfrm>
            <a:off x="566928" y="2670048"/>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749808" y="2779776"/>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14" name="Text 12"/>
          <p:cNvSpPr txBox="1"/>
          <p:nvPr/>
        </p:nvSpPr>
        <p:spPr>
          <a:xfrm>
            <a:off x="1097280" y="2670048"/>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1371600" y="2688336"/>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¿Usa el lenguaje apropiado para el grado?</a:t>
            </a:r>
            <a:endParaRPr lang="en-US" sz="1120" dirty="0"/>
          </a:p>
        </p:txBody>
      </p:sp>
      <p:sp>
        <p:nvSpPr>
          <p:cNvPr id="16" name="Shape 14"/>
          <p:cNvSpPr/>
          <p:nvPr/>
        </p:nvSpPr>
        <p:spPr>
          <a:xfrm>
            <a:off x="566928" y="3319272"/>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49808" y="3429000"/>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18" name="Text 16"/>
          <p:cNvSpPr txBox="1"/>
          <p:nvPr/>
        </p:nvSpPr>
        <p:spPr>
          <a:xfrm>
            <a:off x="1097280" y="3319272"/>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1371600" y="3337560"/>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¿Usa el formato correcto y apropiado para el tipo de ítem?</a:t>
            </a:r>
            <a:endParaRPr lang="en-US" sz="1120" dirty="0"/>
          </a:p>
        </p:txBody>
      </p:sp>
      <p:sp>
        <p:nvSpPr>
          <p:cNvPr id="20" name="Shape 18"/>
          <p:cNvSpPr/>
          <p:nvPr/>
        </p:nvSpPr>
        <p:spPr>
          <a:xfrm>
            <a:off x="566928" y="3968496"/>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49808" y="4078224"/>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22" name="Text 20"/>
          <p:cNvSpPr txBox="1"/>
          <p:nvPr/>
        </p:nvSpPr>
        <p:spPr>
          <a:xfrm>
            <a:off x="1097280" y="3968496"/>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1371600" y="3986784"/>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¿Funciona el ítem de forma independiente, sin necesitar la respuesta de otra premisa?</a:t>
            </a:r>
            <a:endParaRPr lang="en-US" sz="1120" dirty="0"/>
          </a:p>
        </p:txBody>
      </p:sp>
      <p:sp>
        <p:nvSpPr>
          <p:cNvPr id="24" name="Shape 22"/>
          <p:cNvSpPr/>
          <p:nvPr/>
        </p:nvSpPr>
        <p:spPr>
          <a:xfrm>
            <a:off x="6233008" y="1371600"/>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15888" y="1481328"/>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26" name="Text 24"/>
          <p:cNvSpPr txBox="1"/>
          <p:nvPr/>
        </p:nvSpPr>
        <p:spPr>
          <a:xfrm>
            <a:off x="6763360" y="1371600"/>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6</a:t>
            </a:r>
            <a:endParaRPr lang="en-US" sz="1100" dirty="0"/>
          </a:p>
        </p:txBody>
      </p:sp>
      <p:sp>
        <p:nvSpPr>
          <p:cNvPr id="27" name="Text 25"/>
          <p:cNvSpPr txBox="1"/>
          <p:nvPr/>
        </p:nvSpPr>
        <p:spPr>
          <a:xfrm>
            <a:off x="7037680" y="1389888"/>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¿Está la pregunta formulada de manera clara y concisa?</a:t>
            </a:r>
            <a:endParaRPr lang="en-US" sz="1120" dirty="0"/>
          </a:p>
        </p:txBody>
      </p:sp>
      <p:sp>
        <p:nvSpPr>
          <p:cNvPr id="28" name="Shape 26"/>
          <p:cNvSpPr/>
          <p:nvPr/>
        </p:nvSpPr>
        <p:spPr>
          <a:xfrm>
            <a:off x="6233008" y="2020824"/>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6415888" y="2130552"/>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30" name="Text 28"/>
          <p:cNvSpPr txBox="1"/>
          <p:nvPr/>
        </p:nvSpPr>
        <p:spPr>
          <a:xfrm>
            <a:off x="6763360" y="2020824"/>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7</a:t>
            </a:r>
            <a:endParaRPr lang="en-US" sz="1100" dirty="0"/>
          </a:p>
        </p:txBody>
      </p:sp>
      <p:sp>
        <p:nvSpPr>
          <p:cNvPr id="31" name="Text 29"/>
          <p:cNvSpPr txBox="1"/>
          <p:nvPr/>
        </p:nvSpPr>
        <p:spPr>
          <a:xfrm>
            <a:off x="7037680" y="2039112"/>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¿El contenido del ítem es accesible a todos los estudiantes en términos de sensibilidad e imparcialidad?</a:t>
            </a:r>
            <a:endParaRPr lang="en-US" sz="1120" dirty="0"/>
          </a:p>
        </p:txBody>
      </p:sp>
      <p:sp>
        <p:nvSpPr>
          <p:cNvPr id="32" name="Shape 30"/>
          <p:cNvSpPr/>
          <p:nvPr/>
        </p:nvSpPr>
        <p:spPr>
          <a:xfrm>
            <a:off x="6233008" y="2670048"/>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3" name="Shape 31"/>
          <p:cNvSpPr/>
          <p:nvPr/>
        </p:nvSpPr>
        <p:spPr>
          <a:xfrm>
            <a:off x="6415888" y="2779776"/>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34" name="Text 32"/>
          <p:cNvSpPr txBox="1"/>
          <p:nvPr/>
        </p:nvSpPr>
        <p:spPr>
          <a:xfrm>
            <a:off x="6763360" y="2670048"/>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8</a:t>
            </a:r>
            <a:endParaRPr lang="en-US" sz="1100" dirty="0"/>
          </a:p>
        </p:txBody>
      </p:sp>
      <p:sp>
        <p:nvSpPr>
          <p:cNvPr id="35" name="Text 33"/>
          <p:cNvSpPr txBox="1"/>
          <p:nvPr/>
        </p:nvSpPr>
        <p:spPr>
          <a:xfrm>
            <a:off x="7037680" y="2688336"/>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¿Necesita el ítem un diagrama, ilustración, fórmula, bosquejo u organizador gráfico en el estímulo?</a:t>
            </a:r>
            <a:endParaRPr lang="en-US" sz="1120" dirty="0"/>
          </a:p>
        </p:txBody>
      </p:sp>
      <p:sp>
        <p:nvSpPr>
          <p:cNvPr id="36" name="Shape 34"/>
          <p:cNvSpPr/>
          <p:nvPr/>
        </p:nvSpPr>
        <p:spPr>
          <a:xfrm>
            <a:off x="6233008" y="3319272"/>
            <a:ext cx="5391760" cy="502920"/>
          </a:xfrm>
          <a:prstGeom prst="roundRect">
            <a:avLst>
              <a:gd name="adj" fmla="val 1636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7" name="Shape 35"/>
          <p:cNvSpPr/>
          <p:nvPr/>
        </p:nvSpPr>
        <p:spPr>
          <a:xfrm>
            <a:off x="6415888" y="3429000"/>
            <a:ext cx="283464" cy="283464"/>
          </a:xfrm>
          <a:prstGeom prst="roundRect">
            <a:avLst>
              <a:gd name="adj" fmla="val 12903"/>
            </a:avLst>
          </a:prstGeom>
          <a:solidFill>
            <a:srgbClr val="FFFFFF"/>
          </a:solidFill>
          <a:ln w="15240">
            <a:solidFill>
              <a:srgbClr val="1B2A4A"/>
            </a:solidFill>
            <a:prstDash val="solid"/>
          </a:ln>
        </p:spPr>
        <p:txBody>
          <a:bodyPr/>
          <a:lstStyle/>
          <a:p>
            <a:endParaRPr lang="en-PR"/>
          </a:p>
        </p:txBody>
      </p:sp>
      <p:sp>
        <p:nvSpPr>
          <p:cNvPr id="38" name="Text 36"/>
          <p:cNvSpPr txBox="1"/>
          <p:nvPr/>
        </p:nvSpPr>
        <p:spPr>
          <a:xfrm>
            <a:off x="6763360" y="3319272"/>
            <a:ext cx="256032" cy="502920"/>
          </a:xfrm>
          <a:prstGeom prst="rect">
            <a:avLst/>
          </a:prstGeom>
          <a:noFill/>
          <a:ln/>
        </p:spPr>
        <p:txBody>
          <a:bodyPr wrap="square" lIns="0" tIns="0" rIns="0" bIns="0"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9</a:t>
            </a:r>
            <a:endParaRPr lang="en-US" sz="1100" dirty="0"/>
          </a:p>
        </p:txBody>
      </p:sp>
      <p:sp>
        <p:nvSpPr>
          <p:cNvPr id="39" name="Text 37"/>
          <p:cNvSpPr txBox="1"/>
          <p:nvPr/>
        </p:nvSpPr>
        <p:spPr>
          <a:xfrm>
            <a:off x="7037680" y="3337560"/>
            <a:ext cx="4385920" cy="466344"/>
          </a:xfrm>
          <a:prstGeom prst="rect">
            <a:avLst/>
          </a:prstGeom>
          <a:noFill/>
          <a:ln/>
        </p:spPr>
        <p:txBody>
          <a:bodyPr wrap="square" lIns="0" tIns="0" rIns="0" bIns="0" rtlCol="0" anchor="ctr"/>
          <a:lstStyle/>
          <a:p>
            <a:pPr marL="0" indent="0">
              <a:lnSpc>
                <a:spcPct val="102000"/>
              </a:lnSpc>
              <a:buNone/>
            </a:pPr>
            <a:r>
              <a:rPr lang="en-US" sz="1120" dirty="0">
                <a:solidFill>
                  <a:srgbClr val="22303F"/>
                </a:solidFill>
                <a:latin typeface="Calibri" pitchFamily="34" charset="0"/>
                <a:ea typeface="Calibri" pitchFamily="34" charset="-122"/>
                <a:cs typeface="Calibri" pitchFamily="34" charset="-120"/>
              </a:rPr>
              <a:t>¿Completó correctamente la información de la hoja de asignación del ítem: código, DOK, valor y clave?</a:t>
            </a:r>
            <a:endParaRPr lang="en-US" sz="1120" dirty="0"/>
          </a:p>
        </p:txBody>
      </p:sp>
      <p:sp>
        <p:nvSpPr>
          <p:cNvPr id="40" name="Shape 38"/>
          <p:cNvSpPr/>
          <p:nvPr/>
        </p:nvSpPr>
        <p:spPr>
          <a:xfrm>
            <a:off x="6233008" y="3968496"/>
            <a:ext cx="5391760" cy="1828800"/>
          </a:xfrm>
          <a:prstGeom prst="roundRect">
            <a:avLst>
              <a:gd name="adj" fmla="val 45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41" name="Text 39"/>
          <p:cNvSpPr txBox="1"/>
          <p:nvPr/>
        </p:nvSpPr>
        <p:spPr>
          <a:xfrm>
            <a:off x="6507328" y="4114800"/>
            <a:ext cx="4843120" cy="292608"/>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Regla de la lista</a:t>
            </a:r>
            <a:endParaRPr lang="en-US" sz="1500" dirty="0"/>
          </a:p>
        </p:txBody>
      </p:sp>
      <p:sp>
        <p:nvSpPr>
          <p:cNvPr id="42" name="Text 40"/>
          <p:cNvSpPr txBox="1"/>
          <p:nvPr/>
        </p:nvSpPr>
        <p:spPr>
          <a:xfrm>
            <a:off x="6507328" y="4480560"/>
            <a:ext cx="4568800" cy="1097280"/>
          </a:xfrm>
          <a:prstGeom prst="rect">
            <a:avLst/>
          </a:prstGeom>
          <a:noFill/>
          <a:ln/>
        </p:spPr>
        <p:txBody>
          <a:bodyPr wrap="square" lIns="0" tIns="0" rIns="0" bIns="0" rtlCol="0" anchor="ctr"/>
          <a:lstStyle/>
          <a:p>
            <a:pPr marL="0" indent="0">
              <a:lnSpc>
                <a:spcPct val="106000"/>
              </a:lnSpc>
              <a:buNone/>
            </a:pPr>
            <a:r>
              <a:rPr lang="en-US" sz="1220" dirty="0">
                <a:solidFill>
                  <a:srgbClr val="DCE6F2"/>
                </a:solidFill>
                <a:latin typeface="Calibri" pitchFamily="34" charset="0"/>
                <a:ea typeface="Calibri" pitchFamily="34" charset="-122"/>
                <a:cs typeface="Calibri" pitchFamily="34" charset="-120"/>
              </a:rPr>
              <a:t>Un ítem con una sola casilla sin marcar no se descarta: se reescribe y vuelve a pasar la lista completa desde el punto 1. La revisión la hace siempre otra persona, nunca quien redactó el ítem.</a:t>
            </a:r>
            <a:endParaRPr lang="en-US" sz="1220" dirty="0"/>
          </a:p>
        </p:txBody>
      </p:sp>
      <p:sp>
        <p:nvSpPr>
          <p:cNvPr id="43" name="Text 41"/>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Criterios de revisión de ítems del taller original (ORE-Ponce).</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1</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Protocolo de coevaluación entre pares  ·  últimos 10 minutos</a:t>
            </a:r>
            <a:endParaRPr lang="en-US" sz="2700" dirty="0"/>
          </a:p>
        </p:txBody>
      </p:sp>
      <p:sp>
        <p:nvSpPr>
          <p:cNvPr id="4" name="Shape 2"/>
          <p:cNvSpPr/>
          <p:nvPr/>
        </p:nvSpPr>
        <p:spPr>
          <a:xfrm>
            <a:off x="566928"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1617688" y="1536192"/>
            <a:ext cx="548640" cy="548640"/>
          </a:xfrm>
          <a:prstGeom prst="ellipse">
            <a:avLst/>
          </a:prstGeom>
          <a:solidFill>
            <a:srgbClr val="1B2A4A"/>
          </a:solidFill>
          <a:ln/>
        </p:spPr>
        <p:txBody>
          <a:bodyPr/>
          <a:lstStyle/>
          <a:p>
            <a:endParaRPr lang="en-PR"/>
          </a:p>
        </p:txBody>
      </p:sp>
      <p:sp>
        <p:nvSpPr>
          <p:cNvPr id="6" name="Text 4"/>
          <p:cNvSpPr txBox="1"/>
          <p:nvPr/>
        </p:nvSpPr>
        <p:spPr>
          <a:xfrm>
            <a:off x="1617688" y="1536192"/>
            <a:ext cx="5486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749808"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Intercambio</a:t>
            </a:r>
            <a:endParaRPr lang="en-US" sz="1400" dirty="0"/>
          </a:p>
        </p:txBody>
      </p:sp>
      <p:sp>
        <p:nvSpPr>
          <p:cNvPr id="8" name="Text 6"/>
          <p:cNvSpPr txBox="1"/>
          <p:nvPr/>
        </p:nvSpPr>
        <p:spPr>
          <a:xfrm>
            <a:off x="749808"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Cada trío entrega su bloque de tres ítems al trío del mismo nivel que tiene al lado. Nadie explica su ítem: si hace falta explicarlo, el ítem no está claro.</a:t>
            </a:r>
            <a:endParaRPr lang="en-US" sz="1150" dirty="0"/>
          </a:p>
        </p:txBody>
      </p:sp>
      <p:sp>
        <p:nvSpPr>
          <p:cNvPr id="9" name="Shape 7"/>
          <p:cNvSpPr/>
          <p:nvPr/>
        </p:nvSpPr>
        <p:spPr>
          <a:xfrm>
            <a:off x="3368878"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419638" y="1536192"/>
            <a:ext cx="548640" cy="548640"/>
          </a:xfrm>
          <a:prstGeom prst="ellipse">
            <a:avLst/>
          </a:prstGeom>
          <a:solidFill>
            <a:srgbClr val="2A9D8F"/>
          </a:solidFill>
          <a:ln/>
        </p:spPr>
        <p:txBody>
          <a:bodyPr/>
          <a:lstStyle/>
          <a:p>
            <a:endParaRPr lang="en-PR"/>
          </a:p>
        </p:txBody>
      </p:sp>
      <p:sp>
        <p:nvSpPr>
          <p:cNvPr id="11" name="Text 9"/>
          <p:cNvSpPr txBox="1"/>
          <p:nvPr/>
        </p:nvSpPr>
        <p:spPr>
          <a:xfrm>
            <a:off x="4419638" y="1536192"/>
            <a:ext cx="5486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3551758"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Lectura como estudiante</a:t>
            </a:r>
            <a:endParaRPr lang="en-US" sz="1400" dirty="0"/>
          </a:p>
        </p:txBody>
      </p:sp>
      <p:sp>
        <p:nvSpPr>
          <p:cNvPr id="13" name="Text 11"/>
          <p:cNvSpPr txBox="1"/>
          <p:nvPr/>
        </p:nvSpPr>
        <p:spPr>
          <a:xfrm>
            <a:off x="3551758"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El trío revisor contesta los tres ítems como si fuera un estudiante del grado. Anota dónde dudó y qué tuvo que releer.</a:t>
            </a:r>
            <a:endParaRPr lang="en-US" sz="1150" dirty="0"/>
          </a:p>
        </p:txBody>
      </p:sp>
      <p:sp>
        <p:nvSpPr>
          <p:cNvPr id="14" name="Shape 12"/>
          <p:cNvSpPr/>
          <p:nvPr/>
        </p:nvSpPr>
        <p:spPr>
          <a:xfrm>
            <a:off x="6170828"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7221588" y="1536192"/>
            <a:ext cx="548640" cy="548640"/>
          </a:xfrm>
          <a:prstGeom prst="ellipse">
            <a:avLst/>
          </a:prstGeom>
          <a:solidFill>
            <a:srgbClr val="C9A227"/>
          </a:solidFill>
          <a:ln/>
        </p:spPr>
        <p:txBody>
          <a:bodyPr/>
          <a:lstStyle/>
          <a:p>
            <a:endParaRPr lang="en-PR"/>
          </a:p>
        </p:txBody>
      </p:sp>
      <p:sp>
        <p:nvSpPr>
          <p:cNvPr id="16" name="Text 14"/>
          <p:cNvSpPr txBox="1"/>
          <p:nvPr/>
        </p:nvSpPr>
        <p:spPr>
          <a:xfrm>
            <a:off x="7221588" y="1536192"/>
            <a:ext cx="548640" cy="548640"/>
          </a:xfrm>
          <a:prstGeom prst="rect">
            <a:avLst/>
          </a:prstGeom>
          <a:noFill/>
          <a:ln/>
        </p:spPr>
        <p:txBody>
          <a:bodyPr wrap="square" lIns="0" tIns="0" rIns="0" bIns="0" rtlCol="0" anchor="ctr"/>
          <a:lstStyle/>
          <a:p>
            <a:pPr marL="0" indent="0" algn="ctr">
              <a:buNone/>
            </a:pPr>
            <a:r>
              <a:rPr lang="en-US" sz="1900" b="1" dirty="0">
                <a:solidFill>
                  <a:srgbClr val="1B2A4A"/>
                </a:solidFill>
                <a:latin typeface="Cambria" pitchFamily="34" charset="0"/>
                <a:ea typeface="Cambria" pitchFamily="34" charset="-122"/>
                <a:cs typeface="Cambria" pitchFamily="34" charset="-120"/>
              </a:rPr>
              <a:t>3</a:t>
            </a:r>
            <a:endParaRPr lang="en-US" sz="1900" dirty="0"/>
          </a:p>
        </p:txBody>
      </p:sp>
      <p:sp>
        <p:nvSpPr>
          <p:cNvPr id="17" name="Text 15"/>
          <p:cNvSpPr txBox="1"/>
          <p:nvPr/>
        </p:nvSpPr>
        <p:spPr>
          <a:xfrm>
            <a:off x="6353708"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Lista de cotejo</a:t>
            </a:r>
            <a:endParaRPr lang="en-US" sz="1400" dirty="0"/>
          </a:p>
        </p:txBody>
      </p:sp>
      <p:sp>
        <p:nvSpPr>
          <p:cNvPr id="18" name="Text 16"/>
          <p:cNvSpPr txBox="1"/>
          <p:nvPr/>
        </p:nvSpPr>
        <p:spPr>
          <a:xfrm>
            <a:off x="6353708"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Aplica los nueve criterios y marca solo lo que puede evidenciar en el texto del ítem, no lo que supone que el autor quiso decir.</a:t>
            </a:r>
            <a:endParaRPr lang="en-US" sz="1150" dirty="0"/>
          </a:p>
        </p:txBody>
      </p:sp>
      <p:sp>
        <p:nvSpPr>
          <p:cNvPr id="19" name="Shape 17"/>
          <p:cNvSpPr/>
          <p:nvPr/>
        </p:nvSpPr>
        <p:spPr>
          <a:xfrm>
            <a:off x="8972779" y="1325880"/>
            <a:ext cx="2650160" cy="3200400"/>
          </a:xfrm>
          <a:prstGeom prst="roundRect">
            <a:avLst>
              <a:gd name="adj" fmla="val 3105"/>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10023539" y="1536192"/>
            <a:ext cx="548640" cy="548640"/>
          </a:xfrm>
          <a:prstGeom prst="ellipse">
            <a:avLst/>
          </a:prstGeom>
          <a:solidFill>
            <a:srgbClr val="A8322D"/>
          </a:solidFill>
          <a:ln/>
        </p:spPr>
        <p:txBody>
          <a:bodyPr/>
          <a:lstStyle/>
          <a:p>
            <a:endParaRPr lang="en-PR"/>
          </a:p>
        </p:txBody>
      </p:sp>
      <p:sp>
        <p:nvSpPr>
          <p:cNvPr id="21" name="Text 19"/>
          <p:cNvSpPr txBox="1"/>
          <p:nvPr/>
        </p:nvSpPr>
        <p:spPr>
          <a:xfrm>
            <a:off x="10023539" y="1536192"/>
            <a:ext cx="548640" cy="54864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20"/>
          <p:cNvSpPr txBox="1"/>
          <p:nvPr/>
        </p:nvSpPr>
        <p:spPr>
          <a:xfrm>
            <a:off x="9155659" y="2212848"/>
            <a:ext cx="228440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Devolución en tres frases</a:t>
            </a:r>
            <a:endParaRPr lang="en-US" sz="1400" dirty="0"/>
          </a:p>
        </p:txBody>
      </p:sp>
      <p:sp>
        <p:nvSpPr>
          <p:cNvPr id="23" name="Text 21"/>
          <p:cNvSpPr txBox="1"/>
          <p:nvPr/>
        </p:nvSpPr>
        <p:spPr>
          <a:xfrm>
            <a:off x="9155659" y="2615184"/>
            <a:ext cx="2284400" cy="1737360"/>
          </a:xfrm>
          <a:prstGeom prst="rect">
            <a:avLst/>
          </a:prstGeom>
          <a:noFill/>
          <a:ln/>
        </p:spPr>
        <p:txBody>
          <a:bodyPr wrap="square" lIns="0" tIns="0" rIns="0" bIns="0" rtlCol="0" anchor="t"/>
          <a:lstStyle/>
          <a:p>
            <a:pPr marL="0" indent="0">
              <a:lnSpc>
                <a:spcPct val="105000"/>
              </a:lnSpc>
              <a:buNone/>
            </a:pPr>
            <a:r>
              <a:rPr lang="en-US" sz="1150" dirty="0">
                <a:solidFill>
                  <a:srgbClr val="22303F"/>
                </a:solidFill>
                <a:latin typeface="Calibri" pitchFamily="34" charset="0"/>
                <a:ea typeface="Calibri" pitchFamily="34" charset="-122"/>
                <a:cs typeface="Calibri" pitchFamily="34" charset="-120"/>
              </a:rPr>
              <a:t>Una fortaleza concreta, una barrera detectada y una sugerencia de reescritura. Se entrega por escrito, no en conversación.</a:t>
            </a:r>
            <a:endParaRPr lang="en-US" sz="1150" dirty="0"/>
          </a:p>
        </p:txBody>
      </p:sp>
      <p:sp>
        <p:nvSpPr>
          <p:cNvPr id="24" name="Shape 22"/>
          <p:cNvSpPr/>
          <p:nvPr/>
        </p:nvSpPr>
        <p:spPr>
          <a:xfrm>
            <a:off x="566928" y="4754880"/>
            <a:ext cx="11057839" cy="1481328"/>
          </a:xfrm>
          <a:prstGeom prst="roundRect">
            <a:avLst>
              <a:gd name="adj" fmla="val 555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5" name="Text 23"/>
          <p:cNvSpPr txBox="1"/>
          <p:nvPr/>
        </p:nvSpPr>
        <p:spPr>
          <a:xfrm>
            <a:off x="932688" y="4919472"/>
            <a:ext cx="10326319" cy="310896"/>
          </a:xfrm>
          <a:prstGeom prst="rect">
            <a:avLst/>
          </a:prstGeom>
          <a:noFill/>
          <a:ln/>
        </p:spPr>
        <p:txBody>
          <a:bodyPr wrap="square" lIns="0" tIns="0" rIns="0" bIns="0" rtlCol="0" anchor="ctr"/>
          <a:lstStyle/>
          <a:p>
            <a:pPr marL="0" indent="0">
              <a:buNone/>
            </a:pPr>
            <a:r>
              <a:rPr lang="en-US" sz="1600" b="1" dirty="0">
                <a:solidFill>
                  <a:srgbClr val="C9A84C"/>
                </a:solidFill>
                <a:latin typeface="Cambria" pitchFamily="34" charset="0"/>
                <a:ea typeface="Cambria" pitchFamily="34" charset="-122"/>
                <a:cs typeface="Cambria" pitchFamily="34" charset="-120"/>
              </a:rPr>
              <a:t>Por qué la coevaluación no es opcional</a:t>
            </a:r>
            <a:endParaRPr lang="en-US" sz="1600" dirty="0"/>
          </a:p>
        </p:txBody>
      </p:sp>
      <p:sp>
        <p:nvSpPr>
          <p:cNvPr id="26" name="Text 24"/>
          <p:cNvSpPr txBox="1"/>
          <p:nvPr/>
        </p:nvSpPr>
        <p:spPr>
          <a:xfrm>
            <a:off x="932688" y="5285232"/>
            <a:ext cx="10326319" cy="822960"/>
          </a:xfrm>
          <a:prstGeom prst="rect">
            <a:avLst/>
          </a:prstGeom>
          <a:noFill/>
          <a:ln/>
        </p:spPr>
        <p:txBody>
          <a:bodyPr wrap="square" lIns="0" tIns="0" rIns="0" bIns="0" rtlCol="0" anchor="ctr"/>
          <a:lstStyle/>
          <a:p>
            <a:pPr marL="0" indent="0">
              <a:lnSpc>
                <a:spcPct val="105000"/>
              </a:lnSpc>
              <a:buNone/>
            </a:pPr>
            <a:r>
              <a:rPr lang="en-US" sz="1300" dirty="0">
                <a:solidFill>
                  <a:srgbClr val="DCE6F2"/>
                </a:solidFill>
                <a:latin typeface="Calibri" pitchFamily="34" charset="0"/>
                <a:ea typeface="Calibri" pitchFamily="34" charset="-122"/>
                <a:cs typeface="Calibri" pitchFamily="34" charset="-120"/>
              </a:rPr>
              <a:t>El sesgo y la ambigüedad son puntos ciegos: quien redactó el ítem ya sabe lo que quiso decir y por eso lo entiende siempre. Solo un lector externo puede detectar la barrera. Esta es la razón por la que las pruebas estandarizadas se someten a revisión por comité antes de administrarse.</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9</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Inteligencia artificial</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y DUA en la evaluación</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35 minutos  ·  El modelo RC-TTF aplicado a la redacción de exámenes</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Qué puede y qué no puede hacer la IA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El modelo RC-TTF (Corraliza, 2024)</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Prompt modelo para un examen con DUA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Adaptación por nivel de grado</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Riesgos y auditoría del resultado</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¿Qué puede y qué no puede hacer la IA en la redacción de exámenes?</a:t>
            </a:r>
            <a:endParaRPr lang="en-US" sz="2700" dirty="0"/>
          </a:p>
        </p:txBody>
      </p:sp>
      <p:sp>
        <p:nvSpPr>
          <p:cNvPr id="4" name="Shape 2"/>
          <p:cNvSpPr/>
          <p:nvPr/>
        </p:nvSpPr>
        <p:spPr>
          <a:xfrm>
            <a:off x="566928" y="1325880"/>
            <a:ext cx="5349240" cy="4160520"/>
          </a:xfrm>
          <a:prstGeom prst="roundRect">
            <a:avLst>
              <a:gd name="adj" fmla="val 1978"/>
            </a:avLst>
          </a:prstGeom>
          <a:solidFill>
            <a:srgbClr val="F0F8F6"/>
          </a:solidFill>
          <a:ln w="12700">
            <a:solidFill>
              <a:srgbClr val="2A9D8F"/>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859536" y="1517904"/>
            <a:ext cx="4754880" cy="365760"/>
          </a:xfrm>
          <a:prstGeom prst="rect">
            <a:avLst/>
          </a:prstGeom>
          <a:noFill/>
          <a:ln/>
        </p:spPr>
        <p:txBody>
          <a:bodyPr wrap="square" lIns="0" tIns="0" rIns="0" bIns="0" rtlCol="0" anchor="ctr"/>
          <a:lstStyle/>
          <a:p>
            <a:pPr marL="0" indent="0">
              <a:buNone/>
            </a:pPr>
            <a:r>
              <a:rPr lang="en-US" sz="1800" b="1" dirty="0">
                <a:solidFill>
                  <a:srgbClr val="17624F"/>
                </a:solidFill>
                <a:latin typeface="Cambria" pitchFamily="34" charset="0"/>
                <a:ea typeface="Cambria" pitchFamily="34" charset="-122"/>
                <a:cs typeface="Cambria" pitchFamily="34" charset="-120"/>
              </a:rPr>
              <a:t>Sí puede</a:t>
            </a:r>
            <a:endParaRPr lang="en-US" sz="1800" dirty="0"/>
          </a:p>
        </p:txBody>
      </p:sp>
      <p:sp>
        <p:nvSpPr>
          <p:cNvPr id="6" name="Text 4"/>
          <p:cNvSpPr txBox="1"/>
          <p:nvPr/>
        </p:nvSpPr>
        <p:spPr>
          <a:xfrm>
            <a:off x="859536" y="1993392"/>
            <a:ext cx="4754880" cy="329184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Producir un primer borrador de veinte ítems en minutos, no en horas.</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Generar variantes de un mismo ítem para distintos niveles de lectura.</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Redactar baremos consistentes con la estructura que usted le indique.</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Proponer distractores a partir de errores conceptuales que usted describa.</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Reescribir un enunciado denso en lenguaje apropiado al grado.</a:t>
            </a:r>
            <a:endParaRPr lang="en-US" sz="1280" dirty="0"/>
          </a:p>
          <a:p>
            <a:pPr marL="342900" indent="-342900">
              <a:lnSpc>
                <a:spcPct val="105000"/>
              </a:lnSpc>
              <a:spcAft>
                <a:spcPts val="1000"/>
              </a:spcAft>
              <a:buSzPct val="100000"/>
              <a:buChar char="▪"/>
            </a:pPr>
            <a:r>
              <a:rPr lang="en-US" sz="1280" dirty="0">
                <a:solidFill>
                  <a:srgbClr val="17624F"/>
                </a:solidFill>
                <a:latin typeface="Calibri" pitchFamily="34" charset="0"/>
                <a:ea typeface="Calibri" pitchFamily="34" charset="-122"/>
                <a:cs typeface="Calibri" pitchFamily="34" charset="-120"/>
              </a:rPr>
              <a:t>Calcular pesos, puntuaciones y tiempos si usted le da la estructura.</a:t>
            </a:r>
            <a:endParaRPr lang="en-US" sz="1280" dirty="0"/>
          </a:p>
        </p:txBody>
      </p:sp>
      <p:sp>
        <p:nvSpPr>
          <p:cNvPr id="7" name="Shape 5"/>
          <p:cNvSpPr/>
          <p:nvPr/>
        </p:nvSpPr>
        <p:spPr>
          <a:xfrm>
            <a:off x="6272784" y="1325880"/>
            <a:ext cx="5349240" cy="4160520"/>
          </a:xfrm>
          <a:prstGeom prst="roundRect">
            <a:avLst>
              <a:gd name="adj" fmla="val 1978"/>
            </a:avLst>
          </a:prstGeom>
          <a:solidFill>
            <a:srgbClr val="FBF0EF"/>
          </a:solidFill>
          <a:ln w="12700">
            <a:solidFill>
              <a:srgbClr val="A8322D"/>
            </a:solidFill>
            <a:prstDash val="solid"/>
          </a:ln>
          <a:effectLst>
            <a:outerShdw blurRad="127000" dist="25400" dir="5400000" algn="bl" rotWithShape="0">
              <a:srgbClr val="9AA8B6">
                <a:alpha val="25000"/>
              </a:srgbClr>
            </a:outerShdw>
          </a:effectLst>
        </p:spPr>
        <p:txBody>
          <a:bodyPr/>
          <a:lstStyle/>
          <a:p>
            <a:endParaRPr lang="en-PR"/>
          </a:p>
        </p:txBody>
      </p:sp>
      <p:sp>
        <p:nvSpPr>
          <p:cNvPr id="8" name="Text 6"/>
          <p:cNvSpPr txBox="1"/>
          <p:nvPr/>
        </p:nvSpPr>
        <p:spPr>
          <a:xfrm>
            <a:off x="6565392" y="1517904"/>
            <a:ext cx="4754880" cy="365760"/>
          </a:xfrm>
          <a:prstGeom prst="rect">
            <a:avLst/>
          </a:prstGeom>
          <a:noFill/>
          <a:ln/>
        </p:spPr>
        <p:txBody>
          <a:bodyPr wrap="square" lIns="0" tIns="0" rIns="0" bIns="0" rtlCol="0" anchor="ctr"/>
          <a:lstStyle/>
          <a:p>
            <a:pPr marL="0" indent="0">
              <a:buNone/>
            </a:pPr>
            <a:r>
              <a:rPr lang="en-US" sz="1800" b="1" dirty="0">
                <a:solidFill>
                  <a:srgbClr val="8A2A26"/>
                </a:solidFill>
                <a:latin typeface="Cambria" pitchFamily="34" charset="0"/>
                <a:ea typeface="Cambria" pitchFamily="34" charset="-122"/>
                <a:cs typeface="Cambria" pitchFamily="34" charset="-120"/>
              </a:rPr>
              <a:t>No puede</a:t>
            </a:r>
            <a:endParaRPr lang="en-US" sz="1800" dirty="0"/>
          </a:p>
        </p:txBody>
      </p:sp>
      <p:sp>
        <p:nvSpPr>
          <p:cNvPr id="9" name="Text 7"/>
          <p:cNvSpPr txBox="1"/>
          <p:nvPr/>
        </p:nvSpPr>
        <p:spPr>
          <a:xfrm>
            <a:off x="6565392" y="1993392"/>
            <a:ext cx="4754880" cy="329184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Conocer con certeza los códigos del Programa de Matemáticas del DEPR 2022.</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Saber qué se enseñó realmente en su salón este semestre.</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Reconocer el sesgo específico de su comunidad escolar.</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Juzgar si el nivel DOK que declara corresponde a la demanda real del ítem.</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Validar que la respuesta que ofrece como correcta lo sea.</a:t>
            </a:r>
            <a:endParaRPr lang="en-US" sz="1280" dirty="0"/>
          </a:p>
          <a:p>
            <a:pPr marL="342900" indent="-342900">
              <a:lnSpc>
                <a:spcPct val="105000"/>
              </a:lnSpc>
              <a:spcAft>
                <a:spcPts val="1000"/>
              </a:spcAft>
              <a:buSzPct val="100000"/>
              <a:buChar char="▪"/>
            </a:pPr>
            <a:r>
              <a:rPr lang="en-US" sz="1280" dirty="0">
                <a:solidFill>
                  <a:srgbClr val="8A2A26"/>
                </a:solidFill>
                <a:latin typeface="Calibri" pitchFamily="34" charset="0"/>
                <a:ea typeface="Calibri" pitchFamily="34" charset="-122"/>
                <a:cs typeface="Calibri" pitchFamily="34" charset="-120"/>
              </a:rPr>
              <a:t>Asumir la responsabilidad profesional por el instrumento.</a:t>
            </a:r>
            <a:endParaRPr lang="en-US" sz="1280" dirty="0"/>
          </a:p>
        </p:txBody>
      </p:sp>
      <p:sp>
        <p:nvSpPr>
          <p:cNvPr id="10" name="Shape 8"/>
          <p:cNvSpPr/>
          <p:nvPr/>
        </p:nvSpPr>
        <p:spPr>
          <a:xfrm>
            <a:off x="566928" y="5669280"/>
            <a:ext cx="11057839" cy="566928"/>
          </a:xfrm>
          <a:prstGeom prst="roundRect">
            <a:avLst>
              <a:gd name="adj" fmla="val 1451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11" name="Text 9"/>
          <p:cNvSpPr txBox="1"/>
          <p:nvPr/>
        </p:nvSpPr>
        <p:spPr>
          <a:xfrm>
            <a:off x="886968" y="5669280"/>
            <a:ext cx="10417759"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La IA redacta; el maestro decide, verifica y firma. La responsabilidad profesional no es delegable.</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El modelo RC-TTF para formular prompts</a:t>
            </a:r>
            <a:endParaRPr lang="en-US" sz="2700" dirty="0"/>
          </a:p>
        </p:txBody>
      </p:sp>
      <p:sp>
        <p:nvSpPr>
          <p:cNvPr id="4" name="Text 2"/>
          <p:cNvSpPr txBox="1"/>
          <p:nvPr/>
        </p:nvSpPr>
        <p:spPr>
          <a:xfrm>
            <a:off x="566928" y="1261872"/>
            <a:ext cx="11057839" cy="292608"/>
          </a:xfrm>
          <a:prstGeom prst="rect">
            <a:avLst/>
          </a:prstGeom>
          <a:noFill/>
          <a:ln/>
        </p:spPr>
        <p:txBody>
          <a:bodyPr wrap="square" lIns="0" tIns="0" rIns="0" bIns="0" rtlCol="0" anchor="ctr"/>
          <a:lstStyle/>
          <a:p>
            <a:pPr marL="0" indent="0">
              <a:buNone/>
            </a:pPr>
            <a:r>
              <a:rPr lang="en-US" sz="1350" dirty="0">
                <a:solidFill>
                  <a:srgbClr val="22303F"/>
                </a:solidFill>
                <a:latin typeface="Calibri" pitchFamily="34" charset="0"/>
                <a:ea typeface="Calibri" pitchFamily="34" charset="-122"/>
                <a:cs typeface="Calibri" pitchFamily="34" charset="-120"/>
              </a:rPr>
              <a:t>Cinco componentes que convierten una instrucción vaga en un encargo profesional verificable.</a:t>
            </a:r>
            <a:endParaRPr lang="en-US" sz="1350" dirty="0"/>
          </a:p>
        </p:txBody>
      </p:sp>
      <p:sp>
        <p:nvSpPr>
          <p:cNvPr id="5" name="Shape 3"/>
          <p:cNvSpPr/>
          <p:nvPr/>
        </p:nvSpPr>
        <p:spPr>
          <a:xfrm>
            <a:off x="566928" y="1691640"/>
            <a:ext cx="11057839" cy="841248"/>
          </a:xfrm>
          <a:prstGeom prst="roundRect">
            <a:avLst>
              <a:gd name="adj" fmla="val 978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566928" y="1691640"/>
            <a:ext cx="841248" cy="841248"/>
          </a:xfrm>
          <a:prstGeom prst="roundRect">
            <a:avLst>
              <a:gd name="adj" fmla="val 9783"/>
            </a:avLst>
          </a:prstGeom>
          <a:solidFill>
            <a:srgbClr val="1B2A4A"/>
          </a:solidFill>
          <a:ln w="12700">
            <a:solidFill>
              <a:srgbClr val="1B2A4A"/>
            </a:solidFill>
            <a:prstDash val="solid"/>
          </a:ln>
        </p:spPr>
        <p:txBody>
          <a:bodyPr/>
          <a:lstStyle/>
          <a:p>
            <a:endParaRPr lang="en-PR"/>
          </a:p>
        </p:txBody>
      </p:sp>
      <p:sp>
        <p:nvSpPr>
          <p:cNvPr id="7" name="Text 5"/>
          <p:cNvSpPr txBox="1"/>
          <p:nvPr/>
        </p:nvSpPr>
        <p:spPr>
          <a:xfrm>
            <a:off x="566928" y="169164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R</a:t>
            </a:r>
            <a:endParaRPr lang="en-US" sz="2800" dirty="0"/>
          </a:p>
        </p:txBody>
      </p:sp>
      <p:sp>
        <p:nvSpPr>
          <p:cNvPr id="8" name="Text 6"/>
          <p:cNvSpPr txBox="1"/>
          <p:nvPr/>
        </p:nvSpPr>
        <p:spPr>
          <a:xfrm>
            <a:off x="1627632" y="178308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Rol</a:t>
            </a:r>
            <a:endParaRPr lang="en-US" sz="1550" dirty="0"/>
          </a:p>
        </p:txBody>
      </p:sp>
      <p:sp>
        <p:nvSpPr>
          <p:cNvPr id="9" name="Text 7"/>
          <p:cNvSpPr txBox="1"/>
          <p:nvPr/>
        </p:nvSpPr>
        <p:spPr>
          <a:xfrm>
            <a:off x="3493008" y="174650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Qué especialista debe ser la herramienta: currículo, evaluación educativa, Matemáticas y DUA del sistema educativo de Puerto Rico.</a:t>
            </a:r>
            <a:endParaRPr lang="en-US" sz="1220" dirty="0"/>
          </a:p>
        </p:txBody>
      </p:sp>
      <p:sp>
        <p:nvSpPr>
          <p:cNvPr id="10" name="Shape 8"/>
          <p:cNvSpPr/>
          <p:nvPr/>
        </p:nvSpPr>
        <p:spPr>
          <a:xfrm>
            <a:off x="566928" y="2651760"/>
            <a:ext cx="11057839" cy="841248"/>
          </a:xfrm>
          <a:prstGeom prst="roundRect">
            <a:avLst>
              <a:gd name="adj" fmla="val 9783"/>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566928" y="2651760"/>
            <a:ext cx="841248" cy="841248"/>
          </a:xfrm>
          <a:prstGeom prst="roundRect">
            <a:avLst>
              <a:gd name="adj" fmla="val 9783"/>
            </a:avLst>
          </a:prstGeom>
          <a:solidFill>
            <a:srgbClr val="1F3864"/>
          </a:solidFill>
          <a:ln w="12700">
            <a:solidFill>
              <a:srgbClr val="1F3864"/>
            </a:solidFill>
            <a:prstDash val="solid"/>
          </a:ln>
        </p:spPr>
        <p:txBody>
          <a:bodyPr/>
          <a:lstStyle/>
          <a:p>
            <a:endParaRPr lang="en-PR"/>
          </a:p>
        </p:txBody>
      </p:sp>
      <p:sp>
        <p:nvSpPr>
          <p:cNvPr id="12" name="Text 10"/>
          <p:cNvSpPr txBox="1"/>
          <p:nvPr/>
        </p:nvSpPr>
        <p:spPr>
          <a:xfrm>
            <a:off x="566928" y="265176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C</a:t>
            </a:r>
            <a:endParaRPr lang="en-US" sz="2800" dirty="0"/>
          </a:p>
        </p:txBody>
      </p:sp>
      <p:sp>
        <p:nvSpPr>
          <p:cNvPr id="13" name="Text 11"/>
          <p:cNvSpPr txBox="1"/>
          <p:nvPr/>
        </p:nvSpPr>
        <p:spPr>
          <a:xfrm>
            <a:off x="1627632" y="274320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Contexto</a:t>
            </a:r>
            <a:endParaRPr lang="en-US" sz="1550" dirty="0"/>
          </a:p>
        </p:txBody>
      </p:sp>
      <p:sp>
        <p:nvSpPr>
          <p:cNvPr id="14" name="Text 12"/>
          <p:cNvSpPr txBox="1"/>
          <p:nvPr/>
        </p:nvSpPr>
        <p:spPr>
          <a:xfrm>
            <a:off x="3493008" y="270662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Grado, tema, perfil del grupo, duración y —lo más importante— los datos o el contenido que la herramienta debe usar de forma exclusiva.</a:t>
            </a:r>
            <a:endParaRPr lang="en-US" sz="1220" dirty="0"/>
          </a:p>
        </p:txBody>
      </p:sp>
      <p:sp>
        <p:nvSpPr>
          <p:cNvPr id="15" name="Shape 13"/>
          <p:cNvSpPr/>
          <p:nvPr/>
        </p:nvSpPr>
        <p:spPr>
          <a:xfrm>
            <a:off x="566928" y="3611880"/>
            <a:ext cx="11057839" cy="841248"/>
          </a:xfrm>
          <a:prstGeom prst="roundRect">
            <a:avLst>
              <a:gd name="adj" fmla="val 978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6" name="Shape 14"/>
          <p:cNvSpPr/>
          <p:nvPr/>
        </p:nvSpPr>
        <p:spPr>
          <a:xfrm>
            <a:off x="566928" y="3611880"/>
            <a:ext cx="841248" cy="841248"/>
          </a:xfrm>
          <a:prstGeom prst="roundRect">
            <a:avLst>
              <a:gd name="adj" fmla="val 9783"/>
            </a:avLst>
          </a:prstGeom>
          <a:solidFill>
            <a:srgbClr val="2A9D8F"/>
          </a:solidFill>
          <a:ln w="12700">
            <a:solidFill>
              <a:srgbClr val="2A9D8F"/>
            </a:solidFill>
            <a:prstDash val="solid"/>
          </a:ln>
        </p:spPr>
        <p:txBody>
          <a:bodyPr/>
          <a:lstStyle/>
          <a:p>
            <a:endParaRPr lang="en-PR"/>
          </a:p>
        </p:txBody>
      </p:sp>
      <p:sp>
        <p:nvSpPr>
          <p:cNvPr id="17" name="Text 15"/>
          <p:cNvSpPr txBox="1"/>
          <p:nvPr/>
        </p:nvSpPr>
        <p:spPr>
          <a:xfrm>
            <a:off x="566928" y="361188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18" name="Text 16"/>
          <p:cNvSpPr txBox="1"/>
          <p:nvPr/>
        </p:nvSpPr>
        <p:spPr>
          <a:xfrm>
            <a:off x="1627632" y="370332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Tarea</a:t>
            </a:r>
            <a:endParaRPr lang="en-US" sz="1550" dirty="0"/>
          </a:p>
        </p:txBody>
      </p:sp>
      <p:sp>
        <p:nvSpPr>
          <p:cNvPr id="19" name="Text 17"/>
          <p:cNvSpPr txBox="1"/>
          <p:nvPr/>
        </p:nvSpPr>
        <p:spPr>
          <a:xfrm>
            <a:off x="3493008" y="366674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Cantidad y tipo de reactivos, integración del DUA, progresión DOK, total de puntos, punto de dominio y todos los anejos exigidos.</a:t>
            </a:r>
            <a:endParaRPr lang="en-US" sz="1220" dirty="0"/>
          </a:p>
        </p:txBody>
      </p:sp>
      <p:sp>
        <p:nvSpPr>
          <p:cNvPr id="20" name="Shape 18"/>
          <p:cNvSpPr/>
          <p:nvPr/>
        </p:nvSpPr>
        <p:spPr>
          <a:xfrm>
            <a:off x="566928" y="4572000"/>
            <a:ext cx="11057839" cy="841248"/>
          </a:xfrm>
          <a:prstGeom prst="roundRect">
            <a:avLst>
              <a:gd name="adj" fmla="val 9783"/>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566928" y="4572000"/>
            <a:ext cx="841248" cy="841248"/>
          </a:xfrm>
          <a:prstGeom prst="roundRect">
            <a:avLst>
              <a:gd name="adj" fmla="val 9783"/>
            </a:avLst>
          </a:prstGeom>
          <a:solidFill>
            <a:srgbClr val="4A6FA5"/>
          </a:solidFill>
          <a:ln w="12700">
            <a:solidFill>
              <a:srgbClr val="4A6FA5"/>
            </a:solidFill>
            <a:prstDash val="solid"/>
          </a:ln>
        </p:spPr>
        <p:txBody>
          <a:bodyPr/>
          <a:lstStyle/>
          <a:p>
            <a:endParaRPr lang="en-PR"/>
          </a:p>
        </p:txBody>
      </p:sp>
      <p:sp>
        <p:nvSpPr>
          <p:cNvPr id="22" name="Text 20"/>
          <p:cNvSpPr txBox="1"/>
          <p:nvPr/>
        </p:nvSpPr>
        <p:spPr>
          <a:xfrm>
            <a:off x="566928" y="4572000"/>
            <a:ext cx="841248" cy="841248"/>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23" name="Text 21"/>
          <p:cNvSpPr txBox="1"/>
          <p:nvPr/>
        </p:nvSpPr>
        <p:spPr>
          <a:xfrm>
            <a:off x="1627632" y="466344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Tono</a:t>
            </a:r>
            <a:endParaRPr lang="en-US" sz="1550" dirty="0"/>
          </a:p>
        </p:txBody>
      </p:sp>
      <p:sp>
        <p:nvSpPr>
          <p:cNvPr id="24" name="Text 22"/>
          <p:cNvSpPr txBox="1"/>
          <p:nvPr/>
        </p:nvSpPr>
        <p:spPr>
          <a:xfrm>
            <a:off x="3493008" y="462686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Registro profesional y accesible, sin disminuir el rigor del grado, en español apropiado para Puerto Rico.</a:t>
            </a:r>
            <a:endParaRPr lang="en-US" sz="1220" dirty="0"/>
          </a:p>
        </p:txBody>
      </p:sp>
      <p:sp>
        <p:nvSpPr>
          <p:cNvPr id="25" name="Shape 23"/>
          <p:cNvSpPr/>
          <p:nvPr/>
        </p:nvSpPr>
        <p:spPr>
          <a:xfrm>
            <a:off x="566928" y="5532120"/>
            <a:ext cx="11057839" cy="841248"/>
          </a:xfrm>
          <a:prstGeom prst="roundRect">
            <a:avLst>
              <a:gd name="adj" fmla="val 9783"/>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6" name="Shape 24"/>
          <p:cNvSpPr/>
          <p:nvPr/>
        </p:nvSpPr>
        <p:spPr>
          <a:xfrm>
            <a:off x="566928" y="5532120"/>
            <a:ext cx="841248" cy="841248"/>
          </a:xfrm>
          <a:prstGeom prst="roundRect">
            <a:avLst>
              <a:gd name="adj" fmla="val 9783"/>
            </a:avLst>
          </a:prstGeom>
          <a:solidFill>
            <a:srgbClr val="C9A227"/>
          </a:solidFill>
          <a:ln w="12700">
            <a:solidFill>
              <a:srgbClr val="C9A227"/>
            </a:solidFill>
            <a:prstDash val="solid"/>
          </a:ln>
        </p:spPr>
        <p:txBody>
          <a:bodyPr/>
          <a:lstStyle/>
          <a:p>
            <a:endParaRPr lang="en-PR"/>
          </a:p>
        </p:txBody>
      </p:sp>
      <p:sp>
        <p:nvSpPr>
          <p:cNvPr id="27" name="Text 25"/>
          <p:cNvSpPr txBox="1"/>
          <p:nvPr/>
        </p:nvSpPr>
        <p:spPr>
          <a:xfrm>
            <a:off x="566928" y="5532120"/>
            <a:ext cx="841248" cy="841248"/>
          </a:xfrm>
          <a:prstGeom prst="rect">
            <a:avLst/>
          </a:prstGeom>
          <a:noFill/>
          <a:ln/>
        </p:spPr>
        <p:txBody>
          <a:bodyPr wrap="square" lIns="0" tIns="0" rIns="0" bIns="0" rtlCol="0" anchor="ctr"/>
          <a:lstStyle/>
          <a:p>
            <a:pPr marL="0" indent="0" algn="ctr">
              <a:buNone/>
            </a:pPr>
            <a:r>
              <a:rPr lang="en-US" sz="2800" b="1" dirty="0">
                <a:solidFill>
                  <a:srgbClr val="1B2A4A"/>
                </a:solidFill>
                <a:latin typeface="Cambria" pitchFamily="34" charset="0"/>
                <a:ea typeface="Cambria" pitchFamily="34" charset="-122"/>
                <a:cs typeface="Cambria" pitchFamily="34" charset="-120"/>
              </a:rPr>
              <a:t>F</a:t>
            </a:r>
            <a:endParaRPr lang="en-US" sz="2800" dirty="0"/>
          </a:p>
        </p:txBody>
      </p:sp>
      <p:sp>
        <p:nvSpPr>
          <p:cNvPr id="28" name="Text 26"/>
          <p:cNvSpPr txBox="1"/>
          <p:nvPr/>
        </p:nvSpPr>
        <p:spPr>
          <a:xfrm>
            <a:off x="1627632" y="5623560"/>
            <a:ext cx="1828800" cy="310896"/>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Formato</a:t>
            </a:r>
            <a:endParaRPr lang="en-US" sz="1550" dirty="0"/>
          </a:p>
        </p:txBody>
      </p:sp>
      <p:sp>
        <p:nvSpPr>
          <p:cNvPr id="29" name="Text 27"/>
          <p:cNvSpPr txBox="1"/>
          <p:nvPr/>
        </p:nvSpPr>
        <p:spPr>
          <a:xfrm>
            <a:off x="3493008" y="5586984"/>
            <a:ext cx="7857439" cy="731520"/>
          </a:xfrm>
          <a:prstGeom prst="rect">
            <a:avLst/>
          </a:prstGeom>
          <a:noFill/>
          <a:ln/>
        </p:spPr>
        <p:txBody>
          <a:bodyPr wrap="square" lIns="0" tIns="0" rIns="0" bIns="0" rtlCol="0" anchor="ctr"/>
          <a:lstStyle/>
          <a:p>
            <a:pPr marL="0" indent="0">
              <a:lnSpc>
                <a:spcPct val="104000"/>
              </a:lnSpc>
              <a:buNone/>
            </a:pPr>
            <a:r>
              <a:rPr lang="en-US" sz="1220" dirty="0">
                <a:solidFill>
                  <a:srgbClr val="22303F"/>
                </a:solidFill>
                <a:latin typeface="Calibri" pitchFamily="34" charset="0"/>
                <a:ea typeface="Calibri" pitchFamily="34" charset="-122"/>
                <a:cs typeface="Calibri" pitchFamily="34" charset="-120"/>
              </a:rPr>
              <a:t>Tipo de documento, organización visual, separación entre el examen y el material docente, y la prohibición explícita de inventar datos o códigos.</a:t>
            </a:r>
            <a:endParaRPr lang="en-US" sz="1220" dirty="0"/>
          </a:p>
        </p:txBody>
      </p:sp>
      <p:sp>
        <p:nvSpPr>
          <p:cNvPr id="30" name="Text 28"/>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Modelo RC-TTF (Corraliza, 2024). Rol · Contexto · Tarea · Tono · Formato.</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Prompt modelo: examen de Matemáticas con DUA</a:t>
            </a:r>
            <a:endParaRPr lang="en-US" sz="2700" dirty="0"/>
          </a:p>
        </p:txBody>
      </p:sp>
      <p:sp>
        <p:nvSpPr>
          <p:cNvPr id="4" name="Shape 2"/>
          <p:cNvSpPr/>
          <p:nvPr/>
        </p:nvSpPr>
        <p:spPr>
          <a:xfrm>
            <a:off x="566928" y="1298448"/>
            <a:ext cx="11057839" cy="4526280"/>
          </a:xfrm>
          <a:prstGeom prst="roundRect">
            <a:avLst>
              <a:gd name="adj" fmla="val 1818"/>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932688" y="1554480"/>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R — Rol:</a:t>
            </a:r>
            <a:endParaRPr lang="en-US" sz="1250" dirty="0"/>
          </a:p>
        </p:txBody>
      </p:sp>
      <p:sp>
        <p:nvSpPr>
          <p:cNvPr id="6" name="Text 4"/>
          <p:cNvSpPr txBox="1"/>
          <p:nvPr/>
        </p:nvSpPr>
        <p:spPr>
          <a:xfrm>
            <a:off x="2350008" y="1536192"/>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Actúa como especialista en currículo, evaluación educativa, Matemáticas y Diseño Universal para el Aprendizaje (DUA) del sistema educativo de Puerto Rico.</a:t>
            </a:r>
            <a:endParaRPr lang="en-US" sz="1220" dirty="0"/>
          </a:p>
        </p:txBody>
      </p:sp>
      <p:sp>
        <p:nvSpPr>
          <p:cNvPr id="7" name="Text 5"/>
          <p:cNvSpPr txBox="1"/>
          <p:nvPr/>
        </p:nvSpPr>
        <p:spPr>
          <a:xfrm>
            <a:off x="932688" y="2212848"/>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C — Contexto:</a:t>
            </a:r>
            <a:endParaRPr lang="en-US" sz="1250" dirty="0"/>
          </a:p>
        </p:txBody>
      </p:sp>
      <p:sp>
        <p:nvSpPr>
          <p:cNvPr id="8" name="Text 6"/>
          <p:cNvSpPr txBox="1"/>
          <p:nvPr/>
        </p:nvSpPr>
        <p:spPr>
          <a:xfrm>
            <a:off x="2350008" y="2194560"/>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Crea un examen de [tema] para estudiantes de [grado] con [perfil del grupo]. Duración: [minutos]. Utiliza exclusivamente el contenido que te suministro a continuación: [pegar el contenido enseñado].</a:t>
            </a:r>
            <a:endParaRPr lang="en-US" sz="1220" dirty="0"/>
          </a:p>
        </p:txBody>
      </p:sp>
      <p:sp>
        <p:nvSpPr>
          <p:cNvPr id="9" name="Text 7"/>
          <p:cNvSpPr txBox="1"/>
          <p:nvPr/>
        </p:nvSpPr>
        <p:spPr>
          <a:xfrm>
            <a:off x="932688" y="2871216"/>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T — Tarea:</a:t>
            </a:r>
            <a:endParaRPr lang="en-US" sz="1250" dirty="0"/>
          </a:p>
        </p:txBody>
      </p:sp>
      <p:sp>
        <p:nvSpPr>
          <p:cNvPr id="10" name="Text 8"/>
          <p:cNvSpPr txBox="1"/>
          <p:nvPr/>
        </p:nvSpPr>
        <p:spPr>
          <a:xfrm>
            <a:off x="2350008" y="2852928"/>
            <a:ext cx="8863279" cy="1005840"/>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Diseña [N] reactivos: [n1] de selección múltiple, [n2] de preguntas abiertas sencillas (no llena blancos) y [n3] de preguntas abiertas de aplicación. Integra DUA, progresión DOK 1–4 y opciones equivalentes de expresión. Total: [X] puntos; dominio: [0.70 × X] puntos (70 %). Incluye clave, rúbricas, planilla de especificaciones, distribución de notas, tiempo estimado, plan de reenseñanza y alineación curricular DEPR 2022 verificable.</a:t>
            </a:r>
            <a:endParaRPr lang="en-US" sz="1220" dirty="0"/>
          </a:p>
        </p:txBody>
      </p:sp>
      <p:sp>
        <p:nvSpPr>
          <p:cNvPr id="11" name="Text 9"/>
          <p:cNvSpPr txBox="1"/>
          <p:nvPr/>
        </p:nvSpPr>
        <p:spPr>
          <a:xfrm>
            <a:off x="932688" y="3931920"/>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T — Tono:</a:t>
            </a:r>
            <a:endParaRPr lang="en-US" sz="1250" dirty="0"/>
          </a:p>
        </p:txBody>
      </p:sp>
      <p:sp>
        <p:nvSpPr>
          <p:cNvPr id="12" name="Text 10"/>
          <p:cNvSpPr txBox="1"/>
          <p:nvPr/>
        </p:nvSpPr>
        <p:spPr>
          <a:xfrm>
            <a:off x="2350008" y="3913632"/>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Profesional, académico, claro, motivador, respetuoso y accesible, sin disminuir el rigor de [grado]. Emplea español apropiado para Puerto Rico.</a:t>
            </a:r>
            <a:endParaRPr lang="en-US" sz="1220" dirty="0"/>
          </a:p>
        </p:txBody>
      </p:sp>
      <p:sp>
        <p:nvSpPr>
          <p:cNvPr id="13" name="Text 11"/>
          <p:cNvSpPr txBox="1"/>
          <p:nvPr/>
        </p:nvSpPr>
        <p:spPr>
          <a:xfrm>
            <a:off x="932688" y="4590288"/>
            <a:ext cx="1371600" cy="256032"/>
          </a:xfrm>
          <a:prstGeom prst="rect">
            <a:avLst/>
          </a:prstGeom>
          <a:noFill/>
          <a:ln/>
        </p:spPr>
        <p:txBody>
          <a:bodyPr wrap="square" lIns="0" tIns="0" rIns="0" bIns="0" rtlCol="0" anchor="ctr"/>
          <a:lstStyle/>
          <a:p>
            <a:pPr marL="0" indent="0">
              <a:buNone/>
            </a:pPr>
            <a:r>
              <a:rPr lang="en-US" sz="1250" b="1" dirty="0">
                <a:solidFill>
                  <a:srgbClr val="C9A84C"/>
                </a:solidFill>
                <a:latin typeface="Calibri" pitchFamily="34" charset="0"/>
                <a:ea typeface="Calibri" pitchFamily="34" charset="-122"/>
                <a:cs typeface="Calibri" pitchFamily="34" charset="-120"/>
              </a:rPr>
              <a:t>F — Formato:</a:t>
            </a:r>
            <a:endParaRPr lang="en-US" sz="1250" dirty="0"/>
          </a:p>
        </p:txBody>
      </p:sp>
      <p:sp>
        <p:nvSpPr>
          <p:cNvPr id="14" name="Text 12"/>
          <p:cNvSpPr txBox="1"/>
          <p:nvPr/>
        </p:nvSpPr>
        <p:spPr>
          <a:xfrm>
            <a:off x="2350008" y="4572000"/>
            <a:ext cx="8863279" cy="566928"/>
          </a:xfrm>
          <a:prstGeom prst="rect">
            <a:avLst/>
          </a:prstGeom>
          <a:noFill/>
          <a:ln/>
        </p:spPr>
        <p:txBody>
          <a:bodyPr wrap="square" lIns="0" tIns="0" rIns="0" bIns="0" rtlCol="0" anchor="t"/>
          <a:lstStyle/>
          <a:p>
            <a:pPr marL="0" indent="0">
              <a:lnSpc>
                <a:spcPct val="106000"/>
              </a:lnSpc>
              <a:buNone/>
            </a:pPr>
            <a:r>
              <a:rPr lang="en-US" sz="1220" dirty="0">
                <a:solidFill>
                  <a:srgbClr val="E4ECF6"/>
                </a:solidFill>
                <a:latin typeface="Calibri" pitchFamily="34" charset="0"/>
                <a:ea typeface="Calibri" pitchFamily="34" charset="-122"/>
                <a:cs typeface="Calibri" pitchFamily="34" charset="-120"/>
              </a:rPr>
              <a:t>Documento Word organizado, visualmente predecible y listo para imprimir. Separa el examen del material docente. Verifica respuestas, puntuaciones, porcentajes, DOK y duración. No inventes datos, estándares ni códigos curriculares.</a:t>
            </a:r>
            <a:endParaRPr lang="en-US" sz="1220" dirty="0"/>
          </a:p>
        </p:txBody>
      </p:sp>
      <p:sp>
        <p:nvSpPr>
          <p:cNvPr id="15" name="Shape 13"/>
          <p:cNvSpPr/>
          <p:nvPr/>
        </p:nvSpPr>
        <p:spPr>
          <a:xfrm>
            <a:off x="566928" y="5943600"/>
            <a:ext cx="11057839" cy="548640"/>
          </a:xfrm>
          <a:prstGeom prst="roundRect">
            <a:avLst>
              <a:gd name="adj" fmla="val 15000"/>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6" name="Text 14"/>
          <p:cNvSpPr txBox="1"/>
          <p:nvPr/>
        </p:nvSpPr>
        <p:spPr>
          <a:xfrm>
            <a:off x="886968" y="5943600"/>
            <a:ext cx="10417759" cy="548640"/>
          </a:xfrm>
          <a:prstGeom prst="rect">
            <a:avLst/>
          </a:prstGeom>
          <a:noFill/>
          <a:ln/>
        </p:spPr>
        <p:txBody>
          <a:bodyPr wrap="square" lIns="0" tIns="0" rIns="0" bIns="0" rtlCol="0" anchor="ctr"/>
          <a:lstStyle/>
          <a:p>
            <a:pPr marL="0" indent="0">
              <a:buNone/>
            </a:pPr>
            <a:r>
              <a:rPr lang="en-US" sz="1250" b="1" dirty="0">
                <a:solidFill>
                  <a:srgbClr val="6E5610"/>
                </a:solidFill>
                <a:latin typeface="Calibri" pitchFamily="34" charset="0"/>
                <a:ea typeface="Calibri" pitchFamily="34" charset="-122"/>
                <a:cs typeface="Calibri" pitchFamily="34" charset="-120"/>
              </a:rPr>
              <a:t>La última oración del componente Formato —«no inventes datos, estándares ni códigos curriculares»— es la instrucción más importante de todo el prompt.</a:t>
            </a:r>
            <a:endParaRPr lang="en-US" sz="12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Cómo se adapta el prompt en cada nivel</a:t>
            </a:r>
            <a:endParaRPr lang="en-US" sz="27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85953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Componente</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3.º a 5.º grado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6.º a 8.º grado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9.º a 12.º grado</a:t>
                      </a:r>
                      <a:endParaRPr lang="en-US" sz="12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Contexto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Enunciados de una o dos oraciones; contextos de la escuela y la casa.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Contextos de dinero, tiempo y consumo con todos los datos dados.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Contextos de trabajo, presupuesto, datos y ciudadanía.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Distribución de reactivos</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14 SM · 2 RA sencilla · 3 RA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14 SM · 5 RA sencilla · 3 RA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16 SM · 4 RA sencilla · 4 RA de aplicación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Progresión DOK</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DOK 1–3, con el 40 % de los puntos en DOK 3.</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DOK 1–4, con el 33 % de los puntos en DOK 3–4.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DOK 1–4, con el 40 % de los puntos en DOK 3–4.</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Instrucción DUA específica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Exige espacio para dibujar y una tabla o gráfica por cada dato numérico.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Exige partes independientes y definición del vocabulario algebraico nuevo.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Exige fórmulas provistas, figuras rotuladas y nivel de justificación declarado.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859536">
                <a:tc>
                  <a:txBody>
                    <a:bodyPr/>
                    <a:lstStyle/>
                    <a:p>
                      <a:pPr marL="0" indent="0" algn="l">
                        <a:buNone/>
                      </a:pPr>
                      <a:r>
                        <a:rPr lang="en-US" sz="1100" b="1" dirty="0">
                          <a:solidFill>
                            <a:srgbClr val="22303F"/>
                          </a:solidFill>
                          <a:latin typeface="Calibri" pitchFamily="34" charset="0"/>
                          <a:ea typeface="Calibri" pitchFamily="34" charset="-122"/>
                          <a:cs typeface="Calibri" pitchFamily="34" charset="-120"/>
                        </a:rPr>
                        <a:t>Formato</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Letra de 14 a 16 puntos; una pregunta por bloque visual.</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Letra de 12 a 14 puntos; tabla de valores junto a cada ecuación.</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2303F"/>
                          </a:solidFill>
                          <a:latin typeface="Calibri" pitchFamily="34" charset="0"/>
                          <a:ea typeface="Calibri" pitchFamily="34" charset="-122"/>
                          <a:cs typeface="Calibri" pitchFamily="34" charset="-120"/>
                        </a:rPr>
                        <a:t>Letra de 12 puntos; hoja de fórmulas al inicio de la prueba.</a:t>
                      </a:r>
                      <a:endParaRPr lang="en-US" sz="110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Las distribuciones de reactivos corresponden a las tres planillas modeladas en los módulos 5, 6 y 7.</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Cinco riesgos que hay que vigilar en el resultado</a:t>
            </a:r>
            <a:endParaRPr lang="en-US" sz="2700" dirty="0"/>
          </a:p>
        </p:txBody>
      </p:sp>
      <p:sp>
        <p:nvSpPr>
          <p:cNvPr id="4" name="Shape 2"/>
          <p:cNvSpPr/>
          <p:nvPr/>
        </p:nvSpPr>
        <p:spPr>
          <a:xfrm>
            <a:off x="566928"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804672" y="1545336"/>
            <a:ext cx="457200" cy="457200"/>
          </a:xfrm>
          <a:prstGeom prst="ellipse">
            <a:avLst/>
          </a:prstGeom>
          <a:solidFill>
            <a:srgbClr val="A8322D"/>
          </a:solidFill>
          <a:ln/>
        </p:spPr>
        <p:txBody>
          <a:bodyPr/>
          <a:lstStyle/>
          <a:p>
            <a:endParaRPr lang="en-PR"/>
          </a:p>
        </p:txBody>
      </p:sp>
      <p:sp>
        <p:nvSpPr>
          <p:cNvPr id="6" name="Text 4"/>
          <p:cNvSpPr txBox="1"/>
          <p:nvPr/>
        </p:nvSpPr>
        <p:spPr>
          <a:xfrm>
            <a:off x="804672"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426464"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Alucinación de códigos curriculares</a:t>
            </a:r>
            <a:endParaRPr lang="en-US" sz="1450" dirty="0"/>
          </a:p>
        </p:txBody>
      </p:sp>
      <p:sp>
        <p:nvSpPr>
          <p:cNvPr id="8" name="Text 6"/>
          <p:cNvSpPr txBox="1"/>
          <p:nvPr/>
        </p:nvSpPr>
        <p:spPr>
          <a:xfrm>
            <a:off x="804672" y="2148840"/>
            <a:ext cx="3064154" cy="108813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La herramienta puede producir códigos con la forma correcta —7.A.7.2— que no existen en el documento del DEPR. Todo código se verifica uno por uno.</a:t>
            </a:r>
            <a:endParaRPr lang="en-US" sz="1200" dirty="0"/>
          </a:p>
        </p:txBody>
      </p:sp>
      <p:sp>
        <p:nvSpPr>
          <p:cNvPr id="9" name="Shape 7"/>
          <p:cNvSpPr/>
          <p:nvPr/>
        </p:nvSpPr>
        <p:spPr>
          <a:xfrm>
            <a:off x="4326026"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0" name="Shape 8"/>
          <p:cNvSpPr/>
          <p:nvPr/>
        </p:nvSpPr>
        <p:spPr>
          <a:xfrm>
            <a:off x="4563770" y="1545336"/>
            <a:ext cx="457200" cy="457200"/>
          </a:xfrm>
          <a:prstGeom prst="ellipse">
            <a:avLst/>
          </a:prstGeom>
          <a:solidFill>
            <a:srgbClr val="A8322D"/>
          </a:solidFill>
          <a:ln/>
        </p:spPr>
        <p:txBody>
          <a:bodyPr/>
          <a:lstStyle/>
          <a:p>
            <a:endParaRPr lang="en-PR"/>
          </a:p>
        </p:txBody>
      </p:sp>
      <p:sp>
        <p:nvSpPr>
          <p:cNvPr id="11" name="Text 9"/>
          <p:cNvSpPr txBox="1"/>
          <p:nvPr/>
        </p:nvSpPr>
        <p:spPr>
          <a:xfrm>
            <a:off x="4563770"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5185562"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DOK inflado</a:t>
            </a:r>
            <a:endParaRPr lang="en-US" sz="1450" dirty="0"/>
          </a:p>
        </p:txBody>
      </p:sp>
      <p:sp>
        <p:nvSpPr>
          <p:cNvPr id="13" name="Text 11"/>
          <p:cNvSpPr txBox="1"/>
          <p:nvPr/>
        </p:nvSpPr>
        <p:spPr>
          <a:xfrm>
            <a:off x="4563770" y="2148840"/>
            <a:ext cx="3064154" cy="108813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Suele etiquetar como DOK 3 ítems que solo piden calcular y describir el cálculo. Revise la demanda real, no la etiqueta.</a:t>
            </a:r>
            <a:endParaRPr lang="en-US" sz="1200" dirty="0"/>
          </a:p>
        </p:txBody>
      </p:sp>
      <p:sp>
        <p:nvSpPr>
          <p:cNvPr id="14" name="Shape 12"/>
          <p:cNvSpPr/>
          <p:nvPr/>
        </p:nvSpPr>
        <p:spPr>
          <a:xfrm>
            <a:off x="8085125" y="1325880"/>
            <a:ext cx="3539642" cy="2148840"/>
          </a:xfrm>
          <a:prstGeom prst="roundRect">
            <a:avLst>
              <a:gd name="adj" fmla="val 383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5" name="Shape 13"/>
          <p:cNvSpPr/>
          <p:nvPr/>
        </p:nvSpPr>
        <p:spPr>
          <a:xfrm>
            <a:off x="8322869" y="1545336"/>
            <a:ext cx="457200" cy="457200"/>
          </a:xfrm>
          <a:prstGeom prst="ellipse">
            <a:avLst/>
          </a:prstGeom>
          <a:solidFill>
            <a:srgbClr val="A8322D"/>
          </a:solidFill>
          <a:ln/>
        </p:spPr>
        <p:txBody>
          <a:bodyPr/>
          <a:lstStyle/>
          <a:p>
            <a:endParaRPr lang="en-PR"/>
          </a:p>
        </p:txBody>
      </p:sp>
      <p:sp>
        <p:nvSpPr>
          <p:cNvPr id="16" name="Text 14"/>
          <p:cNvSpPr txBox="1"/>
          <p:nvPr/>
        </p:nvSpPr>
        <p:spPr>
          <a:xfrm>
            <a:off x="8322869" y="15453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txBox="1"/>
          <p:nvPr/>
        </p:nvSpPr>
        <p:spPr>
          <a:xfrm>
            <a:off x="8944661" y="1527048"/>
            <a:ext cx="242407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Respuestas incorrectas en la clave</a:t>
            </a:r>
            <a:endParaRPr lang="en-US" sz="1450" dirty="0"/>
          </a:p>
        </p:txBody>
      </p:sp>
      <p:sp>
        <p:nvSpPr>
          <p:cNvPr id="18" name="Text 16"/>
          <p:cNvSpPr txBox="1"/>
          <p:nvPr/>
        </p:nvSpPr>
        <p:spPr>
          <a:xfrm>
            <a:off x="8322869" y="2148840"/>
            <a:ext cx="3064154" cy="108813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Los errores aritméticos y de signo son frecuentes. Resuelva cada ítem usted mismo antes de imprimir.</a:t>
            </a:r>
            <a:endParaRPr lang="en-US" sz="1200" dirty="0"/>
          </a:p>
        </p:txBody>
      </p:sp>
      <p:sp>
        <p:nvSpPr>
          <p:cNvPr id="19" name="Shape 17"/>
          <p:cNvSpPr/>
          <p:nvPr/>
        </p:nvSpPr>
        <p:spPr>
          <a:xfrm>
            <a:off x="566928"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0" name="Shape 18"/>
          <p:cNvSpPr/>
          <p:nvPr/>
        </p:nvSpPr>
        <p:spPr>
          <a:xfrm>
            <a:off x="804672" y="3922776"/>
            <a:ext cx="457200" cy="457200"/>
          </a:xfrm>
          <a:prstGeom prst="ellipse">
            <a:avLst/>
          </a:prstGeom>
          <a:solidFill>
            <a:srgbClr val="A8322D"/>
          </a:solidFill>
          <a:ln/>
        </p:spPr>
        <p:txBody>
          <a:bodyPr/>
          <a:lstStyle/>
          <a:p>
            <a:endParaRPr lang="en-PR"/>
          </a:p>
        </p:txBody>
      </p:sp>
      <p:sp>
        <p:nvSpPr>
          <p:cNvPr id="21" name="Text 19"/>
          <p:cNvSpPr txBox="1"/>
          <p:nvPr/>
        </p:nvSpPr>
        <p:spPr>
          <a:xfrm>
            <a:off x="804672"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2" name="Text 20"/>
          <p:cNvSpPr txBox="1"/>
          <p:nvPr/>
        </p:nvSpPr>
        <p:spPr>
          <a:xfrm>
            <a:off x="1426464"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Sesgo importado</a:t>
            </a:r>
            <a:endParaRPr lang="en-US" sz="1450" dirty="0"/>
          </a:p>
        </p:txBody>
      </p:sp>
      <p:sp>
        <p:nvSpPr>
          <p:cNvPr id="23" name="Text 21"/>
          <p:cNvSpPr txBox="1"/>
          <p:nvPr/>
        </p:nvSpPr>
        <p:spPr>
          <a:xfrm>
            <a:off x="804672" y="4526280"/>
            <a:ext cx="4943704" cy="90525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Los contextos generados tienden a lo genérico estadounidense. Revise nombres, monedas, distancias, clima y referencias culturales.</a:t>
            </a:r>
            <a:endParaRPr lang="en-US" sz="1200" dirty="0"/>
          </a:p>
        </p:txBody>
      </p:sp>
      <p:sp>
        <p:nvSpPr>
          <p:cNvPr id="24" name="Shape 22"/>
          <p:cNvSpPr/>
          <p:nvPr/>
        </p:nvSpPr>
        <p:spPr>
          <a:xfrm>
            <a:off x="6205576" y="3703320"/>
            <a:ext cx="5419192" cy="1965960"/>
          </a:xfrm>
          <a:prstGeom prst="roundRect">
            <a:avLst>
              <a:gd name="adj" fmla="val 418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43320" y="3922776"/>
            <a:ext cx="457200" cy="457200"/>
          </a:xfrm>
          <a:prstGeom prst="ellipse">
            <a:avLst/>
          </a:prstGeom>
          <a:solidFill>
            <a:srgbClr val="A8322D"/>
          </a:solidFill>
          <a:ln/>
        </p:spPr>
        <p:txBody>
          <a:bodyPr/>
          <a:lstStyle/>
          <a:p>
            <a:endParaRPr lang="en-PR"/>
          </a:p>
        </p:txBody>
      </p:sp>
      <p:sp>
        <p:nvSpPr>
          <p:cNvPr id="26" name="Text 24"/>
          <p:cNvSpPr txBox="1"/>
          <p:nvPr/>
        </p:nvSpPr>
        <p:spPr>
          <a:xfrm>
            <a:off x="6443320" y="39227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7" name="Text 25"/>
          <p:cNvSpPr txBox="1"/>
          <p:nvPr/>
        </p:nvSpPr>
        <p:spPr>
          <a:xfrm>
            <a:off x="7065112" y="3904488"/>
            <a:ext cx="4303624" cy="475488"/>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Distractores decorativos</a:t>
            </a:r>
            <a:endParaRPr lang="en-US" sz="1450" dirty="0"/>
          </a:p>
        </p:txBody>
      </p:sp>
      <p:sp>
        <p:nvSpPr>
          <p:cNvPr id="28" name="Text 26"/>
          <p:cNvSpPr txBox="1"/>
          <p:nvPr/>
        </p:nvSpPr>
        <p:spPr>
          <a:xfrm>
            <a:off x="6443320" y="4526280"/>
            <a:ext cx="4943704" cy="905256"/>
          </a:xfrm>
          <a:prstGeom prst="rect">
            <a:avLst/>
          </a:prstGeom>
          <a:noFill/>
          <a:ln/>
        </p:spPr>
        <p:txBody>
          <a:bodyPr wrap="square" lIns="0" tIns="0" rIns="0" bIns="0" rtlCol="0" anchor="t"/>
          <a:lstStyle/>
          <a:p>
            <a:pPr marL="0" indent="0">
              <a:lnSpc>
                <a:spcPct val="106000"/>
              </a:lnSpc>
              <a:buNone/>
            </a:pPr>
            <a:r>
              <a:rPr lang="en-US" sz="1200" dirty="0">
                <a:solidFill>
                  <a:srgbClr val="22303F"/>
                </a:solidFill>
                <a:latin typeface="Calibri" pitchFamily="34" charset="0"/>
                <a:ea typeface="Calibri" pitchFamily="34" charset="-122"/>
                <a:cs typeface="Calibri" pitchFamily="34" charset="-120"/>
              </a:rPr>
              <a:t>Genera opciones plausibles a la vista pero sin correspondencia con un error conceptual real. Exíjale que nombre el error de cada distractor.</a:t>
            </a:r>
            <a:endParaRPr lang="en-US" sz="1200" dirty="0"/>
          </a:p>
        </p:txBody>
      </p:sp>
      <p:sp>
        <p:nvSpPr>
          <p:cNvPr id="29" name="Text 27"/>
          <p:cNvSpPr txBox="1"/>
          <p:nvPr/>
        </p:nvSpPr>
        <p:spPr>
          <a:xfrm>
            <a:off x="566928" y="6327648"/>
            <a:ext cx="11057839" cy="274320"/>
          </a:xfrm>
          <a:prstGeom prst="rect">
            <a:avLst/>
          </a:prstGeom>
          <a:noFill/>
          <a:ln/>
        </p:spPr>
        <p:txBody>
          <a:bodyPr wrap="square" lIns="0" tIns="0" rIns="0" bIns="0" rtlCol="0" anchor="ctr"/>
          <a:lstStyle/>
          <a:p>
            <a:pPr marL="0" indent="0">
              <a:buNone/>
            </a:pPr>
            <a:r>
              <a:rPr lang="en-US" sz="950" i="1" dirty="0">
                <a:solidFill>
                  <a:srgbClr val="5F6E7E"/>
                </a:solidFill>
                <a:latin typeface="Calibri" pitchFamily="34" charset="0"/>
                <a:ea typeface="Calibri" pitchFamily="34" charset="-122"/>
                <a:cs typeface="Calibri" pitchFamily="34" charset="-120"/>
              </a:rPr>
              <a:t>Los cinco riesgos son la razón por la que el producto de la Actividad 2 es un examen auditado y no un examen generado.</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MÓDULO 9</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Auditoría del examen generado: ocho verificaciones</a:t>
            </a:r>
            <a:endParaRPr lang="en-US" sz="2700" dirty="0"/>
          </a:p>
        </p:txBody>
      </p:sp>
      <p:sp>
        <p:nvSpPr>
          <p:cNvPr id="4" name="Shape 2"/>
          <p:cNvSpPr/>
          <p:nvPr/>
        </p:nvSpPr>
        <p:spPr>
          <a:xfrm>
            <a:off x="566928" y="1371600"/>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49808" y="1527048"/>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6" name="Text 4"/>
          <p:cNvSpPr txBox="1"/>
          <p:nvPr/>
        </p:nvSpPr>
        <p:spPr>
          <a:xfrm>
            <a:off x="1170432" y="1408176"/>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Códigos</a:t>
            </a:r>
            <a:endParaRPr lang="en-US" sz="1150" dirty="0"/>
          </a:p>
        </p:txBody>
      </p:sp>
      <p:sp>
        <p:nvSpPr>
          <p:cNvPr id="7" name="Text 5"/>
          <p:cNvSpPr txBox="1"/>
          <p:nvPr/>
        </p:nvSpPr>
        <p:spPr>
          <a:xfrm>
            <a:off x="2615184" y="1389888"/>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Cada código de expectativa aparece en el documento del Programa de Matemáticas (DEPR, 2022) y corresponde al grado.</a:t>
            </a:r>
            <a:endParaRPr lang="en-US" sz="1100" dirty="0"/>
          </a:p>
        </p:txBody>
      </p:sp>
      <p:sp>
        <p:nvSpPr>
          <p:cNvPr id="8" name="Shape 6"/>
          <p:cNvSpPr/>
          <p:nvPr/>
        </p:nvSpPr>
        <p:spPr>
          <a:xfrm>
            <a:off x="566928" y="2121408"/>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749808" y="22768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0" name="Text 8"/>
          <p:cNvSpPr txBox="1"/>
          <p:nvPr/>
        </p:nvSpPr>
        <p:spPr>
          <a:xfrm>
            <a:off x="1170432" y="2157984"/>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Contenido</a:t>
            </a:r>
            <a:endParaRPr lang="en-US" sz="1150" dirty="0"/>
          </a:p>
        </p:txBody>
      </p:sp>
      <p:sp>
        <p:nvSpPr>
          <p:cNvPr id="11" name="Text 9"/>
          <p:cNvSpPr txBox="1"/>
          <p:nvPr/>
        </p:nvSpPr>
        <p:spPr>
          <a:xfrm>
            <a:off x="2615184" y="2139696"/>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Todo lo que se pregunta se enseñó; nada de lo enseñado y esencial quedó fuera.</a:t>
            </a:r>
            <a:endParaRPr lang="en-US" sz="1100" dirty="0"/>
          </a:p>
        </p:txBody>
      </p:sp>
      <p:sp>
        <p:nvSpPr>
          <p:cNvPr id="12" name="Shape 10"/>
          <p:cNvSpPr/>
          <p:nvPr/>
        </p:nvSpPr>
        <p:spPr>
          <a:xfrm>
            <a:off x="566928" y="2871216"/>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749808" y="302666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4" name="Text 12"/>
          <p:cNvSpPr txBox="1"/>
          <p:nvPr/>
        </p:nvSpPr>
        <p:spPr>
          <a:xfrm>
            <a:off x="1170432" y="2907792"/>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Matemática</a:t>
            </a:r>
            <a:endParaRPr lang="en-US" sz="1150" dirty="0"/>
          </a:p>
        </p:txBody>
      </p:sp>
      <p:sp>
        <p:nvSpPr>
          <p:cNvPr id="15" name="Text 13"/>
          <p:cNvSpPr txBox="1"/>
          <p:nvPr/>
        </p:nvSpPr>
        <p:spPr>
          <a:xfrm>
            <a:off x="2615184" y="2889504"/>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Usted resolvió cada ítem y la clave coincide con su resultado.</a:t>
            </a:r>
            <a:endParaRPr lang="en-US" sz="1100" dirty="0"/>
          </a:p>
        </p:txBody>
      </p:sp>
      <p:sp>
        <p:nvSpPr>
          <p:cNvPr id="16" name="Shape 14"/>
          <p:cNvSpPr/>
          <p:nvPr/>
        </p:nvSpPr>
        <p:spPr>
          <a:xfrm>
            <a:off x="566928" y="3621024"/>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49808" y="377647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18" name="Text 16"/>
          <p:cNvSpPr txBox="1"/>
          <p:nvPr/>
        </p:nvSpPr>
        <p:spPr>
          <a:xfrm>
            <a:off x="1170432" y="3657600"/>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DOK</a:t>
            </a:r>
            <a:endParaRPr lang="en-US" sz="1150" dirty="0"/>
          </a:p>
        </p:txBody>
      </p:sp>
      <p:sp>
        <p:nvSpPr>
          <p:cNvPr id="19" name="Text 17"/>
          <p:cNvSpPr txBox="1"/>
          <p:nvPr/>
        </p:nvSpPr>
        <p:spPr>
          <a:xfrm>
            <a:off x="2615184" y="3639312"/>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El nivel declarado corresponde a la demanda real: calcular no es justificar.</a:t>
            </a:r>
            <a:endParaRPr lang="en-US" sz="1100" dirty="0"/>
          </a:p>
        </p:txBody>
      </p:sp>
      <p:sp>
        <p:nvSpPr>
          <p:cNvPr id="20" name="Shape 18"/>
          <p:cNvSpPr/>
          <p:nvPr/>
        </p:nvSpPr>
        <p:spPr>
          <a:xfrm>
            <a:off x="6233008" y="1371600"/>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6415888" y="1527048"/>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2" name="Text 20"/>
          <p:cNvSpPr txBox="1"/>
          <p:nvPr/>
        </p:nvSpPr>
        <p:spPr>
          <a:xfrm>
            <a:off x="6836512" y="1408176"/>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DUA y sesgo</a:t>
            </a:r>
            <a:endParaRPr lang="en-US" sz="1150" dirty="0"/>
          </a:p>
        </p:txBody>
      </p:sp>
      <p:sp>
        <p:nvSpPr>
          <p:cNvPr id="23" name="Text 21"/>
          <p:cNvSpPr txBox="1"/>
          <p:nvPr/>
        </p:nvSpPr>
        <p:spPr>
          <a:xfrm>
            <a:off x="8281264" y="1389888"/>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El examen pasa la lista de cotejo de imparcialidad y ofrece más de una forma de expresar la respuesta.</a:t>
            </a:r>
            <a:endParaRPr lang="en-US" sz="1100" dirty="0"/>
          </a:p>
        </p:txBody>
      </p:sp>
      <p:sp>
        <p:nvSpPr>
          <p:cNvPr id="24" name="Shape 22"/>
          <p:cNvSpPr/>
          <p:nvPr/>
        </p:nvSpPr>
        <p:spPr>
          <a:xfrm>
            <a:off x="6233008" y="2121408"/>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15888" y="2276856"/>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26" name="Text 24"/>
          <p:cNvSpPr txBox="1"/>
          <p:nvPr/>
        </p:nvSpPr>
        <p:spPr>
          <a:xfrm>
            <a:off x="6836512" y="2157984"/>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Puntuación</a:t>
            </a:r>
            <a:endParaRPr lang="en-US" sz="1150" dirty="0"/>
          </a:p>
        </p:txBody>
      </p:sp>
      <p:sp>
        <p:nvSpPr>
          <p:cNvPr id="27" name="Text 25"/>
          <p:cNvSpPr txBox="1"/>
          <p:nvPr/>
        </p:nvSpPr>
        <p:spPr>
          <a:xfrm>
            <a:off x="8281264" y="2139696"/>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La suma de los valores iguala el total, los pesos suman 100 % y el punto de dominio es el 70 %.</a:t>
            </a:r>
            <a:endParaRPr lang="en-US" sz="1100" dirty="0"/>
          </a:p>
        </p:txBody>
      </p:sp>
      <p:sp>
        <p:nvSpPr>
          <p:cNvPr id="28" name="Shape 26"/>
          <p:cNvSpPr/>
          <p:nvPr/>
        </p:nvSpPr>
        <p:spPr>
          <a:xfrm>
            <a:off x="6233008" y="2871216"/>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6415888" y="3026664"/>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30" name="Text 28"/>
          <p:cNvSpPr txBox="1"/>
          <p:nvPr/>
        </p:nvSpPr>
        <p:spPr>
          <a:xfrm>
            <a:off x="6836512" y="2907792"/>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Rúbricas</a:t>
            </a:r>
            <a:endParaRPr lang="en-US" sz="1150" dirty="0"/>
          </a:p>
        </p:txBody>
      </p:sp>
      <p:sp>
        <p:nvSpPr>
          <p:cNvPr id="31" name="Text 29"/>
          <p:cNvSpPr txBox="1"/>
          <p:nvPr/>
        </p:nvSpPr>
        <p:spPr>
          <a:xfrm>
            <a:off x="8281264" y="2889504"/>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Cada ítem de respuesta abierta tiene su baremo, y el baremo pide exactamente lo que el ítem pidió.</a:t>
            </a:r>
            <a:endParaRPr lang="en-US" sz="1100" dirty="0"/>
          </a:p>
        </p:txBody>
      </p:sp>
      <p:sp>
        <p:nvSpPr>
          <p:cNvPr id="32" name="Shape 30"/>
          <p:cNvSpPr/>
          <p:nvPr/>
        </p:nvSpPr>
        <p:spPr>
          <a:xfrm>
            <a:off x="6233008" y="3621024"/>
            <a:ext cx="5391760" cy="603504"/>
          </a:xfrm>
          <a:prstGeom prst="roundRect">
            <a:avLst>
              <a:gd name="adj" fmla="val 13636"/>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33" name="Shape 31"/>
          <p:cNvSpPr/>
          <p:nvPr/>
        </p:nvSpPr>
        <p:spPr>
          <a:xfrm>
            <a:off x="6415888" y="3776472"/>
            <a:ext cx="292608" cy="292608"/>
          </a:xfrm>
          <a:prstGeom prst="roundRect">
            <a:avLst>
              <a:gd name="adj" fmla="val 12500"/>
            </a:avLst>
          </a:prstGeom>
          <a:solidFill>
            <a:srgbClr val="FFFFFF"/>
          </a:solidFill>
          <a:ln w="15240">
            <a:solidFill>
              <a:srgbClr val="1B2A4A"/>
            </a:solidFill>
            <a:prstDash val="solid"/>
          </a:ln>
        </p:spPr>
        <p:txBody>
          <a:bodyPr/>
          <a:lstStyle/>
          <a:p>
            <a:endParaRPr lang="en-PR"/>
          </a:p>
        </p:txBody>
      </p:sp>
      <p:sp>
        <p:nvSpPr>
          <p:cNvPr id="34" name="Text 32"/>
          <p:cNvSpPr txBox="1"/>
          <p:nvPr/>
        </p:nvSpPr>
        <p:spPr>
          <a:xfrm>
            <a:off x="6836512" y="3657600"/>
            <a:ext cx="1417320" cy="530352"/>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Formato y tiempo</a:t>
            </a:r>
            <a:endParaRPr lang="en-US" sz="1150" dirty="0"/>
          </a:p>
        </p:txBody>
      </p:sp>
      <p:sp>
        <p:nvSpPr>
          <p:cNvPr id="35" name="Text 33"/>
          <p:cNvSpPr txBox="1"/>
          <p:nvPr/>
        </p:nvSpPr>
        <p:spPr>
          <a:xfrm>
            <a:off x="8281264" y="3639312"/>
            <a:ext cx="3142336" cy="566928"/>
          </a:xfrm>
          <a:prstGeom prst="rect">
            <a:avLst/>
          </a:prstGeom>
          <a:noFill/>
          <a:ln/>
        </p:spPr>
        <p:txBody>
          <a:bodyPr wrap="square" lIns="0" tIns="0" rIns="0" bIns="0" rtlCol="0" anchor="ctr"/>
          <a:lstStyle/>
          <a:p>
            <a:pPr marL="0" indent="0">
              <a:lnSpc>
                <a:spcPct val="102000"/>
              </a:lnSpc>
              <a:buNone/>
            </a:pPr>
            <a:r>
              <a:rPr lang="en-US" sz="1100" dirty="0">
                <a:solidFill>
                  <a:srgbClr val="22303F"/>
                </a:solidFill>
                <a:latin typeface="Calibri" pitchFamily="34" charset="0"/>
                <a:ea typeface="Calibri" pitchFamily="34" charset="-122"/>
                <a:cs typeface="Calibri" pitchFamily="34" charset="-120"/>
              </a:rPr>
              <a:t>Letra, espaciado, imágenes y viñetas cumplen; el tiempo estimado cabe en el período de clase.</a:t>
            </a:r>
            <a:endParaRPr lang="en-US" sz="1100" dirty="0"/>
          </a:p>
        </p:txBody>
      </p:sp>
      <p:sp>
        <p:nvSpPr>
          <p:cNvPr id="36" name="Shape 34"/>
          <p:cNvSpPr/>
          <p:nvPr/>
        </p:nvSpPr>
        <p:spPr>
          <a:xfrm>
            <a:off x="566928" y="4480560"/>
            <a:ext cx="11057839" cy="1298448"/>
          </a:xfrm>
          <a:prstGeom prst="roundRect">
            <a:avLst>
              <a:gd name="adj" fmla="val 6338"/>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7" name="Text 35"/>
          <p:cNvSpPr txBox="1"/>
          <p:nvPr/>
        </p:nvSpPr>
        <p:spPr>
          <a:xfrm>
            <a:off x="932688" y="4645152"/>
            <a:ext cx="10326319" cy="292608"/>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Criterio de aceptación</a:t>
            </a:r>
            <a:endParaRPr lang="en-US" sz="1500" dirty="0"/>
          </a:p>
        </p:txBody>
      </p:sp>
      <p:sp>
        <p:nvSpPr>
          <p:cNvPr id="38" name="Text 36"/>
          <p:cNvSpPr txBox="1"/>
          <p:nvPr/>
        </p:nvSpPr>
        <p:spPr>
          <a:xfrm>
            <a:off x="932688" y="4992624"/>
            <a:ext cx="10326319" cy="731520"/>
          </a:xfrm>
          <a:prstGeom prst="rect">
            <a:avLst/>
          </a:prstGeom>
          <a:noFill/>
          <a:ln/>
        </p:spPr>
        <p:txBody>
          <a:bodyPr wrap="square" lIns="0" tIns="0" rIns="0" bIns="0" rtlCol="0" anchor="ctr"/>
          <a:lstStyle/>
          <a:p>
            <a:pPr marL="0" indent="0">
              <a:lnSpc>
                <a:spcPct val="105000"/>
              </a:lnSpc>
              <a:buNone/>
            </a:pPr>
            <a:r>
              <a:rPr lang="en-US" sz="1300" dirty="0">
                <a:solidFill>
                  <a:srgbClr val="DCE6F2"/>
                </a:solidFill>
                <a:latin typeface="Calibri" pitchFamily="34" charset="0"/>
                <a:ea typeface="Calibri" pitchFamily="34" charset="-122"/>
                <a:cs typeface="Calibri" pitchFamily="34" charset="-120"/>
              </a:rPr>
              <a:t>Un examen generado por IA solo se administra cuando las ocho verificaciones están marcadas. Si una falla, se corrige en el documento —no se le vuelve a pedir a la herramienta que lo arregle sin revisar el resultado—. El maestro es quien firma el instrumento.</a:t>
            </a:r>
            <a:endParaRPr lang="en-US" sz="1300" dirty="0"/>
          </a:p>
        </p:txBody>
      </p:sp>
      <p:sp>
        <p:nvSpPr>
          <p:cNvPr id="39" name="Text 37"/>
          <p:cNvSpPr txBox="1"/>
          <p:nvPr/>
        </p:nvSpPr>
        <p:spPr>
          <a:xfrm>
            <a:off x="566928" y="6327648"/>
            <a:ext cx="11057839"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1133856" cy="1133856"/>
          </a:xfrm>
          <a:prstGeom prst="ellipse">
            <a:avLst/>
          </a:prstGeom>
          <a:solidFill>
            <a:srgbClr val="C9A227"/>
          </a:solidFill>
          <a:ln/>
        </p:spPr>
        <p:txBody>
          <a:bodyPr/>
          <a:lstStyle/>
          <a:p>
            <a:endParaRPr lang="en-PR"/>
          </a:p>
        </p:txBody>
      </p:sp>
      <p:sp>
        <p:nvSpPr>
          <p:cNvPr id="3" name="Text 1"/>
          <p:cNvSpPr txBox="1"/>
          <p:nvPr/>
        </p:nvSpPr>
        <p:spPr>
          <a:xfrm>
            <a:off x="566928" y="1188720"/>
            <a:ext cx="1133856" cy="1133856"/>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B</a:t>
            </a:r>
            <a:endParaRPr lang="en-US" sz="3400" dirty="0"/>
          </a:p>
        </p:txBody>
      </p:sp>
      <p:sp>
        <p:nvSpPr>
          <p:cNvPr id="4" name="Text 2"/>
          <p:cNvSpPr txBox="1"/>
          <p:nvPr/>
        </p:nvSpPr>
        <p:spPr>
          <a:xfrm>
            <a:off x="566928" y="2606040"/>
            <a:ext cx="75895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Actividad de</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aplicación 2</a:t>
            </a:r>
            <a:endParaRPr lang="en-US" sz="3400" dirty="0"/>
          </a:p>
        </p:txBody>
      </p:sp>
      <p:sp>
        <p:nvSpPr>
          <p:cNvPr id="5" name="Text 3"/>
          <p:cNvSpPr txBox="1"/>
          <p:nvPr/>
        </p:nvSpPr>
        <p:spPr>
          <a:xfrm>
            <a:off x="566928" y="4041648"/>
            <a:ext cx="6949440" cy="822960"/>
          </a:xfrm>
          <a:prstGeom prst="rect">
            <a:avLst/>
          </a:prstGeom>
          <a:noFill/>
          <a:ln/>
        </p:spPr>
        <p:txBody>
          <a:bodyPr wrap="square" lIns="0" tIns="0" rIns="0" bIns="0" rtlCol="0" anchor="t"/>
          <a:lstStyle/>
          <a:p>
            <a:pPr marL="0" indent="0">
              <a:buNone/>
            </a:pPr>
            <a:r>
              <a:rPr lang="en-US" sz="1450" dirty="0">
                <a:solidFill>
                  <a:srgbClr val="C6D2E0"/>
                </a:solidFill>
                <a:latin typeface="Calibri" pitchFamily="34" charset="0"/>
                <a:ea typeface="Calibri" pitchFamily="34" charset="-122"/>
                <a:cs typeface="Calibri" pitchFamily="34" charset="-120"/>
              </a:rPr>
              <a:t>40 minutos  ·  2:45 – 3:25 p.m.</a:t>
            </a:r>
            <a:endParaRPr lang="en-US" sz="1450" dirty="0"/>
          </a:p>
        </p:txBody>
      </p:sp>
      <p:sp>
        <p:nvSpPr>
          <p:cNvPr id="6" name="Shape 4"/>
          <p:cNvSpPr/>
          <p:nvPr/>
        </p:nvSpPr>
        <p:spPr>
          <a:xfrm>
            <a:off x="8183880" y="1188720"/>
            <a:ext cx="3456432" cy="4206240"/>
          </a:xfrm>
          <a:prstGeom prst="roundRect">
            <a:avLst>
              <a:gd name="adj" fmla="val 3175"/>
            </a:avLst>
          </a:prstGeom>
          <a:solidFill>
            <a:srgbClr val="24365C"/>
          </a:solidFill>
          <a:ln w="12700">
            <a:solidFill>
              <a:srgbClr val="35507E"/>
            </a:solidFill>
            <a:prstDash val="solid"/>
          </a:ln>
        </p:spPr>
        <p:txBody>
          <a:bodyPr/>
          <a:lstStyle/>
          <a:p>
            <a:endParaRPr lang="en-PR"/>
          </a:p>
        </p:txBody>
      </p:sp>
      <p:sp>
        <p:nvSpPr>
          <p:cNvPr id="7" name="Text 5"/>
          <p:cNvSpPr txBox="1"/>
          <p:nvPr/>
        </p:nvSpPr>
        <p:spPr>
          <a:xfrm>
            <a:off x="8458200" y="1444752"/>
            <a:ext cx="2926080" cy="37033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Del prompt a la auditoría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Mismos tríos por nivel</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Producto: examen generado + informe de auditoría</a:t>
            </a:r>
            <a:endParaRPr lang="en-US" sz="1250" dirty="0"/>
          </a:p>
          <a:p>
            <a:pPr marL="342900" indent="-342900">
              <a:spcAft>
                <a:spcPts val="900"/>
              </a:spcAft>
              <a:buSzPct val="100000"/>
              <a:buChar char="▪"/>
            </a:pPr>
            <a:r>
              <a:rPr lang="en-US" sz="1250" dirty="0">
                <a:solidFill>
                  <a:srgbClr val="DCE6F2"/>
                </a:solidFill>
                <a:latin typeface="Calibri" pitchFamily="34" charset="0"/>
                <a:ea typeface="Calibri" pitchFamily="34" charset="-122"/>
                <a:cs typeface="Calibri" pitchFamily="34" charset="-120"/>
              </a:rPr>
              <a:t>Tres hallazgos corregidos y documentados</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Del prompt a la auditoría</a:t>
            </a:r>
            <a:endParaRPr lang="en-US" sz="2700" dirty="0"/>
          </a:p>
        </p:txBody>
      </p:sp>
      <p:sp>
        <p:nvSpPr>
          <p:cNvPr id="4" name="Text 2"/>
          <p:cNvSpPr txBox="1"/>
          <p:nvPr/>
        </p:nvSpPr>
        <p:spPr>
          <a:xfrm>
            <a:off x="566928" y="1261872"/>
            <a:ext cx="11057839" cy="365760"/>
          </a:xfrm>
          <a:prstGeom prst="rect">
            <a:avLst/>
          </a:prstGeom>
          <a:noFill/>
          <a:ln/>
        </p:spPr>
        <p:txBody>
          <a:bodyPr wrap="square" lIns="0" tIns="0" rIns="0" bIns="0"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Organización: los mismos tríos por nivel.   Producto: un examen generado con IA y un informe de auditoría de una página con tres hallazgos corregidos.</a:t>
            </a:r>
            <a:endParaRPr lang="en-US" sz="1300" dirty="0"/>
          </a:p>
        </p:txBody>
      </p:sp>
      <p:sp>
        <p:nvSpPr>
          <p:cNvPr id="5" name="Shape 3"/>
          <p:cNvSpPr/>
          <p:nvPr/>
        </p:nvSpPr>
        <p:spPr>
          <a:xfrm>
            <a:off x="566928" y="1737360"/>
            <a:ext cx="11057839" cy="816102"/>
          </a:xfrm>
          <a:prstGeom prst="roundRect">
            <a:avLst>
              <a:gd name="adj" fmla="val 10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Shape 4"/>
          <p:cNvSpPr/>
          <p:nvPr/>
        </p:nvSpPr>
        <p:spPr>
          <a:xfrm>
            <a:off x="768096" y="1944243"/>
            <a:ext cx="402336" cy="402336"/>
          </a:xfrm>
          <a:prstGeom prst="ellipse">
            <a:avLst/>
          </a:prstGeom>
          <a:solidFill>
            <a:srgbClr val="1B2A4A"/>
          </a:solidFill>
          <a:ln/>
        </p:spPr>
        <p:txBody>
          <a:bodyPr/>
          <a:lstStyle/>
          <a:p>
            <a:endParaRPr lang="en-PR"/>
          </a:p>
        </p:txBody>
      </p:sp>
      <p:sp>
        <p:nvSpPr>
          <p:cNvPr id="7" name="Text 5"/>
          <p:cNvSpPr txBox="1"/>
          <p:nvPr/>
        </p:nvSpPr>
        <p:spPr>
          <a:xfrm>
            <a:off x="768096" y="1944243"/>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353312" y="1856232"/>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10 min · Adapta el prompt RC-TTF</a:t>
            </a:r>
            <a:endParaRPr lang="en-US" sz="1350" dirty="0"/>
          </a:p>
        </p:txBody>
      </p:sp>
      <p:sp>
        <p:nvSpPr>
          <p:cNvPr id="9" name="Text 7"/>
          <p:cNvSpPr txBox="1"/>
          <p:nvPr/>
        </p:nvSpPr>
        <p:spPr>
          <a:xfrm>
            <a:off x="1353312" y="2139696"/>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Completa los corchetes del prompt modelo con tu grado, tu tema, el perfil real de tu grupo, la duración de tu período y la fila de distribución de reactivos de tu nivel. Pega el contenido que enseñaste.</a:t>
            </a:r>
            <a:endParaRPr lang="en-US" sz="1200" dirty="0"/>
          </a:p>
        </p:txBody>
      </p:sp>
      <p:sp>
        <p:nvSpPr>
          <p:cNvPr id="10" name="Shape 8"/>
          <p:cNvSpPr/>
          <p:nvPr/>
        </p:nvSpPr>
        <p:spPr>
          <a:xfrm>
            <a:off x="566928" y="2699766"/>
            <a:ext cx="11057839" cy="816102"/>
          </a:xfrm>
          <a:prstGeom prst="roundRect">
            <a:avLst>
              <a:gd name="adj" fmla="val 1008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768096" y="2906649"/>
            <a:ext cx="402336" cy="402336"/>
          </a:xfrm>
          <a:prstGeom prst="ellipse">
            <a:avLst/>
          </a:prstGeom>
          <a:solidFill>
            <a:srgbClr val="2A9D8F"/>
          </a:solidFill>
          <a:ln/>
        </p:spPr>
        <p:txBody>
          <a:bodyPr/>
          <a:lstStyle/>
          <a:p>
            <a:endParaRPr lang="en-PR"/>
          </a:p>
        </p:txBody>
      </p:sp>
      <p:sp>
        <p:nvSpPr>
          <p:cNvPr id="12" name="Text 10"/>
          <p:cNvSpPr txBox="1"/>
          <p:nvPr/>
        </p:nvSpPr>
        <p:spPr>
          <a:xfrm>
            <a:off x="768096" y="2906649"/>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353312" y="2818638"/>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8 min · Genera el examen</a:t>
            </a:r>
            <a:endParaRPr lang="en-US" sz="1350" dirty="0"/>
          </a:p>
        </p:txBody>
      </p:sp>
      <p:sp>
        <p:nvSpPr>
          <p:cNvPr id="14" name="Text 12"/>
          <p:cNvSpPr txBox="1"/>
          <p:nvPr/>
        </p:nvSpPr>
        <p:spPr>
          <a:xfrm>
            <a:off x="1353312" y="3102102"/>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Ejecuta el prompt en la herramienta de IA disponible. No aceptes el primer resultado como final: si falta algún anejo solicitado, pídelo de forma explícita.</a:t>
            </a:r>
            <a:endParaRPr lang="en-US" sz="1200" dirty="0"/>
          </a:p>
        </p:txBody>
      </p:sp>
      <p:sp>
        <p:nvSpPr>
          <p:cNvPr id="15" name="Shape 13"/>
          <p:cNvSpPr/>
          <p:nvPr/>
        </p:nvSpPr>
        <p:spPr>
          <a:xfrm>
            <a:off x="566928" y="3662172"/>
            <a:ext cx="11057839" cy="816102"/>
          </a:xfrm>
          <a:prstGeom prst="roundRect">
            <a:avLst>
              <a:gd name="adj" fmla="val 10084"/>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6" name="Shape 14"/>
          <p:cNvSpPr/>
          <p:nvPr/>
        </p:nvSpPr>
        <p:spPr>
          <a:xfrm>
            <a:off x="768096" y="3869055"/>
            <a:ext cx="402336" cy="402336"/>
          </a:xfrm>
          <a:prstGeom prst="ellipse">
            <a:avLst/>
          </a:prstGeom>
          <a:solidFill>
            <a:srgbClr val="C9A227"/>
          </a:solidFill>
          <a:ln/>
        </p:spPr>
        <p:txBody>
          <a:bodyPr/>
          <a:lstStyle/>
          <a:p>
            <a:endParaRPr lang="en-PR"/>
          </a:p>
        </p:txBody>
      </p:sp>
      <p:sp>
        <p:nvSpPr>
          <p:cNvPr id="17" name="Text 15"/>
          <p:cNvSpPr txBox="1"/>
          <p:nvPr/>
        </p:nvSpPr>
        <p:spPr>
          <a:xfrm>
            <a:off x="768096" y="3869055"/>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1353312" y="3781044"/>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17 min · Audita con las ocho verificaciones</a:t>
            </a:r>
            <a:endParaRPr lang="en-US" sz="1350" dirty="0"/>
          </a:p>
        </p:txBody>
      </p:sp>
      <p:sp>
        <p:nvSpPr>
          <p:cNvPr id="19" name="Text 17"/>
          <p:cNvSpPr txBox="1"/>
          <p:nvPr/>
        </p:nvSpPr>
        <p:spPr>
          <a:xfrm>
            <a:off x="1353312" y="4064508"/>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Aplica la lista completa. Resuelve al menos tres ítems tú mismo. Verifica cada código de expectativa contra el documento del Programa de Matemáticas. Marca cada hallazgo en el documento.</a:t>
            </a:r>
            <a:endParaRPr lang="en-US" sz="1200" dirty="0"/>
          </a:p>
        </p:txBody>
      </p:sp>
      <p:sp>
        <p:nvSpPr>
          <p:cNvPr id="20" name="Shape 18"/>
          <p:cNvSpPr/>
          <p:nvPr/>
        </p:nvSpPr>
        <p:spPr>
          <a:xfrm>
            <a:off x="566928" y="4624578"/>
            <a:ext cx="11057839" cy="816102"/>
          </a:xfrm>
          <a:prstGeom prst="roundRect">
            <a:avLst>
              <a:gd name="adj" fmla="val 10084"/>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768096" y="4831461"/>
            <a:ext cx="402336" cy="402336"/>
          </a:xfrm>
          <a:prstGeom prst="ellipse">
            <a:avLst/>
          </a:prstGeom>
          <a:solidFill>
            <a:srgbClr val="A8322D"/>
          </a:solidFill>
          <a:ln/>
        </p:spPr>
        <p:txBody>
          <a:bodyPr/>
          <a:lstStyle/>
          <a:p>
            <a:endParaRPr lang="en-PR"/>
          </a:p>
        </p:txBody>
      </p:sp>
      <p:sp>
        <p:nvSpPr>
          <p:cNvPr id="22" name="Text 20"/>
          <p:cNvSpPr txBox="1"/>
          <p:nvPr/>
        </p:nvSpPr>
        <p:spPr>
          <a:xfrm>
            <a:off x="768096" y="4831461"/>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353312" y="4743450"/>
            <a:ext cx="10033711" cy="274320"/>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5 min · Corrige y documenta</a:t>
            </a:r>
            <a:endParaRPr lang="en-US" sz="1350" dirty="0"/>
          </a:p>
        </p:txBody>
      </p:sp>
      <p:sp>
        <p:nvSpPr>
          <p:cNvPr id="24" name="Text 22"/>
          <p:cNvSpPr txBox="1"/>
          <p:nvPr/>
        </p:nvSpPr>
        <p:spPr>
          <a:xfrm>
            <a:off x="1353312" y="5026914"/>
            <a:ext cx="10033711" cy="313182"/>
          </a:xfrm>
          <a:prstGeom prst="rect">
            <a:avLst/>
          </a:prstGeom>
          <a:noFill/>
          <a:ln/>
        </p:spPr>
        <p:txBody>
          <a:bodyPr wrap="square" lIns="0" tIns="0" rIns="0" bIns="0" rtlCol="0" anchor="t"/>
          <a:lstStyle/>
          <a:p>
            <a:pPr marL="0" indent="0">
              <a:lnSpc>
                <a:spcPct val="104000"/>
              </a:lnSpc>
              <a:buNone/>
            </a:pPr>
            <a:r>
              <a:rPr lang="en-US" sz="1200" dirty="0">
                <a:solidFill>
                  <a:srgbClr val="22303F"/>
                </a:solidFill>
                <a:latin typeface="Calibri" pitchFamily="34" charset="0"/>
                <a:ea typeface="Calibri" pitchFamily="34" charset="-122"/>
                <a:cs typeface="Calibri" pitchFamily="34" charset="-120"/>
              </a:rPr>
              <a:t>Corrige al menos tres hallazgos directamente en el examen y escribe en el informe qué encontraste, por qué era un problema y qué cambiaste.</a:t>
            </a:r>
            <a:endParaRPr lang="en-US" sz="1200" dirty="0"/>
          </a:p>
        </p:txBody>
      </p:sp>
      <p:sp>
        <p:nvSpPr>
          <p:cNvPr id="25" name="Shape 23"/>
          <p:cNvSpPr/>
          <p:nvPr/>
        </p:nvSpPr>
        <p:spPr>
          <a:xfrm>
            <a:off x="566928" y="5596128"/>
            <a:ext cx="11057839" cy="640080"/>
          </a:xfrm>
          <a:prstGeom prst="roundRect">
            <a:avLst>
              <a:gd name="adj" fmla="val 12857"/>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26" name="Text 24"/>
          <p:cNvSpPr txBox="1"/>
          <p:nvPr/>
        </p:nvSpPr>
        <p:spPr>
          <a:xfrm>
            <a:off x="886968" y="5596128"/>
            <a:ext cx="10417759" cy="640080"/>
          </a:xfrm>
          <a:prstGeom prst="rect">
            <a:avLst/>
          </a:prstGeom>
          <a:noFill/>
          <a:ln/>
        </p:spPr>
        <p:txBody>
          <a:bodyPr wrap="square" lIns="0" tIns="0" rIns="0" bIns="0" rtlCol="0" anchor="ctr"/>
          <a:lstStyle/>
          <a:p>
            <a:pPr marL="0" indent="0">
              <a:buNone/>
            </a:pPr>
            <a:r>
              <a:rPr lang="en-US" sz="1280" b="1" dirty="0">
                <a:solidFill>
                  <a:srgbClr val="6E5610"/>
                </a:solidFill>
                <a:latin typeface="Calibri" pitchFamily="34" charset="0"/>
                <a:ea typeface="Calibri" pitchFamily="34" charset="-122"/>
                <a:cs typeface="Calibri" pitchFamily="34" charset="-120"/>
              </a:rPr>
              <a:t>Cierre en plenaria: cada trío informa en un minuto el hallazgo que más le sorprendió. Se registran en la pizarra para el resumen del taller.</a:t>
            </a:r>
            <a:endParaRPr lang="en-US" sz="12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ACTIVIDAD DE APLICACIÓN 2</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Rúbrica del informe de auditoría</a:t>
            </a:r>
            <a:endParaRPr lang="en-US" sz="27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694944">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Criterio</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Excelente  (4)</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Competente  (3)</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En desarrollo  (2)</a:t>
                      </a:r>
                      <a:endParaRPr lang="en-US" sz="11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Adaptación del prompt</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Completa los cinco componentes RC-TTF con datos reales del grupo y del contenido enseñado.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Completa los cinco componentes, pero el contexto es genérico.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Omite componentes o no suministra contenido propio.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Verificación curricular</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Verifica todos los códigos contra el documento oficial y documenta los que no existen.</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Verifica la mayoría de los códigos.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Acepta los códigos generados sin verificarlos.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Verificación matemática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Resuelve tres o más ítems y detecta toda discrepancia con la clave.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Resuelve al menos un ítem y compara con la clave.</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No resuelve ningún ítem.</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Análisis de DUA y sesgo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Aplica la lista de imparcialidad y propone reescrituras concretas.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Identifica barreras, pero sin proponer la reescritura.</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No aplica la lista de imparcialidad.</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694944">
                <a:tc>
                  <a:txBody>
                    <a:bodyPr/>
                    <a:lstStyle/>
                    <a:p>
                      <a:pPr marL="0" indent="0" algn="l">
                        <a:buNone/>
                      </a:pPr>
                      <a:r>
                        <a:rPr lang="en-US" sz="1050" b="1" dirty="0">
                          <a:solidFill>
                            <a:srgbClr val="22303F"/>
                          </a:solidFill>
                          <a:latin typeface="Calibri" pitchFamily="34" charset="0"/>
                          <a:ea typeface="Calibri" pitchFamily="34" charset="-122"/>
                          <a:cs typeface="Calibri" pitchFamily="34" charset="-120"/>
                        </a:rPr>
                        <a:t>Documentación del hallazgo</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Describe qué encontró, por qué era un problema y qué cambió, en los tres hallazgos.</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Describe los hallazgos, pero no todos incluyen la justificación.</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tc>
                  <a:txBody>
                    <a:bodyPr/>
                    <a:lstStyle/>
                    <a:p>
                      <a:pPr marL="0" indent="0" algn="l">
                        <a:buNone/>
                      </a:pPr>
                      <a:r>
                        <a:rPr lang="en-US" sz="1050" dirty="0">
                          <a:solidFill>
                            <a:srgbClr val="22303F"/>
                          </a:solidFill>
                          <a:latin typeface="Calibri" pitchFamily="34" charset="0"/>
                          <a:ea typeface="Calibri" pitchFamily="34" charset="-122"/>
                          <a:cs typeface="Calibri" pitchFamily="34" charset="-120"/>
                        </a:rPr>
                        <a:t>Menciona hallazgos sin describir la corrección.</a:t>
                      </a:r>
                      <a:endParaRPr lang="en-US" sz="1050" dirty="0">
                        <a:latin typeface="Calibri" charset="0"/>
                        <a:ea typeface="Calibri" charset="0"/>
                        <a:cs typeface="Calibri" charset="0"/>
                      </a:endParaRPr>
                    </a:p>
                  </a:txBody>
                  <a:tcPr marL="54864" marR="54864" marT="54864" marB="54864"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 y="5760720"/>
            <a:ext cx="11057839" cy="548640"/>
          </a:xfrm>
          <a:prstGeom prst="roundRect">
            <a:avLst>
              <a:gd name="adj" fmla="val 15000"/>
            </a:avLst>
          </a:prstGeom>
          <a:solidFill>
            <a:srgbClr val="F1F5F9"/>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6" name="Text 3"/>
          <p:cNvSpPr txBox="1"/>
          <p:nvPr/>
        </p:nvSpPr>
        <p:spPr>
          <a:xfrm>
            <a:off x="886968" y="5760720"/>
            <a:ext cx="10417759" cy="548640"/>
          </a:xfrm>
          <a:prstGeom prst="rect">
            <a:avLst/>
          </a:prstGeom>
          <a:noFill/>
          <a:ln/>
        </p:spPr>
        <p:txBody>
          <a:bodyPr wrap="square" lIns="0" tIns="0" rIns="0" bIns="0" rtlCol="0" anchor="ctr"/>
          <a:lstStyle/>
          <a:p>
            <a:pPr marL="0" indent="0">
              <a:buNone/>
            </a:pPr>
            <a:r>
              <a:rPr lang="en-US" sz="1280" b="1" dirty="0">
                <a:solidFill>
                  <a:srgbClr val="1B2A4A"/>
                </a:solidFill>
                <a:latin typeface="Calibri" pitchFamily="34" charset="0"/>
                <a:ea typeface="Calibri" pitchFamily="34" charset="-122"/>
                <a:cs typeface="Calibri" pitchFamily="34" charset="-120"/>
              </a:rPr>
              <a:t>Total: 20 puntos  ·  Dominio: 14 puntos (70 %). La misma regla que aplicamos a nuestros estudiantes se aplica a nuestro propio trabajo.</a:t>
            </a:r>
            <a:endParaRPr lang="en-US" sz="128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Siete principios para llevarse</a:t>
            </a:r>
            <a:endParaRPr lang="en-US" sz="2700" dirty="0"/>
          </a:p>
        </p:txBody>
      </p:sp>
      <p:sp>
        <p:nvSpPr>
          <p:cNvPr id="4" name="Shape 2"/>
          <p:cNvSpPr/>
          <p:nvPr/>
        </p:nvSpPr>
        <p:spPr>
          <a:xfrm>
            <a:off x="566928" y="137160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786384" y="1490472"/>
            <a:ext cx="420624" cy="420624"/>
          </a:xfrm>
          <a:prstGeom prst="ellipse">
            <a:avLst/>
          </a:prstGeom>
          <a:solidFill>
            <a:srgbClr val="1B2A4A"/>
          </a:solidFill>
          <a:ln/>
        </p:spPr>
        <p:txBody>
          <a:bodyPr/>
          <a:lstStyle/>
          <a:p>
            <a:endParaRPr lang="en-PR"/>
          </a:p>
        </p:txBody>
      </p:sp>
      <p:sp>
        <p:nvSpPr>
          <p:cNvPr id="6" name="Text 4"/>
          <p:cNvSpPr txBox="1"/>
          <p:nvPr/>
        </p:nvSpPr>
        <p:spPr>
          <a:xfrm>
            <a:off x="786384" y="14904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71600" y="138988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Primero la expectativa, después el ítem. El orden inverso produce pruebas que miden lo fácil de preguntar.</a:t>
            </a:r>
            <a:endParaRPr lang="en-US" sz="1200" dirty="0"/>
          </a:p>
        </p:txBody>
      </p:sp>
      <p:sp>
        <p:nvSpPr>
          <p:cNvPr id="8" name="Shape 6"/>
          <p:cNvSpPr/>
          <p:nvPr/>
        </p:nvSpPr>
        <p:spPr>
          <a:xfrm>
            <a:off x="566928" y="219456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9" name="Shape 7"/>
          <p:cNvSpPr/>
          <p:nvPr/>
        </p:nvSpPr>
        <p:spPr>
          <a:xfrm>
            <a:off x="786384" y="2313432"/>
            <a:ext cx="420624" cy="420624"/>
          </a:xfrm>
          <a:prstGeom prst="ellipse">
            <a:avLst/>
          </a:prstGeom>
          <a:solidFill>
            <a:srgbClr val="1F3864"/>
          </a:solidFill>
          <a:ln/>
        </p:spPr>
        <p:txBody>
          <a:bodyPr/>
          <a:lstStyle/>
          <a:p>
            <a:endParaRPr lang="en-PR"/>
          </a:p>
        </p:txBody>
      </p:sp>
      <p:sp>
        <p:nvSpPr>
          <p:cNvPr id="10" name="Text 8"/>
          <p:cNvSpPr txBox="1"/>
          <p:nvPr/>
        </p:nvSpPr>
        <p:spPr>
          <a:xfrm>
            <a:off x="786384" y="2313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371600" y="221284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accesibilidad no baja el rigor: elimina la barrera que no es matemática.</a:t>
            </a:r>
            <a:endParaRPr lang="en-US" sz="1200" dirty="0"/>
          </a:p>
        </p:txBody>
      </p:sp>
      <p:sp>
        <p:nvSpPr>
          <p:cNvPr id="12" name="Shape 10"/>
          <p:cNvSpPr/>
          <p:nvPr/>
        </p:nvSpPr>
        <p:spPr>
          <a:xfrm>
            <a:off x="566928" y="301752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3" name="Shape 11"/>
          <p:cNvSpPr/>
          <p:nvPr/>
        </p:nvSpPr>
        <p:spPr>
          <a:xfrm>
            <a:off x="786384" y="3136392"/>
            <a:ext cx="420624" cy="420624"/>
          </a:xfrm>
          <a:prstGeom prst="ellipse">
            <a:avLst/>
          </a:prstGeom>
          <a:solidFill>
            <a:srgbClr val="2A9D8F"/>
          </a:solidFill>
          <a:ln/>
        </p:spPr>
        <p:txBody>
          <a:bodyPr/>
          <a:lstStyle/>
          <a:p>
            <a:endParaRPr lang="en-PR"/>
          </a:p>
        </p:txBody>
      </p:sp>
      <p:sp>
        <p:nvSpPr>
          <p:cNvPr id="14" name="Text 12"/>
          <p:cNvSpPr txBox="1"/>
          <p:nvPr/>
        </p:nvSpPr>
        <p:spPr>
          <a:xfrm>
            <a:off x="786384" y="3136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371600" y="303580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Cada distractor debe corresponder a un error real y decir qué hay que reenseñar.</a:t>
            </a:r>
            <a:endParaRPr lang="en-US" sz="1200" dirty="0"/>
          </a:p>
        </p:txBody>
      </p:sp>
      <p:sp>
        <p:nvSpPr>
          <p:cNvPr id="16" name="Shape 14"/>
          <p:cNvSpPr/>
          <p:nvPr/>
        </p:nvSpPr>
        <p:spPr>
          <a:xfrm>
            <a:off x="566928" y="384048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786384" y="3959352"/>
            <a:ext cx="420624" cy="420624"/>
          </a:xfrm>
          <a:prstGeom prst="ellipse">
            <a:avLst/>
          </a:prstGeom>
          <a:solidFill>
            <a:srgbClr val="4A6FA5"/>
          </a:solidFill>
          <a:ln/>
        </p:spPr>
        <p:txBody>
          <a:bodyPr/>
          <a:lstStyle/>
          <a:p>
            <a:endParaRPr lang="en-PR"/>
          </a:p>
        </p:txBody>
      </p:sp>
      <p:sp>
        <p:nvSpPr>
          <p:cNvPr id="18" name="Text 16"/>
          <p:cNvSpPr txBox="1"/>
          <p:nvPr/>
        </p:nvSpPr>
        <p:spPr>
          <a:xfrm>
            <a:off x="786384" y="39593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txBox="1"/>
          <p:nvPr/>
        </p:nvSpPr>
        <p:spPr>
          <a:xfrm>
            <a:off x="1371600" y="385876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respuesta abierta se redacta junto con su baremo, nunca después.</a:t>
            </a:r>
            <a:endParaRPr lang="en-US" sz="1200" dirty="0"/>
          </a:p>
        </p:txBody>
      </p:sp>
      <p:sp>
        <p:nvSpPr>
          <p:cNvPr id="20" name="Shape 18"/>
          <p:cNvSpPr/>
          <p:nvPr/>
        </p:nvSpPr>
        <p:spPr>
          <a:xfrm>
            <a:off x="6233008" y="137160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1" name="Shape 19"/>
          <p:cNvSpPr/>
          <p:nvPr/>
        </p:nvSpPr>
        <p:spPr>
          <a:xfrm>
            <a:off x="6452464" y="1490472"/>
            <a:ext cx="420624" cy="420624"/>
          </a:xfrm>
          <a:prstGeom prst="ellipse">
            <a:avLst/>
          </a:prstGeom>
          <a:solidFill>
            <a:srgbClr val="C9A227"/>
          </a:solidFill>
          <a:ln/>
        </p:spPr>
        <p:txBody>
          <a:bodyPr/>
          <a:lstStyle/>
          <a:p>
            <a:endParaRPr lang="en-PR"/>
          </a:p>
        </p:txBody>
      </p:sp>
      <p:sp>
        <p:nvSpPr>
          <p:cNvPr id="22" name="Text 20"/>
          <p:cNvSpPr txBox="1"/>
          <p:nvPr/>
        </p:nvSpPr>
        <p:spPr>
          <a:xfrm>
            <a:off x="6452464" y="1490472"/>
            <a:ext cx="420624" cy="420624"/>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5</a:t>
            </a:r>
            <a:endParaRPr lang="en-US" sz="1400" dirty="0"/>
          </a:p>
        </p:txBody>
      </p:sp>
      <p:sp>
        <p:nvSpPr>
          <p:cNvPr id="23" name="Text 21"/>
          <p:cNvSpPr txBox="1"/>
          <p:nvPr/>
        </p:nvSpPr>
        <p:spPr>
          <a:xfrm>
            <a:off x="7037680" y="138988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Varias vías de respuesta correcta valen lo mismo si evidencian el mismo razonamiento.</a:t>
            </a:r>
            <a:endParaRPr lang="en-US" sz="1200" dirty="0"/>
          </a:p>
        </p:txBody>
      </p:sp>
      <p:sp>
        <p:nvSpPr>
          <p:cNvPr id="24" name="Shape 22"/>
          <p:cNvSpPr/>
          <p:nvPr/>
        </p:nvSpPr>
        <p:spPr>
          <a:xfrm>
            <a:off x="6233008" y="219456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5" name="Shape 23"/>
          <p:cNvSpPr/>
          <p:nvPr/>
        </p:nvSpPr>
        <p:spPr>
          <a:xfrm>
            <a:off x="6452464" y="2313432"/>
            <a:ext cx="420624" cy="420624"/>
          </a:xfrm>
          <a:prstGeom prst="ellipse">
            <a:avLst/>
          </a:prstGeom>
          <a:solidFill>
            <a:srgbClr val="A8322D"/>
          </a:solidFill>
          <a:ln/>
        </p:spPr>
        <p:txBody>
          <a:bodyPr/>
          <a:lstStyle/>
          <a:p>
            <a:endParaRPr lang="en-PR"/>
          </a:p>
        </p:txBody>
      </p:sp>
      <p:sp>
        <p:nvSpPr>
          <p:cNvPr id="26" name="Text 24"/>
          <p:cNvSpPr txBox="1"/>
          <p:nvPr/>
        </p:nvSpPr>
        <p:spPr>
          <a:xfrm>
            <a:off x="6452464" y="2313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7" name="Text 25"/>
          <p:cNvSpPr txBox="1"/>
          <p:nvPr/>
        </p:nvSpPr>
        <p:spPr>
          <a:xfrm>
            <a:off x="7037680" y="221284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planilla de especificaciones es el plano de la prueba y el plan de la reenseñanza.</a:t>
            </a:r>
            <a:endParaRPr lang="en-US" sz="1200" dirty="0"/>
          </a:p>
        </p:txBody>
      </p:sp>
      <p:sp>
        <p:nvSpPr>
          <p:cNvPr id="28" name="Shape 26"/>
          <p:cNvSpPr/>
          <p:nvPr/>
        </p:nvSpPr>
        <p:spPr>
          <a:xfrm>
            <a:off x="6233008" y="3017520"/>
            <a:ext cx="5391760" cy="658368"/>
          </a:xfrm>
          <a:prstGeom prst="roundRect">
            <a:avLst>
              <a:gd name="adj" fmla="val 125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29" name="Shape 27"/>
          <p:cNvSpPr/>
          <p:nvPr/>
        </p:nvSpPr>
        <p:spPr>
          <a:xfrm>
            <a:off x="6452464" y="3136392"/>
            <a:ext cx="420624" cy="420624"/>
          </a:xfrm>
          <a:prstGeom prst="ellipse">
            <a:avLst/>
          </a:prstGeom>
          <a:solidFill>
            <a:srgbClr val="2A6E5A"/>
          </a:solidFill>
          <a:ln/>
        </p:spPr>
        <p:txBody>
          <a:bodyPr/>
          <a:lstStyle/>
          <a:p>
            <a:endParaRPr lang="en-PR"/>
          </a:p>
        </p:txBody>
      </p:sp>
      <p:sp>
        <p:nvSpPr>
          <p:cNvPr id="30" name="Text 28"/>
          <p:cNvSpPr txBox="1"/>
          <p:nvPr/>
        </p:nvSpPr>
        <p:spPr>
          <a:xfrm>
            <a:off x="6452464" y="3136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1" name="Text 29"/>
          <p:cNvSpPr txBox="1"/>
          <p:nvPr/>
        </p:nvSpPr>
        <p:spPr>
          <a:xfrm>
            <a:off x="7037680" y="3035808"/>
            <a:ext cx="4385920" cy="621792"/>
          </a:xfrm>
          <a:prstGeom prst="rect">
            <a:avLst/>
          </a:prstGeom>
          <a:noFill/>
          <a:ln/>
        </p:spPr>
        <p:txBody>
          <a:bodyPr wrap="square" lIns="0" tIns="0" rIns="0" bIns="0" rtlCol="0" anchor="ctr"/>
          <a:lstStyle/>
          <a:p>
            <a:pPr marL="0" indent="0">
              <a:lnSpc>
                <a:spcPct val="103000"/>
              </a:lnSpc>
              <a:buNone/>
            </a:pPr>
            <a:r>
              <a:rPr lang="en-US" sz="1200" dirty="0">
                <a:solidFill>
                  <a:srgbClr val="22303F"/>
                </a:solidFill>
                <a:latin typeface="Calibri" pitchFamily="34" charset="0"/>
                <a:ea typeface="Calibri" pitchFamily="34" charset="-122"/>
                <a:cs typeface="Calibri" pitchFamily="34" charset="-120"/>
              </a:rPr>
              <a:t>La IA redacta borradores; el maestro verifica, corrige y firma.</a:t>
            </a:r>
            <a:endParaRPr lang="en-US" sz="1200" dirty="0"/>
          </a:p>
        </p:txBody>
      </p:sp>
      <p:sp>
        <p:nvSpPr>
          <p:cNvPr id="32" name="Shape 30"/>
          <p:cNvSpPr/>
          <p:nvPr/>
        </p:nvSpPr>
        <p:spPr>
          <a:xfrm>
            <a:off x="6233008" y="3840480"/>
            <a:ext cx="5391760" cy="1828800"/>
          </a:xfrm>
          <a:prstGeom prst="roundRect">
            <a:avLst>
              <a:gd name="adj" fmla="val 4500"/>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33" name="Text 31"/>
          <p:cNvSpPr txBox="1"/>
          <p:nvPr/>
        </p:nvSpPr>
        <p:spPr>
          <a:xfrm>
            <a:off x="6507328" y="4005072"/>
            <a:ext cx="4843120" cy="292608"/>
          </a:xfrm>
          <a:prstGeom prst="rect">
            <a:avLst/>
          </a:prstGeom>
          <a:noFill/>
          <a:ln/>
        </p:spPr>
        <p:txBody>
          <a:bodyPr wrap="square" lIns="0" tIns="0" rIns="0" bIns="0" rtlCol="0" anchor="ctr"/>
          <a:lstStyle/>
          <a:p>
            <a:pPr marL="0" indent="0">
              <a:buNone/>
            </a:pPr>
            <a:r>
              <a:rPr lang="en-US" sz="1500" b="1" dirty="0">
                <a:solidFill>
                  <a:srgbClr val="C9A84C"/>
                </a:solidFill>
                <a:latin typeface="Cambria" pitchFamily="34" charset="0"/>
                <a:ea typeface="Cambria" pitchFamily="34" charset="-122"/>
                <a:cs typeface="Cambria" pitchFamily="34" charset="-120"/>
              </a:rPr>
              <a:t>Volvamos al activador</a:t>
            </a:r>
            <a:endParaRPr lang="en-US" sz="1500" dirty="0"/>
          </a:p>
        </p:txBody>
      </p:sp>
      <p:sp>
        <p:nvSpPr>
          <p:cNvPr id="34" name="Text 32"/>
          <p:cNvSpPr txBox="1"/>
          <p:nvPr/>
        </p:nvSpPr>
        <p:spPr>
          <a:xfrm>
            <a:off x="6507328" y="4370832"/>
            <a:ext cx="4568800" cy="1097280"/>
          </a:xfrm>
          <a:prstGeom prst="rect">
            <a:avLst/>
          </a:prstGeom>
          <a:noFill/>
          <a:ln/>
        </p:spPr>
        <p:txBody>
          <a:bodyPr wrap="square" lIns="0" tIns="0" rIns="0" bIns="0" rtlCol="0" anchor="ctr"/>
          <a:lstStyle/>
          <a:p>
            <a:pPr marL="0" indent="0">
              <a:lnSpc>
                <a:spcPct val="106000"/>
              </a:lnSpc>
              <a:buNone/>
            </a:pPr>
            <a:r>
              <a:rPr lang="en-US" sz="1220" dirty="0">
                <a:solidFill>
                  <a:srgbClr val="DCE6F2"/>
                </a:solidFill>
                <a:latin typeface="Calibri" pitchFamily="34" charset="0"/>
                <a:ea typeface="Calibri" pitchFamily="34" charset="-122"/>
                <a:cs typeface="Calibri" pitchFamily="34" charset="-120"/>
              </a:rPr>
              <a:t>Retome la respuesta que escribió esta mañana sobre su último examen. ¿Qué cambiaría hoy en ese instrumento? Escríbalo en una línea: será el primer punto de su plan de acción.</a:t>
            </a:r>
            <a:endParaRPr lang="en-US" sz="122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Plan de acción a 30 días</a:t>
            </a:r>
            <a:endParaRPr lang="en-US" sz="2700" dirty="0"/>
          </a:p>
        </p:txBody>
      </p:sp>
      <p:sp>
        <p:nvSpPr>
          <p:cNvPr id="4" name="Shape 2"/>
          <p:cNvSpPr/>
          <p:nvPr/>
        </p:nvSpPr>
        <p:spPr>
          <a:xfrm>
            <a:off x="566928" y="1325880"/>
            <a:ext cx="3533546" cy="37033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Shape 3"/>
          <p:cNvSpPr/>
          <p:nvPr/>
        </p:nvSpPr>
        <p:spPr>
          <a:xfrm>
            <a:off x="1858213" y="1554480"/>
            <a:ext cx="950976" cy="950976"/>
          </a:xfrm>
          <a:prstGeom prst="ellipse">
            <a:avLst/>
          </a:prstGeom>
          <a:solidFill>
            <a:srgbClr val="1B2A4A"/>
          </a:solidFill>
          <a:ln/>
        </p:spPr>
        <p:txBody>
          <a:bodyPr/>
          <a:lstStyle/>
          <a:p>
            <a:endParaRPr lang="en-PR"/>
          </a:p>
        </p:txBody>
      </p:sp>
      <p:sp>
        <p:nvSpPr>
          <p:cNvPr id="6" name="Text 4"/>
          <p:cNvSpPr txBox="1"/>
          <p:nvPr/>
        </p:nvSpPr>
        <p:spPr>
          <a:xfrm>
            <a:off x="1858213" y="1627632"/>
            <a:ext cx="950976"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7</a:t>
            </a:r>
            <a:endParaRPr lang="en-US" sz="2600" dirty="0"/>
          </a:p>
        </p:txBody>
      </p:sp>
      <p:sp>
        <p:nvSpPr>
          <p:cNvPr id="7" name="Text 5"/>
          <p:cNvSpPr txBox="1"/>
          <p:nvPr/>
        </p:nvSpPr>
        <p:spPr>
          <a:xfrm>
            <a:off x="1858213" y="2139696"/>
            <a:ext cx="950976" cy="256032"/>
          </a:xfrm>
          <a:prstGeom prst="rect">
            <a:avLst/>
          </a:prstGeom>
          <a:noFill/>
          <a:ln/>
        </p:spPr>
        <p:txBody>
          <a:bodyPr wrap="square" lIns="0" tIns="0" rIns="0" bIns="0" rtlCol="0" anchor="ctr"/>
          <a:lstStyle/>
          <a:p>
            <a:pPr marL="0" indent="0" algn="ctr">
              <a:buNone/>
            </a:pPr>
            <a:r>
              <a:rPr lang="en-US" sz="1050" b="1" dirty="0">
                <a:solidFill>
                  <a:srgbClr val="DCE6F2"/>
                </a:solidFill>
                <a:latin typeface="Calibri" pitchFamily="34" charset="0"/>
                <a:ea typeface="Calibri" pitchFamily="34" charset="-122"/>
                <a:cs typeface="Calibri" pitchFamily="34" charset="-120"/>
              </a:rPr>
              <a:t>días</a:t>
            </a:r>
            <a:endParaRPr lang="en-US" sz="1050" dirty="0"/>
          </a:p>
        </p:txBody>
      </p:sp>
      <p:sp>
        <p:nvSpPr>
          <p:cNvPr id="8" name="Text 6"/>
          <p:cNvSpPr txBox="1"/>
          <p:nvPr/>
        </p:nvSpPr>
        <p:spPr>
          <a:xfrm>
            <a:off x="749808" y="2697480"/>
            <a:ext cx="3167786" cy="329184"/>
          </a:xfrm>
          <a:prstGeom prst="rect">
            <a:avLst/>
          </a:prstGeom>
          <a:noFill/>
          <a:ln/>
        </p:spPr>
        <p:txBody>
          <a:bodyPr wrap="square" lIns="0" tIns="0" rIns="0" bIns="0" rtlCol="0" anchor="ctr"/>
          <a:lstStyle/>
          <a:p>
            <a:pPr marL="0" indent="0" algn="ctr">
              <a:buNone/>
            </a:pPr>
            <a:r>
              <a:rPr lang="en-US" sz="1550" b="1" dirty="0">
                <a:solidFill>
                  <a:srgbClr val="1B2A4A"/>
                </a:solidFill>
                <a:latin typeface="Cambria" pitchFamily="34" charset="0"/>
                <a:ea typeface="Cambria" pitchFamily="34" charset="-122"/>
                <a:cs typeface="Cambria" pitchFamily="34" charset="-120"/>
              </a:rPr>
              <a:t>Esta semana</a:t>
            </a:r>
            <a:endParaRPr lang="en-US" sz="1550" dirty="0"/>
          </a:p>
        </p:txBody>
      </p:sp>
      <p:sp>
        <p:nvSpPr>
          <p:cNvPr id="9" name="Text 7"/>
          <p:cNvSpPr txBox="1"/>
          <p:nvPr/>
        </p:nvSpPr>
        <p:spPr>
          <a:xfrm>
            <a:off x="786384" y="3108960"/>
            <a:ext cx="3094634" cy="1783080"/>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Ajusto el formato de mi próximo examen: letra, espaciado, imágenes con texto alterno y viñetas simples.</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Aplico la lista de cotejo de imparcialidad a los ítems que ya tenía redactados.</a:t>
            </a:r>
            <a:endParaRPr lang="en-US" sz="1180" dirty="0"/>
          </a:p>
        </p:txBody>
      </p:sp>
      <p:sp>
        <p:nvSpPr>
          <p:cNvPr id="10" name="Shape 8"/>
          <p:cNvSpPr/>
          <p:nvPr/>
        </p:nvSpPr>
        <p:spPr>
          <a:xfrm>
            <a:off x="4329074" y="1325880"/>
            <a:ext cx="3533546" cy="37033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1" name="Shape 9"/>
          <p:cNvSpPr/>
          <p:nvPr/>
        </p:nvSpPr>
        <p:spPr>
          <a:xfrm>
            <a:off x="5620360" y="1554480"/>
            <a:ext cx="950976" cy="950976"/>
          </a:xfrm>
          <a:prstGeom prst="ellipse">
            <a:avLst/>
          </a:prstGeom>
          <a:solidFill>
            <a:srgbClr val="2A9D8F"/>
          </a:solidFill>
          <a:ln/>
        </p:spPr>
        <p:txBody>
          <a:bodyPr/>
          <a:lstStyle/>
          <a:p>
            <a:endParaRPr lang="en-PR"/>
          </a:p>
        </p:txBody>
      </p:sp>
      <p:sp>
        <p:nvSpPr>
          <p:cNvPr id="12" name="Text 10"/>
          <p:cNvSpPr txBox="1"/>
          <p:nvPr/>
        </p:nvSpPr>
        <p:spPr>
          <a:xfrm>
            <a:off x="5620360" y="1627632"/>
            <a:ext cx="950976"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15</a:t>
            </a:r>
            <a:endParaRPr lang="en-US" sz="2600" dirty="0"/>
          </a:p>
        </p:txBody>
      </p:sp>
      <p:sp>
        <p:nvSpPr>
          <p:cNvPr id="13" name="Text 11"/>
          <p:cNvSpPr txBox="1"/>
          <p:nvPr/>
        </p:nvSpPr>
        <p:spPr>
          <a:xfrm>
            <a:off x="5620360" y="2139696"/>
            <a:ext cx="950976" cy="256032"/>
          </a:xfrm>
          <a:prstGeom prst="rect">
            <a:avLst/>
          </a:prstGeom>
          <a:noFill/>
          <a:ln/>
        </p:spPr>
        <p:txBody>
          <a:bodyPr wrap="square" lIns="0" tIns="0" rIns="0" bIns="0" rtlCol="0" anchor="ctr"/>
          <a:lstStyle/>
          <a:p>
            <a:pPr marL="0" indent="0" algn="ctr">
              <a:buNone/>
            </a:pPr>
            <a:r>
              <a:rPr lang="en-US" sz="1050" b="1" dirty="0">
                <a:solidFill>
                  <a:srgbClr val="DCE6F2"/>
                </a:solidFill>
                <a:latin typeface="Calibri" pitchFamily="34" charset="0"/>
                <a:ea typeface="Calibri" pitchFamily="34" charset="-122"/>
                <a:cs typeface="Calibri" pitchFamily="34" charset="-120"/>
              </a:rPr>
              <a:t>días</a:t>
            </a:r>
            <a:endParaRPr lang="en-US" sz="1050" dirty="0"/>
          </a:p>
        </p:txBody>
      </p:sp>
      <p:sp>
        <p:nvSpPr>
          <p:cNvPr id="14" name="Text 12"/>
          <p:cNvSpPr txBox="1"/>
          <p:nvPr/>
        </p:nvSpPr>
        <p:spPr>
          <a:xfrm>
            <a:off x="4511954" y="2697480"/>
            <a:ext cx="3167786" cy="329184"/>
          </a:xfrm>
          <a:prstGeom prst="rect">
            <a:avLst/>
          </a:prstGeom>
          <a:noFill/>
          <a:ln/>
        </p:spPr>
        <p:txBody>
          <a:bodyPr wrap="square" lIns="0" tIns="0" rIns="0" bIns="0" rtlCol="0" anchor="ctr"/>
          <a:lstStyle/>
          <a:p>
            <a:pPr marL="0" indent="0" algn="ctr">
              <a:buNone/>
            </a:pPr>
            <a:r>
              <a:rPr lang="en-US" sz="1550" b="1" dirty="0">
                <a:solidFill>
                  <a:srgbClr val="1B2A4A"/>
                </a:solidFill>
                <a:latin typeface="Cambria" pitchFamily="34" charset="0"/>
                <a:ea typeface="Cambria" pitchFamily="34" charset="-122"/>
                <a:cs typeface="Cambria" pitchFamily="34" charset="-120"/>
              </a:rPr>
              <a:t>En dos semanas</a:t>
            </a:r>
            <a:endParaRPr lang="en-US" sz="1550" dirty="0"/>
          </a:p>
        </p:txBody>
      </p:sp>
      <p:sp>
        <p:nvSpPr>
          <p:cNvPr id="15" name="Text 13"/>
          <p:cNvSpPr txBox="1"/>
          <p:nvPr/>
        </p:nvSpPr>
        <p:spPr>
          <a:xfrm>
            <a:off x="4548530" y="3108960"/>
            <a:ext cx="3094634" cy="1783080"/>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Completo la planilla de especificaciones de mi próxima prueba antes de redactar el primer ítem.</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Sustituyo mis ítems de llena blancos por respuesta abierta sencilla de dos puntos con baremo.</a:t>
            </a:r>
            <a:endParaRPr lang="en-US" sz="1180" dirty="0"/>
          </a:p>
        </p:txBody>
      </p:sp>
      <p:sp>
        <p:nvSpPr>
          <p:cNvPr id="16" name="Shape 14"/>
          <p:cNvSpPr/>
          <p:nvPr/>
        </p:nvSpPr>
        <p:spPr>
          <a:xfrm>
            <a:off x="8091221" y="1325880"/>
            <a:ext cx="3533546" cy="3703320"/>
          </a:xfrm>
          <a:prstGeom prst="roundRect">
            <a:avLst>
              <a:gd name="adj" fmla="val 2329"/>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17" name="Shape 15"/>
          <p:cNvSpPr/>
          <p:nvPr/>
        </p:nvSpPr>
        <p:spPr>
          <a:xfrm>
            <a:off x="9382506" y="1554480"/>
            <a:ext cx="950976" cy="950976"/>
          </a:xfrm>
          <a:prstGeom prst="ellipse">
            <a:avLst/>
          </a:prstGeom>
          <a:solidFill>
            <a:srgbClr val="C9A227"/>
          </a:solidFill>
          <a:ln/>
        </p:spPr>
        <p:txBody>
          <a:bodyPr/>
          <a:lstStyle/>
          <a:p>
            <a:endParaRPr lang="en-PR"/>
          </a:p>
        </p:txBody>
      </p:sp>
      <p:sp>
        <p:nvSpPr>
          <p:cNvPr id="18" name="Text 16"/>
          <p:cNvSpPr txBox="1"/>
          <p:nvPr/>
        </p:nvSpPr>
        <p:spPr>
          <a:xfrm>
            <a:off x="9382506" y="1627632"/>
            <a:ext cx="950976" cy="548640"/>
          </a:xfrm>
          <a:prstGeom prst="rect">
            <a:avLst/>
          </a:prstGeom>
          <a:noFill/>
          <a:ln/>
        </p:spPr>
        <p:txBody>
          <a:bodyPr wrap="square" lIns="0" tIns="0" rIns="0" bIns="0"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30</a:t>
            </a:r>
            <a:endParaRPr lang="en-US" sz="2600" dirty="0"/>
          </a:p>
        </p:txBody>
      </p:sp>
      <p:sp>
        <p:nvSpPr>
          <p:cNvPr id="19" name="Text 17"/>
          <p:cNvSpPr txBox="1"/>
          <p:nvPr/>
        </p:nvSpPr>
        <p:spPr>
          <a:xfrm>
            <a:off x="9382506" y="2139696"/>
            <a:ext cx="950976" cy="256032"/>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días</a:t>
            </a:r>
            <a:endParaRPr lang="en-US" sz="1050" dirty="0"/>
          </a:p>
        </p:txBody>
      </p:sp>
      <p:sp>
        <p:nvSpPr>
          <p:cNvPr id="20" name="Text 18"/>
          <p:cNvSpPr txBox="1"/>
          <p:nvPr/>
        </p:nvSpPr>
        <p:spPr>
          <a:xfrm>
            <a:off x="8274101" y="2697480"/>
            <a:ext cx="3167786" cy="329184"/>
          </a:xfrm>
          <a:prstGeom prst="rect">
            <a:avLst/>
          </a:prstGeom>
          <a:noFill/>
          <a:ln/>
        </p:spPr>
        <p:txBody>
          <a:bodyPr wrap="square" lIns="0" tIns="0" rIns="0" bIns="0" rtlCol="0" anchor="ctr"/>
          <a:lstStyle/>
          <a:p>
            <a:pPr marL="0" indent="0" algn="ctr">
              <a:buNone/>
            </a:pPr>
            <a:r>
              <a:rPr lang="en-US" sz="1550" b="1" dirty="0">
                <a:solidFill>
                  <a:srgbClr val="1B2A4A"/>
                </a:solidFill>
                <a:latin typeface="Cambria" pitchFamily="34" charset="0"/>
                <a:ea typeface="Cambria" pitchFamily="34" charset="-122"/>
                <a:cs typeface="Cambria" pitchFamily="34" charset="-120"/>
              </a:rPr>
              <a:t>En un mes</a:t>
            </a:r>
            <a:endParaRPr lang="en-US" sz="1550" dirty="0"/>
          </a:p>
        </p:txBody>
      </p:sp>
      <p:sp>
        <p:nvSpPr>
          <p:cNvPr id="21" name="Text 19"/>
          <p:cNvSpPr txBox="1"/>
          <p:nvPr/>
        </p:nvSpPr>
        <p:spPr>
          <a:xfrm>
            <a:off x="8310677" y="3108960"/>
            <a:ext cx="3094634" cy="1783080"/>
          </a:xfrm>
          <a:prstGeom prst="rect">
            <a:avLst/>
          </a:prstGeom>
          <a:noFill/>
          <a:ln/>
        </p:spPr>
        <p:txBody>
          <a:bodyPr wrap="square" lIns="0" tIns="0" rIns="0" bIns="0" rtlCol="0" anchor="t"/>
          <a:lstStyle/>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Administro una prueba completa construida con esta metodología.</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Analizo los distractores más escogidos y organizo la reenseñanza por destreza.</a:t>
            </a:r>
            <a:endParaRPr lang="en-US" sz="1180" dirty="0"/>
          </a:p>
          <a:p>
            <a:pPr marL="0" indent="0">
              <a:lnSpc>
                <a:spcPct val="106000"/>
              </a:lnSpc>
              <a:buNone/>
            </a:pPr>
            <a:r>
              <a:rPr lang="en-US" sz="1180" dirty="0">
                <a:solidFill>
                  <a:srgbClr val="22303F"/>
                </a:solidFill>
                <a:latin typeface="Calibri" pitchFamily="34" charset="0"/>
                <a:ea typeface="Calibri" pitchFamily="34" charset="-122"/>
                <a:cs typeface="Calibri" pitchFamily="34" charset="-120"/>
              </a:rPr>
              <a:t>• Comparto un ítem modelo con mi departamento.</a:t>
            </a:r>
            <a:endParaRPr lang="en-US" sz="1180" dirty="0"/>
          </a:p>
        </p:txBody>
      </p:sp>
      <p:sp>
        <p:nvSpPr>
          <p:cNvPr id="22" name="Shape 20"/>
          <p:cNvSpPr/>
          <p:nvPr/>
        </p:nvSpPr>
        <p:spPr>
          <a:xfrm>
            <a:off x="566928" y="5212080"/>
            <a:ext cx="11057839" cy="1024128"/>
          </a:xfrm>
          <a:prstGeom prst="roundRect">
            <a:avLst>
              <a:gd name="adj" fmla="val 8036"/>
            </a:avLst>
          </a:prstGeom>
          <a:solidFill>
            <a:srgbClr val="0F2038"/>
          </a:solidFill>
          <a:ln w="12700">
            <a:solidFill>
              <a:srgbClr val="1B2A4A"/>
            </a:solidFill>
            <a:prstDash val="solid"/>
          </a:ln>
          <a:effectLst>
            <a:outerShdw blurRad="127000" dist="25400" dir="5400000" algn="bl" rotWithShape="0">
              <a:srgbClr val="9AA8B6">
                <a:alpha val="25000"/>
              </a:srgbClr>
            </a:outerShdw>
          </a:effectLst>
        </p:spPr>
        <p:txBody>
          <a:bodyPr/>
          <a:lstStyle/>
          <a:p>
            <a:endParaRPr lang="en-PR"/>
          </a:p>
        </p:txBody>
      </p:sp>
      <p:sp>
        <p:nvSpPr>
          <p:cNvPr id="23" name="Text 21"/>
          <p:cNvSpPr txBox="1"/>
          <p:nvPr/>
        </p:nvSpPr>
        <p:spPr>
          <a:xfrm>
            <a:off x="932688" y="5349240"/>
            <a:ext cx="10326319" cy="274320"/>
          </a:xfrm>
          <a:prstGeom prst="rect">
            <a:avLst/>
          </a:prstGeom>
          <a:noFill/>
          <a:ln/>
        </p:spPr>
        <p:txBody>
          <a:bodyPr wrap="square" lIns="0" tIns="0" rIns="0" bIns="0" rtlCol="0" anchor="ctr"/>
          <a:lstStyle/>
          <a:p>
            <a:pPr marL="0" indent="0">
              <a:buNone/>
            </a:pPr>
            <a:r>
              <a:rPr lang="en-US" sz="1450" b="1" dirty="0">
                <a:solidFill>
                  <a:srgbClr val="C9A84C"/>
                </a:solidFill>
                <a:latin typeface="Cambria" pitchFamily="34" charset="0"/>
                <a:ea typeface="Cambria" pitchFamily="34" charset="-122"/>
                <a:cs typeface="Cambria" pitchFamily="34" charset="-120"/>
              </a:rPr>
              <a:t>Compromiso de hoy</a:t>
            </a:r>
            <a:endParaRPr lang="en-US" sz="1450" dirty="0"/>
          </a:p>
        </p:txBody>
      </p:sp>
      <p:sp>
        <p:nvSpPr>
          <p:cNvPr id="24" name="Text 22"/>
          <p:cNvSpPr txBox="1"/>
          <p:nvPr/>
        </p:nvSpPr>
        <p:spPr>
          <a:xfrm>
            <a:off x="932688" y="5669280"/>
            <a:ext cx="10326319" cy="502920"/>
          </a:xfrm>
          <a:prstGeom prst="rect">
            <a:avLst/>
          </a:prstGeom>
          <a:noFill/>
          <a:ln/>
        </p:spPr>
        <p:txBody>
          <a:bodyPr wrap="square" lIns="0" tIns="0" rIns="0" bIns="0" rtlCol="0" anchor="ctr"/>
          <a:lstStyle/>
          <a:p>
            <a:pPr marL="0" indent="0">
              <a:lnSpc>
                <a:spcPct val="104000"/>
              </a:lnSpc>
              <a:buNone/>
            </a:pPr>
            <a:r>
              <a:rPr lang="en-US" sz="1280" dirty="0">
                <a:solidFill>
                  <a:srgbClr val="DCE6F2"/>
                </a:solidFill>
                <a:latin typeface="Calibri" pitchFamily="34" charset="0"/>
                <a:ea typeface="Calibri" pitchFamily="34" charset="-122"/>
                <a:cs typeface="Calibri" pitchFamily="34" charset="-120"/>
              </a:rPr>
              <a:t>Escriba una sola acción concreta con fecha. Entréguela al facilitador y reciba una copia. En la próxima visita de seguimiento revisaremos juntos el instrumento que produjo.</a:t>
            </a:r>
            <a:endParaRPr lang="en-US" sz="128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274320"/>
            <a:ext cx="11057839" cy="237744"/>
          </a:xfrm>
          <a:prstGeom prst="rect">
            <a:avLst/>
          </a:prstGeom>
          <a:noFill/>
          <a:ln/>
        </p:spPr>
        <p:txBody>
          <a:bodyPr wrap="square" lIns="0" tIns="0" rIns="0" bIns="0"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566928" y="530352"/>
            <a:ext cx="11057839" cy="566928"/>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Referencias</a:t>
            </a:r>
            <a:endParaRPr lang="en-US" sz="2700" dirty="0"/>
          </a:p>
        </p:txBody>
      </p:sp>
      <p:sp>
        <p:nvSpPr>
          <p:cNvPr id="4" name="Shape 2"/>
          <p:cNvSpPr/>
          <p:nvPr/>
        </p:nvSpPr>
        <p:spPr>
          <a:xfrm>
            <a:off x="566928" y="1325880"/>
            <a:ext cx="11057839" cy="4114800"/>
          </a:xfrm>
          <a:prstGeom prst="roundRect">
            <a:avLst>
              <a:gd name="adj" fmla="val 2000"/>
            </a:avLst>
          </a:prstGeom>
          <a:solidFill>
            <a:srgbClr val="F8FAFC"/>
          </a:solidFill>
          <a:ln w="12700">
            <a:solidFill>
              <a:srgbClr val="DCE3EA"/>
            </a:solidFill>
            <a:prstDash val="solid"/>
          </a:ln>
          <a:effectLst>
            <a:outerShdw blurRad="127000" dist="25400" dir="5400000" algn="bl" rotWithShape="0">
              <a:srgbClr val="9AA8B6">
                <a:alpha val="25000"/>
              </a:srgbClr>
            </a:outerShdw>
          </a:effectLst>
        </p:spPr>
        <p:txBody>
          <a:bodyPr/>
          <a:lstStyle/>
          <a:p>
            <a:endParaRPr lang="en-PR"/>
          </a:p>
        </p:txBody>
      </p:sp>
      <p:sp>
        <p:nvSpPr>
          <p:cNvPr id="5" name="Text 3"/>
          <p:cNvSpPr txBox="1"/>
          <p:nvPr/>
        </p:nvSpPr>
        <p:spPr>
          <a:xfrm>
            <a:off x="932688" y="1536192"/>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American Educational Research Association, American Psychological Association y National Council on Measurement in Education. (2014). Standards for educational and psychological testing. AERA.</a:t>
            </a:r>
            <a:endParaRPr lang="en-US" sz="1150" dirty="0"/>
          </a:p>
        </p:txBody>
      </p:sp>
      <p:sp>
        <p:nvSpPr>
          <p:cNvPr id="6" name="Text 4"/>
          <p:cNvSpPr txBox="1"/>
          <p:nvPr/>
        </p:nvSpPr>
        <p:spPr>
          <a:xfrm>
            <a:off x="932688" y="2020824"/>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CAST. (2024). Universal Design for Learning guidelines version 3.0. https://udlguidelines.cast.org</a:t>
            </a:r>
            <a:endParaRPr lang="en-US" sz="1150" dirty="0"/>
          </a:p>
        </p:txBody>
      </p:sp>
      <p:sp>
        <p:nvSpPr>
          <p:cNvPr id="7" name="Text 5"/>
          <p:cNvSpPr txBox="1"/>
          <p:nvPr/>
        </p:nvSpPr>
        <p:spPr>
          <a:xfrm>
            <a:off x="932688" y="2505456"/>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Corraliza Montero, H. J. (2024). Modelo RC-TTF para la formulación de prompts en contextos educativos [Modelo pedagógico]. Oficina Regional Educativa de Ponce.</a:t>
            </a:r>
            <a:endParaRPr lang="en-US" sz="1150" dirty="0"/>
          </a:p>
        </p:txBody>
      </p:sp>
      <p:sp>
        <p:nvSpPr>
          <p:cNvPr id="8" name="Text 6"/>
          <p:cNvSpPr txBox="1"/>
          <p:nvPr/>
        </p:nvSpPr>
        <p:spPr>
          <a:xfrm>
            <a:off x="932688" y="2990088"/>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Departamento de Educación de Puerto Rico. (2022). Estándares de contenido y expectativas de grado: Programa de Matemáticas. DEPR.</a:t>
            </a:r>
            <a:endParaRPr lang="en-US" sz="1150" dirty="0"/>
          </a:p>
        </p:txBody>
      </p:sp>
      <p:sp>
        <p:nvSpPr>
          <p:cNvPr id="9" name="Text 7"/>
          <p:cNvSpPr txBox="1"/>
          <p:nvPr/>
        </p:nvSpPr>
        <p:spPr>
          <a:xfrm>
            <a:off x="932688" y="3474720"/>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Gregory, G. H. y Chapman, C. (2002). Differentiated instructional strategies. Corwin Press.</a:t>
            </a:r>
            <a:endParaRPr lang="en-US" sz="1150" dirty="0"/>
          </a:p>
        </p:txBody>
      </p:sp>
      <p:sp>
        <p:nvSpPr>
          <p:cNvPr id="10" name="Text 8"/>
          <p:cNvSpPr txBox="1"/>
          <p:nvPr/>
        </p:nvSpPr>
        <p:spPr>
          <a:xfrm>
            <a:off x="932688" y="3959352"/>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Haladyna, T. M. y Rodriguez, M. C. (2013). Developing and validating test items. Routledge.</a:t>
            </a:r>
            <a:endParaRPr lang="en-US" sz="1150" dirty="0"/>
          </a:p>
        </p:txBody>
      </p:sp>
      <p:sp>
        <p:nvSpPr>
          <p:cNvPr id="11" name="Text 9"/>
          <p:cNvSpPr txBox="1"/>
          <p:nvPr/>
        </p:nvSpPr>
        <p:spPr>
          <a:xfrm>
            <a:off x="932688" y="4443984"/>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Thompson, S. J., Johnstone, C. J. y Thurlow, M. L. (2002). Universal design applied to large scale assessments (Synthesis Report 44). National Center on Educational Outcomes.</a:t>
            </a:r>
            <a:endParaRPr lang="en-US" sz="1150" dirty="0"/>
          </a:p>
        </p:txBody>
      </p:sp>
      <p:sp>
        <p:nvSpPr>
          <p:cNvPr id="12" name="Text 10"/>
          <p:cNvSpPr txBox="1"/>
          <p:nvPr/>
        </p:nvSpPr>
        <p:spPr>
          <a:xfrm>
            <a:off x="932688" y="4928616"/>
            <a:ext cx="10326319" cy="457200"/>
          </a:xfrm>
          <a:prstGeom prst="rect">
            <a:avLst/>
          </a:prstGeom>
          <a:noFill/>
          <a:ln/>
        </p:spPr>
        <p:txBody>
          <a:bodyPr wrap="square" lIns="0" tIns="0" rIns="0" bIns="0" rtlCol="0" anchor="t"/>
          <a:lstStyle/>
          <a:p>
            <a:pPr marL="0" indent="0">
              <a:lnSpc>
                <a:spcPct val="103000"/>
              </a:lnSpc>
              <a:buNone/>
            </a:pPr>
            <a:r>
              <a:rPr lang="en-US" sz="1150" dirty="0">
                <a:solidFill>
                  <a:srgbClr val="22303F"/>
                </a:solidFill>
                <a:latin typeface="Calibri" pitchFamily="34" charset="0"/>
                <a:ea typeface="Calibri" pitchFamily="34" charset="-122"/>
                <a:cs typeface="Calibri" pitchFamily="34" charset="-120"/>
              </a:rPr>
              <a:t>Webb, N. L. (1997). Criteria for alignment of expectations and assessments in mathematics and science education (Research Monograph No. 6). Council of Chief State School Officers.</a:t>
            </a:r>
            <a:endParaRPr lang="en-US" sz="1150" dirty="0"/>
          </a:p>
        </p:txBody>
      </p:sp>
      <p:sp>
        <p:nvSpPr>
          <p:cNvPr id="13" name="Shape 11"/>
          <p:cNvSpPr/>
          <p:nvPr/>
        </p:nvSpPr>
        <p:spPr>
          <a:xfrm>
            <a:off x="566928" y="5623560"/>
            <a:ext cx="11057839" cy="621792"/>
          </a:xfrm>
          <a:prstGeom prst="roundRect">
            <a:avLst>
              <a:gd name="adj" fmla="val 13235"/>
            </a:avLst>
          </a:prstGeom>
          <a:solidFill>
            <a:srgbClr val="FDF6E0"/>
          </a:solidFill>
          <a:ln w="12700">
            <a:solidFill>
              <a:srgbClr val="C9A227"/>
            </a:solidFill>
            <a:prstDash val="solid"/>
          </a:ln>
          <a:effectLst>
            <a:outerShdw blurRad="127000" dist="25400" dir="5400000" algn="bl" rotWithShape="0">
              <a:srgbClr val="9AA8B6">
                <a:alpha val="25000"/>
              </a:srgbClr>
            </a:outerShdw>
          </a:effectLst>
        </p:spPr>
        <p:txBody>
          <a:bodyPr/>
          <a:lstStyle/>
          <a:p>
            <a:endParaRPr lang="en-PR"/>
          </a:p>
        </p:txBody>
      </p:sp>
      <p:sp>
        <p:nvSpPr>
          <p:cNvPr id="14" name="Text 12"/>
          <p:cNvSpPr txBox="1"/>
          <p:nvPr/>
        </p:nvSpPr>
        <p:spPr>
          <a:xfrm>
            <a:off x="886968" y="5623560"/>
            <a:ext cx="10417759" cy="621792"/>
          </a:xfrm>
          <a:prstGeom prst="rect">
            <a:avLst/>
          </a:prstGeom>
          <a:noFill/>
          <a:ln/>
        </p:spPr>
        <p:txBody>
          <a:bodyPr wrap="square" lIns="0" tIns="0" rIns="0" bIns="0" rtlCol="0" anchor="ctr"/>
          <a:lstStyle/>
          <a:p>
            <a:pPr marL="0" indent="0">
              <a:buNone/>
            </a:pPr>
            <a:r>
              <a:rPr lang="en-US" sz="1180" b="1" dirty="0">
                <a:solidFill>
                  <a:srgbClr val="6E5610"/>
                </a:solidFill>
                <a:latin typeface="Calibri" pitchFamily="34" charset="0"/>
                <a:ea typeface="Calibri" pitchFamily="34" charset="-122"/>
                <a:cs typeface="Calibri" pitchFamily="34" charset="-120"/>
              </a:rPr>
              <a:t>Los ítems, baremos y planillas modelados en este taller fueron construidos para fines de adiestramiento. Verifique todo código de expectativa en el documento oficial del Programa de Matemáticas antes de usarlo en una prueba.</a:t>
            </a:r>
            <a:endParaRPr lang="en-US" sz="1180" dirty="0"/>
          </a:p>
        </p:txBody>
      </p:sp>
      <p:sp>
        <p:nvSpPr>
          <p:cNvPr id="15" name="Text 13"/>
          <p:cNvSpPr txBox="1"/>
          <p:nvPr/>
        </p:nvSpPr>
        <p:spPr>
          <a:xfrm>
            <a:off x="566928" y="6327648"/>
            <a:ext cx="11057839" cy="274320"/>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645920" y="3291840"/>
            <a:ext cx="5120640" cy="5120640"/>
          </a:xfrm>
          <a:prstGeom prst="ellipse">
            <a:avLst/>
          </a:prstGeom>
          <a:solidFill>
            <a:srgbClr val="24365C"/>
          </a:solidFill>
          <a:ln/>
        </p:spPr>
        <p:txBody>
          <a:bodyPr/>
          <a:lstStyle/>
          <a:p>
            <a:endParaRPr lang="en-PR"/>
          </a:p>
        </p:txBody>
      </p:sp>
      <p:sp>
        <p:nvSpPr>
          <p:cNvPr id="3" name="Shape 1"/>
          <p:cNvSpPr/>
          <p:nvPr/>
        </p:nvSpPr>
        <p:spPr>
          <a:xfrm>
            <a:off x="9326880" y="-1463040"/>
            <a:ext cx="4754880" cy="4754880"/>
          </a:xfrm>
          <a:prstGeom prst="ellipse">
            <a:avLst/>
          </a:prstGeom>
          <a:solidFill>
            <a:srgbClr val="223258"/>
          </a:solidFill>
          <a:ln/>
        </p:spPr>
        <p:txBody>
          <a:bodyPr/>
          <a:lstStyle/>
          <a:p>
            <a:endParaRPr lang="en-PR"/>
          </a:p>
        </p:txBody>
      </p:sp>
      <p:sp>
        <p:nvSpPr>
          <p:cNvPr id="4" name="Text 2"/>
          <p:cNvSpPr txBox="1"/>
          <p:nvPr/>
        </p:nvSpPr>
        <p:spPr>
          <a:xfrm>
            <a:off x="566928" y="1965960"/>
            <a:ext cx="10972800" cy="1371600"/>
          </a:xfrm>
          <a:prstGeom prst="rect">
            <a:avLst/>
          </a:prstGeom>
          <a:noFill/>
          <a:ln/>
        </p:spPr>
        <p:txBody>
          <a:bodyPr wrap="square" lIns="0" tIns="0" rIns="0" bIns="0" rtlCol="0" anchor="ctr"/>
          <a:lstStyle/>
          <a:p>
            <a:pPr marL="0" indent="0" algn="ctr">
              <a:lnSpc>
                <a:spcPct val="110000"/>
              </a:lnSpc>
              <a:buNone/>
            </a:pPr>
            <a:r>
              <a:rPr lang="en-US" sz="2600" b="1" dirty="0">
                <a:solidFill>
                  <a:srgbClr val="FFFFFF"/>
                </a:solidFill>
                <a:latin typeface="Cambria" pitchFamily="34" charset="0"/>
                <a:ea typeface="Cambria" pitchFamily="34" charset="-122"/>
                <a:cs typeface="Cambria" pitchFamily="34" charset="-120"/>
              </a:rPr>
              <a:t>«Un buen examen no es el que más estudiantes reprueba,</a:t>
            </a:r>
            <a:endParaRPr lang="en-US" sz="2600" dirty="0"/>
          </a:p>
          <a:p>
            <a:pPr marL="0" indent="0" algn="ctr">
              <a:lnSpc>
                <a:spcPct val="110000"/>
              </a:lnSpc>
              <a:buNone/>
            </a:pPr>
            <a:r>
              <a:rPr lang="en-US" sz="2600" b="1" dirty="0">
                <a:solidFill>
                  <a:srgbClr val="FFFFFF"/>
                </a:solidFill>
                <a:latin typeface="Cambria" pitchFamily="34" charset="0"/>
                <a:ea typeface="Cambria" pitchFamily="34" charset="-122"/>
                <a:cs typeface="Cambria" pitchFamily="34" charset="-120"/>
              </a:rPr>
              <a:t>sino el que con más precisión dice qué enseñar mañana.»</a:t>
            </a:r>
            <a:endParaRPr lang="en-US" sz="2600" dirty="0"/>
          </a:p>
        </p:txBody>
      </p:sp>
      <p:sp>
        <p:nvSpPr>
          <p:cNvPr id="5" name="Shape 3"/>
          <p:cNvSpPr/>
          <p:nvPr/>
        </p:nvSpPr>
        <p:spPr>
          <a:xfrm>
            <a:off x="4754880" y="3657600"/>
            <a:ext cx="2651760" cy="0"/>
          </a:xfrm>
          <a:prstGeom prst="line">
            <a:avLst/>
          </a:prstGeom>
          <a:noFill/>
          <a:ln w="25400">
            <a:solidFill>
              <a:srgbClr val="C9A227"/>
            </a:solidFill>
            <a:prstDash val="solid"/>
          </a:ln>
        </p:spPr>
        <p:txBody>
          <a:bodyPr/>
          <a:lstStyle/>
          <a:p>
            <a:endParaRPr lang="en-PR"/>
          </a:p>
        </p:txBody>
      </p:sp>
      <p:sp>
        <p:nvSpPr>
          <p:cNvPr id="6" name="Text 4"/>
          <p:cNvSpPr txBox="1"/>
          <p:nvPr/>
        </p:nvSpPr>
        <p:spPr>
          <a:xfrm>
            <a:off x="566928" y="3931920"/>
            <a:ext cx="10972800" cy="457200"/>
          </a:xfrm>
          <a:prstGeom prst="rect">
            <a:avLst/>
          </a:prstGeom>
          <a:noFill/>
          <a:ln/>
        </p:spPr>
        <p:txBody>
          <a:bodyPr wrap="square" lIns="0" tIns="0" rIns="0" bIns="0" rtlCol="0" anchor="ctr"/>
          <a:lstStyle/>
          <a:p>
            <a:pPr marL="0" indent="0" algn="ctr">
              <a:buNone/>
            </a:pPr>
            <a:r>
              <a:rPr lang="en-US" sz="1900" dirty="0">
                <a:solidFill>
                  <a:srgbClr val="9FD8CF"/>
                </a:solidFill>
                <a:latin typeface="Calibri" pitchFamily="34" charset="0"/>
                <a:ea typeface="Calibri" pitchFamily="34" charset="-122"/>
                <a:cs typeface="Calibri" pitchFamily="34" charset="-120"/>
              </a:rPr>
              <a:t>Gracias por su trabajo de hoy</a:t>
            </a:r>
            <a:endParaRPr lang="en-US" sz="1900" dirty="0"/>
          </a:p>
        </p:txBody>
      </p:sp>
      <p:sp>
        <p:nvSpPr>
          <p:cNvPr id="7" name="Text 5"/>
          <p:cNvSpPr txBox="1"/>
          <p:nvPr/>
        </p:nvSpPr>
        <p:spPr>
          <a:xfrm>
            <a:off x="566928" y="4846320"/>
            <a:ext cx="10972800" cy="822960"/>
          </a:xfrm>
          <a:prstGeom prst="rect">
            <a:avLst/>
          </a:prstGeom>
          <a:noFill/>
          <a:ln/>
        </p:spPr>
        <p:txBody>
          <a:bodyPr wrap="square" lIns="0" tIns="0" rIns="0" bIns="0" rtlCol="0" anchor="ctr"/>
          <a:lstStyle/>
          <a:p>
            <a:pPr marL="0" indent="0" algn="ctr">
              <a:lnSpc>
                <a:spcPct val="110000"/>
              </a:lnSpc>
              <a:buNone/>
            </a:pPr>
            <a:r>
              <a:rPr lang="en-US" sz="1300" dirty="0">
                <a:solidFill>
                  <a:srgbClr val="C6D2E0"/>
                </a:solidFill>
                <a:latin typeface="Calibri" pitchFamily="34" charset="0"/>
                <a:ea typeface="Calibri" pitchFamily="34" charset="-122"/>
                <a:cs typeface="Calibri" pitchFamily="34" charset="-120"/>
              </a:rPr>
              <a:t>Dr. Héctor J. Corraliza Montero, Ed.D.  ·  Facilitador Docente de Matemáticas</a:t>
            </a:r>
            <a:endParaRPr lang="en-US" sz="1300" dirty="0"/>
          </a:p>
          <a:p>
            <a:pPr marL="0" indent="0" algn="ctr">
              <a:lnSpc>
                <a:spcPct val="110000"/>
              </a:lnSpc>
              <a:buNone/>
            </a:pPr>
            <a:r>
              <a:rPr lang="en-US" sz="1300" dirty="0">
                <a:solidFill>
                  <a:srgbClr val="C6D2E0"/>
                </a:solidFill>
                <a:latin typeface="Calibri" pitchFamily="34" charset="0"/>
                <a:ea typeface="Calibri" pitchFamily="34" charset="-122"/>
                <a:cs typeface="Calibri" pitchFamily="34" charset="-120"/>
              </a:rPr>
              <a:t>Oficina Regional Educativa de Ponce  ·  Departamento de Educación de Puerto Rico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16094</Words>
  <Application>Microsoft Office PowerPoint</Application>
  <PresentationFormat>Widescreen</PresentationFormat>
  <Paragraphs>1727</Paragraphs>
  <Slides>77</Slides>
  <Notes>77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Oficina Regional Educativa de Ponce — DEPR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Redacción de Exámenes con DUA — Matemáticas 3.º a 12.º</dc:title>
  <dc:subject>PptxGenJS Presentation</dc:subject>
  <dc:creator>Dr. Héctor J. Corraliza Montero, Ed.D.</dc:creator>
  <cp:lastModifiedBy>Hector Corraliza</cp:lastModifiedBy>
  <cp:revision>1</cp:revision>
  <dcterms:created xsi:type="dcterms:W3CDTF">2026-09-01T16:08:42Z</dcterms:created>
  <dcterms:modified xsi:type="dcterms:W3CDTF">2026-09-01T17:35:05Z</dcterms:modified>
</cp:coreProperties>
</file>