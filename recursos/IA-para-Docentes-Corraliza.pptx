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rts/chart3.xml" ContentType="application/vnd.openxmlformats-officedocument.drawingml.chart+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3"/>
  </p:notesMasterIdLst>
  <p:sldIdLst>
    <p:sldId id="256" r:id="rId2"/>
    <p:sldId id="257" r:id="rId3"/>
    <p:sldId id="258" r:id="rId4"/>
    <p:sldId id="259" r:id="rId5"/>
    <p:sldId id="260" r:id="rId6"/>
    <p:sldId id="261" r:id="rId7"/>
    <p:sldId id="262" r:id="rId8"/>
    <p:sldId id="263" r:id="rId9"/>
    <p:sldId id="264" r:id="rId10"/>
    <p:sldId id="265" r:id="rId11"/>
    <p:sldId id="286" r:id="rId12"/>
    <p:sldId id="287" r:id="rId13"/>
    <p:sldId id="288" r:id="rId14"/>
    <p:sldId id="289" r:id="rId15"/>
    <p:sldId id="290" r:id="rId16"/>
    <p:sldId id="291" r:id="rId17"/>
    <p:sldId id="292" r:id="rId18"/>
    <p:sldId id="293" r:id="rId19"/>
    <p:sldId id="294"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95" r:id="rId41"/>
    <p:sldId id="33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6" r:id="rId79"/>
    <p:sldId id="332" r:id="rId80"/>
    <p:sldId id="333" r:id="rId81"/>
    <p:sldId id="334" r:id="rId8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DAB49A-58A6-447C-80C1-99F5AD312FAC}" v="2" dt="2026-09-04T15:40:38.4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4610"/>
  </p:normalViewPr>
  <p:slideViewPr>
    <p:cSldViewPr snapToGrid="0" snapToObjects="1">
      <p:cViewPr varScale="1">
        <p:scale>
          <a:sx n="35" d="100"/>
          <a:sy n="35" d="100"/>
        </p:scale>
        <p:origin x="2357" y="108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ctor Corraliza" userId="66536df6-0aa7-4a25-ac34-d175c0eff743" providerId="ADAL" clId="{2620A837-7314-47A2-9C6E-64620598EBC4}"/>
    <pc:docChg chg="custSel addSld delSld modSld">
      <pc:chgData name="Hector Corraliza" userId="66536df6-0aa7-4a25-ac34-d175c0eff743" providerId="ADAL" clId="{2620A837-7314-47A2-9C6E-64620598EBC4}" dt="2026-09-04T15:40:39.510" v="15"/>
      <pc:docMkLst>
        <pc:docMk/>
      </pc:docMkLst>
      <pc:sldChg chg="addSp delSp modSp mod">
        <pc:chgData name="Hector Corraliza" userId="66536df6-0aa7-4a25-ac34-d175c0eff743" providerId="ADAL" clId="{2620A837-7314-47A2-9C6E-64620598EBC4}" dt="2026-09-04T15:40:39.510" v="15"/>
        <pc:sldMkLst>
          <pc:docMk/>
          <pc:sldMk cId="0" sldId="256"/>
        </pc:sldMkLst>
        <pc:spChg chg="add del mod">
          <ac:chgData name="Hector Corraliza" userId="66536df6-0aa7-4a25-ac34-d175c0eff743" providerId="ADAL" clId="{2620A837-7314-47A2-9C6E-64620598EBC4}" dt="2026-09-04T15:40:39.510" v="15"/>
          <ac:spMkLst>
            <pc:docMk/>
            <pc:sldMk cId="0" sldId="256"/>
            <ac:spMk id="81" creationId="{1AF24653-222F-BCFE-D37A-FD50DDAE9B45}"/>
          </ac:spMkLst>
        </pc:spChg>
      </pc:sldChg>
      <pc:sldChg chg="addSp delSp modSp new del mod setBg">
        <pc:chgData name="Hector Corraliza" userId="66536df6-0aa7-4a25-ac34-d175c0eff743" providerId="ADAL" clId="{2620A837-7314-47A2-9C6E-64620598EBC4}" dt="2026-09-04T15:36:29.954" v="6" actId="47"/>
        <pc:sldMkLst>
          <pc:docMk/>
          <pc:sldMk cId="850243994" sldId="336"/>
        </pc:sldMkLst>
        <pc:spChg chg="mod">
          <ac:chgData name="Hector Corraliza" userId="66536df6-0aa7-4a25-ac34-d175c0eff743" providerId="ADAL" clId="{2620A837-7314-47A2-9C6E-64620598EBC4}" dt="2026-09-04T15:35:50.588" v="1" actId="5793"/>
          <ac:spMkLst>
            <pc:docMk/>
            <pc:sldMk cId="850243994" sldId="336"/>
            <ac:spMk id="3" creationId="{401266CA-EC14-81AC-7718-5E3F476BD95F}"/>
          </ac:spMkLst>
        </pc:spChg>
        <pc:spChg chg="add del">
          <ac:chgData name="Hector Corraliza" userId="66536df6-0aa7-4a25-ac34-d175c0eff743" providerId="ADAL" clId="{2620A837-7314-47A2-9C6E-64620598EBC4}" dt="2026-09-04T15:36:19.757" v="5" actId="26606"/>
          <ac:spMkLst>
            <pc:docMk/>
            <pc:sldMk cId="850243994" sldId="336"/>
            <ac:spMk id="9" creationId="{AB8C311F-7253-4AED-9701-7FC0708C41C7}"/>
          </ac:spMkLst>
        </pc:spChg>
        <pc:spChg chg="add del">
          <ac:chgData name="Hector Corraliza" userId="66536df6-0aa7-4a25-ac34-d175c0eff743" providerId="ADAL" clId="{2620A837-7314-47A2-9C6E-64620598EBC4}" dt="2026-09-04T15:36:19.757" v="5" actId="26606"/>
          <ac:spMkLst>
            <pc:docMk/>
            <pc:sldMk cId="850243994" sldId="336"/>
            <ac:spMk id="11" creationId="{E2384209-CB15-4CDF-9D31-C44FD9A3F20D}"/>
          </ac:spMkLst>
        </pc:spChg>
        <pc:spChg chg="add del">
          <ac:chgData name="Hector Corraliza" userId="66536df6-0aa7-4a25-ac34-d175c0eff743" providerId="ADAL" clId="{2620A837-7314-47A2-9C6E-64620598EBC4}" dt="2026-09-04T15:36:19.757" v="5" actId="26606"/>
          <ac:spMkLst>
            <pc:docMk/>
            <pc:sldMk cId="850243994" sldId="336"/>
            <ac:spMk id="13" creationId="{2633B3B5-CC90-43F0-8714-D31D1F3F0209}"/>
          </ac:spMkLst>
        </pc:spChg>
        <pc:spChg chg="add del">
          <ac:chgData name="Hector Corraliza" userId="66536df6-0aa7-4a25-ac34-d175c0eff743" providerId="ADAL" clId="{2620A837-7314-47A2-9C6E-64620598EBC4}" dt="2026-09-04T15:36:19.757" v="5" actId="26606"/>
          <ac:spMkLst>
            <pc:docMk/>
            <pc:sldMk cId="850243994" sldId="336"/>
            <ac:spMk id="15" creationId="{A8D57A06-A426-446D-B02C-A2DC6B62E45E}"/>
          </ac:spMkLst>
        </pc:spChg>
        <pc:spChg chg="add">
          <ac:chgData name="Hector Corraliza" userId="66536df6-0aa7-4a25-ac34-d175c0eff743" providerId="ADAL" clId="{2620A837-7314-47A2-9C6E-64620598EBC4}" dt="2026-09-04T15:36:19.757" v="5" actId="26606"/>
          <ac:spMkLst>
            <pc:docMk/>
            <pc:sldMk cId="850243994" sldId="336"/>
            <ac:spMk id="20" creationId="{32BC26D8-82FB-445E-AA49-62A77D7C1EE0}"/>
          </ac:spMkLst>
        </pc:spChg>
        <pc:spChg chg="add">
          <ac:chgData name="Hector Corraliza" userId="66536df6-0aa7-4a25-ac34-d175c0eff743" providerId="ADAL" clId="{2620A837-7314-47A2-9C6E-64620598EBC4}" dt="2026-09-04T15:36:19.757" v="5" actId="26606"/>
          <ac:spMkLst>
            <pc:docMk/>
            <pc:sldMk cId="850243994" sldId="336"/>
            <ac:spMk id="22" creationId="{CB44330D-EA18-4254-AA95-EB49948539B8}"/>
          </ac:spMkLst>
        </pc:spChg>
        <pc:picChg chg="add mod">
          <ac:chgData name="Hector Corraliza" userId="66536df6-0aa7-4a25-ac34-d175c0eff743" providerId="ADAL" clId="{2620A837-7314-47A2-9C6E-64620598EBC4}" dt="2026-09-04T15:36:19.757" v="5" actId="26606"/>
          <ac:picMkLst>
            <pc:docMk/>
            <pc:sldMk cId="850243994" sldId="336"/>
            <ac:picMk id="4" creationId="{32019F73-77ED-8967-EA30-7335DB1054E4}"/>
          </ac:picMkLst>
        </pc:picChg>
      </pc:sldChg>
      <pc:sldChg chg="addSp modSp new mod setBg">
        <pc:chgData name="Hector Corraliza" userId="66536df6-0aa7-4a25-ac34-d175c0eff743" providerId="ADAL" clId="{2620A837-7314-47A2-9C6E-64620598EBC4}" dt="2026-09-04T15:36:46.761" v="12" actId="14100"/>
        <pc:sldMkLst>
          <pc:docMk/>
          <pc:sldMk cId="1734739028" sldId="336"/>
        </pc:sldMkLst>
        <pc:spChg chg="add">
          <ac:chgData name="Hector Corraliza" userId="66536df6-0aa7-4a25-ac34-d175c0eff743" providerId="ADAL" clId="{2620A837-7314-47A2-9C6E-64620598EBC4}" dt="2026-09-04T15:36:42.271" v="10" actId="26606"/>
          <ac:spMkLst>
            <pc:docMk/>
            <pc:sldMk cId="1734739028" sldId="336"/>
            <ac:spMk id="8" creationId="{32BC26D8-82FB-445E-AA49-62A77D7C1EE0}"/>
          </ac:spMkLst>
        </pc:spChg>
        <pc:spChg chg="add">
          <ac:chgData name="Hector Corraliza" userId="66536df6-0aa7-4a25-ac34-d175c0eff743" providerId="ADAL" clId="{2620A837-7314-47A2-9C6E-64620598EBC4}" dt="2026-09-04T15:36:42.271" v="10" actId="26606"/>
          <ac:spMkLst>
            <pc:docMk/>
            <pc:sldMk cId="1734739028" sldId="336"/>
            <ac:spMk id="10" creationId="{CB44330D-EA18-4254-AA95-EB49948539B8}"/>
          </ac:spMkLst>
        </pc:spChg>
        <pc:picChg chg="add mod">
          <ac:chgData name="Hector Corraliza" userId="66536df6-0aa7-4a25-ac34-d175c0eff743" providerId="ADAL" clId="{2620A837-7314-47A2-9C6E-64620598EBC4}" dt="2026-09-04T15:36:46.761" v="12" actId="14100"/>
          <ac:picMkLst>
            <pc:docMk/>
            <pc:sldMk cId="1734739028" sldId="336"/>
            <ac:picMk id="3" creationId="{2CC9C00F-EE39-BFD2-5146-81525FFEF7F9}"/>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Docentes de EE. UU.</c:v>
                </c:pt>
              </c:strCache>
            </c:strRef>
          </c:tx>
          <c:spPr>
            <a:solidFill>
              <a:srgbClr val="1B2A4A"/>
            </a:solidFill>
            <a:effectLst/>
          </c:spPr>
          <c:invertIfNegative val="0"/>
          <c:dPt>
            <c:idx val="0"/>
            <c:invertIfNegative val="0"/>
            <c:bubble3D val="0"/>
            <c:extLst>
              <c:ext xmlns:c16="http://schemas.microsoft.com/office/drawing/2014/chart" uri="{C3380CC4-5D6E-409C-BE32-E72D297353CC}">
                <c16:uniqueId val="{00000001-7268-4E13-88F4-16C91852BAB8}"/>
              </c:ext>
            </c:extLst>
          </c:dPt>
          <c:dPt>
            <c:idx val="1"/>
            <c:invertIfNegative val="0"/>
            <c:bubble3D val="0"/>
            <c:extLst>
              <c:ext xmlns:c16="http://schemas.microsoft.com/office/drawing/2014/chart" uri="{C3380CC4-5D6E-409C-BE32-E72D297353CC}">
                <c16:uniqueId val="{00000003-7268-4E13-88F4-16C91852BAB8}"/>
              </c:ext>
            </c:extLst>
          </c:dPt>
          <c:dPt>
            <c:idx val="2"/>
            <c:invertIfNegative val="0"/>
            <c:bubble3D val="0"/>
            <c:spPr>
              <a:solidFill>
                <a:srgbClr val="C9A227"/>
              </a:solidFill>
              <a:effectLst/>
            </c:spPr>
            <c:extLst>
              <c:ext xmlns:c16="http://schemas.microsoft.com/office/drawing/2014/chart" uri="{C3380CC4-5D6E-409C-BE32-E72D297353CC}">
                <c16:uniqueId val="{00000005-7268-4E13-88F4-16C91852BAB8}"/>
              </c:ext>
            </c:extLst>
          </c:dPt>
          <c:dPt>
            <c:idx val="3"/>
            <c:invertIfNegative val="0"/>
            <c:bubble3D val="0"/>
            <c:spPr>
              <a:solidFill>
                <a:srgbClr val="C0392B"/>
              </a:solidFill>
              <a:effectLst/>
            </c:spPr>
            <c:extLst>
              <c:ext xmlns:c16="http://schemas.microsoft.com/office/drawing/2014/chart" uri="{C3380CC4-5D6E-409C-BE32-E72D297353CC}">
                <c16:uniqueId val="{00000007-7268-4E13-88F4-16C91852BAB8}"/>
              </c:ext>
            </c:extLst>
          </c:dPt>
          <c:dLbls>
            <c:numFmt formatCode="0&quot;%&quot;" sourceLinked="0"/>
            <c:spPr>
              <a:noFill/>
              <a:ln>
                <a:noFill/>
              </a:ln>
              <a:effectLst/>
            </c:spPr>
            <c:txPr>
              <a:bodyPr/>
              <a:lstStyle/>
              <a:p>
                <a:pPr>
                  <a:defRPr sz="1800" b="1" i="0" u="none" strike="noStrike">
                    <a:solidFill>
                      <a:srgbClr val="1B2A4A"/>
                    </a:solidFill>
                    <a:latin typeface="Calibri"/>
                  </a:defRPr>
                </a:pPr>
                <a:endParaRPr lang="en-P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Usa IA en su trabajo</c:v>
                </c:pt>
                <c:pt idx="1">
                  <c:v>La usa al menos
semanalmente</c:v>
                </c:pt>
                <c:pt idx="2">
                  <c:v>Recibe guía formal
de su distrito</c:v>
                </c:pt>
                <c:pt idx="3">
                  <c:v>No recibe
ninguna guía</c:v>
                </c:pt>
              </c:strCache>
            </c:strRef>
          </c:cat>
          <c:val>
            <c:numRef>
              <c:f>Sheet1!$B$2:$B$5</c:f>
              <c:numCache>
                <c:formatCode>General</c:formatCode>
                <c:ptCount val="4"/>
                <c:pt idx="0">
                  <c:v>60</c:v>
                </c:pt>
                <c:pt idx="1">
                  <c:v>30</c:v>
                </c:pt>
                <c:pt idx="2">
                  <c:v>18</c:v>
                </c:pt>
                <c:pt idx="3">
                  <c:v>34</c:v>
                </c:pt>
              </c:numCache>
            </c:numRef>
          </c:val>
          <c:extLst>
            <c:ext xmlns:c16="http://schemas.microsoft.com/office/drawing/2014/chart" uri="{C3380CC4-5D6E-409C-BE32-E72D297353CC}">
              <c16:uniqueId val="{00000008-7268-4E13-88F4-16C91852BAB8}"/>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600" b="0" i="0" u="none" strike="noStrike">
                <a:solidFill>
                  <a:srgbClr val="1B2A4A"/>
                </a:solidFill>
                <a:latin typeface="Calibri"/>
              </a:defRPr>
            </a:pPr>
            <a:endParaRPr lang="en-US"/>
          </a:p>
        </c:txPr>
        <c:crossAx val="2094734552"/>
        <c:crosses val="autoZero"/>
        <c:auto val="1"/>
        <c:lblAlgn val="ctr"/>
        <c:lblOffset val="100"/>
        <c:noMultiLvlLbl val="1"/>
      </c:catAx>
      <c:valAx>
        <c:axId val="2094734552"/>
        <c:scaling>
          <c:orientation val="minMax"/>
          <c:max val="75"/>
          <c:min val="0"/>
        </c:scaling>
        <c:delete val="0"/>
        <c:axPos val="b"/>
        <c:majorGridlines>
          <c:spPr>
            <a:ln w="12700" cap="flat">
              <a:solidFill>
                <a:srgbClr val="E6E9EE"/>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400" b="0" i="0" u="none" strike="noStrike">
                <a:solidFill>
                  <a:srgbClr val="5A6478"/>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Mercado global de IA en educación (USD, miles de millones)</c:v>
                </c:pt>
              </c:strCache>
            </c:strRef>
          </c:tx>
          <c:spPr>
            <a:ln w="50800" cap="flat">
              <a:solidFill>
                <a:srgbClr val="2A9D8F"/>
              </a:solidFill>
              <a:prstDash val="solid"/>
              <a:round/>
            </a:ln>
            <a:effectLst/>
          </c:spPr>
          <c:marker>
            <c:symbol val="circle"/>
            <c:size val="10"/>
            <c:spPr>
              <a:solidFill>
                <a:srgbClr val="2A9D8F"/>
              </a:solidFill>
              <a:ln w="9525" cap="flat">
                <a:solidFill>
                  <a:srgbClr val="2A9D8F"/>
                </a:solidFill>
                <a:prstDash val="solid"/>
                <a:round/>
              </a:ln>
              <a:effectLst/>
            </c:spPr>
          </c:marker>
          <c:dLbls>
            <c:numFmt formatCode="\$0.0&quot;B&quot;" sourceLinked="0"/>
            <c:spPr>
              <a:noFill/>
              <a:ln>
                <a:noFill/>
              </a:ln>
              <a:effectLst/>
            </c:spPr>
            <c:txPr>
              <a:bodyPr/>
              <a:lstStyle/>
              <a:p>
                <a:pPr>
                  <a:defRPr sz="1600" b="1" i="0" u="none" strike="noStrike">
                    <a:solidFill>
                      <a:srgbClr val="1B2A4A"/>
                    </a:solidFill>
                    <a:latin typeface="Calibri"/>
                  </a:defRPr>
                </a:pPr>
                <a:endParaRPr lang="en-P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2026</c:v>
                </c:pt>
                <c:pt idx="1">
                  <c:v>2027</c:v>
                </c:pt>
                <c:pt idx="2">
                  <c:v>2028</c:v>
                </c:pt>
                <c:pt idx="3">
                  <c:v>2029</c:v>
                </c:pt>
                <c:pt idx="4">
                  <c:v>2030</c:v>
                </c:pt>
              </c:strCache>
            </c:strRef>
          </c:cat>
          <c:val>
            <c:numRef>
              <c:f>Sheet1!$B$2:$B$6</c:f>
              <c:numCache>
                <c:formatCode>General</c:formatCode>
                <c:ptCount val="5"/>
                <c:pt idx="0">
                  <c:v>10.6</c:v>
                </c:pt>
                <c:pt idx="1">
                  <c:v>15.9</c:v>
                </c:pt>
                <c:pt idx="2">
                  <c:v>23</c:v>
                </c:pt>
                <c:pt idx="3">
                  <c:v>32.200000000000003</c:v>
                </c:pt>
                <c:pt idx="4">
                  <c:v>42.5</c:v>
                </c:pt>
              </c:numCache>
            </c:numRef>
          </c:val>
          <c:smooth val="0"/>
          <c:extLst>
            <c:ext xmlns:c16="http://schemas.microsoft.com/office/drawing/2014/chart" uri="{C3380CC4-5D6E-409C-BE32-E72D297353CC}">
              <c16:uniqueId val="{00000000-BD4A-401E-AB71-F9D65F71FEED}"/>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1B2A4A"/>
                </a:solidFill>
                <a:latin typeface="Calibri"/>
              </a:defRPr>
            </a:pPr>
            <a:endParaRPr lang="en-US"/>
          </a:p>
        </c:txPr>
        <c:crossAx val="2094734552"/>
        <c:crosses val="autoZero"/>
        <c:auto val="1"/>
        <c:lblAlgn val="ctr"/>
        <c:lblOffset val="100"/>
        <c:noMultiLvlLbl val="1"/>
      </c:catAx>
      <c:valAx>
        <c:axId val="2094734552"/>
        <c:scaling>
          <c:orientation val="minMax"/>
          <c:max val="50"/>
        </c:scaling>
        <c:delete val="0"/>
        <c:axPos val="l"/>
        <c:majorGridlines>
          <c:spPr>
            <a:ln w="12700" cap="flat">
              <a:solidFill>
                <a:srgbClr val="E6E9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5A6478"/>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Exactitud del detector</c:v>
                </c:pt>
              </c:strCache>
            </c:strRef>
          </c:tx>
          <c:spPr>
            <a:solidFill>
              <a:srgbClr val="2A9D8F"/>
            </a:solidFill>
            <a:effectLst/>
          </c:spPr>
          <c:invertIfNegative val="0"/>
          <c:dPt>
            <c:idx val="0"/>
            <c:invertIfNegative val="0"/>
            <c:bubble3D val="0"/>
            <c:extLst>
              <c:ext xmlns:c16="http://schemas.microsoft.com/office/drawing/2014/chart" uri="{C3380CC4-5D6E-409C-BE32-E72D297353CC}">
                <c16:uniqueId val="{00000001-9600-4C2D-87B0-0F8956E7183A}"/>
              </c:ext>
            </c:extLst>
          </c:dPt>
          <c:dPt>
            <c:idx val="1"/>
            <c:invertIfNegative val="0"/>
            <c:bubble3D val="0"/>
            <c:spPr>
              <a:solidFill>
                <a:srgbClr val="C9A227"/>
              </a:solidFill>
              <a:effectLst/>
            </c:spPr>
            <c:extLst>
              <c:ext xmlns:c16="http://schemas.microsoft.com/office/drawing/2014/chart" uri="{C3380CC4-5D6E-409C-BE32-E72D297353CC}">
                <c16:uniqueId val="{00000003-9600-4C2D-87B0-0F8956E7183A}"/>
              </c:ext>
            </c:extLst>
          </c:dPt>
          <c:dPt>
            <c:idx val="2"/>
            <c:invertIfNegative val="0"/>
            <c:bubble3D val="0"/>
            <c:spPr>
              <a:solidFill>
                <a:srgbClr val="C9A227"/>
              </a:solidFill>
              <a:effectLst/>
            </c:spPr>
            <c:extLst>
              <c:ext xmlns:c16="http://schemas.microsoft.com/office/drawing/2014/chart" uri="{C3380CC4-5D6E-409C-BE32-E72D297353CC}">
                <c16:uniqueId val="{00000005-9600-4C2D-87B0-0F8956E7183A}"/>
              </c:ext>
            </c:extLst>
          </c:dPt>
          <c:dPt>
            <c:idx val="3"/>
            <c:invertIfNegative val="0"/>
            <c:bubble3D val="0"/>
            <c:spPr>
              <a:solidFill>
                <a:srgbClr val="C0392B"/>
              </a:solidFill>
              <a:effectLst/>
            </c:spPr>
            <c:extLst>
              <c:ext xmlns:c16="http://schemas.microsoft.com/office/drawing/2014/chart" uri="{C3380CC4-5D6E-409C-BE32-E72D297353CC}">
                <c16:uniqueId val="{00000007-9600-4C2D-87B0-0F8956E7183A}"/>
              </c:ext>
            </c:extLst>
          </c:dPt>
          <c:dPt>
            <c:idx val="4"/>
            <c:invertIfNegative val="0"/>
            <c:bubble3D val="0"/>
            <c:spPr>
              <a:solidFill>
                <a:srgbClr val="C0392B"/>
              </a:solidFill>
              <a:effectLst/>
            </c:spPr>
            <c:extLst>
              <c:ext xmlns:c16="http://schemas.microsoft.com/office/drawing/2014/chart" uri="{C3380CC4-5D6E-409C-BE32-E72D297353CC}">
                <c16:uniqueId val="{00000009-9600-4C2D-87B0-0F8956E7183A}"/>
              </c:ext>
            </c:extLst>
          </c:dPt>
          <c:dLbls>
            <c:numFmt formatCode="0&quot;%&quot;" sourceLinked="0"/>
            <c:spPr>
              <a:noFill/>
              <a:ln>
                <a:noFill/>
              </a:ln>
              <a:effectLst/>
            </c:spPr>
            <c:txPr>
              <a:bodyPr/>
              <a:lstStyle/>
              <a:p>
                <a:pPr>
                  <a:defRPr sz="1700" b="1" i="0" u="none" strike="noStrike">
                    <a:solidFill>
                      <a:srgbClr val="1B2A4A"/>
                    </a:solidFill>
                    <a:latin typeface="Calibri"/>
                  </a:defRPr>
                </a:pPr>
                <a:endParaRPr lang="en-P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Texto escrito
por humano</c:v>
                </c:pt>
                <c:pt idx="1">
                  <c:v>Texto traducido
automáticamente</c:v>
                </c:pt>
                <c:pt idx="2">
                  <c:v>Texto de IA
sin editar</c:v>
                </c:pt>
                <c:pt idx="3">
                  <c:v>Texto de IA
editado a mano</c:v>
                </c:pt>
                <c:pt idx="4">
                  <c:v>Texto de IA
parafraseado</c:v>
                </c:pt>
              </c:strCache>
            </c:strRef>
          </c:cat>
          <c:val>
            <c:numRef>
              <c:f>Sheet1!$B$2:$B$6</c:f>
              <c:numCache>
                <c:formatCode>General</c:formatCode>
                <c:ptCount val="5"/>
                <c:pt idx="0">
                  <c:v>96</c:v>
                </c:pt>
                <c:pt idx="1">
                  <c:v>76</c:v>
                </c:pt>
                <c:pt idx="2">
                  <c:v>74</c:v>
                </c:pt>
                <c:pt idx="3">
                  <c:v>42</c:v>
                </c:pt>
                <c:pt idx="4">
                  <c:v>26</c:v>
                </c:pt>
              </c:numCache>
            </c:numRef>
          </c:val>
          <c:extLst>
            <c:ext xmlns:c16="http://schemas.microsoft.com/office/drawing/2014/chart" uri="{C3380CC4-5D6E-409C-BE32-E72D297353CC}">
              <c16:uniqueId val="{0000000A-9600-4C2D-87B0-0F8956E7183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2A4A"/>
                </a:solidFill>
                <a:latin typeface="Calibri"/>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12700" cap="flat">
              <a:solidFill>
                <a:srgbClr val="E6E9E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5A6478"/>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7355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Presentarse y establecer el propósito: no se trata de aprender 40 herramientas, sino de tomar decisiones pedagógicas informadas sobre cuándo, cómo y por qué usar IA. Duración estimada del taller: 6 horas.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los seis objetivos. Enfatizar el 5: el producto final del taller es una tarea rediseñada, no una lista de apps.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antes de las herramientas, ubicar a la audiencia en el momento actual. La IA dejó de ser novedad y pasó a ser infraestructura.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Actividad rápida (3 min): pedir que levanten la mano quienes usaron al menos cuatro de estos ocho hoy. Casi todos. El punto: la IA no es futuro, es presente invisible.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 clave: 6 de cada 10 docentes ya usan IA, pero solo 18% recibe guía formal. La ausencia de política no detiene el uso; solo lo vuelve invisible y riesgoso.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Contrastar con la lámina anterior. El problema no es la tecnología; es el vacío normativo y formativo. Puerto Rico ya dio un paso: la próxima sección lo detalla.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Corrección importante respecto a versiones anteriores del taller: la cifra que circulaba de '$20 billones al 2027' confundía billion (mil millones) con billón. La proyección verificada es de $10.6 mil millones en 2026.</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conceptual. Sin esto, el docente usa la herramienta como caja negra y no puede anticipar sus fallos.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Analogía: muñecas rusas. Toda IA generativa es aprendizaje profundo; todo aprendizaje profundo es aprendizaje automático; pero no toda IA es generativa. Un filtro de spam es IA y no genera nada.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233745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concepto más importante del taller. Si el docente entiende que el modelo predice y no consulta, entiende de inmediato por qué inventa referencias bibliográficas y por qué falla en aritmética larga.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428502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Corrección respecto a versiones previas: no existe IA general hoy. Cualquier titular que diga lo contrario está vendiendo algo. Toda herramienta que verán en el taller es IA estrecha de memoria limitada.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468731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1211486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8544356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5965174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0523605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5229710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sección se coloca temprano a propósito: es la destreza de mayor rendimiento inmediato. Los fundamentos técnicos vienen después y explican por qué estas instrucciones funcionan.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marco propio del facilitador, ya validado en talleres previos con facilitadores, superintendentes y bibliotecarios escolares. Practicar en vivo: una instrucción sin RC-TTF y la misma con RC-TTF, comparando resultados en pantalla.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Actividad de cierre de sección (10 min): cada participante redacta un prompt RC-TTF para una clase real de la próxima semana y lo prueba en su computadora.</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Aviso a la audiencia: este panorama caduca rápido. Lo que no caduca es el criterio para evaluarlo, que se trabaja en la sección 4.</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Actualización crítica: la versión anterior del taller mostraba ChatGPT 3.5/4.0 con corte de conocimiento en 2021 y la interfaz vieja de Bing Chat. Ambas desaparecieron. Claude y Gemini no aparecían del todo.</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lámina no existía en la versión anterior y es la más importante desde el punto de vista normativo. Todo lo demás del taller son herramientas de productividad DOCENTE; esta es la única vía autorizada para uso CON estudiantes.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Entregar esta lista impresa. Es el filtro que sobrevive a cualquier cambio de herramientas.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Demostración en vivo sugerida: generar en MagicSchool una actividad de introducción a funciones lineales para 8vo grado y criticarla en voz alta con el grupo.</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Vincular con DUA 3.0: la IA permite ofrecer múltiples formas de representación sin multiplicar por tres el tiempo de preparación.</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Enfatizar el principio de supervisión humana de la política del DEPR: ninguna decisión que afecte a un estudiante puede quedar automatizada.</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demostrativo: pedir a un LLM que multiplique dos números de seis dígitos y verificar con Wolfram Alpha. Suele fallar. Es la prueba más contundente del concepto de la lámina 10.</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invención de referencias es el error más frecuente y más dañino en trabajo académico. Demostrarlo en vivo pidiendo cinco referencias sobre un tema muy específico y buscándolas.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Lámina nueva. En la versión anterior figuraba una herramienta que se anunciaba como 'escritor de IA indetectable'. Se retiró por incompatibilidad con la integridad académica.</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de mayor peso normativo. Si el taller se recorta por tiempo, esta sección no se recorta.</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ético central: acusar a un estudiante basándose en un detector es indefendible. Además, la evidencia muestra sesgo contra estudiantes cuya lengua materna no es el inglés, lo que en Puerto Rico es directamente relevante.</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Actividad de 5 minutos: pedir que reescriban de forma anonimizada una consulta real que hayan hecho o pensado hacer sobre un estudiante.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 práctica del taller. A partir de aquí los participantes trabajan en su computadora.</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Actividad principal del taller (20 min): cada participante trae una tarea real de su curso y la rediseña con este esquema. Compartir dos o tres en plenaria.</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orientado a la acción. Evitar que el taller termine en entusiasmo sin implementación.</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Dejar un silencio antes de pasar a preguntas.</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9/4/2026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126687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hyperlink" Target="https://www.toolify.ai/es"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8138160" y="0"/>
            <a:ext cx="4053535" cy="6858000"/>
          </a:xfrm>
          <a:prstGeom prst="rect">
            <a:avLst/>
          </a:prstGeom>
          <a:solidFill>
            <a:srgbClr val="1F3864"/>
          </a:solidFill>
          <a:ln w="12700">
            <a:solidFill>
              <a:srgbClr val="1F3864"/>
            </a:solidFill>
            <a:prstDash val="solid"/>
          </a:ln>
        </p:spPr>
        <p:txBody>
          <a:bodyPr/>
          <a:lstStyle/>
          <a:p>
            <a:endParaRPr lang="en-PR"/>
          </a:p>
        </p:txBody>
      </p:sp>
      <p:sp>
        <p:nvSpPr>
          <p:cNvPr id="3" name="Shape 1"/>
          <p:cNvSpPr/>
          <p:nvPr/>
        </p:nvSpPr>
        <p:spPr>
          <a:xfrm>
            <a:off x="8458200" y="685800"/>
            <a:ext cx="219456" cy="219456"/>
          </a:xfrm>
          <a:prstGeom prst="ellipse">
            <a:avLst/>
          </a:prstGeom>
          <a:solidFill>
            <a:srgbClr val="C9A227"/>
          </a:solidFill>
          <a:ln w="12700">
            <a:solidFill>
              <a:srgbClr val="C9A227"/>
            </a:solidFill>
            <a:prstDash val="solid"/>
          </a:ln>
        </p:spPr>
        <p:txBody>
          <a:bodyPr/>
          <a:lstStyle/>
          <a:p>
            <a:endParaRPr lang="en-PR"/>
          </a:p>
        </p:txBody>
      </p:sp>
      <p:sp>
        <p:nvSpPr>
          <p:cNvPr id="4" name="Shape 2"/>
          <p:cNvSpPr/>
          <p:nvPr/>
        </p:nvSpPr>
        <p:spPr>
          <a:xfrm>
            <a:off x="8897112" y="685800"/>
            <a:ext cx="219456" cy="219456"/>
          </a:xfrm>
          <a:prstGeom prst="ellipse">
            <a:avLst/>
          </a:prstGeom>
          <a:solidFill>
            <a:srgbClr val="2A9D8F"/>
          </a:solidFill>
          <a:ln w="12700">
            <a:solidFill>
              <a:srgbClr val="2A9D8F"/>
            </a:solidFill>
            <a:prstDash val="solid"/>
          </a:ln>
        </p:spPr>
        <p:txBody>
          <a:bodyPr/>
          <a:lstStyle/>
          <a:p>
            <a:endParaRPr lang="en-PR"/>
          </a:p>
        </p:txBody>
      </p:sp>
      <p:sp>
        <p:nvSpPr>
          <p:cNvPr id="5" name="Shape 3"/>
          <p:cNvSpPr/>
          <p:nvPr/>
        </p:nvSpPr>
        <p:spPr>
          <a:xfrm>
            <a:off x="9336024" y="685800"/>
            <a:ext cx="219456" cy="219456"/>
          </a:xfrm>
          <a:prstGeom prst="ellipse">
            <a:avLst/>
          </a:prstGeom>
          <a:solidFill>
            <a:srgbClr val="DDE3EC"/>
          </a:solidFill>
          <a:ln w="12700">
            <a:solidFill>
              <a:srgbClr val="DDE3EC"/>
            </a:solidFill>
            <a:prstDash val="solid"/>
          </a:ln>
        </p:spPr>
        <p:txBody>
          <a:bodyPr/>
          <a:lstStyle/>
          <a:p>
            <a:endParaRPr lang="en-PR"/>
          </a:p>
        </p:txBody>
      </p:sp>
      <p:sp>
        <p:nvSpPr>
          <p:cNvPr id="6" name="Shape 4"/>
          <p:cNvSpPr/>
          <p:nvPr/>
        </p:nvSpPr>
        <p:spPr>
          <a:xfrm>
            <a:off x="9774936" y="685800"/>
            <a:ext cx="219456" cy="219456"/>
          </a:xfrm>
          <a:prstGeom prst="ellipse">
            <a:avLst/>
          </a:prstGeom>
          <a:solidFill>
            <a:srgbClr val="1B2A4A"/>
          </a:solidFill>
          <a:ln w="12700">
            <a:solidFill>
              <a:srgbClr val="1B2A4A"/>
            </a:solidFill>
            <a:prstDash val="solid"/>
          </a:ln>
        </p:spPr>
        <p:txBody>
          <a:bodyPr/>
          <a:lstStyle/>
          <a:p>
            <a:endParaRPr lang="en-PR"/>
          </a:p>
        </p:txBody>
      </p:sp>
      <p:sp>
        <p:nvSpPr>
          <p:cNvPr id="7" name="Shape 5"/>
          <p:cNvSpPr/>
          <p:nvPr/>
        </p:nvSpPr>
        <p:spPr>
          <a:xfrm>
            <a:off x="10213848" y="685800"/>
            <a:ext cx="219456" cy="219456"/>
          </a:xfrm>
          <a:prstGeom prst="ellipse">
            <a:avLst/>
          </a:prstGeom>
          <a:solidFill>
            <a:srgbClr val="C9A227"/>
          </a:solidFill>
          <a:ln w="12700">
            <a:solidFill>
              <a:srgbClr val="C9A227"/>
            </a:solidFill>
            <a:prstDash val="solid"/>
          </a:ln>
        </p:spPr>
        <p:txBody>
          <a:bodyPr/>
          <a:lstStyle/>
          <a:p>
            <a:endParaRPr lang="en-PR"/>
          </a:p>
        </p:txBody>
      </p:sp>
      <p:sp>
        <p:nvSpPr>
          <p:cNvPr id="8" name="Shape 6"/>
          <p:cNvSpPr/>
          <p:nvPr/>
        </p:nvSpPr>
        <p:spPr>
          <a:xfrm>
            <a:off x="10652760" y="685800"/>
            <a:ext cx="219456" cy="219456"/>
          </a:xfrm>
          <a:prstGeom prst="ellipse">
            <a:avLst/>
          </a:prstGeom>
          <a:solidFill>
            <a:srgbClr val="2A9D8F"/>
          </a:solidFill>
          <a:ln w="12700">
            <a:solidFill>
              <a:srgbClr val="2A9D8F"/>
            </a:solidFill>
            <a:prstDash val="solid"/>
          </a:ln>
        </p:spPr>
        <p:txBody>
          <a:bodyPr/>
          <a:lstStyle/>
          <a:p>
            <a:endParaRPr lang="en-PR"/>
          </a:p>
        </p:txBody>
      </p:sp>
      <p:sp>
        <p:nvSpPr>
          <p:cNvPr id="9" name="Shape 7"/>
          <p:cNvSpPr/>
          <p:nvPr/>
        </p:nvSpPr>
        <p:spPr>
          <a:xfrm>
            <a:off x="11091672" y="685800"/>
            <a:ext cx="219456" cy="219456"/>
          </a:xfrm>
          <a:prstGeom prst="ellipse">
            <a:avLst/>
          </a:prstGeom>
          <a:solidFill>
            <a:srgbClr val="DDE3EC"/>
          </a:solidFill>
          <a:ln w="12700">
            <a:solidFill>
              <a:srgbClr val="DDE3EC"/>
            </a:solidFill>
            <a:prstDash val="solid"/>
          </a:ln>
        </p:spPr>
        <p:txBody>
          <a:bodyPr/>
          <a:lstStyle/>
          <a:p>
            <a:endParaRPr lang="en-PR"/>
          </a:p>
        </p:txBody>
      </p:sp>
      <p:sp>
        <p:nvSpPr>
          <p:cNvPr id="10" name="Shape 8"/>
          <p:cNvSpPr/>
          <p:nvPr/>
        </p:nvSpPr>
        <p:spPr>
          <a:xfrm>
            <a:off x="11530584" y="685800"/>
            <a:ext cx="219456" cy="219456"/>
          </a:xfrm>
          <a:prstGeom prst="ellipse">
            <a:avLst/>
          </a:prstGeom>
          <a:solidFill>
            <a:srgbClr val="1B2A4A"/>
          </a:solidFill>
          <a:ln w="12700">
            <a:solidFill>
              <a:srgbClr val="1B2A4A"/>
            </a:solidFill>
            <a:prstDash val="solid"/>
          </a:ln>
        </p:spPr>
        <p:txBody>
          <a:bodyPr/>
          <a:lstStyle/>
          <a:p>
            <a:endParaRPr lang="en-PR"/>
          </a:p>
        </p:txBody>
      </p:sp>
      <p:sp>
        <p:nvSpPr>
          <p:cNvPr id="11" name="Shape 9"/>
          <p:cNvSpPr/>
          <p:nvPr/>
        </p:nvSpPr>
        <p:spPr>
          <a:xfrm>
            <a:off x="8458200" y="1252728"/>
            <a:ext cx="219456" cy="219456"/>
          </a:xfrm>
          <a:prstGeom prst="ellipse">
            <a:avLst/>
          </a:prstGeom>
          <a:solidFill>
            <a:srgbClr val="1B2A4A"/>
          </a:solidFill>
          <a:ln w="12700">
            <a:solidFill>
              <a:srgbClr val="1B2A4A"/>
            </a:solidFill>
            <a:prstDash val="solid"/>
          </a:ln>
        </p:spPr>
        <p:txBody>
          <a:bodyPr/>
          <a:lstStyle/>
          <a:p>
            <a:endParaRPr lang="en-PR"/>
          </a:p>
        </p:txBody>
      </p:sp>
      <p:sp>
        <p:nvSpPr>
          <p:cNvPr id="12" name="Shape 10"/>
          <p:cNvSpPr/>
          <p:nvPr/>
        </p:nvSpPr>
        <p:spPr>
          <a:xfrm>
            <a:off x="8897112" y="1252728"/>
            <a:ext cx="219456" cy="219456"/>
          </a:xfrm>
          <a:prstGeom prst="ellipse">
            <a:avLst/>
          </a:prstGeom>
          <a:solidFill>
            <a:srgbClr val="C9A227"/>
          </a:solidFill>
          <a:ln w="12700">
            <a:solidFill>
              <a:srgbClr val="C9A227"/>
            </a:solidFill>
            <a:prstDash val="solid"/>
          </a:ln>
        </p:spPr>
        <p:txBody>
          <a:bodyPr/>
          <a:lstStyle/>
          <a:p>
            <a:endParaRPr lang="en-PR"/>
          </a:p>
        </p:txBody>
      </p:sp>
      <p:sp>
        <p:nvSpPr>
          <p:cNvPr id="13" name="Shape 11"/>
          <p:cNvSpPr/>
          <p:nvPr/>
        </p:nvSpPr>
        <p:spPr>
          <a:xfrm>
            <a:off x="9336024" y="1252728"/>
            <a:ext cx="219456" cy="219456"/>
          </a:xfrm>
          <a:prstGeom prst="ellipse">
            <a:avLst/>
          </a:prstGeom>
          <a:solidFill>
            <a:srgbClr val="2A9D8F"/>
          </a:solidFill>
          <a:ln w="12700">
            <a:solidFill>
              <a:srgbClr val="2A9D8F"/>
            </a:solidFill>
            <a:prstDash val="solid"/>
          </a:ln>
        </p:spPr>
        <p:txBody>
          <a:bodyPr/>
          <a:lstStyle/>
          <a:p>
            <a:endParaRPr lang="en-PR"/>
          </a:p>
        </p:txBody>
      </p:sp>
      <p:sp>
        <p:nvSpPr>
          <p:cNvPr id="14" name="Shape 12"/>
          <p:cNvSpPr/>
          <p:nvPr/>
        </p:nvSpPr>
        <p:spPr>
          <a:xfrm>
            <a:off x="9774936" y="1252728"/>
            <a:ext cx="219456" cy="219456"/>
          </a:xfrm>
          <a:prstGeom prst="ellipse">
            <a:avLst/>
          </a:prstGeom>
          <a:solidFill>
            <a:srgbClr val="DDE3EC"/>
          </a:solidFill>
          <a:ln w="12700">
            <a:solidFill>
              <a:srgbClr val="DDE3EC"/>
            </a:solidFill>
            <a:prstDash val="solid"/>
          </a:ln>
        </p:spPr>
        <p:txBody>
          <a:bodyPr/>
          <a:lstStyle/>
          <a:p>
            <a:endParaRPr lang="en-PR"/>
          </a:p>
        </p:txBody>
      </p:sp>
      <p:sp>
        <p:nvSpPr>
          <p:cNvPr id="15" name="Shape 13"/>
          <p:cNvSpPr/>
          <p:nvPr/>
        </p:nvSpPr>
        <p:spPr>
          <a:xfrm>
            <a:off x="10213848" y="1252728"/>
            <a:ext cx="219456" cy="219456"/>
          </a:xfrm>
          <a:prstGeom prst="ellipse">
            <a:avLst/>
          </a:prstGeom>
          <a:solidFill>
            <a:srgbClr val="1B2A4A"/>
          </a:solidFill>
          <a:ln w="12700">
            <a:solidFill>
              <a:srgbClr val="1B2A4A"/>
            </a:solidFill>
            <a:prstDash val="solid"/>
          </a:ln>
        </p:spPr>
        <p:txBody>
          <a:bodyPr/>
          <a:lstStyle/>
          <a:p>
            <a:endParaRPr lang="en-PR"/>
          </a:p>
        </p:txBody>
      </p:sp>
      <p:sp>
        <p:nvSpPr>
          <p:cNvPr id="16" name="Shape 14"/>
          <p:cNvSpPr/>
          <p:nvPr/>
        </p:nvSpPr>
        <p:spPr>
          <a:xfrm>
            <a:off x="10652760" y="1252728"/>
            <a:ext cx="219456" cy="219456"/>
          </a:xfrm>
          <a:prstGeom prst="ellipse">
            <a:avLst/>
          </a:prstGeom>
          <a:solidFill>
            <a:srgbClr val="C9A227"/>
          </a:solidFill>
          <a:ln w="12700">
            <a:solidFill>
              <a:srgbClr val="C9A227"/>
            </a:solidFill>
            <a:prstDash val="solid"/>
          </a:ln>
        </p:spPr>
        <p:txBody>
          <a:bodyPr/>
          <a:lstStyle/>
          <a:p>
            <a:endParaRPr lang="en-PR"/>
          </a:p>
        </p:txBody>
      </p:sp>
      <p:sp>
        <p:nvSpPr>
          <p:cNvPr id="17" name="Shape 15"/>
          <p:cNvSpPr/>
          <p:nvPr/>
        </p:nvSpPr>
        <p:spPr>
          <a:xfrm>
            <a:off x="11091672" y="1252728"/>
            <a:ext cx="219456" cy="219456"/>
          </a:xfrm>
          <a:prstGeom prst="ellipse">
            <a:avLst/>
          </a:prstGeom>
          <a:solidFill>
            <a:srgbClr val="2A9D8F"/>
          </a:solidFill>
          <a:ln w="12700">
            <a:solidFill>
              <a:srgbClr val="2A9D8F"/>
            </a:solidFill>
            <a:prstDash val="solid"/>
          </a:ln>
        </p:spPr>
        <p:txBody>
          <a:bodyPr/>
          <a:lstStyle/>
          <a:p>
            <a:endParaRPr lang="en-PR"/>
          </a:p>
        </p:txBody>
      </p:sp>
      <p:sp>
        <p:nvSpPr>
          <p:cNvPr id="18" name="Shape 16"/>
          <p:cNvSpPr/>
          <p:nvPr/>
        </p:nvSpPr>
        <p:spPr>
          <a:xfrm>
            <a:off x="11530584" y="1252728"/>
            <a:ext cx="219456" cy="219456"/>
          </a:xfrm>
          <a:prstGeom prst="ellipse">
            <a:avLst/>
          </a:prstGeom>
          <a:solidFill>
            <a:srgbClr val="DDE3EC"/>
          </a:solidFill>
          <a:ln w="12700">
            <a:solidFill>
              <a:srgbClr val="DDE3EC"/>
            </a:solidFill>
            <a:prstDash val="solid"/>
          </a:ln>
        </p:spPr>
        <p:txBody>
          <a:bodyPr/>
          <a:lstStyle/>
          <a:p>
            <a:endParaRPr lang="en-PR"/>
          </a:p>
        </p:txBody>
      </p:sp>
      <p:sp>
        <p:nvSpPr>
          <p:cNvPr id="19" name="Shape 17"/>
          <p:cNvSpPr/>
          <p:nvPr/>
        </p:nvSpPr>
        <p:spPr>
          <a:xfrm>
            <a:off x="8458200" y="1819656"/>
            <a:ext cx="219456" cy="219456"/>
          </a:xfrm>
          <a:prstGeom prst="ellipse">
            <a:avLst/>
          </a:prstGeom>
          <a:solidFill>
            <a:srgbClr val="DDE3EC"/>
          </a:solidFill>
          <a:ln w="12700">
            <a:solidFill>
              <a:srgbClr val="DDE3EC"/>
            </a:solidFill>
            <a:prstDash val="solid"/>
          </a:ln>
        </p:spPr>
        <p:txBody>
          <a:bodyPr/>
          <a:lstStyle/>
          <a:p>
            <a:endParaRPr lang="en-PR"/>
          </a:p>
        </p:txBody>
      </p:sp>
      <p:sp>
        <p:nvSpPr>
          <p:cNvPr id="20" name="Shape 18"/>
          <p:cNvSpPr/>
          <p:nvPr/>
        </p:nvSpPr>
        <p:spPr>
          <a:xfrm>
            <a:off x="8897112" y="1819656"/>
            <a:ext cx="219456" cy="219456"/>
          </a:xfrm>
          <a:prstGeom prst="ellipse">
            <a:avLst/>
          </a:prstGeom>
          <a:solidFill>
            <a:srgbClr val="1B2A4A"/>
          </a:solidFill>
          <a:ln w="12700">
            <a:solidFill>
              <a:srgbClr val="1B2A4A"/>
            </a:solidFill>
            <a:prstDash val="solid"/>
          </a:ln>
        </p:spPr>
        <p:txBody>
          <a:bodyPr/>
          <a:lstStyle/>
          <a:p>
            <a:endParaRPr lang="en-PR"/>
          </a:p>
        </p:txBody>
      </p:sp>
      <p:sp>
        <p:nvSpPr>
          <p:cNvPr id="21" name="Shape 19"/>
          <p:cNvSpPr/>
          <p:nvPr/>
        </p:nvSpPr>
        <p:spPr>
          <a:xfrm>
            <a:off x="9336024" y="1819656"/>
            <a:ext cx="219456" cy="219456"/>
          </a:xfrm>
          <a:prstGeom prst="ellipse">
            <a:avLst/>
          </a:prstGeom>
          <a:solidFill>
            <a:srgbClr val="C9A227"/>
          </a:solidFill>
          <a:ln w="12700">
            <a:solidFill>
              <a:srgbClr val="C9A227"/>
            </a:solidFill>
            <a:prstDash val="solid"/>
          </a:ln>
        </p:spPr>
        <p:txBody>
          <a:bodyPr/>
          <a:lstStyle/>
          <a:p>
            <a:endParaRPr lang="en-PR"/>
          </a:p>
        </p:txBody>
      </p:sp>
      <p:sp>
        <p:nvSpPr>
          <p:cNvPr id="22" name="Shape 20"/>
          <p:cNvSpPr/>
          <p:nvPr/>
        </p:nvSpPr>
        <p:spPr>
          <a:xfrm>
            <a:off x="9774936" y="1819656"/>
            <a:ext cx="219456" cy="219456"/>
          </a:xfrm>
          <a:prstGeom prst="ellipse">
            <a:avLst/>
          </a:prstGeom>
          <a:solidFill>
            <a:srgbClr val="2A9D8F"/>
          </a:solidFill>
          <a:ln w="12700">
            <a:solidFill>
              <a:srgbClr val="2A9D8F"/>
            </a:solidFill>
            <a:prstDash val="solid"/>
          </a:ln>
        </p:spPr>
        <p:txBody>
          <a:bodyPr/>
          <a:lstStyle/>
          <a:p>
            <a:endParaRPr lang="en-PR"/>
          </a:p>
        </p:txBody>
      </p:sp>
      <p:sp>
        <p:nvSpPr>
          <p:cNvPr id="23" name="Shape 21"/>
          <p:cNvSpPr/>
          <p:nvPr/>
        </p:nvSpPr>
        <p:spPr>
          <a:xfrm>
            <a:off x="10213848" y="1819656"/>
            <a:ext cx="219456" cy="219456"/>
          </a:xfrm>
          <a:prstGeom prst="ellipse">
            <a:avLst/>
          </a:prstGeom>
          <a:solidFill>
            <a:srgbClr val="DDE3EC"/>
          </a:solidFill>
          <a:ln w="12700">
            <a:solidFill>
              <a:srgbClr val="DDE3EC"/>
            </a:solidFill>
            <a:prstDash val="solid"/>
          </a:ln>
        </p:spPr>
        <p:txBody>
          <a:bodyPr/>
          <a:lstStyle/>
          <a:p>
            <a:endParaRPr lang="en-PR"/>
          </a:p>
        </p:txBody>
      </p:sp>
      <p:sp>
        <p:nvSpPr>
          <p:cNvPr id="24" name="Shape 22"/>
          <p:cNvSpPr/>
          <p:nvPr/>
        </p:nvSpPr>
        <p:spPr>
          <a:xfrm>
            <a:off x="10652760" y="1819656"/>
            <a:ext cx="219456" cy="219456"/>
          </a:xfrm>
          <a:prstGeom prst="ellipse">
            <a:avLst/>
          </a:prstGeom>
          <a:solidFill>
            <a:srgbClr val="1B2A4A"/>
          </a:solidFill>
          <a:ln w="12700">
            <a:solidFill>
              <a:srgbClr val="1B2A4A"/>
            </a:solidFill>
            <a:prstDash val="solid"/>
          </a:ln>
        </p:spPr>
        <p:txBody>
          <a:bodyPr/>
          <a:lstStyle/>
          <a:p>
            <a:endParaRPr lang="en-PR"/>
          </a:p>
        </p:txBody>
      </p:sp>
      <p:sp>
        <p:nvSpPr>
          <p:cNvPr id="25" name="Shape 23"/>
          <p:cNvSpPr/>
          <p:nvPr/>
        </p:nvSpPr>
        <p:spPr>
          <a:xfrm>
            <a:off x="11091672" y="1819656"/>
            <a:ext cx="219456" cy="219456"/>
          </a:xfrm>
          <a:prstGeom prst="ellipse">
            <a:avLst/>
          </a:prstGeom>
          <a:solidFill>
            <a:srgbClr val="C9A227"/>
          </a:solidFill>
          <a:ln w="12700">
            <a:solidFill>
              <a:srgbClr val="C9A227"/>
            </a:solidFill>
            <a:prstDash val="solid"/>
          </a:ln>
        </p:spPr>
        <p:txBody>
          <a:bodyPr/>
          <a:lstStyle/>
          <a:p>
            <a:endParaRPr lang="en-PR"/>
          </a:p>
        </p:txBody>
      </p:sp>
      <p:sp>
        <p:nvSpPr>
          <p:cNvPr id="26" name="Shape 24"/>
          <p:cNvSpPr/>
          <p:nvPr/>
        </p:nvSpPr>
        <p:spPr>
          <a:xfrm>
            <a:off x="11530584" y="1819656"/>
            <a:ext cx="219456" cy="219456"/>
          </a:xfrm>
          <a:prstGeom prst="ellipse">
            <a:avLst/>
          </a:prstGeom>
          <a:solidFill>
            <a:srgbClr val="2A9D8F"/>
          </a:solidFill>
          <a:ln w="12700">
            <a:solidFill>
              <a:srgbClr val="2A9D8F"/>
            </a:solidFill>
            <a:prstDash val="solid"/>
          </a:ln>
        </p:spPr>
        <p:txBody>
          <a:bodyPr/>
          <a:lstStyle/>
          <a:p>
            <a:endParaRPr lang="en-PR"/>
          </a:p>
        </p:txBody>
      </p:sp>
      <p:sp>
        <p:nvSpPr>
          <p:cNvPr id="27" name="Shape 25"/>
          <p:cNvSpPr/>
          <p:nvPr/>
        </p:nvSpPr>
        <p:spPr>
          <a:xfrm>
            <a:off x="8458200" y="2386584"/>
            <a:ext cx="219456" cy="219456"/>
          </a:xfrm>
          <a:prstGeom prst="ellipse">
            <a:avLst/>
          </a:prstGeom>
          <a:solidFill>
            <a:srgbClr val="2A9D8F"/>
          </a:solidFill>
          <a:ln w="12700">
            <a:solidFill>
              <a:srgbClr val="2A9D8F"/>
            </a:solidFill>
            <a:prstDash val="solid"/>
          </a:ln>
        </p:spPr>
        <p:txBody>
          <a:bodyPr/>
          <a:lstStyle/>
          <a:p>
            <a:endParaRPr lang="en-PR"/>
          </a:p>
        </p:txBody>
      </p:sp>
      <p:sp>
        <p:nvSpPr>
          <p:cNvPr id="28" name="Shape 26"/>
          <p:cNvSpPr/>
          <p:nvPr/>
        </p:nvSpPr>
        <p:spPr>
          <a:xfrm>
            <a:off x="8897112" y="2386584"/>
            <a:ext cx="219456" cy="219456"/>
          </a:xfrm>
          <a:prstGeom prst="ellipse">
            <a:avLst/>
          </a:prstGeom>
          <a:solidFill>
            <a:srgbClr val="DDE3EC"/>
          </a:solidFill>
          <a:ln w="12700">
            <a:solidFill>
              <a:srgbClr val="DDE3EC"/>
            </a:solidFill>
            <a:prstDash val="solid"/>
          </a:ln>
        </p:spPr>
        <p:txBody>
          <a:bodyPr/>
          <a:lstStyle/>
          <a:p>
            <a:endParaRPr lang="en-PR"/>
          </a:p>
        </p:txBody>
      </p:sp>
      <p:sp>
        <p:nvSpPr>
          <p:cNvPr id="29" name="Shape 27"/>
          <p:cNvSpPr/>
          <p:nvPr/>
        </p:nvSpPr>
        <p:spPr>
          <a:xfrm>
            <a:off x="9336024" y="2386584"/>
            <a:ext cx="219456" cy="219456"/>
          </a:xfrm>
          <a:prstGeom prst="ellipse">
            <a:avLst/>
          </a:prstGeom>
          <a:solidFill>
            <a:srgbClr val="1B2A4A"/>
          </a:solidFill>
          <a:ln w="12700">
            <a:solidFill>
              <a:srgbClr val="1B2A4A"/>
            </a:solidFill>
            <a:prstDash val="solid"/>
          </a:ln>
        </p:spPr>
        <p:txBody>
          <a:bodyPr/>
          <a:lstStyle/>
          <a:p>
            <a:endParaRPr lang="en-PR"/>
          </a:p>
        </p:txBody>
      </p:sp>
      <p:sp>
        <p:nvSpPr>
          <p:cNvPr id="30" name="Shape 28"/>
          <p:cNvSpPr/>
          <p:nvPr/>
        </p:nvSpPr>
        <p:spPr>
          <a:xfrm>
            <a:off x="9774936" y="2386584"/>
            <a:ext cx="219456" cy="219456"/>
          </a:xfrm>
          <a:prstGeom prst="ellipse">
            <a:avLst/>
          </a:prstGeom>
          <a:solidFill>
            <a:srgbClr val="C9A227"/>
          </a:solidFill>
          <a:ln w="12700">
            <a:solidFill>
              <a:srgbClr val="C9A227"/>
            </a:solidFill>
            <a:prstDash val="solid"/>
          </a:ln>
        </p:spPr>
        <p:txBody>
          <a:bodyPr/>
          <a:lstStyle/>
          <a:p>
            <a:endParaRPr lang="en-PR"/>
          </a:p>
        </p:txBody>
      </p:sp>
      <p:sp>
        <p:nvSpPr>
          <p:cNvPr id="31" name="Shape 29"/>
          <p:cNvSpPr/>
          <p:nvPr/>
        </p:nvSpPr>
        <p:spPr>
          <a:xfrm>
            <a:off x="10213848" y="2386584"/>
            <a:ext cx="219456" cy="219456"/>
          </a:xfrm>
          <a:prstGeom prst="ellipse">
            <a:avLst/>
          </a:prstGeom>
          <a:solidFill>
            <a:srgbClr val="2A9D8F"/>
          </a:solidFill>
          <a:ln w="12700">
            <a:solidFill>
              <a:srgbClr val="2A9D8F"/>
            </a:solidFill>
            <a:prstDash val="solid"/>
          </a:ln>
        </p:spPr>
        <p:txBody>
          <a:bodyPr/>
          <a:lstStyle/>
          <a:p>
            <a:endParaRPr lang="en-PR"/>
          </a:p>
        </p:txBody>
      </p:sp>
      <p:sp>
        <p:nvSpPr>
          <p:cNvPr id="32" name="Shape 30"/>
          <p:cNvSpPr/>
          <p:nvPr/>
        </p:nvSpPr>
        <p:spPr>
          <a:xfrm>
            <a:off x="10652760" y="2386584"/>
            <a:ext cx="219456" cy="219456"/>
          </a:xfrm>
          <a:prstGeom prst="ellipse">
            <a:avLst/>
          </a:prstGeom>
          <a:solidFill>
            <a:srgbClr val="DDE3EC"/>
          </a:solidFill>
          <a:ln w="12700">
            <a:solidFill>
              <a:srgbClr val="DDE3EC"/>
            </a:solidFill>
            <a:prstDash val="solid"/>
          </a:ln>
        </p:spPr>
        <p:txBody>
          <a:bodyPr/>
          <a:lstStyle/>
          <a:p>
            <a:endParaRPr lang="en-PR"/>
          </a:p>
        </p:txBody>
      </p:sp>
      <p:sp>
        <p:nvSpPr>
          <p:cNvPr id="33" name="Shape 31"/>
          <p:cNvSpPr/>
          <p:nvPr/>
        </p:nvSpPr>
        <p:spPr>
          <a:xfrm>
            <a:off x="11091672" y="2386584"/>
            <a:ext cx="219456" cy="219456"/>
          </a:xfrm>
          <a:prstGeom prst="ellipse">
            <a:avLst/>
          </a:prstGeom>
          <a:solidFill>
            <a:srgbClr val="1B2A4A"/>
          </a:solidFill>
          <a:ln w="12700">
            <a:solidFill>
              <a:srgbClr val="1B2A4A"/>
            </a:solidFill>
            <a:prstDash val="solid"/>
          </a:ln>
        </p:spPr>
        <p:txBody>
          <a:bodyPr/>
          <a:lstStyle/>
          <a:p>
            <a:endParaRPr lang="en-PR"/>
          </a:p>
        </p:txBody>
      </p:sp>
      <p:sp>
        <p:nvSpPr>
          <p:cNvPr id="34" name="Shape 32"/>
          <p:cNvSpPr/>
          <p:nvPr/>
        </p:nvSpPr>
        <p:spPr>
          <a:xfrm>
            <a:off x="11530584" y="2386584"/>
            <a:ext cx="219456" cy="219456"/>
          </a:xfrm>
          <a:prstGeom prst="ellipse">
            <a:avLst/>
          </a:prstGeom>
          <a:solidFill>
            <a:srgbClr val="C9A227"/>
          </a:solidFill>
          <a:ln w="12700">
            <a:solidFill>
              <a:srgbClr val="C9A227"/>
            </a:solidFill>
            <a:prstDash val="solid"/>
          </a:ln>
        </p:spPr>
        <p:txBody>
          <a:bodyPr/>
          <a:lstStyle/>
          <a:p>
            <a:endParaRPr lang="en-PR"/>
          </a:p>
        </p:txBody>
      </p:sp>
      <p:sp>
        <p:nvSpPr>
          <p:cNvPr id="35" name="Shape 33"/>
          <p:cNvSpPr/>
          <p:nvPr/>
        </p:nvSpPr>
        <p:spPr>
          <a:xfrm>
            <a:off x="8458200" y="2953512"/>
            <a:ext cx="219456" cy="219456"/>
          </a:xfrm>
          <a:prstGeom prst="ellipse">
            <a:avLst/>
          </a:prstGeom>
          <a:solidFill>
            <a:srgbClr val="C9A227"/>
          </a:solidFill>
          <a:ln w="12700">
            <a:solidFill>
              <a:srgbClr val="C9A227"/>
            </a:solidFill>
            <a:prstDash val="solid"/>
          </a:ln>
        </p:spPr>
        <p:txBody>
          <a:bodyPr/>
          <a:lstStyle/>
          <a:p>
            <a:endParaRPr lang="en-PR"/>
          </a:p>
        </p:txBody>
      </p:sp>
      <p:sp>
        <p:nvSpPr>
          <p:cNvPr id="36" name="Shape 34"/>
          <p:cNvSpPr/>
          <p:nvPr/>
        </p:nvSpPr>
        <p:spPr>
          <a:xfrm>
            <a:off x="8897112" y="2953512"/>
            <a:ext cx="219456" cy="219456"/>
          </a:xfrm>
          <a:prstGeom prst="ellipse">
            <a:avLst/>
          </a:prstGeom>
          <a:solidFill>
            <a:srgbClr val="2A9D8F"/>
          </a:solidFill>
          <a:ln w="12700">
            <a:solidFill>
              <a:srgbClr val="2A9D8F"/>
            </a:solidFill>
            <a:prstDash val="solid"/>
          </a:ln>
        </p:spPr>
        <p:txBody>
          <a:bodyPr/>
          <a:lstStyle/>
          <a:p>
            <a:endParaRPr lang="en-PR"/>
          </a:p>
        </p:txBody>
      </p:sp>
      <p:sp>
        <p:nvSpPr>
          <p:cNvPr id="37" name="Shape 35"/>
          <p:cNvSpPr/>
          <p:nvPr/>
        </p:nvSpPr>
        <p:spPr>
          <a:xfrm>
            <a:off x="9336024" y="2953512"/>
            <a:ext cx="219456" cy="219456"/>
          </a:xfrm>
          <a:prstGeom prst="ellipse">
            <a:avLst/>
          </a:prstGeom>
          <a:solidFill>
            <a:srgbClr val="DDE3EC"/>
          </a:solidFill>
          <a:ln w="12700">
            <a:solidFill>
              <a:srgbClr val="DDE3EC"/>
            </a:solidFill>
            <a:prstDash val="solid"/>
          </a:ln>
        </p:spPr>
        <p:txBody>
          <a:bodyPr/>
          <a:lstStyle/>
          <a:p>
            <a:endParaRPr lang="en-PR"/>
          </a:p>
        </p:txBody>
      </p:sp>
      <p:sp>
        <p:nvSpPr>
          <p:cNvPr id="38" name="Shape 36"/>
          <p:cNvSpPr/>
          <p:nvPr/>
        </p:nvSpPr>
        <p:spPr>
          <a:xfrm>
            <a:off x="9774936" y="2953512"/>
            <a:ext cx="219456" cy="219456"/>
          </a:xfrm>
          <a:prstGeom prst="ellipse">
            <a:avLst/>
          </a:prstGeom>
          <a:solidFill>
            <a:srgbClr val="1B2A4A"/>
          </a:solidFill>
          <a:ln w="12700">
            <a:solidFill>
              <a:srgbClr val="1B2A4A"/>
            </a:solidFill>
            <a:prstDash val="solid"/>
          </a:ln>
        </p:spPr>
        <p:txBody>
          <a:bodyPr/>
          <a:lstStyle/>
          <a:p>
            <a:endParaRPr lang="en-PR"/>
          </a:p>
        </p:txBody>
      </p:sp>
      <p:sp>
        <p:nvSpPr>
          <p:cNvPr id="39" name="Shape 37"/>
          <p:cNvSpPr/>
          <p:nvPr/>
        </p:nvSpPr>
        <p:spPr>
          <a:xfrm>
            <a:off x="10213848" y="2953512"/>
            <a:ext cx="219456" cy="219456"/>
          </a:xfrm>
          <a:prstGeom prst="ellipse">
            <a:avLst/>
          </a:prstGeom>
          <a:solidFill>
            <a:srgbClr val="C9A227"/>
          </a:solidFill>
          <a:ln w="12700">
            <a:solidFill>
              <a:srgbClr val="C9A227"/>
            </a:solidFill>
            <a:prstDash val="solid"/>
          </a:ln>
        </p:spPr>
        <p:txBody>
          <a:bodyPr/>
          <a:lstStyle/>
          <a:p>
            <a:endParaRPr lang="en-PR"/>
          </a:p>
        </p:txBody>
      </p:sp>
      <p:sp>
        <p:nvSpPr>
          <p:cNvPr id="40" name="Shape 38"/>
          <p:cNvSpPr/>
          <p:nvPr/>
        </p:nvSpPr>
        <p:spPr>
          <a:xfrm>
            <a:off x="10652760" y="2953512"/>
            <a:ext cx="219456" cy="219456"/>
          </a:xfrm>
          <a:prstGeom prst="ellipse">
            <a:avLst/>
          </a:prstGeom>
          <a:solidFill>
            <a:srgbClr val="2A9D8F"/>
          </a:solidFill>
          <a:ln w="12700">
            <a:solidFill>
              <a:srgbClr val="2A9D8F"/>
            </a:solidFill>
            <a:prstDash val="solid"/>
          </a:ln>
        </p:spPr>
        <p:txBody>
          <a:bodyPr/>
          <a:lstStyle/>
          <a:p>
            <a:endParaRPr lang="en-PR"/>
          </a:p>
        </p:txBody>
      </p:sp>
      <p:sp>
        <p:nvSpPr>
          <p:cNvPr id="41" name="Shape 39"/>
          <p:cNvSpPr/>
          <p:nvPr/>
        </p:nvSpPr>
        <p:spPr>
          <a:xfrm>
            <a:off x="11091672" y="2953512"/>
            <a:ext cx="219456" cy="219456"/>
          </a:xfrm>
          <a:prstGeom prst="ellipse">
            <a:avLst/>
          </a:prstGeom>
          <a:solidFill>
            <a:srgbClr val="DDE3EC"/>
          </a:solidFill>
          <a:ln w="12700">
            <a:solidFill>
              <a:srgbClr val="DDE3EC"/>
            </a:solidFill>
            <a:prstDash val="solid"/>
          </a:ln>
        </p:spPr>
        <p:txBody>
          <a:bodyPr/>
          <a:lstStyle/>
          <a:p>
            <a:endParaRPr lang="en-PR"/>
          </a:p>
        </p:txBody>
      </p:sp>
      <p:sp>
        <p:nvSpPr>
          <p:cNvPr id="42" name="Shape 40"/>
          <p:cNvSpPr/>
          <p:nvPr/>
        </p:nvSpPr>
        <p:spPr>
          <a:xfrm>
            <a:off x="11530584" y="2953512"/>
            <a:ext cx="219456" cy="219456"/>
          </a:xfrm>
          <a:prstGeom prst="ellipse">
            <a:avLst/>
          </a:prstGeom>
          <a:solidFill>
            <a:srgbClr val="1B2A4A"/>
          </a:solidFill>
          <a:ln w="12700">
            <a:solidFill>
              <a:srgbClr val="1B2A4A"/>
            </a:solidFill>
            <a:prstDash val="solid"/>
          </a:ln>
        </p:spPr>
        <p:txBody>
          <a:bodyPr/>
          <a:lstStyle/>
          <a:p>
            <a:endParaRPr lang="en-PR"/>
          </a:p>
        </p:txBody>
      </p:sp>
      <p:sp>
        <p:nvSpPr>
          <p:cNvPr id="43" name="Shape 41"/>
          <p:cNvSpPr/>
          <p:nvPr/>
        </p:nvSpPr>
        <p:spPr>
          <a:xfrm>
            <a:off x="8458200" y="3520440"/>
            <a:ext cx="219456" cy="219456"/>
          </a:xfrm>
          <a:prstGeom prst="ellipse">
            <a:avLst/>
          </a:prstGeom>
          <a:solidFill>
            <a:srgbClr val="1B2A4A"/>
          </a:solidFill>
          <a:ln w="12700">
            <a:solidFill>
              <a:srgbClr val="1B2A4A"/>
            </a:solidFill>
            <a:prstDash val="solid"/>
          </a:ln>
        </p:spPr>
        <p:txBody>
          <a:bodyPr/>
          <a:lstStyle/>
          <a:p>
            <a:endParaRPr lang="en-PR"/>
          </a:p>
        </p:txBody>
      </p:sp>
      <p:sp>
        <p:nvSpPr>
          <p:cNvPr id="44" name="Shape 42"/>
          <p:cNvSpPr/>
          <p:nvPr/>
        </p:nvSpPr>
        <p:spPr>
          <a:xfrm>
            <a:off x="8897112" y="3520440"/>
            <a:ext cx="219456" cy="219456"/>
          </a:xfrm>
          <a:prstGeom prst="ellipse">
            <a:avLst/>
          </a:prstGeom>
          <a:solidFill>
            <a:srgbClr val="C9A227"/>
          </a:solidFill>
          <a:ln w="12700">
            <a:solidFill>
              <a:srgbClr val="C9A227"/>
            </a:solidFill>
            <a:prstDash val="solid"/>
          </a:ln>
        </p:spPr>
        <p:txBody>
          <a:bodyPr/>
          <a:lstStyle/>
          <a:p>
            <a:endParaRPr lang="en-PR"/>
          </a:p>
        </p:txBody>
      </p:sp>
      <p:sp>
        <p:nvSpPr>
          <p:cNvPr id="45" name="Shape 43"/>
          <p:cNvSpPr/>
          <p:nvPr/>
        </p:nvSpPr>
        <p:spPr>
          <a:xfrm>
            <a:off x="9336024" y="3520440"/>
            <a:ext cx="219456" cy="219456"/>
          </a:xfrm>
          <a:prstGeom prst="ellipse">
            <a:avLst/>
          </a:prstGeom>
          <a:solidFill>
            <a:srgbClr val="2A9D8F"/>
          </a:solidFill>
          <a:ln w="12700">
            <a:solidFill>
              <a:srgbClr val="2A9D8F"/>
            </a:solidFill>
            <a:prstDash val="solid"/>
          </a:ln>
        </p:spPr>
        <p:txBody>
          <a:bodyPr/>
          <a:lstStyle/>
          <a:p>
            <a:endParaRPr lang="en-PR"/>
          </a:p>
        </p:txBody>
      </p:sp>
      <p:sp>
        <p:nvSpPr>
          <p:cNvPr id="46" name="Shape 44"/>
          <p:cNvSpPr/>
          <p:nvPr/>
        </p:nvSpPr>
        <p:spPr>
          <a:xfrm>
            <a:off x="9774936" y="3520440"/>
            <a:ext cx="219456" cy="219456"/>
          </a:xfrm>
          <a:prstGeom prst="ellipse">
            <a:avLst/>
          </a:prstGeom>
          <a:solidFill>
            <a:srgbClr val="DDE3EC"/>
          </a:solidFill>
          <a:ln w="12700">
            <a:solidFill>
              <a:srgbClr val="DDE3EC"/>
            </a:solidFill>
            <a:prstDash val="solid"/>
          </a:ln>
        </p:spPr>
        <p:txBody>
          <a:bodyPr/>
          <a:lstStyle/>
          <a:p>
            <a:endParaRPr lang="en-PR"/>
          </a:p>
        </p:txBody>
      </p:sp>
      <p:sp>
        <p:nvSpPr>
          <p:cNvPr id="47" name="Shape 45"/>
          <p:cNvSpPr/>
          <p:nvPr/>
        </p:nvSpPr>
        <p:spPr>
          <a:xfrm>
            <a:off x="10213848" y="3520440"/>
            <a:ext cx="219456" cy="219456"/>
          </a:xfrm>
          <a:prstGeom prst="ellipse">
            <a:avLst/>
          </a:prstGeom>
          <a:solidFill>
            <a:srgbClr val="1B2A4A"/>
          </a:solidFill>
          <a:ln w="12700">
            <a:solidFill>
              <a:srgbClr val="1B2A4A"/>
            </a:solidFill>
            <a:prstDash val="solid"/>
          </a:ln>
        </p:spPr>
        <p:txBody>
          <a:bodyPr/>
          <a:lstStyle/>
          <a:p>
            <a:endParaRPr lang="en-PR"/>
          </a:p>
        </p:txBody>
      </p:sp>
      <p:sp>
        <p:nvSpPr>
          <p:cNvPr id="48" name="Shape 46"/>
          <p:cNvSpPr/>
          <p:nvPr/>
        </p:nvSpPr>
        <p:spPr>
          <a:xfrm>
            <a:off x="10652760" y="3520440"/>
            <a:ext cx="219456" cy="219456"/>
          </a:xfrm>
          <a:prstGeom prst="ellipse">
            <a:avLst/>
          </a:prstGeom>
          <a:solidFill>
            <a:srgbClr val="C9A227"/>
          </a:solidFill>
          <a:ln w="12700">
            <a:solidFill>
              <a:srgbClr val="C9A227"/>
            </a:solidFill>
            <a:prstDash val="solid"/>
          </a:ln>
        </p:spPr>
        <p:txBody>
          <a:bodyPr/>
          <a:lstStyle/>
          <a:p>
            <a:endParaRPr lang="en-PR"/>
          </a:p>
        </p:txBody>
      </p:sp>
      <p:sp>
        <p:nvSpPr>
          <p:cNvPr id="49" name="Shape 47"/>
          <p:cNvSpPr/>
          <p:nvPr/>
        </p:nvSpPr>
        <p:spPr>
          <a:xfrm>
            <a:off x="11091672" y="3520440"/>
            <a:ext cx="219456" cy="219456"/>
          </a:xfrm>
          <a:prstGeom prst="ellipse">
            <a:avLst/>
          </a:prstGeom>
          <a:solidFill>
            <a:srgbClr val="2A9D8F"/>
          </a:solidFill>
          <a:ln w="12700">
            <a:solidFill>
              <a:srgbClr val="2A9D8F"/>
            </a:solidFill>
            <a:prstDash val="solid"/>
          </a:ln>
        </p:spPr>
        <p:txBody>
          <a:bodyPr/>
          <a:lstStyle/>
          <a:p>
            <a:endParaRPr lang="en-PR"/>
          </a:p>
        </p:txBody>
      </p:sp>
      <p:sp>
        <p:nvSpPr>
          <p:cNvPr id="50" name="Shape 48"/>
          <p:cNvSpPr/>
          <p:nvPr/>
        </p:nvSpPr>
        <p:spPr>
          <a:xfrm>
            <a:off x="11530584" y="3520440"/>
            <a:ext cx="219456" cy="219456"/>
          </a:xfrm>
          <a:prstGeom prst="ellipse">
            <a:avLst/>
          </a:prstGeom>
          <a:solidFill>
            <a:srgbClr val="DDE3EC"/>
          </a:solidFill>
          <a:ln w="12700">
            <a:solidFill>
              <a:srgbClr val="DDE3EC"/>
            </a:solidFill>
            <a:prstDash val="solid"/>
          </a:ln>
        </p:spPr>
        <p:txBody>
          <a:bodyPr/>
          <a:lstStyle/>
          <a:p>
            <a:endParaRPr lang="en-PR"/>
          </a:p>
        </p:txBody>
      </p:sp>
      <p:sp>
        <p:nvSpPr>
          <p:cNvPr id="51" name="Shape 49"/>
          <p:cNvSpPr/>
          <p:nvPr/>
        </p:nvSpPr>
        <p:spPr>
          <a:xfrm>
            <a:off x="8458200" y="4087368"/>
            <a:ext cx="219456" cy="219456"/>
          </a:xfrm>
          <a:prstGeom prst="ellipse">
            <a:avLst/>
          </a:prstGeom>
          <a:solidFill>
            <a:srgbClr val="DDE3EC"/>
          </a:solidFill>
          <a:ln w="12700">
            <a:solidFill>
              <a:srgbClr val="DDE3EC"/>
            </a:solidFill>
            <a:prstDash val="solid"/>
          </a:ln>
        </p:spPr>
        <p:txBody>
          <a:bodyPr/>
          <a:lstStyle/>
          <a:p>
            <a:endParaRPr lang="en-PR"/>
          </a:p>
        </p:txBody>
      </p:sp>
      <p:sp>
        <p:nvSpPr>
          <p:cNvPr id="52" name="Shape 50"/>
          <p:cNvSpPr/>
          <p:nvPr/>
        </p:nvSpPr>
        <p:spPr>
          <a:xfrm>
            <a:off x="8897112" y="4087368"/>
            <a:ext cx="219456" cy="219456"/>
          </a:xfrm>
          <a:prstGeom prst="ellipse">
            <a:avLst/>
          </a:prstGeom>
          <a:solidFill>
            <a:srgbClr val="1B2A4A"/>
          </a:solidFill>
          <a:ln w="12700">
            <a:solidFill>
              <a:srgbClr val="1B2A4A"/>
            </a:solidFill>
            <a:prstDash val="solid"/>
          </a:ln>
        </p:spPr>
        <p:txBody>
          <a:bodyPr/>
          <a:lstStyle/>
          <a:p>
            <a:endParaRPr lang="en-PR"/>
          </a:p>
        </p:txBody>
      </p:sp>
      <p:sp>
        <p:nvSpPr>
          <p:cNvPr id="53" name="Shape 51"/>
          <p:cNvSpPr/>
          <p:nvPr/>
        </p:nvSpPr>
        <p:spPr>
          <a:xfrm>
            <a:off x="9336024" y="4087368"/>
            <a:ext cx="219456" cy="219456"/>
          </a:xfrm>
          <a:prstGeom prst="ellipse">
            <a:avLst/>
          </a:prstGeom>
          <a:solidFill>
            <a:srgbClr val="C9A227"/>
          </a:solidFill>
          <a:ln w="12700">
            <a:solidFill>
              <a:srgbClr val="C9A227"/>
            </a:solidFill>
            <a:prstDash val="solid"/>
          </a:ln>
        </p:spPr>
        <p:txBody>
          <a:bodyPr/>
          <a:lstStyle/>
          <a:p>
            <a:endParaRPr lang="en-PR"/>
          </a:p>
        </p:txBody>
      </p:sp>
      <p:sp>
        <p:nvSpPr>
          <p:cNvPr id="54" name="Shape 52"/>
          <p:cNvSpPr/>
          <p:nvPr/>
        </p:nvSpPr>
        <p:spPr>
          <a:xfrm>
            <a:off x="9774936" y="4087368"/>
            <a:ext cx="219456" cy="219456"/>
          </a:xfrm>
          <a:prstGeom prst="ellipse">
            <a:avLst/>
          </a:prstGeom>
          <a:solidFill>
            <a:srgbClr val="2A9D8F"/>
          </a:solidFill>
          <a:ln w="12700">
            <a:solidFill>
              <a:srgbClr val="2A9D8F"/>
            </a:solidFill>
            <a:prstDash val="solid"/>
          </a:ln>
        </p:spPr>
        <p:txBody>
          <a:bodyPr/>
          <a:lstStyle/>
          <a:p>
            <a:endParaRPr lang="en-PR"/>
          </a:p>
        </p:txBody>
      </p:sp>
      <p:sp>
        <p:nvSpPr>
          <p:cNvPr id="55" name="Shape 53"/>
          <p:cNvSpPr/>
          <p:nvPr/>
        </p:nvSpPr>
        <p:spPr>
          <a:xfrm>
            <a:off x="10213848" y="4087368"/>
            <a:ext cx="219456" cy="219456"/>
          </a:xfrm>
          <a:prstGeom prst="ellipse">
            <a:avLst/>
          </a:prstGeom>
          <a:solidFill>
            <a:srgbClr val="DDE3EC"/>
          </a:solidFill>
          <a:ln w="12700">
            <a:solidFill>
              <a:srgbClr val="DDE3EC"/>
            </a:solidFill>
            <a:prstDash val="solid"/>
          </a:ln>
        </p:spPr>
        <p:txBody>
          <a:bodyPr/>
          <a:lstStyle/>
          <a:p>
            <a:endParaRPr lang="en-PR"/>
          </a:p>
        </p:txBody>
      </p:sp>
      <p:sp>
        <p:nvSpPr>
          <p:cNvPr id="56" name="Shape 54"/>
          <p:cNvSpPr/>
          <p:nvPr/>
        </p:nvSpPr>
        <p:spPr>
          <a:xfrm>
            <a:off x="10652760" y="4087368"/>
            <a:ext cx="219456" cy="219456"/>
          </a:xfrm>
          <a:prstGeom prst="ellipse">
            <a:avLst/>
          </a:prstGeom>
          <a:solidFill>
            <a:srgbClr val="1B2A4A"/>
          </a:solidFill>
          <a:ln w="12700">
            <a:solidFill>
              <a:srgbClr val="1B2A4A"/>
            </a:solidFill>
            <a:prstDash val="solid"/>
          </a:ln>
        </p:spPr>
        <p:txBody>
          <a:bodyPr/>
          <a:lstStyle/>
          <a:p>
            <a:endParaRPr lang="en-PR"/>
          </a:p>
        </p:txBody>
      </p:sp>
      <p:sp>
        <p:nvSpPr>
          <p:cNvPr id="57" name="Shape 55"/>
          <p:cNvSpPr/>
          <p:nvPr/>
        </p:nvSpPr>
        <p:spPr>
          <a:xfrm>
            <a:off x="11091672" y="4087368"/>
            <a:ext cx="219456" cy="219456"/>
          </a:xfrm>
          <a:prstGeom prst="ellipse">
            <a:avLst/>
          </a:prstGeom>
          <a:solidFill>
            <a:srgbClr val="C9A227"/>
          </a:solidFill>
          <a:ln w="12700">
            <a:solidFill>
              <a:srgbClr val="C9A227"/>
            </a:solidFill>
            <a:prstDash val="solid"/>
          </a:ln>
        </p:spPr>
        <p:txBody>
          <a:bodyPr/>
          <a:lstStyle/>
          <a:p>
            <a:endParaRPr lang="en-PR"/>
          </a:p>
        </p:txBody>
      </p:sp>
      <p:sp>
        <p:nvSpPr>
          <p:cNvPr id="58" name="Shape 56"/>
          <p:cNvSpPr/>
          <p:nvPr/>
        </p:nvSpPr>
        <p:spPr>
          <a:xfrm>
            <a:off x="11530584" y="4087368"/>
            <a:ext cx="219456" cy="219456"/>
          </a:xfrm>
          <a:prstGeom prst="ellipse">
            <a:avLst/>
          </a:prstGeom>
          <a:solidFill>
            <a:srgbClr val="2A9D8F"/>
          </a:solidFill>
          <a:ln w="12700">
            <a:solidFill>
              <a:srgbClr val="2A9D8F"/>
            </a:solidFill>
            <a:prstDash val="solid"/>
          </a:ln>
        </p:spPr>
        <p:txBody>
          <a:bodyPr/>
          <a:lstStyle/>
          <a:p>
            <a:endParaRPr lang="en-PR"/>
          </a:p>
        </p:txBody>
      </p:sp>
      <p:sp>
        <p:nvSpPr>
          <p:cNvPr id="59" name="Shape 57"/>
          <p:cNvSpPr/>
          <p:nvPr/>
        </p:nvSpPr>
        <p:spPr>
          <a:xfrm>
            <a:off x="8458200" y="4654296"/>
            <a:ext cx="219456" cy="219456"/>
          </a:xfrm>
          <a:prstGeom prst="ellipse">
            <a:avLst/>
          </a:prstGeom>
          <a:solidFill>
            <a:srgbClr val="2A9D8F"/>
          </a:solidFill>
          <a:ln w="12700">
            <a:solidFill>
              <a:srgbClr val="2A9D8F"/>
            </a:solidFill>
            <a:prstDash val="solid"/>
          </a:ln>
        </p:spPr>
        <p:txBody>
          <a:bodyPr/>
          <a:lstStyle/>
          <a:p>
            <a:endParaRPr lang="en-PR"/>
          </a:p>
        </p:txBody>
      </p:sp>
      <p:sp>
        <p:nvSpPr>
          <p:cNvPr id="60" name="Shape 58"/>
          <p:cNvSpPr/>
          <p:nvPr/>
        </p:nvSpPr>
        <p:spPr>
          <a:xfrm>
            <a:off x="8897112" y="4654296"/>
            <a:ext cx="219456" cy="219456"/>
          </a:xfrm>
          <a:prstGeom prst="ellipse">
            <a:avLst/>
          </a:prstGeom>
          <a:solidFill>
            <a:srgbClr val="DDE3EC"/>
          </a:solidFill>
          <a:ln w="12700">
            <a:solidFill>
              <a:srgbClr val="DDE3EC"/>
            </a:solidFill>
            <a:prstDash val="solid"/>
          </a:ln>
        </p:spPr>
        <p:txBody>
          <a:bodyPr/>
          <a:lstStyle/>
          <a:p>
            <a:endParaRPr lang="en-PR"/>
          </a:p>
        </p:txBody>
      </p:sp>
      <p:sp>
        <p:nvSpPr>
          <p:cNvPr id="61" name="Shape 59"/>
          <p:cNvSpPr/>
          <p:nvPr/>
        </p:nvSpPr>
        <p:spPr>
          <a:xfrm>
            <a:off x="9336024" y="4654296"/>
            <a:ext cx="219456" cy="219456"/>
          </a:xfrm>
          <a:prstGeom prst="ellipse">
            <a:avLst/>
          </a:prstGeom>
          <a:solidFill>
            <a:srgbClr val="1B2A4A"/>
          </a:solidFill>
          <a:ln w="12700">
            <a:solidFill>
              <a:srgbClr val="1B2A4A"/>
            </a:solidFill>
            <a:prstDash val="solid"/>
          </a:ln>
        </p:spPr>
        <p:txBody>
          <a:bodyPr/>
          <a:lstStyle/>
          <a:p>
            <a:endParaRPr lang="en-PR"/>
          </a:p>
        </p:txBody>
      </p:sp>
      <p:sp>
        <p:nvSpPr>
          <p:cNvPr id="62" name="Shape 60"/>
          <p:cNvSpPr/>
          <p:nvPr/>
        </p:nvSpPr>
        <p:spPr>
          <a:xfrm>
            <a:off x="9774936" y="4654296"/>
            <a:ext cx="219456" cy="219456"/>
          </a:xfrm>
          <a:prstGeom prst="ellipse">
            <a:avLst/>
          </a:prstGeom>
          <a:solidFill>
            <a:srgbClr val="C9A227"/>
          </a:solidFill>
          <a:ln w="12700">
            <a:solidFill>
              <a:srgbClr val="C9A227"/>
            </a:solidFill>
            <a:prstDash val="solid"/>
          </a:ln>
        </p:spPr>
        <p:txBody>
          <a:bodyPr/>
          <a:lstStyle/>
          <a:p>
            <a:endParaRPr lang="en-PR"/>
          </a:p>
        </p:txBody>
      </p:sp>
      <p:sp>
        <p:nvSpPr>
          <p:cNvPr id="63" name="Shape 61"/>
          <p:cNvSpPr/>
          <p:nvPr/>
        </p:nvSpPr>
        <p:spPr>
          <a:xfrm>
            <a:off x="10213848" y="4654296"/>
            <a:ext cx="219456" cy="219456"/>
          </a:xfrm>
          <a:prstGeom prst="ellipse">
            <a:avLst/>
          </a:prstGeom>
          <a:solidFill>
            <a:srgbClr val="2A9D8F"/>
          </a:solidFill>
          <a:ln w="12700">
            <a:solidFill>
              <a:srgbClr val="2A9D8F"/>
            </a:solidFill>
            <a:prstDash val="solid"/>
          </a:ln>
        </p:spPr>
        <p:txBody>
          <a:bodyPr/>
          <a:lstStyle/>
          <a:p>
            <a:endParaRPr lang="en-PR"/>
          </a:p>
        </p:txBody>
      </p:sp>
      <p:sp>
        <p:nvSpPr>
          <p:cNvPr id="64" name="Shape 62"/>
          <p:cNvSpPr/>
          <p:nvPr/>
        </p:nvSpPr>
        <p:spPr>
          <a:xfrm>
            <a:off x="10652760" y="4654296"/>
            <a:ext cx="219456" cy="219456"/>
          </a:xfrm>
          <a:prstGeom prst="ellipse">
            <a:avLst/>
          </a:prstGeom>
          <a:solidFill>
            <a:srgbClr val="DDE3EC"/>
          </a:solidFill>
          <a:ln w="12700">
            <a:solidFill>
              <a:srgbClr val="DDE3EC"/>
            </a:solidFill>
            <a:prstDash val="solid"/>
          </a:ln>
        </p:spPr>
        <p:txBody>
          <a:bodyPr/>
          <a:lstStyle/>
          <a:p>
            <a:endParaRPr lang="en-PR"/>
          </a:p>
        </p:txBody>
      </p:sp>
      <p:sp>
        <p:nvSpPr>
          <p:cNvPr id="65" name="Shape 63"/>
          <p:cNvSpPr/>
          <p:nvPr/>
        </p:nvSpPr>
        <p:spPr>
          <a:xfrm>
            <a:off x="11091672" y="4654296"/>
            <a:ext cx="219456" cy="219456"/>
          </a:xfrm>
          <a:prstGeom prst="ellipse">
            <a:avLst/>
          </a:prstGeom>
          <a:solidFill>
            <a:srgbClr val="1B2A4A"/>
          </a:solidFill>
          <a:ln w="12700">
            <a:solidFill>
              <a:srgbClr val="1B2A4A"/>
            </a:solidFill>
            <a:prstDash val="solid"/>
          </a:ln>
        </p:spPr>
        <p:txBody>
          <a:bodyPr/>
          <a:lstStyle/>
          <a:p>
            <a:endParaRPr lang="en-PR"/>
          </a:p>
        </p:txBody>
      </p:sp>
      <p:sp>
        <p:nvSpPr>
          <p:cNvPr id="66" name="Shape 64"/>
          <p:cNvSpPr/>
          <p:nvPr/>
        </p:nvSpPr>
        <p:spPr>
          <a:xfrm>
            <a:off x="11530584" y="4654296"/>
            <a:ext cx="219456" cy="219456"/>
          </a:xfrm>
          <a:prstGeom prst="ellipse">
            <a:avLst/>
          </a:prstGeom>
          <a:solidFill>
            <a:srgbClr val="C9A227"/>
          </a:solidFill>
          <a:ln w="12700">
            <a:solidFill>
              <a:srgbClr val="C9A227"/>
            </a:solidFill>
            <a:prstDash val="solid"/>
          </a:ln>
        </p:spPr>
        <p:txBody>
          <a:bodyPr/>
          <a:lstStyle/>
          <a:p>
            <a:endParaRPr lang="en-PR"/>
          </a:p>
        </p:txBody>
      </p:sp>
      <p:sp>
        <p:nvSpPr>
          <p:cNvPr id="67" name="Shape 65"/>
          <p:cNvSpPr/>
          <p:nvPr/>
        </p:nvSpPr>
        <p:spPr>
          <a:xfrm>
            <a:off x="8458200" y="5221224"/>
            <a:ext cx="219456" cy="219456"/>
          </a:xfrm>
          <a:prstGeom prst="ellipse">
            <a:avLst/>
          </a:prstGeom>
          <a:solidFill>
            <a:srgbClr val="C9A227"/>
          </a:solidFill>
          <a:ln w="12700">
            <a:solidFill>
              <a:srgbClr val="C9A227"/>
            </a:solidFill>
            <a:prstDash val="solid"/>
          </a:ln>
        </p:spPr>
        <p:txBody>
          <a:bodyPr/>
          <a:lstStyle/>
          <a:p>
            <a:endParaRPr lang="en-PR"/>
          </a:p>
        </p:txBody>
      </p:sp>
      <p:sp>
        <p:nvSpPr>
          <p:cNvPr id="68" name="Shape 66"/>
          <p:cNvSpPr/>
          <p:nvPr/>
        </p:nvSpPr>
        <p:spPr>
          <a:xfrm>
            <a:off x="8897112" y="5221224"/>
            <a:ext cx="219456" cy="219456"/>
          </a:xfrm>
          <a:prstGeom prst="ellipse">
            <a:avLst/>
          </a:prstGeom>
          <a:solidFill>
            <a:srgbClr val="2A9D8F"/>
          </a:solidFill>
          <a:ln w="12700">
            <a:solidFill>
              <a:srgbClr val="2A9D8F"/>
            </a:solidFill>
            <a:prstDash val="solid"/>
          </a:ln>
        </p:spPr>
        <p:txBody>
          <a:bodyPr/>
          <a:lstStyle/>
          <a:p>
            <a:endParaRPr lang="en-PR"/>
          </a:p>
        </p:txBody>
      </p:sp>
      <p:sp>
        <p:nvSpPr>
          <p:cNvPr id="69" name="Shape 67"/>
          <p:cNvSpPr/>
          <p:nvPr/>
        </p:nvSpPr>
        <p:spPr>
          <a:xfrm>
            <a:off x="9336024" y="5221224"/>
            <a:ext cx="219456" cy="219456"/>
          </a:xfrm>
          <a:prstGeom prst="ellipse">
            <a:avLst/>
          </a:prstGeom>
          <a:solidFill>
            <a:srgbClr val="DDE3EC"/>
          </a:solidFill>
          <a:ln w="12700">
            <a:solidFill>
              <a:srgbClr val="DDE3EC"/>
            </a:solidFill>
            <a:prstDash val="solid"/>
          </a:ln>
        </p:spPr>
        <p:txBody>
          <a:bodyPr/>
          <a:lstStyle/>
          <a:p>
            <a:endParaRPr lang="en-PR"/>
          </a:p>
        </p:txBody>
      </p:sp>
      <p:sp>
        <p:nvSpPr>
          <p:cNvPr id="70" name="Shape 68"/>
          <p:cNvSpPr/>
          <p:nvPr/>
        </p:nvSpPr>
        <p:spPr>
          <a:xfrm>
            <a:off x="9774936" y="5221224"/>
            <a:ext cx="219456" cy="219456"/>
          </a:xfrm>
          <a:prstGeom prst="ellipse">
            <a:avLst/>
          </a:prstGeom>
          <a:solidFill>
            <a:srgbClr val="1B2A4A"/>
          </a:solidFill>
          <a:ln w="12700">
            <a:solidFill>
              <a:srgbClr val="1B2A4A"/>
            </a:solidFill>
            <a:prstDash val="solid"/>
          </a:ln>
        </p:spPr>
        <p:txBody>
          <a:bodyPr/>
          <a:lstStyle/>
          <a:p>
            <a:endParaRPr lang="en-PR"/>
          </a:p>
        </p:txBody>
      </p:sp>
      <p:sp>
        <p:nvSpPr>
          <p:cNvPr id="71" name="Shape 69"/>
          <p:cNvSpPr/>
          <p:nvPr/>
        </p:nvSpPr>
        <p:spPr>
          <a:xfrm>
            <a:off x="10213848" y="5221224"/>
            <a:ext cx="219456" cy="219456"/>
          </a:xfrm>
          <a:prstGeom prst="ellipse">
            <a:avLst/>
          </a:prstGeom>
          <a:solidFill>
            <a:srgbClr val="C9A227"/>
          </a:solidFill>
          <a:ln w="12700">
            <a:solidFill>
              <a:srgbClr val="C9A227"/>
            </a:solidFill>
            <a:prstDash val="solid"/>
          </a:ln>
        </p:spPr>
        <p:txBody>
          <a:bodyPr/>
          <a:lstStyle/>
          <a:p>
            <a:endParaRPr lang="en-PR"/>
          </a:p>
        </p:txBody>
      </p:sp>
      <p:sp>
        <p:nvSpPr>
          <p:cNvPr id="72" name="Shape 70"/>
          <p:cNvSpPr/>
          <p:nvPr/>
        </p:nvSpPr>
        <p:spPr>
          <a:xfrm>
            <a:off x="10652760" y="5221224"/>
            <a:ext cx="219456" cy="219456"/>
          </a:xfrm>
          <a:prstGeom prst="ellipse">
            <a:avLst/>
          </a:prstGeom>
          <a:solidFill>
            <a:srgbClr val="2A9D8F"/>
          </a:solidFill>
          <a:ln w="12700">
            <a:solidFill>
              <a:srgbClr val="2A9D8F"/>
            </a:solidFill>
            <a:prstDash val="solid"/>
          </a:ln>
        </p:spPr>
        <p:txBody>
          <a:bodyPr/>
          <a:lstStyle/>
          <a:p>
            <a:endParaRPr lang="en-PR"/>
          </a:p>
        </p:txBody>
      </p:sp>
      <p:sp>
        <p:nvSpPr>
          <p:cNvPr id="73" name="Shape 71"/>
          <p:cNvSpPr/>
          <p:nvPr/>
        </p:nvSpPr>
        <p:spPr>
          <a:xfrm>
            <a:off x="11091672" y="5221224"/>
            <a:ext cx="219456" cy="219456"/>
          </a:xfrm>
          <a:prstGeom prst="ellipse">
            <a:avLst/>
          </a:prstGeom>
          <a:solidFill>
            <a:srgbClr val="DDE3EC"/>
          </a:solidFill>
          <a:ln w="12700">
            <a:solidFill>
              <a:srgbClr val="DDE3EC"/>
            </a:solidFill>
            <a:prstDash val="solid"/>
          </a:ln>
        </p:spPr>
        <p:txBody>
          <a:bodyPr/>
          <a:lstStyle/>
          <a:p>
            <a:endParaRPr lang="en-PR"/>
          </a:p>
        </p:txBody>
      </p:sp>
      <p:sp>
        <p:nvSpPr>
          <p:cNvPr id="74" name="Shape 72"/>
          <p:cNvSpPr/>
          <p:nvPr/>
        </p:nvSpPr>
        <p:spPr>
          <a:xfrm>
            <a:off x="11530584" y="5221224"/>
            <a:ext cx="219456" cy="219456"/>
          </a:xfrm>
          <a:prstGeom prst="ellipse">
            <a:avLst/>
          </a:prstGeom>
          <a:solidFill>
            <a:srgbClr val="1B2A4A"/>
          </a:solidFill>
          <a:ln w="12700">
            <a:solidFill>
              <a:srgbClr val="1B2A4A"/>
            </a:solidFill>
            <a:prstDash val="solid"/>
          </a:ln>
        </p:spPr>
        <p:txBody>
          <a:bodyPr/>
          <a:lstStyle/>
          <a:p>
            <a:endParaRPr lang="en-PR"/>
          </a:p>
        </p:txBody>
      </p:sp>
      <p:sp>
        <p:nvSpPr>
          <p:cNvPr id="75" name="Text 73"/>
          <p:cNvSpPr txBox="1"/>
          <p:nvPr/>
        </p:nvSpPr>
        <p:spPr>
          <a:xfrm>
            <a:off x="566928" y="1463040"/>
            <a:ext cx="7223760" cy="329184"/>
          </a:xfrm>
          <a:prstGeom prst="rect">
            <a:avLst/>
          </a:prstGeom>
          <a:noFill/>
          <a:ln/>
        </p:spPr>
        <p:txBody>
          <a:bodyPr wrap="square" lIns="0" tIns="0" rIns="0" bIns="0" rtlCol="0" anchor="ctr"/>
          <a:lstStyle/>
          <a:p>
            <a:pPr marL="0" indent="0">
              <a:buNone/>
            </a:pPr>
            <a:r>
              <a:rPr lang="en-US" sz="1600" b="1" kern="0" spc="200" dirty="0">
                <a:solidFill>
                  <a:srgbClr val="C9A84C"/>
                </a:solidFill>
                <a:latin typeface="Calibri" pitchFamily="34" charset="0"/>
                <a:ea typeface="Calibri" pitchFamily="34" charset="-122"/>
                <a:cs typeface="Calibri" pitchFamily="34" charset="-120"/>
              </a:rPr>
              <a:t>TALLER DE DESARROLLO PROFESIONAL</a:t>
            </a:r>
            <a:endParaRPr lang="en-US" sz="1600" dirty="0"/>
          </a:p>
        </p:txBody>
      </p:sp>
      <p:sp>
        <p:nvSpPr>
          <p:cNvPr id="76" name="Text 74"/>
          <p:cNvSpPr txBox="1"/>
          <p:nvPr/>
        </p:nvSpPr>
        <p:spPr>
          <a:xfrm>
            <a:off x="566928" y="1920240"/>
            <a:ext cx="7223760" cy="1828800"/>
          </a:xfrm>
          <a:prstGeom prst="rect">
            <a:avLst/>
          </a:prstGeom>
          <a:noFill/>
          <a:ln/>
        </p:spPr>
        <p:txBody>
          <a:bodyPr wrap="square" lIns="0" tIns="0" rIns="0" bIns="0" rtlCol="0" anchor="ctr"/>
          <a:lstStyle/>
          <a:p>
            <a:pPr marL="0" indent="0">
              <a:lnSpc>
                <a:spcPts val="5400"/>
              </a:lnSpc>
              <a:buNone/>
            </a:pPr>
            <a:r>
              <a:rPr lang="en-US" sz="4800" b="1" dirty="0">
                <a:solidFill>
                  <a:srgbClr val="FFFFFF"/>
                </a:solidFill>
                <a:latin typeface="Cambria" pitchFamily="34" charset="0"/>
                <a:ea typeface="Cambria" pitchFamily="34" charset="-122"/>
                <a:cs typeface="Cambria" pitchFamily="34" charset="-120"/>
              </a:rPr>
              <a:t>Inteligencia Artificial</a:t>
            </a:r>
            <a:endParaRPr lang="en-US" sz="4800" dirty="0"/>
          </a:p>
          <a:p>
            <a:pPr marL="0" indent="0">
              <a:lnSpc>
                <a:spcPts val="5400"/>
              </a:lnSpc>
              <a:buNone/>
            </a:pPr>
            <a:r>
              <a:rPr lang="en-US" sz="4800" b="1" dirty="0">
                <a:solidFill>
                  <a:srgbClr val="FFFFFF"/>
                </a:solidFill>
                <a:latin typeface="Cambria" pitchFamily="34" charset="0"/>
                <a:ea typeface="Cambria" pitchFamily="34" charset="-122"/>
                <a:cs typeface="Cambria" pitchFamily="34" charset="-120"/>
              </a:rPr>
              <a:t>para Docentes</a:t>
            </a:r>
            <a:endParaRPr lang="en-US" sz="4800" dirty="0"/>
          </a:p>
        </p:txBody>
      </p:sp>
      <p:sp>
        <p:nvSpPr>
          <p:cNvPr id="77" name="Shape 75"/>
          <p:cNvSpPr/>
          <p:nvPr/>
        </p:nvSpPr>
        <p:spPr>
          <a:xfrm>
            <a:off x="566928" y="4160520"/>
            <a:ext cx="2377440" cy="36576"/>
          </a:xfrm>
          <a:prstGeom prst="rect">
            <a:avLst/>
          </a:prstGeom>
          <a:solidFill>
            <a:srgbClr val="C9A227"/>
          </a:solidFill>
          <a:ln w="12700">
            <a:solidFill>
              <a:srgbClr val="C9A227"/>
            </a:solidFill>
            <a:prstDash val="solid"/>
          </a:ln>
        </p:spPr>
        <p:txBody>
          <a:bodyPr/>
          <a:lstStyle/>
          <a:p>
            <a:endParaRPr lang="en-PR"/>
          </a:p>
        </p:txBody>
      </p:sp>
      <p:sp>
        <p:nvSpPr>
          <p:cNvPr id="78" name="Text 76"/>
          <p:cNvSpPr txBox="1"/>
          <p:nvPr/>
        </p:nvSpPr>
        <p:spPr>
          <a:xfrm>
            <a:off x="566928" y="4407408"/>
            <a:ext cx="7223760" cy="402336"/>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Dr. Héctor J. Corraliza Montero, Ed.D.</a:t>
            </a:r>
            <a:endParaRPr lang="en-US" sz="2400" dirty="0"/>
          </a:p>
        </p:txBody>
      </p:sp>
      <p:sp>
        <p:nvSpPr>
          <p:cNvPr id="79" name="Text 77"/>
          <p:cNvSpPr txBox="1"/>
          <p:nvPr/>
        </p:nvSpPr>
        <p:spPr>
          <a:xfrm>
            <a:off x="566928" y="4882896"/>
            <a:ext cx="7223760" cy="786384"/>
          </a:xfrm>
          <a:prstGeom prst="rect">
            <a:avLst/>
          </a:prstGeom>
          <a:noFill/>
          <a:ln/>
        </p:spPr>
        <p:txBody>
          <a:bodyPr wrap="square" lIns="0" tIns="0" rIns="0" bIns="0" rtlCol="0" anchor="t"/>
          <a:lstStyle/>
          <a:p>
            <a:pPr marL="0" indent="0">
              <a:lnSpc>
                <a:spcPts val="2500"/>
              </a:lnSpc>
              <a:buNone/>
            </a:pPr>
            <a:r>
              <a:rPr lang="en-US" sz="1700" dirty="0">
                <a:solidFill>
                  <a:srgbClr val="DDE3EC"/>
                </a:solidFill>
                <a:latin typeface="Calibri" pitchFamily="34" charset="0"/>
                <a:ea typeface="Calibri" pitchFamily="34" charset="-122"/>
                <a:cs typeface="Calibri" pitchFamily="34" charset="-120"/>
              </a:rPr>
              <a:t>Facilitador Docente de Matemáticas</a:t>
            </a:r>
            <a:endParaRPr lang="en-US" sz="1700" dirty="0"/>
          </a:p>
          <a:p>
            <a:pPr marL="0" indent="0">
              <a:lnSpc>
                <a:spcPts val="2500"/>
              </a:lnSpc>
              <a:buNone/>
            </a:pPr>
            <a:r>
              <a:rPr lang="en-US" sz="1700" dirty="0">
                <a:solidFill>
                  <a:srgbClr val="DDE3EC"/>
                </a:solidFill>
                <a:latin typeface="Calibri" pitchFamily="34" charset="0"/>
                <a:ea typeface="Calibri" pitchFamily="34" charset="-122"/>
                <a:cs typeface="Calibri" pitchFamily="34" charset="-120"/>
              </a:rPr>
              <a:t>Oficina Regional Educativa de Ponce · Departamento de Educación de Puerto Rico</a:t>
            </a:r>
            <a:endParaRPr lang="en-US" sz="1700" dirty="0"/>
          </a:p>
        </p:txBody>
      </p:sp>
      <p:sp>
        <p:nvSpPr>
          <p:cNvPr id="80" name="Text 78"/>
          <p:cNvSpPr txBox="1"/>
          <p:nvPr/>
        </p:nvSpPr>
        <p:spPr>
          <a:xfrm>
            <a:off x="566928" y="5797296"/>
            <a:ext cx="7223760" cy="329184"/>
          </a:xfrm>
          <a:prstGeom prst="rect">
            <a:avLst/>
          </a:prstGeom>
          <a:noFill/>
          <a:ln/>
        </p:spPr>
        <p:txBody>
          <a:bodyPr wrap="square" lIns="0" tIns="0" rIns="0" bIns="0" rtlCol="0" anchor="ctr"/>
          <a:lstStyle/>
          <a:p>
            <a:pPr marL="0" indent="0">
              <a:buNone/>
            </a:pPr>
            <a:r>
              <a:rPr lang="en-US" sz="1600" b="1" dirty="0">
                <a:solidFill>
                  <a:srgbClr val="C9A84C"/>
                </a:solidFill>
                <a:latin typeface="Calibri" pitchFamily="34" charset="0"/>
                <a:ea typeface="Calibri" pitchFamily="34" charset="-122"/>
                <a:cs typeface="Calibri" pitchFamily="34" charset="-120"/>
              </a:rPr>
              <a:t>Septiembre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AL FINALIZAR ESTE TALLER USTED PODRÁ</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Objetivos de aprendizaje</a:t>
            </a:r>
            <a:endParaRPr lang="en-US" sz="3000" dirty="0"/>
          </a:p>
        </p:txBody>
      </p:sp>
      <p:sp>
        <p:nvSpPr>
          <p:cNvPr id="4" name="Shape 2"/>
          <p:cNvSpPr/>
          <p:nvPr/>
        </p:nvSpPr>
        <p:spPr>
          <a:xfrm>
            <a:off x="566928" y="1609344"/>
            <a:ext cx="11057839" cy="1316736"/>
          </a:xfrm>
          <a:prstGeom prst="roundRect">
            <a:avLst>
              <a:gd name="adj" fmla="val 625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22960" y="1975104"/>
            <a:ext cx="603504" cy="603504"/>
          </a:xfrm>
          <a:prstGeom prst="ellipse">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22960" y="1975104"/>
            <a:ext cx="603504" cy="603504"/>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1609344" y="1810512"/>
            <a:ext cx="9692640" cy="914400"/>
          </a:xfrm>
          <a:prstGeom prst="rect">
            <a:avLst/>
          </a:prstGeom>
          <a:noFill/>
          <a:ln/>
        </p:spPr>
        <p:txBody>
          <a:bodyPr wrap="square" lIns="0" tIns="0" rIns="0" bIns="0" rtlCol="0" anchor="ctr"/>
          <a:lstStyle/>
          <a:p>
            <a:pPr marL="0" indent="0">
              <a:lnSpc>
                <a:spcPts val="2700"/>
              </a:lnSpc>
              <a:buNone/>
            </a:pPr>
            <a:r>
              <a:rPr lang="en-US" sz="2000" b="1" dirty="0">
                <a:solidFill>
                  <a:srgbClr val="1B2A4A"/>
                </a:solidFill>
                <a:latin typeface="Calibri" pitchFamily="34" charset="0"/>
                <a:ea typeface="Calibri" pitchFamily="34" charset="-122"/>
                <a:cs typeface="Calibri" pitchFamily="34" charset="-120"/>
              </a:rPr>
              <a:t>Explicar </a:t>
            </a:r>
            <a:r>
              <a:rPr lang="en-US" sz="1800" dirty="0">
                <a:solidFill>
                  <a:srgbClr val="2C3548"/>
                </a:solidFill>
                <a:latin typeface="Calibri" pitchFamily="34" charset="0"/>
                <a:ea typeface="Calibri" pitchFamily="34" charset="-122"/>
                <a:cs typeface="Calibri" pitchFamily="34" charset="-120"/>
              </a:rPr>
              <a:t>qué es y qué no es la IA generativa, y por qué produce errores plausibles.</a:t>
            </a:r>
            <a:endParaRPr lang="en-US" sz="2000" dirty="0"/>
          </a:p>
        </p:txBody>
      </p:sp>
      <p:sp>
        <p:nvSpPr>
          <p:cNvPr id="8" name="Shape 6"/>
          <p:cNvSpPr/>
          <p:nvPr/>
        </p:nvSpPr>
        <p:spPr>
          <a:xfrm>
            <a:off x="566928" y="3090672"/>
            <a:ext cx="11057839" cy="1316736"/>
          </a:xfrm>
          <a:prstGeom prst="roundRect">
            <a:avLst>
              <a:gd name="adj" fmla="val 6250"/>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9" name="Shape 7"/>
          <p:cNvSpPr/>
          <p:nvPr/>
        </p:nvSpPr>
        <p:spPr>
          <a:xfrm>
            <a:off x="822960" y="3456432"/>
            <a:ext cx="603504" cy="603504"/>
          </a:xfrm>
          <a:prstGeom prst="ellipse">
            <a:avLst/>
          </a:prstGeom>
          <a:solidFill>
            <a:srgbClr val="2A9D8F"/>
          </a:solidFill>
          <a:ln w="12700">
            <a:solidFill>
              <a:srgbClr val="2A9D8F"/>
            </a:solidFill>
            <a:prstDash val="solid"/>
          </a:ln>
        </p:spPr>
        <p:txBody>
          <a:bodyPr/>
          <a:lstStyle/>
          <a:p>
            <a:endParaRPr lang="en-PR"/>
          </a:p>
        </p:txBody>
      </p:sp>
      <p:sp>
        <p:nvSpPr>
          <p:cNvPr id="10" name="Text 8"/>
          <p:cNvSpPr txBox="1"/>
          <p:nvPr/>
        </p:nvSpPr>
        <p:spPr>
          <a:xfrm>
            <a:off x="822960" y="3456432"/>
            <a:ext cx="603504" cy="603504"/>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1609344" y="3291840"/>
            <a:ext cx="9692640" cy="914400"/>
          </a:xfrm>
          <a:prstGeom prst="rect">
            <a:avLst/>
          </a:prstGeom>
          <a:noFill/>
          <a:ln/>
        </p:spPr>
        <p:txBody>
          <a:bodyPr wrap="square" lIns="0" tIns="0" rIns="0" bIns="0" rtlCol="0" anchor="ctr"/>
          <a:lstStyle/>
          <a:p>
            <a:pPr marL="0" indent="0">
              <a:lnSpc>
                <a:spcPts val="2700"/>
              </a:lnSpc>
              <a:buNone/>
            </a:pPr>
            <a:r>
              <a:rPr lang="en-US" sz="2000" b="1" dirty="0">
                <a:solidFill>
                  <a:srgbClr val="1B2A4A"/>
                </a:solidFill>
                <a:latin typeface="Calibri" pitchFamily="34" charset="0"/>
                <a:ea typeface="Calibri" pitchFamily="34" charset="-122"/>
                <a:cs typeface="Calibri" pitchFamily="34" charset="-120"/>
              </a:rPr>
              <a:t>Distinguir </a:t>
            </a:r>
            <a:r>
              <a:rPr lang="en-US" sz="1800" dirty="0">
                <a:solidFill>
                  <a:srgbClr val="2C3548"/>
                </a:solidFill>
                <a:latin typeface="Calibri" pitchFamily="34" charset="0"/>
                <a:ea typeface="Calibri" pitchFamily="34" charset="-122"/>
                <a:cs typeface="Calibri" pitchFamily="34" charset="-120"/>
              </a:rPr>
              <a:t>las herramientas de propósito general de las diseñadas para el aula.</a:t>
            </a:r>
            <a:endParaRPr lang="en-US" sz="2000" dirty="0"/>
          </a:p>
        </p:txBody>
      </p:sp>
      <p:sp>
        <p:nvSpPr>
          <p:cNvPr id="12" name="Shape 10"/>
          <p:cNvSpPr/>
          <p:nvPr/>
        </p:nvSpPr>
        <p:spPr>
          <a:xfrm>
            <a:off x="566928" y="4572000"/>
            <a:ext cx="11057839" cy="1316736"/>
          </a:xfrm>
          <a:prstGeom prst="roundRect">
            <a:avLst>
              <a:gd name="adj" fmla="val 625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3" name="Shape 11"/>
          <p:cNvSpPr/>
          <p:nvPr/>
        </p:nvSpPr>
        <p:spPr>
          <a:xfrm>
            <a:off x="822960" y="4937760"/>
            <a:ext cx="603504" cy="603504"/>
          </a:xfrm>
          <a:prstGeom prst="ellipse">
            <a:avLst/>
          </a:prstGeom>
          <a:solidFill>
            <a:srgbClr val="1B2A4A"/>
          </a:solidFill>
          <a:ln w="12700">
            <a:solidFill>
              <a:srgbClr val="1B2A4A"/>
            </a:solidFill>
            <a:prstDash val="solid"/>
          </a:ln>
        </p:spPr>
        <p:txBody>
          <a:bodyPr/>
          <a:lstStyle/>
          <a:p>
            <a:endParaRPr lang="en-PR"/>
          </a:p>
        </p:txBody>
      </p:sp>
      <p:sp>
        <p:nvSpPr>
          <p:cNvPr id="14" name="Text 12"/>
          <p:cNvSpPr txBox="1"/>
          <p:nvPr/>
        </p:nvSpPr>
        <p:spPr>
          <a:xfrm>
            <a:off x="822960" y="4937760"/>
            <a:ext cx="603504" cy="603504"/>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1609344" y="4773168"/>
            <a:ext cx="9692640" cy="914400"/>
          </a:xfrm>
          <a:prstGeom prst="rect">
            <a:avLst/>
          </a:prstGeom>
          <a:noFill/>
          <a:ln/>
        </p:spPr>
        <p:txBody>
          <a:bodyPr wrap="square" lIns="0" tIns="0" rIns="0" bIns="0" rtlCol="0" anchor="ctr"/>
          <a:lstStyle/>
          <a:p>
            <a:pPr marL="0" indent="0">
              <a:lnSpc>
                <a:spcPts val="2700"/>
              </a:lnSpc>
              <a:buNone/>
            </a:pPr>
            <a:r>
              <a:rPr lang="en-US" sz="2000" b="1" dirty="0">
                <a:solidFill>
                  <a:srgbClr val="1B2A4A"/>
                </a:solidFill>
                <a:latin typeface="Calibri" pitchFamily="34" charset="0"/>
                <a:ea typeface="Calibri" pitchFamily="34" charset="-122"/>
                <a:cs typeface="Calibri" pitchFamily="34" charset="-120"/>
              </a:rPr>
              <a:t>Aplicar </a:t>
            </a:r>
            <a:r>
              <a:rPr lang="en-US" sz="1800" dirty="0">
                <a:solidFill>
                  <a:srgbClr val="2C3548"/>
                </a:solidFill>
                <a:latin typeface="Calibri" pitchFamily="34" charset="0"/>
                <a:ea typeface="Calibri" pitchFamily="34" charset="-122"/>
                <a:cs typeface="Calibri" pitchFamily="34" charset="-120"/>
              </a:rPr>
              <a:t>el modelo RC-TTF para redactar instrucciones (prompts) de calidad.</a:t>
            </a:r>
            <a:endParaRPr lang="en-US" sz="2000" dirty="0"/>
          </a:p>
        </p:txBody>
      </p:sp>
      <p:sp>
        <p:nvSpPr>
          <p:cNvPr id="16" name="Text 14"/>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7" name="Text 15"/>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2</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AL FINALIZAR ESTE TALLER USTED PODRÁ</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Objetivos de aprendizaje (cont.)</a:t>
            </a:r>
            <a:endParaRPr lang="en-US" sz="3000" dirty="0"/>
          </a:p>
        </p:txBody>
      </p:sp>
      <p:sp>
        <p:nvSpPr>
          <p:cNvPr id="4" name="Shape 2"/>
          <p:cNvSpPr/>
          <p:nvPr/>
        </p:nvSpPr>
        <p:spPr>
          <a:xfrm>
            <a:off x="566928" y="1609344"/>
            <a:ext cx="11057839" cy="1316736"/>
          </a:xfrm>
          <a:prstGeom prst="roundRect">
            <a:avLst>
              <a:gd name="adj" fmla="val 6250"/>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22960" y="1975104"/>
            <a:ext cx="603504" cy="603504"/>
          </a:xfrm>
          <a:prstGeom prst="ellipse">
            <a:avLst/>
          </a:prstGeom>
          <a:solidFill>
            <a:srgbClr val="2A9D8F"/>
          </a:solidFill>
          <a:ln w="12700">
            <a:solidFill>
              <a:srgbClr val="2A9D8F"/>
            </a:solidFill>
            <a:prstDash val="solid"/>
          </a:ln>
        </p:spPr>
        <p:txBody>
          <a:bodyPr/>
          <a:lstStyle/>
          <a:p>
            <a:endParaRPr lang="en-PR"/>
          </a:p>
        </p:txBody>
      </p:sp>
      <p:sp>
        <p:nvSpPr>
          <p:cNvPr id="6" name="Text 4"/>
          <p:cNvSpPr txBox="1"/>
          <p:nvPr/>
        </p:nvSpPr>
        <p:spPr>
          <a:xfrm>
            <a:off x="822960" y="1975104"/>
            <a:ext cx="603504" cy="603504"/>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7" name="Text 5"/>
          <p:cNvSpPr txBox="1"/>
          <p:nvPr/>
        </p:nvSpPr>
        <p:spPr>
          <a:xfrm>
            <a:off x="1609344" y="1810512"/>
            <a:ext cx="9692640" cy="914400"/>
          </a:xfrm>
          <a:prstGeom prst="rect">
            <a:avLst/>
          </a:prstGeom>
          <a:noFill/>
          <a:ln/>
        </p:spPr>
        <p:txBody>
          <a:bodyPr wrap="square" lIns="0" tIns="0" rIns="0" bIns="0" rtlCol="0" anchor="ctr"/>
          <a:lstStyle/>
          <a:p>
            <a:pPr marL="0" indent="0">
              <a:lnSpc>
                <a:spcPts val="2700"/>
              </a:lnSpc>
              <a:buNone/>
            </a:pPr>
            <a:r>
              <a:rPr lang="en-US" sz="2000" b="1" dirty="0">
                <a:solidFill>
                  <a:srgbClr val="1B2A4A"/>
                </a:solidFill>
                <a:latin typeface="Calibri" pitchFamily="34" charset="0"/>
                <a:ea typeface="Calibri" pitchFamily="34" charset="-122"/>
                <a:cs typeface="Calibri" pitchFamily="34" charset="-120"/>
              </a:rPr>
              <a:t>Cumplir </a:t>
            </a:r>
            <a:r>
              <a:rPr lang="en-US" sz="1800" dirty="0">
                <a:solidFill>
                  <a:srgbClr val="2C3548"/>
                </a:solidFill>
                <a:latin typeface="Calibri" pitchFamily="34" charset="0"/>
                <a:ea typeface="Calibri" pitchFamily="34" charset="-122"/>
                <a:cs typeface="Calibri" pitchFamily="34" charset="-120"/>
              </a:rPr>
              <a:t>con la política del DEPR, FERPA y COPPA al usar IA con estudiantes.</a:t>
            </a:r>
            <a:endParaRPr lang="en-US" sz="2000" dirty="0"/>
          </a:p>
        </p:txBody>
      </p:sp>
      <p:sp>
        <p:nvSpPr>
          <p:cNvPr id="8" name="Shape 6"/>
          <p:cNvSpPr/>
          <p:nvPr/>
        </p:nvSpPr>
        <p:spPr>
          <a:xfrm>
            <a:off x="566928" y="3090672"/>
            <a:ext cx="11057839" cy="1316736"/>
          </a:xfrm>
          <a:prstGeom prst="roundRect">
            <a:avLst>
              <a:gd name="adj" fmla="val 625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9" name="Shape 7"/>
          <p:cNvSpPr/>
          <p:nvPr/>
        </p:nvSpPr>
        <p:spPr>
          <a:xfrm>
            <a:off x="822960" y="3456432"/>
            <a:ext cx="603504" cy="603504"/>
          </a:xfrm>
          <a:prstGeom prst="ellipse">
            <a:avLst/>
          </a:prstGeom>
          <a:solidFill>
            <a:srgbClr val="1B2A4A"/>
          </a:solidFill>
          <a:ln w="12700">
            <a:solidFill>
              <a:srgbClr val="1B2A4A"/>
            </a:solidFill>
            <a:prstDash val="solid"/>
          </a:ln>
        </p:spPr>
        <p:txBody>
          <a:bodyPr/>
          <a:lstStyle/>
          <a:p>
            <a:endParaRPr lang="en-PR"/>
          </a:p>
        </p:txBody>
      </p:sp>
      <p:sp>
        <p:nvSpPr>
          <p:cNvPr id="10" name="Text 8"/>
          <p:cNvSpPr txBox="1"/>
          <p:nvPr/>
        </p:nvSpPr>
        <p:spPr>
          <a:xfrm>
            <a:off x="822960" y="3456432"/>
            <a:ext cx="603504" cy="603504"/>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11" name="Text 9"/>
          <p:cNvSpPr txBox="1"/>
          <p:nvPr/>
        </p:nvSpPr>
        <p:spPr>
          <a:xfrm>
            <a:off x="1609344" y="3291840"/>
            <a:ext cx="9692640" cy="914400"/>
          </a:xfrm>
          <a:prstGeom prst="rect">
            <a:avLst/>
          </a:prstGeom>
          <a:noFill/>
          <a:ln/>
        </p:spPr>
        <p:txBody>
          <a:bodyPr wrap="square" lIns="0" tIns="0" rIns="0" bIns="0" rtlCol="0" anchor="ctr"/>
          <a:lstStyle/>
          <a:p>
            <a:pPr marL="0" indent="0">
              <a:lnSpc>
                <a:spcPts val="2700"/>
              </a:lnSpc>
              <a:buNone/>
            </a:pPr>
            <a:r>
              <a:rPr lang="en-US" sz="2000" b="1" dirty="0">
                <a:solidFill>
                  <a:srgbClr val="1B2A4A"/>
                </a:solidFill>
                <a:latin typeface="Calibri" pitchFamily="34" charset="0"/>
                <a:ea typeface="Calibri" pitchFamily="34" charset="-122"/>
                <a:cs typeface="Calibri" pitchFamily="34" charset="-120"/>
              </a:rPr>
              <a:t>Rediseñar </a:t>
            </a:r>
            <a:r>
              <a:rPr lang="en-US" sz="1800" dirty="0">
                <a:solidFill>
                  <a:srgbClr val="2C3548"/>
                </a:solidFill>
                <a:latin typeface="Calibri" pitchFamily="34" charset="0"/>
                <a:ea typeface="Calibri" pitchFamily="34" charset="-122"/>
                <a:cs typeface="Calibri" pitchFamily="34" charset="-120"/>
              </a:rPr>
              <a:t>una tarea de su curso para que la IA fortalezca —y no sustituya— el aprendizaje.</a:t>
            </a:r>
            <a:endParaRPr lang="en-US" sz="2000" dirty="0"/>
          </a:p>
        </p:txBody>
      </p:sp>
      <p:sp>
        <p:nvSpPr>
          <p:cNvPr id="12" name="Shape 10"/>
          <p:cNvSpPr/>
          <p:nvPr/>
        </p:nvSpPr>
        <p:spPr>
          <a:xfrm>
            <a:off x="566928" y="4572000"/>
            <a:ext cx="11057839" cy="1316736"/>
          </a:xfrm>
          <a:prstGeom prst="roundRect">
            <a:avLst>
              <a:gd name="adj" fmla="val 6250"/>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13" name="Shape 11"/>
          <p:cNvSpPr/>
          <p:nvPr/>
        </p:nvSpPr>
        <p:spPr>
          <a:xfrm>
            <a:off x="822960" y="4937760"/>
            <a:ext cx="603504" cy="603504"/>
          </a:xfrm>
          <a:prstGeom prst="ellipse">
            <a:avLst/>
          </a:prstGeom>
          <a:solidFill>
            <a:srgbClr val="2A9D8F"/>
          </a:solidFill>
          <a:ln w="12700">
            <a:solidFill>
              <a:srgbClr val="2A9D8F"/>
            </a:solidFill>
            <a:prstDash val="solid"/>
          </a:ln>
        </p:spPr>
        <p:txBody>
          <a:bodyPr/>
          <a:lstStyle/>
          <a:p>
            <a:endParaRPr lang="en-PR"/>
          </a:p>
        </p:txBody>
      </p:sp>
      <p:sp>
        <p:nvSpPr>
          <p:cNvPr id="14" name="Text 12"/>
          <p:cNvSpPr txBox="1"/>
          <p:nvPr/>
        </p:nvSpPr>
        <p:spPr>
          <a:xfrm>
            <a:off x="822960" y="4937760"/>
            <a:ext cx="603504" cy="603504"/>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15" name="Text 13"/>
          <p:cNvSpPr txBox="1"/>
          <p:nvPr/>
        </p:nvSpPr>
        <p:spPr>
          <a:xfrm>
            <a:off x="1609344" y="4773168"/>
            <a:ext cx="9692640" cy="914400"/>
          </a:xfrm>
          <a:prstGeom prst="rect">
            <a:avLst/>
          </a:prstGeom>
          <a:noFill/>
          <a:ln/>
        </p:spPr>
        <p:txBody>
          <a:bodyPr wrap="square" lIns="0" tIns="0" rIns="0" bIns="0" rtlCol="0" anchor="ctr"/>
          <a:lstStyle/>
          <a:p>
            <a:pPr marL="0" indent="0">
              <a:lnSpc>
                <a:spcPts val="2700"/>
              </a:lnSpc>
              <a:buNone/>
            </a:pPr>
            <a:r>
              <a:rPr lang="en-US" sz="2000" b="1" dirty="0">
                <a:solidFill>
                  <a:srgbClr val="1B2A4A"/>
                </a:solidFill>
                <a:latin typeface="Calibri" pitchFamily="34" charset="0"/>
                <a:ea typeface="Calibri" pitchFamily="34" charset="-122"/>
                <a:cs typeface="Calibri" pitchFamily="34" charset="-120"/>
              </a:rPr>
              <a:t>Evaluar </a:t>
            </a:r>
            <a:r>
              <a:rPr lang="en-US" sz="1800" dirty="0">
                <a:solidFill>
                  <a:srgbClr val="2C3548"/>
                </a:solidFill>
                <a:latin typeface="Calibri" pitchFamily="34" charset="0"/>
                <a:ea typeface="Calibri" pitchFamily="34" charset="-122"/>
                <a:cs typeface="Calibri" pitchFamily="34" charset="-120"/>
              </a:rPr>
              <a:t>críticamente cualquier herramienta nueva antes de llevarla al salón.</a:t>
            </a:r>
            <a:endParaRPr lang="en-US" sz="2000" dirty="0"/>
          </a:p>
        </p:txBody>
      </p:sp>
      <p:sp>
        <p:nvSpPr>
          <p:cNvPr id="16" name="Text 14"/>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7" name="Text 15"/>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3</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AGENDA</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Ruta del taller</a:t>
            </a:r>
            <a:endParaRPr lang="en-US" sz="3000" dirty="0"/>
          </a:p>
        </p:txBody>
      </p:sp>
      <p:sp>
        <p:nvSpPr>
          <p:cNvPr id="4" name="Shape 2"/>
          <p:cNvSpPr/>
          <p:nvPr/>
        </p:nvSpPr>
        <p:spPr>
          <a:xfrm>
            <a:off x="566928" y="1554480"/>
            <a:ext cx="5422392" cy="1042416"/>
          </a:xfrm>
          <a:prstGeom prst="roundRect">
            <a:avLst>
              <a:gd name="adj" fmla="val 7895"/>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786384" y="1792224"/>
            <a:ext cx="566928" cy="566928"/>
          </a:xfrm>
          <a:prstGeom prst="ellipse">
            <a:avLst/>
          </a:prstGeom>
          <a:solidFill>
            <a:srgbClr val="2A9D8F"/>
          </a:solidFill>
          <a:ln w="12700">
            <a:solidFill>
              <a:srgbClr val="2A9D8F"/>
            </a:solidFill>
            <a:prstDash val="solid"/>
          </a:ln>
        </p:spPr>
        <p:txBody>
          <a:bodyPr/>
          <a:lstStyle/>
          <a:p>
            <a:endParaRPr lang="en-PR"/>
          </a:p>
        </p:txBody>
      </p:sp>
      <p:sp>
        <p:nvSpPr>
          <p:cNvPr id="6" name="Text 4"/>
          <p:cNvSpPr txBox="1"/>
          <p:nvPr/>
        </p:nvSpPr>
        <p:spPr>
          <a:xfrm>
            <a:off x="786384" y="179222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1499616" y="1682496"/>
            <a:ext cx="4251960" cy="347472"/>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Dónde estamos</a:t>
            </a:r>
            <a:endParaRPr lang="en-US" sz="2000" dirty="0"/>
          </a:p>
        </p:txBody>
      </p:sp>
      <p:sp>
        <p:nvSpPr>
          <p:cNvPr id="8" name="Text 6"/>
          <p:cNvSpPr txBox="1"/>
          <p:nvPr/>
        </p:nvSpPr>
        <p:spPr>
          <a:xfrm>
            <a:off x="1499616" y="2048256"/>
            <a:ext cx="4270248" cy="475488"/>
          </a:xfrm>
          <a:prstGeom prst="rect">
            <a:avLst/>
          </a:prstGeom>
          <a:noFill/>
          <a:ln/>
        </p:spPr>
        <p:txBody>
          <a:bodyPr wrap="square" lIns="0" tIns="0" rIns="0" bIns="0" rtlCol="0" anchor="t"/>
          <a:lstStyle/>
          <a:p>
            <a:pPr marL="0" indent="0">
              <a:lnSpc>
                <a:spcPts val="2200"/>
              </a:lnSpc>
              <a:buNone/>
            </a:pPr>
            <a:r>
              <a:rPr lang="en-US" sz="1600" dirty="0">
                <a:solidFill>
                  <a:srgbClr val="2C3548"/>
                </a:solidFill>
                <a:latin typeface="Calibri" pitchFamily="34" charset="0"/>
                <a:ea typeface="Calibri" pitchFamily="34" charset="-122"/>
                <a:cs typeface="Calibri" pitchFamily="34" charset="-120"/>
              </a:rPr>
              <a:t>El panorama de la IA en 2026 y los datos del uso docente</a:t>
            </a:r>
            <a:endParaRPr lang="en-US" sz="1600" dirty="0"/>
          </a:p>
        </p:txBody>
      </p:sp>
      <p:sp>
        <p:nvSpPr>
          <p:cNvPr id="9" name="Shape 7"/>
          <p:cNvSpPr/>
          <p:nvPr/>
        </p:nvSpPr>
        <p:spPr>
          <a:xfrm>
            <a:off x="566928" y="2724912"/>
            <a:ext cx="5422392" cy="1042416"/>
          </a:xfrm>
          <a:prstGeom prst="roundRect">
            <a:avLst>
              <a:gd name="adj" fmla="val 7895"/>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10" name="Shape 8"/>
          <p:cNvSpPr/>
          <p:nvPr/>
        </p:nvSpPr>
        <p:spPr>
          <a:xfrm>
            <a:off x="786384" y="2962656"/>
            <a:ext cx="566928" cy="566928"/>
          </a:xfrm>
          <a:prstGeom prst="ellipse">
            <a:avLst/>
          </a:prstGeom>
          <a:solidFill>
            <a:srgbClr val="C9A227"/>
          </a:solidFill>
          <a:ln w="12700">
            <a:solidFill>
              <a:srgbClr val="C9A227"/>
            </a:solidFill>
            <a:prstDash val="solid"/>
          </a:ln>
        </p:spPr>
        <p:txBody>
          <a:bodyPr/>
          <a:lstStyle/>
          <a:p>
            <a:endParaRPr lang="en-PR"/>
          </a:p>
        </p:txBody>
      </p:sp>
      <p:sp>
        <p:nvSpPr>
          <p:cNvPr id="11" name="Text 9"/>
          <p:cNvSpPr txBox="1"/>
          <p:nvPr/>
        </p:nvSpPr>
        <p:spPr>
          <a:xfrm>
            <a:off x="786384" y="2962656"/>
            <a:ext cx="566928" cy="566928"/>
          </a:xfrm>
          <a:prstGeom prst="rect">
            <a:avLst/>
          </a:prstGeom>
          <a:noFill/>
          <a:ln/>
        </p:spPr>
        <p:txBody>
          <a:bodyPr wrap="square" lIns="0" tIns="0" rIns="0" bIns="0" rtlCol="0" anchor="ctr"/>
          <a:lstStyle/>
          <a:p>
            <a:pPr marL="0" indent="0" algn="ctr">
              <a:buNone/>
            </a:pPr>
            <a:r>
              <a:rPr lang="en-US" sz="2200" b="1" dirty="0">
                <a:solidFill>
                  <a:srgbClr val="1B2A4A"/>
                </a:solidFill>
                <a:latin typeface="Cambria" pitchFamily="34" charset="0"/>
                <a:ea typeface="Cambria" pitchFamily="34" charset="-122"/>
                <a:cs typeface="Cambria" pitchFamily="34" charset="-120"/>
              </a:rPr>
              <a:t>2</a:t>
            </a:r>
            <a:endParaRPr lang="en-US" sz="2200" dirty="0"/>
          </a:p>
        </p:txBody>
      </p:sp>
      <p:sp>
        <p:nvSpPr>
          <p:cNvPr id="12" name="Text 10"/>
          <p:cNvSpPr txBox="1"/>
          <p:nvPr/>
        </p:nvSpPr>
        <p:spPr>
          <a:xfrm>
            <a:off x="1499616" y="2852928"/>
            <a:ext cx="4251960" cy="347472"/>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Ingeniería de prompts</a:t>
            </a:r>
            <a:endParaRPr lang="en-US" sz="2000" dirty="0"/>
          </a:p>
        </p:txBody>
      </p:sp>
      <p:sp>
        <p:nvSpPr>
          <p:cNvPr id="13" name="Text 11"/>
          <p:cNvSpPr txBox="1"/>
          <p:nvPr/>
        </p:nvSpPr>
        <p:spPr>
          <a:xfrm>
            <a:off x="1499616" y="3218688"/>
            <a:ext cx="4270248" cy="475488"/>
          </a:xfrm>
          <a:prstGeom prst="rect">
            <a:avLst/>
          </a:prstGeom>
          <a:noFill/>
          <a:ln/>
        </p:spPr>
        <p:txBody>
          <a:bodyPr wrap="square" lIns="0" tIns="0" rIns="0" bIns="0" rtlCol="0" anchor="t"/>
          <a:lstStyle/>
          <a:p>
            <a:pPr marL="0" indent="0">
              <a:lnSpc>
                <a:spcPts val="2200"/>
              </a:lnSpc>
              <a:buNone/>
            </a:pPr>
            <a:r>
              <a:rPr lang="en-US" sz="1600" dirty="0">
                <a:solidFill>
                  <a:srgbClr val="2C3548"/>
                </a:solidFill>
                <a:latin typeface="Calibri" pitchFamily="34" charset="0"/>
                <a:ea typeface="Calibri" pitchFamily="34" charset="-122"/>
                <a:cs typeface="Calibri" pitchFamily="34" charset="-120"/>
              </a:rPr>
              <a:t>El modelo RC-TTF y ejemplos por materia de 6.º a 12.º grado</a:t>
            </a:r>
            <a:endParaRPr lang="en-US" sz="1600" dirty="0"/>
          </a:p>
        </p:txBody>
      </p:sp>
      <p:sp>
        <p:nvSpPr>
          <p:cNvPr id="14" name="Shape 12"/>
          <p:cNvSpPr/>
          <p:nvPr/>
        </p:nvSpPr>
        <p:spPr>
          <a:xfrm>
            <a:off x="566928" y="3895344"/>
            <a:ext cx="5422392" cy="1042416"/>
          </a:xfrm>
          <a:prstGeom prst="roundRect">
            <a:avLst>
              <a:gd name="adj" fmla="val 7895"/>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5" name="Shape 13"/>
          <p:cNvSpPr/>
          <p:nvPr/>
        </p:nvSpPr>
        <p:spPr>
          <a:xfrm>
            <a:off x="786384" y="4133088"/>
            <a:ext cx="566928" cy="566928"/>
          </a:xfrm>
          <a:prstGeom prst="ellipse">
            <a:avLst/>
          </a:prstGeom>
          <a:solidFill>
            <a:srgbClr val="1B2A4A"/>
          </a:solidFill>
          <a:ln w="12700">
            <a:solidFill>
              <a:srgbClr val="1B2A4A"/>
            </a:solidFill>
            <a:prstDash val="solid"/>
          </a:ln>
        </p:spPr>
        <p:txBody>
          <a:bodyPr/>
          <a:lstStyle/>
          <a:p>
            <a:endParaRPr lang="en-PR"/>
          </a:p>
        </p:txBody>
      </p:sp>
      <p:sp>
        <p:nvSpPr>
          <p:cNvPr id="16" name="Text 14"/>
          <p:cNvSpPr txBox="1"/>
          <p:nvPr/>
        </p:nvSpPr>
        <p:spPr>
          <a:xfrm>
            <a:off x="786384" y="413308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txBox="1"/>
          <p:nvPr/>
        </p:nvSpPr>
        <p:spPr>
          <a:xfrm>
            <a:off x="1499616" y="4023360"/>
            <a:ext cx="4251960" cy="347472"/>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Fundamentos</a:t>
            </a:r>
            <a:endParaRPr lang="en-US" sz="2000" dirty="0"/>
          </a:p>
        </p:txBody>
      </p:sp>
      <p:sp>
        <p:nvSpPr>
          <p:cNvPr id="18" name="Text 16"/>
          <p:cNvSpPr txBox="1"/>
          <p:nvPr/>
        </p:nvSpPr>
        <p:spPr>
          <a:xfrm>
            <a:off x="1499616" y="4389120"/>
            <a:ext cx="4270248" cy="475488"/>
          </a:xfrm>
          <a:prstGeom prst="rect">
            <a:avLst/>
          </a:prstGeom>
          <a:noFill/>
          <a:ln/>
        </p:spPr>
        <p:txBody>
          <a:bodyPr wrap="square" lIns="0" tIns="0" rIns="0" bIns="0" rtlCol="0" anchor="t"/>
          <a:lstStyle/>
          <a:p>
            <a:pPr marL="0" indent="0">
              <a:lnSpc>
                <a:spcPts val="2200"/>
              </a:lnSpc>
              <a:buNone/>
            </a:pPr>
            <a:r>
              <a:rPr lang="en-US" sz="1600" dirty="0">
                <a:solidFill>
                  <a:srgbClr val="2C3548"/>
                </a:solidFill>
                <a:latin typeface="Calibri" pitchFamily="34" charset="0"/>
                <a:ea typeface="Calibri" pitchFamily="34" charset="-122"/>
                <a:cs typeface="Calibri" pitchFamily="34" charset="-120"/>
              </a:rPr>
              <a:t>Qué es, cómo funciona y por qué se equivoca</a:t>
            </a:r>
            <a:endParaRPr lang="en-US" sz="1600" dirty="0"/>
          </a:p>
        </p:txBody>
      </p:sp>
      <p:sp>
        <p:nvSpPr>
          <p:cNvPr id="19" name="Shape 17"/>
          <p:cNvSpPr/>
          <p:nvPr/>
        </p:nvSpPr>
        <p:spPr>
          <a:xfrm>
            <a:off x="566928" y="5065776"/>
            <a:ext cx="5422392" cy="1042416"/>
          </a:xfrm>
          <a:prstGeom prst="roundRect">
            <a:avLst>
              <a:gd name="adj" fmla="val 7895"/>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20" name="Shape 18"/>
          <p:cNvSpPr/>
          <p:nvPr/>
        </p:nvSpPr>
        <p:spPr>
          <a:xfrm>
            <a:off x="786384" y="5303520"/>
            <a:ext cx="566928" cy="566928"/>
          </a:xfrm>
          <a:prstGeom prst="ellipse">
            <a:avLst/>
          </a:prstGeom>
          <a:solidFill>
            <a:srgbClr val="2A9D8F"/>
          </a:solidFill>
          <a:ln w="12700">
            <a:solidFill>
              <a:srgbClr val="2A9D8F"/>
            </a:solidFill>
            <a:prstDash val="solid"/>
          </a:ln>
        </p:spPr>
        <p:txBody>
          <a:bodyPr/>
          <a:lstStyle/>
          <a:p>
            <a:endParaRPr lang="en-PR"/>
          </a:p>
        </p:txBody>
      </p:sp>
      <p:sp>
        <p:nvSpPr>
          <p:cNvPr id="21" name="Text 19"/>
          <p:cNvSpPr txBox="1"/>
          <p:nvPr/>
        </p:nvSpPr>
        <p:spPr>
          <a:xfrm>
            <a:off x="786384" y="53035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2" name="Text 20"/>
          <p:cNvSpPr txBox="1"/>
          <p:nvPr/>
        </p:nvSpPr>
        <p:spPr>
          <a:xfrm>
            <a:off x="1499616" y="5193792"/>
            <a:ext cx="4251960" cy="347472"/>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El ecosistema</a:t>
            </a:r>
            <a:endParaRPr lang="en-US" sz="2000" dirty="0"/>
          </a:p>
        </p:txBody>
      </p:sp>
      <p:sp>
        <p:nvSpPr>
          <p:cNvPr id="23" name="Text 21"/>
          <p:cNvSpPr txBox="1"/>
          <p:nvPr/>
        </p:nvSpPr>
        <p:spPr>
          <a:xfrm>
            <a:off x="1499616" y="5559552"/>
            <a:ext cx="4270248" cy="475488"/>
          </a:xfrm>
          <a:prstGeom prst="rect">
            <a:avLst/>
          </a:prstGeom>
          <a:noFill/>
          <a:ln/>
        </p:spPr>
        <p:txBody>
          <a:bodyPr wrap="square" lIns="0" tIns="0" rIns="0" bIns="0" rtlCol="0" anchor="t"/>
          <a:lstStyle/>
          <a:p>
            <a:pPr marL="0" indent="0">
              <a:lnSpc>
                <a:spcPts val="2200"/>
              </a:lnSpc>
              <a:buNone/>
            </a:pPr>
            <a:r>
              <a:rPr lang="en-US" sz="1600" dirty="0">
                <a:solidFill>
                  <a:srgbClr val="2C3548"/>
                </a:solidFill>
                <a:latin typeface="Calibri" pitchFamily="34" charset="0"/>
                <a:ea typeface="Calibri" pitchFamily="34" charset="-122"/>
                <a:cs typeface="Calibri" pitchFamily="34" charset="-120"/>
              </a:rPr>
              <a:t>Asistentes generales y herramientas para el aula</a:t>
            </a:r>
            <a:endParaRPr lang="en-US" sz="1600" dirty="0"/>
          </a:p>
        </p:txBody>
      </p:sp>
      <p:sp>
        <p:nvSpPr>
          <p:cNvPr id="24" name="Shape 22"/>
          <p:cNvSpPr/>
          <p:nvPr/>
        </p:nvSpPr>
        <p:spPr>
          <a:xfrm>
            <a:off x="6190488" y="1554480"/>
            <a:ext cx="5422392" cy="1042416"/>
          </a:xfrm>
          <a:prstGeom prst="roundRect">
            <a:avLst>
              <a:gd name="adj" fmla="val 7895"/>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25" name="Shape 23"/>
          <p:cNvSpPr/>
          <p:nvPr/>
        </p:nvSpPr>
        <p:spPr>
          <a:xfrm>
            <a:off x="6409944" y="1792224"/>
            <a:ext cx="566928" cy="566928"/>
          </a:xfrm>
          <a:prstGeom prst="ellipse">
            <a:avLst/>
          </a:prstGeom>
          <a:solidFill>
            <a:srgbClr val="1B2A4A"/>
          </a:solidFill>
          <a:ln w="12700">
            <a:solidFill>
              <a:srgbClr val="1B2A4A"/>
            </a:solidFill>
            <a:prstDash val="solid"/>
          </a:ln>
        </p:spPr>
        <p:txBody>
          <a:bodyPr/>
          <a:lstStyle/>
          <a:p>
            <a:endParaRPr lang="en-PR"/>
          </a:p>
        </p:txBody>
      </p:sp>
      <p:sp>
        <p:nvSpPr>
          <p:cNvPr id="26" name="Text 24"/>
          <p:cNvSpPr txBox="1"/>
          <p:nvPr/>
        </p:nvSpPr>
        <p:spPr>
          <a:xfrm>
            <a:off x="6409944" y="179222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7" name="Text 25"/>
          <p:cNvSpPr txBox="1"/>
          <p:nvPr/>
        </p:nvSpPr>
        <p:spPr>
          <a:xfrm>
            <a:off x="7123176" y="1682496"/>
            <a:ext cx="4251960" cy="347472"/>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Uso responsable</a:t>
            </a:r>
            <a:endParaRPr lang="en-US" sz="2000" dirty="0"/>
          </a:p>
        </p:txBody>
      </p:sp>
      <p:sp>
        <p:nvSpPr>
          <p:cNvPr id="28" name="Text 26"/>
          <p:cNvSpPr txBox="1"/>
          <p:nvPr/>
        </p:nvSpPr>
        <p:spPr>
          <a:xfrm>
            <a:off x="7123176" y="2048256"/>
            <a:ext cx="4270248" cy="475488"/>
          </a:xfrm>
          <a:prstGeom prst="rect">
            <a:avLst/>
          </a:prstGeom>
          <a:noFill/>
          <a:ln/>
        </p:spPr>
        <p:txBody>
          <a:bodyPr wrap="square" lIns="0" tIns="0" rIns="0" bIns="0" rtlCol="0" anchor="t"/>
          <a:lstStyle/>
          <a:p>
            <a:pPr marL="0" indent="0">
              <a:lnSpc>
                <a:spcPts val="2200"/>
              </a:lnSpc>
              <a:buNone/>
            </a:pPr>
            <a:r>
              <a:rPr lang="en-US" sz="1600" dirty="0">
                <a:solidFill>
                  <a:srgbClr val="2C3548"/>
                </a:solidFill>
                <a:latin typeface="Calibri" pitchFamily="34" charset="0"/>
                <a:ea typeface="Calibri" pitchFamily="34" charset="-122"/>
                <a:cs typeface="Calibri" pitchFamily="34" charset="-120"/>
              </a:rPr>
              <a:t>Política del DEPR, privacidad, sesgo e integridad académica</a:t>
            </a:r>
            <a:endParaRPr lang="en-US" sz="1600" dirty="0"/>
          </a:p>
        </p:txBody>
      </p:sp>
      <p:sp>
        <p:nvSpPr>
          <p:cNvPr id="29" name="Shape 27"/>
          <p:cNvSpPr/>
          <p:nvPr/>
        </p:nvSpPr>
        <p:spPr>
          <a:xfrm>
            <a:off x="6190488" y="2724912"/>
            <a:ext cx="5422392" cy="1042416"/>
          </a:xfrm>
          <a:prstGeom prst="roundRect">
            <a:avLst>
              <a:gd name="adj" fmla="val 7895"/>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30" name="Shape 28"/>
          <p:cNvSpPr/>
          <p:nvPr/>
        </p:nvSpPr>
        <p:spPr>
          <a:xfrm>
            <a:off x="6409944" y="2962656"/>
            <a:ext cx="566928" cy="566928"/>
          </a:xfrm>
          <a:prstGeom prst="ellipse">
            <a:avLst/>
          </a:prstGeom>
          <a:solidFill>
            <a:srgbClr val="C9A227"/>
          </a:solidFill>
          <a:ln w="12700">
            <a:solidFill>
              <a:srgbClr val="C9A227"/>
            </a:solidFill>
            <a:prstDash val="solid"/>
          </a:ln>
        </p:spPr>
        <p:txBody>
          <a:bodyPr/>
          <a:lstStyle/>
          <a:p>
            <a:endParaRPr lang="en-PR"/>
          </a:p>
        </p:txBody>
      </p:sp>
      <p:sp>
        <p:nvSpPr>
          <p:cNvPr id="31" name="Text 29"/>
          <p:cNvSpPr txBox="1"/>
          <p:nvPr/>
        </p:nvSpPr>
        <p:spPr>
          <a:xfrm>
            <a:off x="6409944" y="2962656"/>
            <a:ext cx="566928" cy="566928"/>
          </a:xfrm>
          <a:prstGeom prst="rect">
            <a:avLst/>
          </a:prstGeom>
          <a:noFill/>
          <a:ln/>
        </p:spPr>
        <p:txBody>
          <a:bodyPr wrap="square" lIns="0" tIns="0" rIns="0" bIns="0" rtlCol="0" anchor="ctr"/>
          <a:lstStyle/>
          <a:p>
            <a:pPr marL="0" indent="0" algn="ctr">
              <a:buNone/>
            </a:pPr>
            <a:r>
              <a:rPr lang="en-US" sz="2200" b="1" dirty="0">
                <a:solidFill>
                  <a:srgbClr val="1B2A4A"/>
                </a:solidFill>
                <a:latin typeface="Cambria" pitchFamily="34" charset="0"/>
                <a:ea typeface="Cambria" pitchFamily="34" charset="-122"/>
                <a:cs typeface="Cambria" pitchFamily="34" charset="-120"/>
              </a:rPr>
              <a:t>6</a:t>
            </a:r>
            <a:endParaRPr lang="en-US" sz="2200" dirty="0"/>
          </a:p>
        </p:txBody>
      </p:sp>
      <p:sp>
        <p:nvSpPr>
          <p:cNvPr id="32" name="Text 30"/>
          <p:cNvSpPr txBox="1"/>
          <p:nvPr/>
        </p:nvSpPr>
        <p:spPr>
          <a:xfrm>
            <a:off x="7123176" y="2852928"/>
            <a:ext cx="4251960" cy="347472"/>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Práctica</a:t>
            </a:r>
            <a:endParaRPr lang="en-US" sz="2000" dirty="0"/>
          </a:p>
        </p:txBody>
      </p:sp>
      <p:sp>
        <p:nvSpPr>
          <p:cNvPr id="33" name="Text 31"/>
          <p:cNvSpPr txBox="1"/>
          <p:nvPr/>
        </p:nvSpPr>
        <p:spPr>
          <a:xfrm>
            <a:off x="7123176" y="3218688"/>
            <a:ext cx="4270248" cy="475488"/>
          </a:xfrm>
          <a:prstGeom prst="rect">
            <a:avLst/>
          </a:prstGeom>
          <a:noFill/>
          <a:ln/>
        </p:spPr>
        <p:txBody>
          <a:bodyPr wrap="square" lIns="0" tIns="0" rIns="0" bIns="0" rtlCol="0" anchor="t"/>
          <a:lstStyle/>
          <a:p>
            <a:pPr marL="0" indent="0">
              <a:lnSpc>
                <a:spcPts val="2200"/>
              </a:lnSpc>
              <a:buNone/>
            </a:pPr>
            <a:r>
              <a:rPr lang="en-US" sz="1600" dirty="0">
                <a:solidFill>
                  <a:srgbClr val="2C3548"/>
                </a:solidFill>
                <a:latin typeface="Calibri" pitchFamily="34" charset="0"/>
                <a:ea typeface="Calibri" pitchFamily="34" charset="-122"/>
                <a:cs typeface="Calibri" pitchFamily="34" charset="-120"/>
              </a:rPr>
              <a:t>Rediseño de tareas y reglas de uso en cada asignación</a:t>
            </a:r>
            <a:endParaRPr lang="en-US" sz="1600" dirty="0"/>
          </a:p>
        </p:txBody>
      </p:sp>
      <p:sp>
        <p:nvSpPr>
          <p:cNvPr id="34" name="Shape 32"/>
          <p:cNvSpPr/>
          <p:nvPr/>
        </p:nvSpPr>
        <p:spPr>
          <a:xfrm>
            <a:off x="6190488" y="3895344"/>
            <a:ext cx="5422392" cy="1042416"/>
          </a:xfrm>
          <a:prstGeom prst="roundRect">
            <a:avLst>
              <a:gd name="adj" fmla="val 7895"/>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35" name="Shape 33"/>
          <p:cNvSpPr/>
          <p:nvPr/>
        </p:nvSpPr>
        <p:spPr>
          <a:xfrm>
            <a:off x="6409944" y="4133088"/>
            <a:ext cx="566928" cy="566928"/>
          </a:xfrm>
          <a:prstGeom prst="ellipse">
            <a:avLst/>
          </a:prstGeom>
          <a:solidFill>
            <a:srgbClr val="2A9D8F"/>
          </a:solidFill>
          <a:ln w="12700">
            <a:solidFill>
              <a:srgbClr val="2A9D8F"/>
            </a:solidFill>
            <a:prstDash val="solid"/>
          </a:ln>
        </p:spPr>
        <p:txBody>
          <a:bodyPr/>
          <a:lstStyle/>
          <a:p>
            <a:endParaRPr lang="en-PR"/>
          </a:p>
        </p:txBody>
      </p:sp>
      <p:sp>
        <p:nvSpPr>
          <p:cNvPr id="36" name="Text 34"/>
          <p:cNvSpPr txBox="1"/>
          <p:nvPr/>
        </p:nvSpPr>
        <p:spPr>
          <a:xfrm>
            <a:off x="6409944" y="413308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7</a:t>
            </a:r>
            <a:endParaRPr lang="en-US" sz="2200" dirty="0"/>
          </a:p>
        </p:txBody>
      </p:sp>
      <p:sp>
        <p:nvSpPr>
          <p:cNvPr id="37" name="Text 35"/>
          <p:cNvSpPr txBox="1"/>
          <p:nvPr/>
        </p:nvSpPr>
        <p:spPr>
          <a:xfrm>
            <a:off x="7123176" y="4023360"/>
            <a:ext cx="4251960" cy="347472"/>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Plan de acción</a:t>
            </a:r>
            <a:endParaRPr lang="en-US" sz="2000" dirty="0"/>
          </a:p>
        </p:txBody>
      </p:sp>
      <p:sp>
        <p:nvSpPr>
          <p:cNvPr id="38" name="Text 36"/>
          <p:cNvSpPr txBox="1"/>
          <p:nvPr/>
        </p:nvSpPr>
        <p:spPr>
          <a:xfrm>
            <a:off x="7123176" y="4389120"/>
            <a:ext cx="4270248" cy="475488"/>
          </a:xfrm>
          <a:prstGeom prst="rect">
            <a:avLst/>
          </a:prstGeom>
          <a:noFill/>
          <a:ln/>
        </p:spPr>
        <p:txBody>
          <a:bodyPr wrap="square" lIns="0" tIns="0" rIns="0" bIns="0" rtlCol="0" anchor="t"/>
          <a:lstStyle/>
          <a:p>
            <a:pPr marL="0" indent="0">
              <a:lnSpc>
                <a:spcPts val="2200"/>
              </a:lnSpc>
              <a:buNone/>
            </a:pPr>
            <a:r>
              <a:rPr lang="en-US" sz="1600" dirty="0">
                <a:solidFill>
                  <a:srgbClr val="2C3548"/>
                </a:solidFill>
                <a:latin typeface="Calibri" pitchFamily="34" charset="0"/>
                <a:ea typeface="Calibri" pitchFamily="34" charset="-122"/>
                <a:cs typeface="Calibri" pitchFamily="34" charset="-120"/>
              </a:rPr>
              <a:t>Sus próximos 30, 60 y 90 días</a:t>
            </a:r>
            <a:endParaRPr lang="en-US" sz="1600" dirty="0"/>
          </a:p>
        </p:txBody>
      </p:sp>
      <p:sp>
        <p:nvSpPr>
          <p:cNvPr id="39" name="Text 37"/>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40" name="Text 38"/>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4</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2103120"/>
            <a:ext cx="1463040" cy="1463040"/>
          </a:xfrm>
          <a:prstGeom prst="ellipse">
            <a:avLst/>
          </a:prstGeom>
          <a:solidFill>
            <a:srgbClr val="C9A227"/>
          </a:solidFill>
          <a:ln w="12700">
            <a:solidFill>
              <a:srgbClr val="C9A227"/>
            </a:solidFill>
            <a:prstDash val="solid"/>
          </a:ln>
        </p:spPr>
        <p:txBody>
          <a:bodyPr/>
          <a:lstStyle/>
          <a:p>
            <a:endParaRPr lang="en-PR"/>
          </a:p>
        </p:txBody>
      </p:sp>
      <p:sp>
        <p:nvSpPr>
          <p:cNvPr id="3" name="Text 1"/>
          <p:cNvSpPr txBox="1"/>
          <p:nvPr/>
        </p:nvSpPr>
        <p:spPr>
          <a:xfrm>
            <a:off x="566928" y="2103120"/>
            <a:ext cx="1463040" cy="1463040"/>
          </a:xfrm>
          <a:prstGeom prst="rect">
            <a:avLst/>
          </a:prstGeom>
          <a:noFill/>
          <a:ln/>
        </p:spPr>
        <p:txBody>
          <a:bodyPr wrap="square" lIns="0" tIns="0" rIns="0" bIns="0" rtlCol="0" anchor="ctr"/>
          <a:lstStyle/>
          <a:p>
            <a:pPr marL="0" indent="0" algn="ctr">
              <a:buNone/>
            </a:pPr>
            <a:r>
              <a:rPr lang="en-US" sz="5600" b="1" dirty="0">
                <a:solidFill>
                  <a:srgbClr val="1B2A4A"/>
                </a:solidFill>
                <a:latin typeface="Cambria" pitchFamily="34" charset="0"/>
                <a:ea typeface="Cambria" pitchFamily="34" charset="-122"/>
                <a:cs typeface="Cambria" pitchFamily="34" charset="-120"/>
              </a:rPr>
              <a:t>1</a:t>
            </a:r>
            <a:endParaRPr lang="en-US" sz="5600" dirty="0"/>
          </a:p>
        </p:txBody>
      </p:sp>
      <p:sp>
        <p:nvSpPr>
          <p:cNvPr id="4" name="Text 2"/>
          <p:cNvSpPr txBox="1"/>
          <p:nvPr/>
        </p:nvSpPr>
        <p:spPr>
          <a:xfrm>
            <a:off x="2377440" y="2029968"/>
            <a:ext cx="9052560" cy="96012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¿Dónde estamos?</a:t>
            </a:r>
            <a:endParaRPr lang="en-US" sz="4200" dirty="0"/>
          </a:p>
        </p:txBody>
      </p:sp>
      <p:sp>
        <p:nvSpPr>
          <p:cNvPr id="5" name="Text 3"/>
          <p:cNvSpPr txBox="1"/>
          <p:nvPr/>
        </p:nvSpPr>
        <p:spPr>
          <a:xfrm>
            <a:off x="2377440" y="3035808"/>
            <a:ext cx="9052560" cy="822960"/>
          </a:xfrm>
          <a:prstGeom prst="rect">
            <a:avLst/>
          </a:prstGeom>
          <a:noFill/>
          <a:ln/>
        </p:spPr>
        <p:txBody>
          <a:bodyPr wrap="square" lIns="0" tIns="0" rIns="0" bIns="0" rtlCol="0" anchor="t"/>
          <a:lstStyle/>
          <a:p>
            <a:pPr marL="0" indent="0">
              <a:lnSpc>
                <a:spcPts val="2700"/>
              </a:lnSpc>
              <a:buNone/>
            </a:pPr>
            <a:r>
              <a:rPr lang="en-US" sz="2000" dirty="0">
                <a:solidFill>
                  <a:srgbClr val="DDE3EC"/>
                </a:solidFill>
                <a:latin typeface="Calibri" pitchFamily="34" charset="0"/>
                <a:ea typeface="Calibri" pitchFamily="34" charset="-122"/>
                <a:cs typeface="Calibri" pitchFamily="34" charset="-120"/>
              </a:rPr>
              <a:t>El panorama de la inteligencia artificial en 2026 y lo que dicen los datos sobre el uso docente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PUNTO DE PARTIDA</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Usted ya usa IA todos los días</a:t>
            </a:r>
            <a:endParaRPr lang="en-US" sz="3000" dirty="0"/>
          </a:p>
        </p:txBody>
      </p:sp>
      <p:sp>
        <p:nvSpPr>
          <p:cNvPr id="4" name="Text 2"/>
          <p:cNvSpPr txBox="1"/>
          <p:nvPr/>
        </p:nvSpPr>
        <p:spPr>
          <a:xfrm>
            <a:off x="566928" y="1444752"/>
            <a:ext cx="11057839" cy="402336"/>
          </a:xfrm>
          <a:prstGeom prst="rect">
            <a:avLst/>
          </a:prstGeom>
          <a:noFill/>
          <a:ln/>
        </p:spPr>
        <p:txBody>
          <a:bodyPr wrap="square" lIns="0" tIns="0" rIns="0" bIns="0" rtlCol="0" anchor="ctr"/>
          <a:lstStyle/>
          <a:p>
            <a:pPr marL="0" indent="0">
              <a:buNone/>
            </a:pPr>
            <a:r>
              <a:rPr lang="en-US" sz="2000" i="1" dirty="0">
                <a:solidFill>
                  <a:srgbClr val="2A9D8F"/>
                </a:solidFill>
                <a:latin typeface="Calibri" pitchFamily="34" charset="0"/>
                <a:ea typeface="Calibri" pitchFamily="34" charset="-122"/>
                <a:cs typeface="Calibri" pitchFamily="34" charset="-120"/>
              </a:rPr>
              <a:t>La pregunta no es si va a usar inteligencia artificial. Es si la va a usar con criterio.</a:t>
            </a:r>
            <a:endParaRPr lang="en-US" sz="2000" dirty="0"/>
          </a:p>
        </p:txBody>
      </p:sp>
      <p:sp>
        <p:nvSpPr>
          <p:cNvPr id="5" name="Shape 3"/>
          <p:cNvSpPr/>
          <p:nvPr/>
        </p:nvSpPr>
        <p:spPr>
          <a:xfrm>
            <a:off x="566928" y="2011680"/>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6" name="Shape 4"/>
          <p:cNvSpPr/>
          <p:nvPr/>
        </p:nvSpPr>
        <p:spPr>
          <a:xfrm>
            <a:off x="841248" y="2267712"/>
            <a:ext cx="329184" cy="329184"/>
          </a:xfrm>
          <a:prstGeom prst="ellipse">
            <a:avLst/>
          </a:prstGeom>
          <a:solidFill>
            <a:srgbClr val="C9A227"/>
          </a:solidFill>
          <a:ln w="12700">
            <a:solidFill>
              <a:srgbClr val="C9A227"/>
            </a:solidFill>
            <a:prstDash val="solid"/>
          </a:ln>
        </p:spPr>
        <p:txBody>
          <a:bodyPr/>
          <a:lstStyle/>
          <a:p>
            <a:endParaRPr lang="en-PR"/>
          </a:p>
        </p:txBody>
      </p:sp>
      <p:sp>
        <p:nvSpPr>
          <p:cNvPr id="7" name="Text 5"/>
          <p:cNvSpPr txBox="1"/>
          <p:nvPr/>
        </p:nvSpPr>
        <p:spPr>
          <a:xfrm>
            <a:off x="841248" y="2706624"/>
            <a:ext cx="484632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Teclado predictivo</a:t>
            </a:r>
            <a:endParaRPr lang="en-US" sz="2000" dirty="0"/>
          </a:p>
        </p:txBody>
      </p:sp>
      <p:sp>
        <p:nvSpPr>
          <p:cNvPr id="8" name="Text 6"/>
          <p:cNvSpPr txBox="1"/>
          <p:nvPr/>
        </p:nvSpPr>
        <p:spPr>
          <a:xfrm>
            <a:off x="841248" y="3108960"/>
            <a:ext cx="4892040" cy="621792"/>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Su celular predice la próxima palabra con el mismo principio que ChatGPT.</a:t>
            </a:r>
            <a:endParaRPr lang="en-US" sz="1800" dirty="0"/>
          </a:p>
        </p:txBody>
      </p:sp>
      <p:sp>
        <p:nvSpPr>
          <p:cNvPr id="9" name="Shape 7"/>
          <p:cNvSpPr/>
          <p:nvPr/>
        </p:nvSpPr>
        <p:spPr>
          <a:xfrm>
            <a:off x="6190488" y="2011680"/>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0" name="Shape 8"/>
          <p:cNvSpPr/>
          <p:nvPr/>
        </p:nvSpPr>
        <p:spPr>
          <a:xfrm>
            <a:off x="6464808" y="2267712"/>
            <a:ext cx="329184" cy="329184"/>
          </a:xfrm>
          <a:prstGeom prst="ellipse">
            <a:avLst/>
          </a:prstGeom>
          <a:solidFill>
            <a:srgbClr val="2A9D8F"/>
          </a:solidFill>
          <a:ln w="12700">
            <a:solidFill>
              <a:srgbClr val="2A9D8F"/>
            </a:solidFill>
            <a:prstDash val="solid"/>
          </a:ln>
        </p:spPr>
        <p:txBody>
          <a:bodyPr/>
          <a:lstStyle/>
          <a:p>
            <a:endParaRPr lang="en-PR"/>
          </a:p>
        </p:txBody>
      </p:sp>
      <p:sp>
        <p:nvSpPr>
          <p:cNvPr id="11" name="Text 9"/>
          <p:cNvSpPr txBox="1"/>
          <p:nvPr/>
        </p:nvSpPr>
        <p:spPr>
          <a:xfrm>
            <a:off x="6464808" y="2706624"/>
            <a:ext cx="484632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Filtro de correo</a:t>
            </a:r>
            <a:endParaRPr lang="en-US" sz="2000" dirty="0"/>
          </a:p>
        </p:txBody>
      </p:sp>
      <p:sp>
        <p:nvSpPr>
          <p:cNvPr id="12" name="Text 10"/>
          <p:cNvSpPr txBox="1"/>
          <p:nvPr/>
        </p:nvSpPr>
        <p:spPr>
          <a:xfrm>
            <a:off x="6464808" y="3108960"/>
            <a:ext cx="4892040" cy="621792"/>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Clasifica spam aprendiendo de millones de ejemplos etiquetados.</a:t>
            </a:r>
            <a:endParaRPr lang="en-US" sz="1800" dirty="0"/>
          </a:p>
        </p:txBody>
      </p:sp>
      <p:sp>
        <p:nvSpPr>
          <p:cNvPr id="13" name="Shape 11"/>
          <p:cNvSpPr/>
          <p:nvPr/>
        </p:nvSpPr>
        <p:spPr>
          <a:xfrm>
            <a:off x="566928" y="3986784"/>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4" name="Shape 12"/>
          <p:cNvSpPr/>
          <p:nvPr/>
        </p:nvSpPr>
        <p:spPr>
          <a:xfrm>
            <a:off x="841248" y="4242816"/>
            <a:ext cx="329184" cy="329184"/>
          </a:xfrm>
          <a:prstGeom prst="ellipse">
            <a:avLst/>
          </a:prstGeom>
          <a:solidFill>
            <a:srgbClr val="C9A227"/>
          </a:solidFill>
          <a:ln w="12700">
            <a:solidFill>
              <a:srgbClr val="C9A227"/>
            </a:solidFill>
            <a:prstDash val="solid"/>
          </a:ln>
        </p:spPr>
        <p:txBody>
          <a:bodyPr/>
          <a:lstStyle/>
          <a:p>
            <a:endParaRPr lang="en-PR"/>
          </a:p>
        </p:txBody>
      </p:sp>
      <p:sp>
        <p:nvSpPr>
          <p:cNvPr id="15" name="Text 13"/>
          <p:cNvSpPr txBox="1"/>
          <p:nvPr/>
        </p:nvSpPr>
        <p:spPr>
          <a:xfrm>
            <a:off x="841248" y="4681728"/>
            <a:ext cx="484632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Mapas y tránsito</a:t>
            </a:r>
            <a:endParaRPr lang="en-US" sz="2000" dirty="0"/>
          </a:p>
        </p:txBody>
      </p:sp>
      <p:sp>
        <p:nvSpPr>
          <p:cNvPr id="16" name="Text 14"/>
          <p:cNvSpPr txBox="1"/>
          <p:nvPr/>
        </p:nvSpPr>
        <p:spPr>
          <a:xfrm>
            <a:off x="841248" y="5084064"/>
            <a:ext cx="4892040" cy="621792"/>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Predice tiempos de llegada con datos históricos y en tiempo real.</a:t>
            </a:r>
            <a:endParaRPr lang="en-US" sz="1800" dirty="0"/>
          </a:p>
        </p:txBody>
      </p:sp>
      <p:sp>
        <p:nvSpPr>
          <p:cNvPr id="17" name="Shape 15"/>
          <p:cNvSpPr/>
          <p:nvPr/>
        </p:nvSpPr>
        <p:spPr>
          <a:xfrm>
            <a:off x="6190488" y="3986784"/>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8" name="Shape 16"/>
          <p:cNvSpPr/>
          <p:nvPr/>
        </p:nvSpPr>
        <p:spPr>
          <a:xfrm>
            <a:off x="6464808" y="4242816"/>
            <a:ext cx="329184" cy="329184"/>
          </a:xfrm>
          <a:prstGeom prst="ellipse">
            <a:avLst/>
          </a:prstGeom>
          <a:solidFill>
            <a:srgbClr val="2A9D8F"/>
          </a:solidFill>
          <a:ln w="12700">
            <a:solidFill>
              <a:srgbClr val="2A9D8F"/>
            </a:solidFill>
            <a:prstDash val="solid"/>
          </a:ln>
        </p:spPr>
        <p:txBody>
          <a:bodyPr/>
          <a:lstStyle/>
          <a:p>
            <a:endParaRPr lang="en-PR"/>
          </a:p>
        </p:txBody>
      </p:sp>
      <p:sp>
        <p:nvSpPr>
          <p:cNvPr id="19" name="Text 17"/>
          <p:cNvSpPr txBox="1"/>
          <p:nvPr/>
        </p:nvSpPr>
        <p:spPr>
          <a:xfrm>
            <a:off x="6464808" y="4681728"/>
            <a:ext cx="484632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Traductor</a:t>
            </a:r>
            <a:endParaRPr lang="en-US" sz="2000" dirty="0"/>
          </a:p>
        </p:txBody>
      </p:sp>
      <p:sp>
        <p:nvSpPr>
          <p:cNvPr id="20" name="Text 18"/>
          <p:cNvSpPr txBox="1"/>
          <p:nvPr/>
        </p:nvSpPr>
        <p:spPr>
          <a:xfrm>
            <a:off x="6464808" y="5084064"/>
            <a:ext cx="4892040" cy="621792"/>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Traduce por contexto completo, no palabra por palabra.</a:t>
            </a:r>
            <a:endParaRPr lang="en-US" sz="1800" dirty="0"/>
          </a:p>
        </p:txBody>
      </p:sp>
      <p:sp>
        <p:nvSpPr>
          <p:cNvPr id="21" name="Text 19"/>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2" name="Text 20"/>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6</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PUNTO DE PARTIDA</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Usted ya usa IA todos los días (cont.)</a:t>
            </a:r>
            <a:endParaRPr lang="en-US" sz="3000" dirty="0"/>
          </a:p>
        </p:txBody>
      </p:sp>
      <p:sp>
        <p:nvSpPr>
          <p:cNvPr id="4" name="Shape 2"/>
          <p:cNvSpPr/>
          <p:nvPr/>
        </p:nvSpPr>
        <p:spPr>
          <a:xfrm>
            <a:off x="566928" y="1737360"/>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41248" y="1993392"/>
            <a:ext cx="329184" cy="329184"/>
          </a:xfrm>
          <a:prstGeom prst="ellipse">
            <a:avLst/>
          </a:prstGeom>
          <a:solidFill>
            <a:srgbClr val="C9A227"/>
          </a:solidFill>
          <a:ln w="12700">
            <a:solidFill>
              <a:srgbClr val="C9A227"/>
            </a:solidFill>
            <a:prstDash val="solid"/>
          </a:ln>
        </p:spPr>
        <p:txBody>
          <a:bodyPr/>
          <a:lstStyle/>
          <a:p>
            <a:endParaRPr lang="en-PR"/>
          </a:p>
        </p:txBody>
      </p:sp>
      <p:sp>
        <p:nvSpPr>
          <p:cNvPr id="6" name="Text 4"/>
          <p:cNvSpPr txBox="1"/>
          <p:nvPr/>
        </p:nvSpPr>
        <p:spPr>
          <a:xfrm>
            <a:off x="841248" y="2432304"/>
            <a:ext cx="484632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Recomendaciones</a:t>
            </a:r>
            <a:endParaRPr lang="en-US" sz="2000" dirty="0"/>
          </a:p>
        </p:txBody>
      </p:sp>
      <p:sp>
        <p:nvSpPr>
          <p:cNvPr id="7" name="Text 5"/>
          <p:cNvSpPr txBox="1"/>
          <p:nvPr/>
        </p:nvSpPr>
        <p:spPr>
          <a:xfrm>
            <a:off x="841248" y="2834640"/>
            <a:ext cx="4892040" cy="621792"/>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Netflix, Spotify y YouTube modelan su comportamiento.</a:t>
            </a:r>
            <a:endParaRPr lang="en-US" sz="1800" dirty="0"/>
          </a:p>
        </p:txBody>
      </p:sp>
      <p:sp>
        <p:nvSpPr>
          <p:cNvPr id="8" name="Shape 6"/>
          <p:cNvSpPr/>
          <p:nvPr/>
        </p:nvSpPr>
        <p:spPr>
          <a:xfrm>
            <a:off x="6190488" y="1737360"/>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9" name="Shape 7"/>
          <p:cNvSpPr/>
          <p:nvPr/>
        </p:nvSpPr>
        <p:spPr>
          <a:xfrm>
            <a:off x="6464808" y="1993392"/>
            <a:ext cx="329184" cy="329184"/>
          </a:xfrm>
          <a:prstGeom prst="ellipse">
            <a:avLst/>
          </a:prstGeom>
          <a:solidFill>
            <a:srgbClr val="2A9D8F"/>
          </a:solidFill>
          <a:ln w="12700">
            <a:solidFill>
              <a:srgbClr val="2A9D8F"/>
            </a:solidFill>
            <a:prstDash val="solid"/>
          </a:ln>
        </p:spPr>
        <p:txBody>
          <a:bodyPr/>
          <a:lstStyle/>
          <a:p>
            <a:endParaRPr lang="en-PR"/>
          </a:p>
        </p:txBody>
      </p:sp>
      <p:sp>
        <p:nvSpPr>
          <p:cNvPr id="10" name="Text 8"/>
          <p:cNvSpPr txBox="1"/>
          <p:nvPr/>
        </p:nvSpPr>
        <p:spPr>
          <a:xfrm>
            <a:off x="6464808" y="2432304"/>
            <a:ext cx="484632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Cámara del celular</a:t>
            </a:r>
            <a:endParaRPr lang="en-US" sz="2000" dirty="0"/>
          </a:p>
        </p:txBody>
      </p:sp>
      <p:sp>
        <p:nvSpPr>
          <p:cNvPr id="11" name="Text 9"/>
          <p:cNvSpPr txBox="1"/>
          <p:nvPr/>
        </p:nvSpPr>
        <p:spPr>
          <a:xfrm>
            <a:off x="6464808" y="2834640"/>
            <a:ext cx="4892040" cy="621792"/>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Reconoce rostros y mejora la foto antes de que usted la vea.</a:t>
            </a:r>
            <a:endParaRPr lang="en-US" sz="1800" dirty="0"/>
          </a:p>
        </p:txBody>
      </p:sp>
      <p:sp>
        <p:nvSpPr>
          <p:cNvPr id="12" name="Shape 10"/>
          <p:cNvSpPr/>
          <p:nvPr/>
        </p:nvSpPr>
        <p:spPr>
          <a:xfrm>
            <a:off x="566928" y="3712464"/>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3" name="Shape 11"/>
          <p:cNvSpPr/>
          <p:nvPr/>
        </p:nvSpPr>
        <p:spPr>
          <a:xfrm>
            <a:off x="841248" y="3968496"/>
            <a:ext cx="329184" cy="329184"/>
          </a:xfrm>
          <a:prstGeom prst="ellipse">
            <a:avLst/>
          </a:prstGeom>
          <a:solidFill>
            <a:srgbClr val="C9A227"/>
          </a:solidFill>
          <a:ln w="12700">
            <a:solidFill>
              <a:srgbClr val="C9A227"/>
            </a:solidFill>
            <a:prstDash val="solid"/>
          </a:ln>
        </p:spPr>
        <p:txBody>
          <a:bodyPr/>
          <a:lstStyle/>
          <a:p>
            <a:endParaRPr lang="en-PR"/>
          </a:p>
        </p:txBody>
      </p:sp>
      <p:sp>
        <p:nvSpPr>
          <p:cNvPr id="14" name="Text 12"/>
          <p:cNvSpPr txBox="1"/>
          <p:nvPr/>
        </p:nvSpPr>
        <p:spPr>
          <a:xfrm>
            <a:off x="841248" y="4407408"/>
            <a:ext cx="484632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Detección de fraude</a:t>
            </a:r>
            <a:endParaRPr lang="en-US" sz="2000" dirty="0"/>
          </a:p>
        </p:txBody>
      </p:sp>
      <p:sp>
        <p:nvSpPr>
          <p:cNvPr id="15" name="Text 13"/>
          <p:cNvSpPr txBox="1"/>
          <p:nvPr/>
        </p:nvSpPr>
        <p:spPr>
          <a:xfrm>
            <a:off x="841248" y="4809744"/>
            <a:ext cx="4892040" cy="621792"/>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El banco bloquea una compra que no encaja con su patrón.</a:t>
            </a:r>
            <a:endParaRPr lang="en-US" sz="1800" dirty="0"/>
          </a:p>
        </p:txBody>
      </p:sp>
      <p:sp>
        <p:nvSpPr>
          <p:cNvPr id="16" name="Shape 14"/>
          <p:cNvSpPr/>
          <p:nvPr/>
        </p:nvSpPr>
        <p:spPr>
          <a:xfrm>
            <a:off x="6190488" y="3712464"/>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7" name="Shape 15"/>
          <p:cNvSpPr/>
          <p:nvPr/>
        </p:nvSpPr>
        <p:spPr>
          <a:xfrm>
            <a:off x="6464808" y="3968496"/>
            <a:ext cx="329184" cy="329184"/>
          </a:xfrm>
          <a:prstGeom prst="ellipse">
            <a:avLst/>
          </a:prstGeom>
          <a:solidFill>
            <a:srgbClr val="2A9D8F"/>
          </a:solidFill>
          <a:ln w="12700">
            <a:solidFill>
              <a:srgbClr val="2A9D8F"/>
            </a:solidFill>
            <a:prstDash val="solid"/>
          </a:ln>
        </p:spPr>
        <p:txBody>
          <a:bodyPr/>
          <a:lstStyle/>
          <a:p>
            <a:endParaRPr lang="en-PR"/>
          </a:p>
        </p:txBody>
      </p:sp>
      <p:sp>
        <p:nvSpPr>
          <p:cNvPr id="18" name="Text 16"/>
          <p:cNvSpPr txBox="1"/>
          <p:nvPr/>
        </p:nvSpPr>
        <p:spPr>
          <a:xfrm>
            <a:off x="6464808" y="4407408"/>
            <a:ext cx="484632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Asistentes de voz</a:t>
            </a:r>
            <a:endParaRPr lang="en-US" sz="2000" dirty="0"/>
          </a:p>
        </p:txBody>
      </p:sp>
      <p:sp>
        <p:nvSpPr>
          <p:cNvPr id="19" name="Text 17"/>
          <p:cNvSpPr txBox="1"/>
          <p:nvPr/>
        </p:nvSpPr>
        <p:spPr>
          <a:xfrm>
            <a:off x="6464808" y="4809744"/>
            <a:ext cx="4892040" cy="621792"/>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Siri y Alexa hoy operan sobre modelos de lenguaje grandes.</a:t>
            </a:r>
            <a:endParaRPr lang="en-US" sz="1800" dirty="0"/>
          </a:p>
        </p:txBody>
      </p:sp>
      <p:sp>
        <p:nvSpPr>
          <p:cNvPr id="20" name="Text 18"/>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1" name="Text 19"/>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7</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DATOS VERIFICADOS · GALLUP, 2026</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Los docentes ya la usan</a:t>
            </a:r>
            <a:endParaRPr lang="en-US" sz="3000" dirty="0"/>
          </a:p>
        </p:txBody>
      </p:sp>
      <p:graphicFrame>
        <p:nvGraphicFramePr>
          <p:cNvPr id="4" name="Chart 0"/>
          <p:cNvGraphicFramePr/>
          <p:nvPr/>
        </p:nvGraphicFramePr>
        <p:xfrm>
          <a:off x="566928" y="1481328"/>
          <a:ext cx="676656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07808" y="1481328"/>
            <a:ext cx="4032504" cy="4160520"/>
          </a:xfrm>
          <a:prstGeom prst="roundRect">
            <a:avLst>
              <a:gd name="adj" fmla="val 2041"/>
            </a:avLst>
          </a:prstGeom>
          <a:solidFill>
            <a:srgbClr val="1B2A4A"/>
          </a:solidFill>
          <a:ln w="12700">
            <a:solidFill>
              <a:srgbClr val="1B2A4A"/>
            </a:solidFill>
            <a:prstDash val="solid"/>
          </a:ln>
          <a:effectLst>
            <a:outerShdw blurRad="127000" dist="25400" dir="5400000" algn="bl" rotWithShape="0">
              <a:srgbClr val="1B2A4A">
                <a:alpha val="14000"/>
              </a:srgbClr>
            </a:outerShdw>
          </a:effectLst>
        </p:spPr>
        <p:txBody>
          <a:bodyPr/>
          <a:lstStyle/>
          <a:p>
            <a:endParaRPr lang="en-PR"/>
          </a:p>
        </p:txBody>
      </p:sp>
      <p:sp>
        <p:nvSpPr>
          <p:cNvPr id="6" name="Text 3"/>
          <p:cNvSpPr txBox="1"/>
          <p:nvPr/>
        </p:nvSpPr>
        <p:spPr>
          <a:xfrm>
            <a:off x="7827264" y="1645920"/>
            <a:ext cx="3611880" cy="914400"/>
          </a:xfrm>
          <a:prstGeom prst="rect">
            <a:avLst/>
          </a:prstGeom>
          <a:noFill/>
          <a:ln/>
        </p:spPr>
        <p:txBody>
          <a:bodyPr wrap="square" lIns="0" tIns="0" rIns="0" bIns="0" rtlCol="0" anchor="ctr"/>
          <a:lstStyle/>
          <a:p>
            <a:pPr marL="0" indent="0">
              <a:buNone/>
            </a:pPr>
            <a:r>
              <a:rPr lang="en-US" sz="6600" b="1" dirty="0">
                <a:solidFill>
                  <a:srgbClr val="C9A227"/>
                </a:solidFill>
                <a:latin typeface="Cambria" pitchFamily="34" charset="0"/>
                <a:ea typeface="Cambria" pitchFamily="34" charset="-122"/>
                <a:cs typeface="Cambria" pitchFamily="34" charset="-120"/>
              </a:rPr>
              <a:t>5.9</a:t>
            </a:r>
            <a:endParaRPr lang="en-US" sz="6600" dirty="0"/>
          </a:p>
        </p:txBody>
      </p:sp>
      <p:sp>
        <p:nvSpPr>
          <p:cNvPr id="7" name="Text 4"/>
          <p:cNvSpPr txBox="1"/>
          <p:nvPr/>
        </p:nvSpPr>
        <p:spPr>
          <a:xfrm>
            <a:off x="7827264" y="2560320"/>
            <a:ext cx="3611880" cy="347472"/>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horas por semana</a:t>
            </a:r>
            <a:endParaRPr lang="en-US" sz="2000" dirty="0"/>
          </a:p>
        </p:txBody>
      </p:sp>
      <p:sp>
        <p:nvSpPr>
          <p:cNvPr id="8" name="Text 5"/>
          <p:cNvSpPr txBox="1"/>
          <p:nvPr/>
        </p:nvSpPr>
        <p:spPr>
          <a:xfrm>
            <a:off x="7827264" y="2962656"/>
            <a:ext cx="3611880" cy="1188720"/>
          </a:xfrm>
          <a:prstGeom prst="rect">
            <a:avLst/>
          </a:prstGeom>
          <a:noFill/>
          <a:ln/>
        </p:spPr>
        <p:txBody>
          <a:bodyPr wrap="square" lIns="0" tIns="0" rIns="0" bIns="0" rtlCol="0" anchor="t"/>
          <a:lstStyle/>
          <a:p>
            <a:pPr marL="0" indent="0">
              <a:lnSpc>
                <a:spcPts val="2200"/>
              </a:lnSpc>
              <a:buNone/>
            </a:pPr>
            <a:r>
              <a:rPr lang="en-US" sz="1600" dirty="0">
                <a:solidFill>
                  <a:srgbClr val="DDE3EC"/>
                </a:solidFill>
                <a:latin typeface="Calibri" pitchFamily="34" charset="0"/>
                <a:ea typeface="Calibri" pitchFamily="34" charset="-122"/>
                <a:cs typeface="Calibri" pitchFamily="34" charset="-120"/>
              </a:rPr>
              <a:t>es el tiempo que los docentes estiman recuperar cuando usan IA con regularidad — cerca de seis semanas de trabajo al año.</a:t>
            </a:r>
            <a:endParaRPr lang="en-US" sz="1600" dirty="0"/>
          </a:p>
        </p:txBody>
      </p:sp>
      <p:sp>
        <p:nvSpPr>
          <p:cNvPr id="9" name="Shape 6"/>
          <p:cNvSpPr/>
          <p:nvPr/>
        </p:nvSpPr>
        <p:spPr>
          <a:xfrm>
            <a:off x="7827264" y="4224528"/>
            <a:ext cx="1280160" cy="36576"/>
          </a:xfrm>
          <a:prstGeom prst="rect">
            <a:avLst/>
          </a:prstGeom>
          <a:solidFill>
            <a:srgbClr val="C9A227"/>
          </a:solidFill>
          <a:ln w="12700">
            <a:solidFill>
              <a:srgbClr val="C9A227"/>
            </a:solidFill>
            <a:prstDash val="solid"/>
          </a:ln>
        </p:spPr>
        <p:txBody>
          <a:bodyPr/>
          <a:lstStyle/>
          <a:p>
            <a:endParaRPr lang="en-PR"/>
          </a:p>
        </p:txBody>
      </p:sp>
      <p:sp>
        <p:nvSpPr>
          <p:cNvPr id="10" name="Text 7"/>
          <p:cNvSpPr txBox="1"/>
          <p:nvPr/>
        </p:nvSpPr>
        <p:spPr>
          <a:xfrm>
            <a:off x="7827264" y="4407408"/>
            <a:ext cx="3611880" cy="1097280"/>
          </a:xfrm>
          <a:prstGeom prst="rect">
            <a:avLst/>
          </a:prstGeom>
          <a:noFill/>
          <a:ln/>
        </p:spPr>
        <p:txBody>
          <a:bodyPr wrap="square" lIns="0" tIns="0" rIns="0" bIns="0" rtlCol="0" anchor="t"/>
          <a:lstStyle/>
          <a:p>
            <a:pPr marL="0" indent="0">
              <a:lnSpc>
                <a:spcPts val="2200"/>
              </a:lnSpc>
              <a:buNone/>
            </a:pPr>
            <a:r>
              <a:rPr lang="en-US" sz="1600" i="1" dirty="0">
                <a:solidFill>
                  <a:srgbClr val="FFFFFF"/>
                </a:solidFill>
                <a:latin typeface="Calibri" pitchFamily="34" charset="0"/>
                <a:ea typeface="Calibri" pitchFamily="34" charset="-122"/>
                <a:cs typeface="Calibri" pitchFamily="34" charset="-120"/>
              </a:rPr>
              <a:t>La adopción va muy por delante de la formación. Ese vacío es exactamente lo que este taller busca cerrar.</a:t>
            </a:r>
            <a:endParaRPr lang="en-US" sz="1600" dirty="0"/>
          </a:p>
        </p:txBody>
      </p:sp>
      <p:sp>
        <p:nvSpPr>
          <p:cNvPr id="11" name="Text 8"/>
          <p:cNvSpPr txBox="1"/>
          <p:nvPr/>
        </p:nvSpPr>
        <p:spPr>
          <a:xfrm>
            <a:off x="566928" y="5760720"/>
            <a:ext cx="11057839" cy="548640"/>
          </a:xfrm>
          <a:prstGeom prst="rect">
            <a:avLst/>
          </a:prstGeom>
          <a:noFill/>
          <a:ln/>
        </p:spPr>
        <p:txBody>
          <a:bodyPr wrap="square" lIns="0" tIns="0" rIns="0" bIns="0" rtlCol="0" anchor="t"/>
          <a:lstStyle/>
          <a:p>
            <a:pPr marL="0" indent="0">
              <a:lnSpc>
                <a:spcPts val="2100"/>
              </a:lnSpc>
              <a:buNone/>
            </a:pPr>
            <a:r>
              <a:rPr lang="en-US" sz="1600" i="1" dirty="0">
                <a:solidFill>
                  <a:srgbClr val="5A6478"/>
                </a:solidFill>
                <a:latin typeface="Calibri" pitchFamily="34" charset="0"/>
                <a:ea typeface="Calibri" pitchFamily="34" charset="-122"/>
                <a:cs typeface="Calibri" pitchFamily="34" charset="-120"/>
              </a:rPr>
              <a:t>Fuente: Gallup (2026). Encuesta nacional a 2,069 docentes de escuelas públicas K-12 de EE. UU., 9 de febrero – 2 de marzo de 2026; margen de error ±2.5 puntos.</a:t>
            </a:r>
            <a:endParaRPr lang="en-US" sz="1600" dirty="0"/>
          </a:p>
        </p:txBody>
      </p:sp>
      <p:sp>
        <p:nvSpPr>
          <p:cNvPr id="12" name="Text 9"/>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3" name="Text 10"/>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8</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DATOS VERIFICADOS · RAND, 2025</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La brecha entre el uso y la política</a:t>
            </a:r>
            <a:endParaRPr lang="en-US" sz="3000" dirty="0"/>
          </a:p>
        </p:txBody>
      </p:sp>
      <p:sp>
        <p:nvSpPr>
          <p:cNvPr id="4" name="Shape 2"/>
          <p:cNvSpPr/>
          <p:nvPr/>
        </p:nvSpPr>
        <p:spPr>
          <a:xfrm>
            <a:off x="566928" y="1499616"/>
            <a:ext cx="2606040" cy="2395728"/>
          </a:xfrm>
          <a:prstGeom prst="roundRect">
            <a:avLst>
              <a:gd name="adj" fmla="val 3435"/>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Text 3"/>
          <p:cNvSpPr txBox="1"/>
          <p:nvPr/>
        </p:nvSpPr>
        <p:spPr>
          <a:xfrm>
            <a:off x="749808" y="1645920"/>
            <a:ext cx="2240280" cy="841248"/>
          </a:xfrm>
          <a:prstGeom prst="rect">
            <a:avLst/>
          </a:prstGeom>
          <a:noFill/>
          <a:ln/>
        </p:spPr>
        <p:txBody>
          <a:bodyPr wrap="square" lIns="0" tIns="0" rIns="0" bIns="0" rtlCol="0" anchor="ctr"/>
          <a:lstStyle/>
          <a:p>
            <a:pPr marL="0" indent="0">
              <a:buNone/>
            </a:pPr>
            <a:r>
              <a:rPr lang="en-US" sz="4800" b="1" dirty="0">
                <a:solidFill>
                  <a:srgbClr val="1B2A4A"/>
                </a:solidFill>
                <a:latin typeface="Cambria" pitchFamily="34" charset="0"/>
                <a:ea typeface="Cambria" pitchFamily="34" charset="-122"/>
                <a:cs typeface="Cambria" pitchFamily="34" charset="-120"/>
              </a:rPr>
              <a:t>53%</a:t>
            </a:r>
            <a:endParaRPr lang="en-US" sz="4800" dirty="0"/>
          </a:p>
        </p:txBody>
      </p:sp>
      <p:sp>
        <p:nvSpPr>
          <p:cNvPr id="6" name="Text 4"/>
          <p:cNvSpPr txBox="1"/>
          <p:nvPr/>
        </p:nvSpPr>
        <p:spPr>
          <a:xfrm>
            <a:off x="749808" y="2542032"/>
            <a:ext cx="2267712" cy="1243584"/>
          </a:xfrm>
          <a:prstGeom prst="rect">
            <a:avLst/>
          </a:prstGeom>
          <a:noFill/>
          <a:ln/>
        </p:spPr>
        <p:txBody>
          <a:bodyPr wrap="square" lIns="0" tIns="0" rIns="0" bIns="0" rtlCol="0" anchor="t"/>
          <a:lstStyle/>
          <a:p>
            <a:pPr marL="0" indent="0">
              <a:lnSpc>
                <a:spcPts val="2100"/>
              </a:lnSpc>
              <a:buNone/>
            </a:pPr>
            <a:r>
              <a:rPr lang="en-US" sz="1600" dirty="0">
                <a:solidFill>
                  <a:srgbClr val="2C3548"/>
                </a:solidFill>
                <a:latin typeface="Calibri" pitchFamily="34" charset="0"/>
                <a:ea typeface="Calibri" pitchFamily="34" charset="-122"/>
                <a:cs typeface="Calibri" pitchFamily="34" charset="-120"/>
              </a:rPr>
              <a:t>de los docentes de español,</a:t>
            </a:r>
            <a:endParaRPr lang="en-US" sz="1600" dirty="0"/>
          </a:p>
          <a:p>
            <a:pPr marL="0" indent="0">
              <a:lnSpc>
                <a:spcPts val="2100"/>
              </a:lnSpc>
              <a:buNone/>
            </a:pPr>
            <a:r>
              <a:rPr lang="en-US" sz="1600" dirty="0">
                <a:solidFill>
                  <a:srgbClr val="2C3548"/>
                </a:solidFill>
                <a:latin typeface="Calibri" pitchFamily="34" charset="0"/>
                <a:ea typeface="Calibri" pitchFamily="34" charset="-122"/>
                <a:cs typeface="Calibri" pitchFamily="34" charset="-120"/>
              </a:rPr>
              <a:t>matemáticas y ciencias</a:t>
            </a:r>
            <a:endParaRPr lang="en-US" sz="1600" dirty="0"/>
          </a:p>
          <a:p>
            <a:pPr marL="0" indent="0">
              <a:lnSpc>
                <a:spcPts val="2100"/>
              </a:lnSpc>
              <a:buNone/>
            </a:pPr>
            <a:r>
              <a:rPr lang="en-US" sz="1600" dirty="0">
                <a:solidFill>
                  <a:srgbClr val="2C3548"/>
                </a:solidFill>
                <a:latin typeface="Calibri" pitchFamily="34" charset="0"/>
                <a:ea typeface="Calibri" pitchFamily="34" charset="-122"/>
                <a:cs typeface="Calibri" pitchFamily="34" charset="-120"/>
              </a:rPr>
              <a:t>usaron IA para la escuela</a:t>
            </a:r>
            <a:endParaRPr lang="en-US" sz="1600" dirty="0"/>
          </a:p>
        </p:txBody>
      </p:sp>
      <p:sp>
        <p:nvSpPr>
          <p:cNvPr id="7" name="Shape 5"/>
          <p:cNvSpPr/>
          <p:nvPr/>
        </p:nvSpPr>
        <p:spPr>
          <a:xfrm>
            <a:off x="3374136" y="1499616"/>
            <a:ext cx="2606040" cy="2395728"/>
          </a:xfrm>
          <a:prstGeom prst="roundRect">
            <a:avLst>
              <a:gd name="adj" fmla="val 3435"/>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8" name="Text 6"/>
          <p:cNvSpPr txBox="1"/>
          <p:nvPr/>
        </p:nvSpPr>
        <p:spPr>
          <a:xfrm>
            <a:off x="3557016" y="1645920"/>
            <a:ext cx="2240280" cy="841248"/>
          </a:xfrm>
          <a:prstGeom prst="rect">
            <a:avLst/>
          </a:prstGeom>
          <a:noFill/>
          <a:ln/>
        </p:spPr>
        <p:txBody>
          <a:bodyPr wrap="square" lIns="0" tIns="0" rIns="0" bIns="0" rtlCol="0" anchor="ctr"/>
          <a:lstStyle/>
          <a:p>
            <a:pPr marL="0" indent="0">
              <a:buNone/>
            </a:pPr>
            <a:r>
              <a:rPr lang="en-US" sz="4800" b="1" dirty="0">
                <a:solidFill>
                  <a:srgbClr val="2A9D8F"/>
                </a:solidFill>
                <a:latin typeface="Cambria" pitchFamily="34" charset="0"/>
                <a:ea typeface="Cambria" pitchFamily="34" charset="-122"/>
                <a:cs typeface="Cambria" pitchFamily="34" charset="-120"/>
              </a:rPr>
              <a:t>54%</a:t>
            </a:r>
            <a:endParaRPr lang="en-US" sz="4800" dirty="0"/>
          </a:p>
        </p:txBody>
      </p:sp>
      <p:sp>
        <p:nvSpPr>
          <p:cNvPr id="9" name="Text 7"/>
          <p:cNvSpPr txBox="1"/>
          <p:nvPr/>
        </p:nvSpPr>
        <p:spPr>
          <a:xfrm>
            <a:off x="3557016" y="2542032"/>
            <a:ext cx="2267712" cy="1243584"/>
          </a:xfrm>
          <a:prstGeom prst="rect">
            <a:avLst/>
          </a:prstGeom>
          <a:noFill/>
          <a:ln/>
        </p:spPr>
        <p:txBody>
          <a:bodyPr wrap="square" lIns="0" tIns="0" rIns="0" bIns="0" rtlCol="0" anchor="t"/>
          <a:lstStyle/>
          <a:p>
            <a:pPr marL="0" indent="0">
              <a:lnSpc>
                <a:spcPts val="2100"/>
              </a:lnSpc>
              <a:buNone/>
            </a:pPr>
            <a:r>
              <a:rPr lang="en-US" sz="1600" dirty="0">
                <a:solidFill>
                  <a:srgbClr val="2C3548"/>
                </a:solidFill>
                <a:latin typeface="Calibri" pitchFamily="34" charset="0"/>
                <a:ea typeface="Calibri" pitchFamily="34" charset="-122"/>
                <a:cs typeface="Calibri" pitchFamily="34" charset="-120"/>
              </a:rPr>
              <a:t>de los estudiantes</a:t>
            </a:r>
            <a:endParaRPr lang="en-US" sz="1600" dirty="0"/>
          </a:p>
          <a:p>
            <a:pPr marL="0" indent="0">
              <a:lnSpc>
                <a:spcPts val="2100"/>
              </a:lnSpc>
              <a:buNone/>
            </a:pPr>
            <a:r>
              <a:rPr lang="en-US" sz="1600" dirty="0">
                <a:solidFill>
                  <a:srgbClr val="2C3548"/>
                </a:solidFill>
                <a:latin typeface="Calibri" pitchFamily="34" charset="0"/>
                <a:ea typeface="Calibri" pitchFamily="34" charset="-122"/>
                <a:cs typeface="Calibri" pitchFamily="34" charset="-120"/>
              </a:rPr>
              <a:t>reportaron usar IA</a:t>
            </a:r>
            <a:endParaRPr lang="en-US" sz="1600" dirty="0"/>
          </a:p>
          <a:p>
            <a:pPr marL="0" indent="0">
              <a:lnSpc>
                <a:spcPts val="2100"/>
              </a:lnSpc>
              <a:buNone/>
            </a:pPr>
            <a:r>
              <a:rPr lang="en-US" sz="1600" dirty="0">
                <a:solidFill>
                  <a:srgbClr val="2C3548"/>
                </a:solidFill>
                <a:latin typeface="Calibri" pitchFamily="34" charset="0"/>
                <a:ea typeface="Calibri" pitchFamily="34" charset="-122"/>
                <a:cs typeface="Calibri" pitchFamily="34" charset="-120"/>
              </a:rPr>
              <a:t>para tareas escolares</a:t>
            </a:r>
            <a:endParaRPr lang="en-US" sz="1600" dirty="0"/>
          </a:p>
        </p:txBody>
      </p:sp>
      <p:sp>
        <p:nvSpPr>
          <p:cNvPr id="10" name="Shape 8"/>
          <p:cNvSpPr/>
          <p:nvPr/>
        </p:nvSpPr>
        <p:spPr>
          <a:xfrm>
            <a:off x="6181344" y="1499616"/>
            <a:ext cx="2606040" cy="2395728"/>
          </a:xfrm>
          <a:prstGeom prst="roundRect">
            <a:avLst>
              <a:gd name="adj" fmla="val 3435"/>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1" name="Text 9"/>
          <p:cNvSpPr txBox="1"/>
          <p:nvPr/>
        </p:nvSpPr>
        <p:spPr>
          <a:xfrm>
            <a:off x="6364224" y="1645920"/>
            <a:ext cx="2240280" cy="841248"/>
          </a:xfrm>
          <a:prstGeom prst="rect">
            <a:avLst/>
          </a:prstGeom>
          <a:noFill/>
          <a:ln/>
        </p:spPr>
        <p:txBody>
          <a:bodyPr wrap="square" lIns="0" tIns="0" rIns="0" bIns="0" rtlCol="0" anchor="ctr"/>
          <a:lstStyle/>
          <a:p>
            <a:pPr marL="0" indent="0">
              <a:buNone/>
            </a:pPr>
            <a:r>
              <a:rPr lang="en-US" sz="4800" b="1" dirty="0">
                <a:solidFill>
                  <a:srgbClr val="C9A227"/>
                </a:solidFill>
                <a:latin typeface="Cambria" pitchFamily="34" charset="0"/>
                <a:ea typeface="Cambria" pitchFamily="34" charset="-122"/>
                <a:cs typeface="Cambria" pitchFamily="34" charset="-120"/>
              </a:rPr>
              <a:t>45%</a:t>
            </a:r>
            <a:endParaRPr lang="en-US" sz="4800" dirty="0"/>
          </a:p>
        </p:txBody>
      </p:sp>
      <p:sp>
        <p:nvSpPr>
          <p:cNvPr id="12" name="Text 10"/>
          <p:cNvSpPr txBox="1"/>
          <p:nvPr/>
        </p:nvSpPr>
        <p:spPr>
          <a:xfrm>
            <a:off x="6364224" y="2542032"/>
            <a:ext cx="2267712" cy="1243584"/>
          </a:xfrm>
          <a:prstGeom prst="rect">
            <a:avLst/>
          </a:prstGeom>
          <a:noFill/>
          <a:ln/>
        </p:spPr>
        <p:txBody>
          <a:bodyPr wrap="square" lIns="0" tIns="0" rIns="0" bIns="0" rtlCol="0" anchor="t"/>
          <a:lstStyle/>
          <a:p>
            <a:pPr marL="0" indent="0">
              <a:lnSpc>
                <a:spcPts val="2100"/>
              </a:lnSpc>
              <a:buNone/>
            </a:pPr>
            <a:r>
              <a:rPr lang="en-US" sz="1600" dirty="0">
                <a:solidFill>
                  <a:srgbClr val="2C3548"/>
                </a:solidFill>
                <a:latin typeface="Calibri" pitchFamily="34" charset="0"/>
                <a:ea typeface="Calibri" pitchFamily="34" charset="-122"/>
                <a:cs typeface="Calibri" pitchFamily="34" charset="-120"/>
              </a:rPr>
              <a:t>de los directores dijo tener</a:t>
            </a:r>
            <a:endParaRPr lang="en-US" sz="1600" dirty="0"/>
          </a:p>
          <a:p>
            <a:pPr marL="0" indent="0">
              <a:lnSpc>
                <a:spcPts val="2100"/>
              </a:lnSpc>
              <a:buNone/>
            </a:pPr>
            <a:r>
              <a:rPr lang="en-US" sz="1600" dirty="0">
                <a:solidFill>
                  <a:srgbClr val="2C3548"/>
                </a:solidFill>
                <a:latin typeface="Calibri" pitchFamily="34" charset="0"/>
                <a:ea typeface="Calibri" pitchFamily="34" charset="-122"/>
                <a:cs typeface="Calibri" pitchFamily="34" charset="-120"/>
              </a:rPr>
              <a:t>una política escolar o</a:t>
            </a:r>
            <a:endParaRPr lang="en-US" sz="1600" dirty="0"/>
          </a:p>
          <a:p>
            <a:pPr marL="0" indent="0">
              <a:lnSpc>
                <a:spcPts val="2100"/>
              </a:lnSpc>
              <a:buNone/>
            </a:pPr>
            <a:r>
              <a:rPr lang="en-US" sz="1600" dirty="0">
                <a:solidFill>
                  <a:srgbClr val="2C3548"/>
                </a:solidFill>
                <a:latin typeface="Calibri" pitchFamily="34" charset="0"/>
                <a:ea typeface="Calibri" pitchFamily="34" charset="-122"/>
                <a:cs typeface="Calibri" pitchFamily="34" charset="-120"/>
              </a:rPr>
              <a:t>distrital sobre IA</a:t>
            </a:r>
            <a:endParaRPr lang="en-US" sz="1600" dirty="0"/>
          </a:p>
        </p:txBody>
      </p:sp>
      <p:sp>
        <p:nvSpPr>
          <p:cNvPr id="13" name="Shape 11"/>
          <p:cNvSpPr/>
          <p:nvPr/>
        </p:nvSpPr>
        <p:spPr>
          <a:xfrm>
            <a:off x="8988552" y="1499616"/>
            <a:ext cx="2606040" cy="2395728"/>
          </a:xfrm>
          <a:prstGeom prst="roundRect">
            <a:avLst>
              <a:gd name="adj" fmla="val 3435"/>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4" name="Text 12"/>
          <p:cNvSpPr txBox="1"/>
          <p:nvPr/>
        </p:nvSpPr>
        <p:spPr>
          <a:xfrm>
            <a:off x="9171432" y="1645920"/>
            <a:ext cx="2240280" cy="841248"/>
          </a:xfrm>
          <a:prstGeom prst="rect">
            <a:avLst/>
          </a:prstGeom>
          <a:noFill/>
          <a:ln/>
        </p:spPr>
        <p:txBody>
          <a:bodyPr wrap="square" lIns="0" tIns="0" rIns="0" bIns="0" rtlCol="0" anchor="ctr"/>
          <a:lstStyle/>
          <a:p>
            <a:pPr marL="0" indent="0">
              <a:buNone/>
            </a:pPr>
            <a:r>
              <a:rPr lang="en-US" sz="4800" b="1" dirty="0">
                <a:solidFill>
                  <a:srgbClr val="C0392B"/>
                </a:solidFill>
                <a:latin typeface="Cambria" pitchFamily="34" charset="0"/>
                <a:ea typeface="Cambria" pitchFamily="34" charset="-122"/>
                <a:cs typeface="Cambria" pitchFamily="34" charset="-120"/>
              </a:rPr>
              <a:t>34%</a:t>
            </a:r>
            <a:endParaRPr lang="en-US" sz="4800" dirty="0"/>
          </a:p>
        </p:txBody>
      </p:sp>
      <p:sp>
        <p:nvSpPr>
          <p:cNvPr id="15" name="Text 13"/>
          <p:cNvSpPr txBox="1"/>
          <p:nvPr/>
        </p:nvSpPr>
        <p:spPr>
          <a:xfrm>
            <a:off x="9171432" y="2542032"/>
            <a:ext cx="2267712" cy="1243584"/>
          </a:xfrm>
          <a:prstGeom prst="rect">
            <a:avLst/>
          </a:prstGeom>
          <a:noFill/>
          <a:ln/>
        </p:spPr>
        <p:txBody>
          <a:bodyPr wrap="square" lIns="0" tIns="0" rIns="0" bIns="0" rtlCol="0" anchor="t"/>
          <a:lstStyle/>
          <a:p>
            <a:pPr marL="0" indent="0">
              <a:lnSpc>
                <a:spcPts val="2100"/>
              </a:lnSpc>
              <a:buNone/>
            </a:pPr>
            <a:r>
              <a:rPr lang="en-US" sz="1600" dirty="0">
                <a:solidFill>
                  <a:srgbClr val="2C3548"/>
                </a:solidFill>
                <a:latin typeface="Calibri" pitchFamily="34" charset="0"/>
                <a:ea typeface="Calibri" pitchFamily="34" charset="-122"/>
                <a:cs typeface="Calibri" pitchFamily="34" charset="-120"/>
              </a:rPr>
              <a:t>de los docentes tenía acceso</a:t>
            </a:r>
            <a:endParaRPr lang="en-US" sz="1600" dirty="0"/>
          </a:p>
          <a:p>
            <a:pPr marL="0" indent="0">
              <a:lnSpc>
                <a:spcPts val="2100"/>
              </a:lnSpc>
              <a:buNone/>
            </a:pPr>
            <a:r>
              <a:rPr lang="en-US" sz="1600" dirty="0">
                <a:solidFill>
                  <a:srgbClr val="2C3548"/>
                </a:solidFill>
                <a:latin typeface="Calibri" pitchFamily="34" charset="0"/>
                <a:ea typeface="Calibri" pitchFamily="34" charset="-122"/>
                <a:cs typeface="Calibri" pitchFamily="34" charset="-120"/>
              </a:rPr>
              <a:t>a normas sobre integridad</a:t>
            </a:r>
            <a:endParaRPr lang="en-US" sz="1600" dirty="0"/>
          </a:p>
          <a:p>
            <a:pPr marL="0" indent="0">
              <a:lnSpc>
                <a:spcPts val="2100"/>
              </a:lnSpc>
              <a:buNone/>
            </a:pPr>
            <a:r>
              <a:rPr lang="en-US" sz="1600" dirty="0">
                <a:solidFill>
                  <a:srgbClr val="2C3548"/>
                </a:solidFill>
                <a:latin typeface="Calibri" pitchFamily="34" charset="0"/>
                <a:ea typeface="Calibri" pitchFamily="34" charset="-122"/>
                <a:cs typeface="Calibri" pitchFamily="34" charset="-120"/>
              </a:rPr>
              <a:t>académica y IA</a:t>
            </a:r>
            <a:endParaRPr lang="en-US" sz="1600" dirty="0"/>
          </a:p>
        </p:txBody>
      </p:sp>
      <p:sp>
        <p:nvSpPr>
          <p:cNvPr id="16" name="Shape 14"/>
          <p:cNvSpPr/>
          <p:nvPr/>
        </p:nvSpPr>
        <p:spPr>
          <a:xfrm>
            <a:off x="566928" y="4041648"/>
            <a:ext cx="11057839" cy="1481328"/>
          </a:xfrm>
          <a:prstGeom prst="roundRect">
            <a:avLst>
              <a:gd name="adj" fmla="val 5556"/>
            </a:avLst>
          </a:prstGeom>
          <a:solidFill>
            <a:srgbClr val="1B2A4A"/>
          </a:solidFill>
          <a:ln w="12700">
            <a:solidFill>
              <a:srgbClr val="1B2A4A"/>
            </a:solidFill>
            <a:prstDash val="solid"/>
          </a:ln>
          <a:effectLst>
            <a:outerShdw blurRad="127000" dist="25400" dir="5400000" algn="bl" rotWithShape="0">
              <a:srgbClr val="1B2A4A">
                <a:alpha val="14000"/>
              </a:srgbClr>
            </a:outerShdw>
          </a:effectLst>
        </p:spPr>
        <p:txBody>
          <a:bodyPr/>
          <a:lstStyle/>
          <a:p>
            <a:endParaRPr lang="en-PR"/>
          </a:p>
        </p:txBody>
      </p:sp>
      <p:sp>
        <p:nvSpPr>
          <p:cNvPr id="17" name="Shape 15"/>
          <p:cNvSpPr/>
          <p:nvPr/>
        </p:nvSpPr>
        <p:spPr>
          <a:xfrm>
            <a:off x="886968" y="4389120"/>
            <a:ext cx="658368" cy="658368"/>
          </a:xfrm>
          <a:prstGeom prst="ellipse">
            <a:avLst/>
          </a:prstGeom>
          <a:solidFill>
            <a:srgbClr val="C9A227"/>
          </a:solidFill>
          <a:ln w="12700">
            <a:solidFill>
              <a:srgbClr val="C9A227"/>
            </a:solidFill>
            <a:prstDash val="solid"/>
          </a:ln>
        </p:spPr>
        <p:txBody>
          <a:bodyPr/>
          <a:lstStyle/>
          <a:p>
            <a:endParaRPr lang="en-PR"/>
          </a:p>
        </p:txBody>
      </p:sp>
      <p:sp>
        <p:nvSpPr>
          <p:cNvPr id="18" name="Text 16"/>
          <p:cNvSpPr txBox="1"/>
          <p:nvPr/>
        </p:nvSpPr>
        <p:spPr>
          <a:xfrm>
            <a:off x="886968" y="4389120"/>
            <a:ext cx="658368" cy="658368"/>
          </a:xfrm>
          <a:prstGeom prst="rect">
            <a:avLst/>
          </a:prstGeom>
          <a:noFill/>
          <a:ln/>
        </p:spPr>
        <p:txBody>
          <a:bodyPr wrap="square" lIns="0" tIns="0" rIns="0" bIns="0" rtlCol="0" anchor="ctr"/>
          <a:lstStyle/>
          <a:p>
            <a:pPr marL="0" indent="0" algn="ctr">
              <a:buNone/>
            </a:pPr>
            <a:r>
              <a:rPr lang="en-US" sz="2200" b="1" dirty="0">
                <a:solidFill>
                  <a:srgbClr val="1B2A4A"/>
                </a:solidFill>
                <a:latin typeface="Cambria" pitchFamily="34" charset="0"/>
                <a:ea typeface="Cambria" pitchFamily="34" charset="-122"/>
                <a:cs typeface="Cambria" pitchFamily="34" charset="-120"/>
              </a:rPr>
              <a:t>!</a:t>
            </a:r>
            <a:endParaRPr lang="en-US" sz="2200" dirty="0"/>
          </a:p>
        </p:txBody>
      </p:sp>
      <p:sp>
        <p:nvSpPr>
          <p:cNvPr id="19" name="Text 17"/>
          <p:cNvSpPr txBox="1"/>
          <p:nvPr/>
        </p:nvSpPr>
        <p:spPr>
          <a:xfrm>
            <a:off x="1773936" y="4206240"/>
            <a:ext cx="9509760" cy="658368"/>
          </a:xfrm>
          <a:prstGeom prst="rect">
            <a:avLst/>
          </a:prstGeom>
          <a:noFill/>
          <a:ln/>
        </p:spPr>
        <p:txBody>
          <a:bodyPr wrap="square" lIns="0" tIns="0" rIns="0" bIns="0" rtlCol="0" anchor="ctr"/>
          <a:lstStyle/>
          <a:p>
            <a:pPr marL="0" indent="0">
              <a:lnSpc>
                <a:spcPts val="2600"/>
              </a:lnSpc>
              <a:buNone/>
            </a:pPr>
            <a:r>
              <a:rPr lang="en-US" sz="2000" b="1" dirty="0">
                <a:solidFill>
                  <a:srgbClr val="FFFFFF"/>
                </a:solidFill>
                <a:latin typeface="Cambria" pitchFamily="34" charset="0"/>
                <a:ea typeface="Cambria" pitchFamily="34" charset="-122"/>
                <a:cs typeface="Cambria" pitchFamily="34" charset="-120"/>
              </a:rPr>
              <a:t>Más del 80% de los estudiantes dijo que sus maestros nunca les explicaron cómo usar la IA en el trabajo escolar.</a:t>
            </a:r>
            <a:endParaRPr lang="en-US" sz="2000" dirty="0"/>
          </a:p>
        </p:txBody>
      </p:sp>
      <p:sp>
        <p:nvSpPr>
          <p:cNvPr id="20" name="Text 18"/>
          <p:cNvSpPr txBox="1"/>
          <p:nvPr/>
        </p:nvSpPr>
        <p:spPr>
          <a:xfrm>
            <a:off x="1773936" y="4882896"/>
            <a:ext cx="9509760" cy="548640"/>
          </a:xfrm>
          <a:prstGeom prst="rect">
            <a:avLst/>
          </a:prstGeom>
          <a:noFill/>
          <a:ln/>
        </p:spPr>
        <p:txBody>
          <a:bodyPr wrap="square" lIns="0" tIns="0" rIns="0" bIns="0" rtlCol="0" anchor="t"/>
          <a:lstStyle/>
          <a:p>
            <a:pPr marL="0" indent="0">
              <a:lnSpc>
                <a:spcPts val="2200"/>
              </a:lnSpc>
              <a:buNone/>
            </a:pPr>
            <a:r>
              <a:rPr lang="en-US" sz="1600" dirty="0">
                <a:solidFill>
                  <a:srgbClr val="DDE3EC"/>
                </a:solidFill>
                <a:latin typeface="Calibri" pitchFamily="34" charset="0"/>
                <a:ea typeface="Calibri" pitchFamily="34" charset="-122"/>
                <a:cs typeface="Calibri" pitchFamily="34" charset="-120"/>
              </a:rPr>
              <a:t>El silencio institucional no es neutral: deja a cada estudiante negociando solo las reglas del juego, y a cada docente improvisando su propio criterio.</a:t>
            </a:r>
            <a:endParaRPr lang="en-US" sz="1600" dirty="0"/>
          </a:p>
        </p:txBody>
      </p:sp>
      <p:sp>
        <p:nvSpPr>
          <p:cNvPr id="21" name="Text 19"/>
          <p:cNvSpPr txBox="1"/>
          <p:nvPr/>
        </p:nvSpPr>
        <p:spPr>
          <a:xfrm>
            <a:off x="566928" y="5760720"/>
            <a:ext cx="11057839" cy="548640"/>
          </a:xfrm>
          <a:prstGeom prst="rect">
            <a:avLst/>
          </a:prstGeom>
          <a:noFill/>
          <a:ln/>
        </p:spPr>
        <p:txBody>
          <a:bodyPr wrap="square" lIns="0" tIns="0" rIns="0" bIns="0" rtlCol="0" anchor="t"/>
          <a:lstStyle/>
          <a:p>
            <a:pPr marL="0" indent="0">
              <a:lnSpc>
                <a:spcPts val="2100"/>
              </a:lnSpc>
              <a:buNone/>
            </a:pPr>
            <a:r>
              <a:rPr lang="en-US" sz="1600" i="1" dirty="0">
                <a:solidFill>
                  <a:srgbClr val="5A6478"/>
                </a:solidFill>
                <a:latin typeface="Calibri" pitchFamily="34" charset="0"/>
                <a:ea typeface="Calibri" pitchFamily="34" charset="-122"/>
                <a:cs typeface="Calibri" pitchFamily="34" charset="-120"/>
              </a:rPr>
              <a:t>Fuente: RAND Corporation (2025). AI Use in Schools Is Quickly Increasing but Guidance Lags Behind: Findings from the RAND Survey Panels (RR-A4180-1).</a:t>
            </a:r>
            <a:endParaRPr lang="en-US" sz="1600" dirty="0"/>
          </a:p>
        </p:txBody>
      </p:sp>
      <p:sp>
        <p:nvSpPr>
          <p:cNvPr id="22" name="Text 20"/>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3" name="Text 21"/>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9</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CONTEXTO ECONÓMICO</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Un sector que se cuadruplica</a:t>
            </a:r>
            <a:endParaRPr lang="en-US" sz="3000" dirty="0"/>
          </a:p>
        </p:txBody>
      </p:sp>
      <p:graphicFrame>
        <p:nvGraphicFramePr>
          <p:cNvPr id="4" name="Chart 0"/>
          <p:cNvGraphicFramePr/>
          <p:nvPr/>
        </p:nvGraphicFramePr>
        <p:xfrm>
          <a:off x="566928" y="1499616"/>
          <a:ext cx="64008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187184" y="1499616"/>
            <a:ext cx="4453128" cy="1335024"/>
          </a:xfrm>
          <a:prstGeom prst="roundRect">
            <a:avLst>
              <a:gd name="adj" fmla="val 6164"/>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6" name="Text 3"/>
          <p:cNvSpPr txBox="1"/>
          <p:nvPr/>
        </p:nvSpPr>
        <p:spPr>
          <a:xfrm>
            <a:off x="7388352" y="1609344"/>
            <a:ext cx="4069080" cy="329184"/>
          </a:xfrm>
          <a:prstGeom prst="rect">
            <a:avLst/>
          </a:prstGeom>
          <a:noFill/>
          <a:ln/>
        </p:spPr>
        <p:txBody>
          <a:bodyPr wrap="square" lIns="0" tIns="0" rIns="0" bIns="0" rtlCol="0" anchor="ctr"/>
          <a:lstStyle/>
          <a:p>
            <a:pPr marL="0" indent="0">
              <a:buNone/>
            </a:pPr>
            <a:r>
              <a:rPr lang="en-US" sz="1900" b="1" dirty="0">
                <a:solidFill>
                  <a:srgbClr val="2A9D8F"/>
                </a:solidFill>
                <a:latin typeface="Cambria" pitchFamily="34" charset="0"/>
                <a:ea typeface="Cambria" pitchFamily="34" charset="-122"/>
                <a:cs typeface="Cambria" pitchFamily="34" charset="-120"/>
              </a:rPr>
              <a:t>Lo que sí significa</a:t>
            </a:r>
            <a:endParaRPr lang="en-US" sz="1900" dirty="0"/>
          </a:p>
        </p:txBody>
      </p:sp>
      <p:sp>
        <p:nvSpPr>
          <p:cNvPr id="7" name="Text 4"/>
          <p:cNvSpPr txBox="1"/>
          <p:nvPr/>
        </p:nvSpPr>
        <p:spPr>
          <a:xfrm>
            <a:off x="7388352" y="1956816"/>
            <a:ext cx="4096512" cy="786384"/>
          </a:xfrm>
          <a:prstGeom prst="rect">
            <a:avLst/>
          </a:prstGeom>
          <a:noFill/>
          <a:ln/>
        </p:spPr>
        <p:txBody>
          <a:bodyPr wrap="square" lIns="0" tIns="0" rIns="0" bIns="0" rtlCol="0" anchor="t"/>
          <a:lstStyle/>
          <a:p>
            <a:pPr marL="0" indent="0">
              <a:lnSpc>
                <a:spcPts val="2100"/>
              </a:lnSpc>
              <a:buNone/>
            </a:pPr>
            <a:r>
              <a:rPr lang="en-US" sz="1600" dirty="0">
                <a:solidFill>
                  <a:srgbClr val="2C3548"/>
                </a:solidFill>
                <a:latin typeface="Calibri" pitchFamily="34" charset="0"/>
                <a:ea typeface="Calibri" pitchFamily="34" charset="-122"/>
                <a:cs typeface="Calibri" pitchFamily="34" charset="-120"/>
              </a:rPr>
              <a:t>Habrá muchas más herramientas, muchas más ofertas comerciales y mucha más presión para adoptar.</a:t>
            </a:r>
            <a:endParaRPr lang="en-US" sz="1600" dirty="0"/>
          </a:p>
        </p:txBody>
      </p:sp>
      <p:sp>
        <p:nvSpPr>
          <p:cNvPr id="8" name="Shape 5"/>
          <p:cNvSpPr/>
          <p:nvPr/>
        </p:nvSpPr>
        <p:spPr>
          <a:xfrm>
            <a:off x="7187184" y="2907792"/>
            <a:ext cx="4453128" cy="1335024"/>
          </a:xfrm>
          <a:prstGeom prst="roundRect">
            <a:avLst>
              <a:gd name="adj" fmla="val 6164"/>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9" name="Text 6"/>
          <p:cNvSpPr txBox="1"/>
          <p:nvPr/>
        </p:nvSpPr>
        <p:spPr>
          <a:xfrm>
            <a:off x="7388352" y="3017520"/>
            <a:ext cx="4069080" cy="329184"/>
          </a:xfrm>
          <a:prstGeom prst="rect">
            <a:avLst/>
          </a:prstGeom>
          <a:noFill/>
          <a:ln/>
        </p:spPr>
        <p:txBody>
          <a:bodyPr wrap="square" lIns="0" tIns="0" rIns="0" bIns="0" rtlCol="0" anchor="ctr"/>
          <a:lstStyle/>
          <a:p>
            <a:pPr marL="0" indent="0">
              <a:buNone/>
            </a:pPr>
            <a:r>
              <a:rPr lang="en-US" sz="1900" b="1" dirty="0">
                <a:solidFill>
                  <a:srgbClr val="C0392B"/>
                </a:solidFill>
                <a:latin typeface="Cambria" pitchFamily="34" charset="0"/>
                <a:ea typeface="Cambria" pitchFamily="34" charset="-122"/>
                <a:cs typeface="Cambria" pitchFamily="34" charset="-120"/>
              </a:rPr>
              <a:t>Lo que no significa</a:t>
            </a:r>
            <a:endParaRPr lang="en-US" sz="1900" dirty="0"/>
          </a:p>
        </p:txBody>
      </p:sp>
      <p:sp>
        <p:nvSpPr>
          <p:cNvPr id="10" name="Text 7"/>
          <p:cNvSpPr txBox="1"/>
          <p:nvPr/>
        </p:nvSpPr>
        <p:spPr>
          <a:xfrm>
            <a:off x="7388352" y="3364992"/>
            <a:ext cx="4096512" cy="786384"/>
          </a:xfrm>
          <a:prstGeom prst="rect">
            <a:avLst/>
          </a:prstGeom>
          <a:noFill/>
          <a:ln/>
        </p:spPr>
        <p:txBody>
          <a:bodyPr wrap="square" lIns="0" tIns="0" rIns="0" bIns="0" rtlCol="0" anchor="t"/>
          <a:lstStyle/>
          <a:p>
            <a:pPr marL="0" indent="0">
              <a:lnSpc>
                <a:spcPts val="2100"/>
              </a:lnSpc>
              <a:buNone/>
            </a:pPr>
            <a:r>
              <a:rPr lang="en-US" sz="1600" dirty="0">
                <a:solidFill>
                  <a:srgbClr val="2C3548"/>
                </a:solidFill>
                <a:latin typeface="Calibri" pitchFamily="34" charset="0"/>
                <a:ea typeface="Calibri" pitchFamily="34" charset="-122"/>
                <a:cs typeface="Calibri" pitchFamily="34" charset="-120"/>
              </a:rPr>
              <a:t>Que más inversión equivalga a mejor aprendizaje. La evidencia de impacto todavía es escasa y desigual.</a:t>
            </a:r>
            <a:endParaRPr lang="en-US" sz="1600" dirty="0"/>
          </a:p>
        </p:txBody>
      </p:sp>
      <p:sp>
        <p:nvSpPr>
          <p:cNvPr id="11" name="Shape 8"/>
          <p:cNvSpPr/>
          <p:nvPr/>
        </p:nvSpPr>
        <p:spPr>
          <a:xfrm>
            <a:off x="7187184" y="4315968"/>
            <a:ext cx="4453128" cy="1335024"/>
          </a:xfrm>
          <a:prstGeom prst="roundRect">
            <a:avLst>
              <a:gd name="adj" fmla="val 6164"/>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2" name="Text 9"/>
          <p:cNvSpPr txBox="1"/>
          <p:nvPr/>
        </p:nvSpPr>
        <p:spPr>
          <a:xfrm>
            <a:off x="7388352" y="4425696"/>
            <a:ext cx="4069080" cy="329184"/>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Su tarea como docente</a:t>
            </a:r>
            <a:endParaRPr lang="en-US" sz="1900" dirty="0"/>
          </a:p>
        </p:txBody>
      </p:sp>
      <p:sp>
        <p:nvSpPr>
          <p:cNvPr id="13" name="Text 10"/>
          <p:cNvSpPr txBox="1"/>
          <p:nvPr/>
        </p:nvSpPr>
        <p:spPr>
          <a:xfrm>
            <a:off x="7388352" y="4773168"/>
            <a:ext cx="4096512" cy="786384"/>
          </a:xfrm>
          <a:prstGeom prst="rect">
            <a:avLst/>
          </a:prstGeom>
          <a:noFill/>
          <a:ln/>
        </p:spPr>
        <p:txBody>
          <a:bodyPr wrap="square" lIns="0" tIns="0" rIns="0" bIns="0" rtlCol="0" anchor="t"/>
          <a:lstStyle/>
          <a:p>
            <a:pPr marL="0" indent="0">
              <a:lnSpc>
                <a:spcPts val="2100"/>
              </a:lnSpc>
              <a:buNone/>
            </a:pPr>
            <a:r>
              <a:rPr lang="en-US" sz="1600" dirty="0">
                <a:solidFill>
                  <a:srgbClr val="2C3548"/>
                </a:solidFill>
                <a:latin typeface="Calibri" pitchFamily="34" charset="0"/>
                <a:ea typeface="Calibri" pitchFamily="34" charset="-122"/>
                <a:cs typeface="Calibri" pitchFamily="34" charset="-120"/>
              </a:rPr>
              <a:t>Ser el filtro crítico. Ninguna plataforma sustituye el juicio pedagógico de quien conoce a sus estudiantes.</a:t>
            </a:r>
            <a:endParaRPr lang="en-US" sz="1600" dirty="0"/>
          </a:p>
        </p:txBody>
      </p:sp>
      <p:sp>
        <p:nvSpPr>
          <p:cNvPr id="14" name="Text 11"/>
          <p:cNvSpPr txBox="1"/>
          <p:nvPr/>
        </p:nvSpPr>
        <p:spPr>
          <a:xfrm>
            <a:off x="566928" y="5760720"/>
            <a:ext cx="11057839" cy="548640"/>
          </a:xfrm>
          <a:prstGeom prst="rect">
            <a:avLst/>
          </a:prstGeom>
          <a:noFill/>
          <a:ln/>
        </p:spPr>
        <p:txBody>
          <a:bodyPr wrap="square" lIns="0" tIns="0" rIns="0" bIns="0" rtlCol="0" anchor="t"/>
          <a:lstStyle/>
          <a:p>
            <a:pPr marL="0" indent="0">
              <a:lnSpc>
                <a:spcPts val="2100"/>
              </a:lnSpc>
              <a:buNone/>
            </a:pPr>
            <a:r>
              <a:rPr lang="en-US" sz="1600" i="1" dirty="0">
                <a:solidFill>
                  <a:srgbClr val="5A6478"/>
                </a:solidFill>
                <a:latin typeface="Calibri" pitchFamily="34" charset="0"/>
                <a:ea typeface="Calibri" pitchFamily="34" charset="-122"/>
                <a:cs typeface="Calibri" pitchFamily="34" charset="-120"/>
              </a:rPr>
              <a:t>Fuente: Research and Markets (2026). AI in Education Market Report 2026. Proyección de $10.6 mil millones (2026) a $42.48 mil millones (2030).</a:t>
            </a:r>
            <a:endParaRPr lang="en-US" sz="1600" dirty="0"/>
          </a:p>
        </p:txBody>
      </p:sp>
      <p:sp>
        <p:nvSpPr>
          <p:cNvPr id="15" name="Text 12"/>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6" name="Text 13"/>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10</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2103120"/>
            <a:ext cx="1463040" cy="1463040"/>
          </a:xfrm>
          <a:prstGeom prst="ellipse">
            <a:avLst/>
          </a:prstGeom>
          <a:solidFill>
            <a:srgbClr val="C9A227"/>
          </a:solidFill>
          <a:ln w="12700">
            <a:solidFill>
              <a:srgbClr val="C9A227"/>
            </a:solidFill>
            <a:prstDash val="solid"/>
          </a:ln>
        </p:spPr>
        <p:txBody>
          <a:bodyPr/>
          <a:lstStyle/>
          <a:p>
            <a:endParaRPr lang="en-PR"/>
          </a:p>
        </p:txBody>
      </p:sp>
      <p:sp>
        <p:nvSpPr>
          <p:cNvPr id="3" name="Text 1"/>
          <p:cNvSpPr txBox="1"/>
          <p:nvPr/>
        </p:nvSpPr>
        <p:spPr>
          <a:xfrm>
            <a:off x="566928" y="2103120"/>
            <a:ext cx="1463040" cy="1463040"/>
          </a:xfrm>
          <a:prstGeom prst="rect">
            <a:avLst/>
          </a:prstGeom>
          <a:noFill/>
          <a:ln/>
        </p:spPr>
        <p:txBody>
          <a:bodyPr wrap="square" lIns="0" tIns="0" rIns="0" bIns="0" rtlCol="0" anchor="ctr"/>
          <a:lstStyle/>
          <a:p>
            <a:pPr marL="0" indent="0" algn="ctr">
              <a:buNone/>
            </a:pPr>
            <a:r>
              <a:rPr lang="en-US" sz="5600" dirty="0"/>
              <a:t>2</a:t>
            </a:r>
          </a:p>
        </p:txBody>
      </p:sp>
      <p:sp>
        <p:nvSpPr>
          <p:cNvPr id="4" name="Text 2"/>
          <p:cNvSpPr txBox="1"/>
          <p:nvPr/>
        </p:nvSpPr>
        <p:spPr>
          <a:xfrm>
            <a:off x="2377440" y="2029968"/>
            <a:ext cx="9052560" cy="96012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Fundamentos</a:t>
            </a:r>
            <a:endParaRPr lang="en-US" sz="4200" dirty="0"/>
          </a:p>
        </p:txBody>
      </p:sp>
      <p:sp>
        <p:nvSpPr>
          <p:cNvPr id="5" name="Text 3"/>
          <p:cNvSpPr txBox="1"/>
          <p:nvPr/>
        </p:nvSpPr>
        <p:spPr>
          <a:xfrm>
            <a:off x="2377440" y="3035808"/>
            <a:ext cx="9052560" cy="822960"/>
          </a:xfrm>
          <a:prstGeom prst="rect">
            <a:avLst/>
          </a:prstGeom>
          <a:noFill/>
          <a:ln/>
        </p:spPr>
        <p:txBody>
          <a:bodyPr wrap="square" lIns="0" tIns="0" rIns="0" bIns="0" rtlCol="0" anchor="t"/>
          <a:lstStyle/>
          <a:p>
            <a:pPr marL="0" indent="0">
              <a:lnSpc>
                <a:spcPts val="2700"/>
              </a:lnSpc>
              <a:buNone/>
            </a:pPr>
            <a:r>
              <a:rPr lang="en-US" sz="2000" dirty="0">
                <a:solidFill>
                  <a:srgbClr val="DDE3EC"/>
                </a:solidFill>
                <a:latin typeface="Calibri" pitchFamily="34" charset="0"/>
                <a:ea typeface="Calibri" pitchFamily="34" charset="-122"/>
                <a:cs typeface="Calibri" pitchFamily="34" charset="-120"/>
              </a:rPr>
              <a:t>Qué es la IA, cómo funciona realmente un modelo de lenguaje y por qué se equivoca con tanta seguridad</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DEFINICIÓN OPERATIVA</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¿Qué es la inteligencia artificial?</a:t>
            </a:r>
            <a:endParaRPr lang="en-US" sz="3000" dirty="0"/>
          </a:p>
        </p:txBody>
      </p:sp>
      <p:sp>
        <p:nvSpPr>
          <p:cNvPr id="4" name="Shape 2"/>
          <p:cNvSpPr/>
          <p:nvPr/>
        </p:nvSpPr>
        <p:spPr>
          <a:xfrm>
            <a:off x="566928" y="1426464"/>
            <a:ext cx="11057839" cy="1243584"/>
          </a:xfrm>
          <a:prstGeom prst="roundRect">
            <a:avLst>
              <a:gd name="adj" fmla="val 6618"/>
            </a:avLst>
          </a:prstGeom>
          <a:solidFill>
            <a:srgbClr val="1B2A4A"/>
          </a:solidFill>
          <a:ln w="12700">
            <a:solidFill>
              <a:srgbClr val="1B2A4A"/>
            </a:solidFill>
            <a:prstDash val="solid"/>
          </a:ln>
          <a:effectLst>
            <a:outerShdw blurRad="127000" dist="25400" dir="5400000" algn="bl" rotWithShape="0">
              <a:srgbClr val="1B2A4A">
                <a:alpha val="14000"/>
              </a:srgbClr>
            </a:outerShdw>
          </a:effectLst>
        </p:spPr>
        <p:txBody>
          <a:bodyPr/>
          <a:lstStyle/>
          <a:p>
            <a:endParaRPr lang="en-PR"/>
          </a:p>
        </p:txBody>
      </p:sp>
      <p:sp>
        <p:nvSpPr>
          <p:cNvPr id="5" name="Text 3"/>
          <p:cNvSpPr txBox="1"/>
          <p:nvPr/>
        </p:nvSpPr>
        <p:spPr>
          <a:xfrm>
            <a:off x="932688" y="1426464"/>
            <a:ext cx="10326319" cy="1243584"/>
          </a:xfrm>
          <a:prstGeom prst="rect">
            <a:avLst/>
          </a:prstGeom>
          <a:noFill/>
          <a:ln/>
        </p:spPr>
        <p:txBody>
          <a:bodyPr wrap="square" lIns="0" tIns="0" rIns="0" bIns="0" rtlCol="0" anchor="ctr"/>
          <a:lstStyle/>
          <a:p>
            <a:pPr marL="0" indent="0">
              <a:lnSpc>
                <a:spcPts val="2700"/>
              </a:lnSpc>
              <a:buNone/>
            </a:pPr>
            <a:r>
              <a:rPr lang="en-US" sz="1900" dirty="0">
                <a:solidFill>
                  <a:srgbClr val="FFFFFF"/>
                </a:solidFill>
                <a:latin typeface="Calibri" pitchFamily="34" charset="0"/>
                <a:ea typeface="Calibri" pitchFamily="34" charset="-122"/>
                <a:cs typeface="Calibri" pitchFamily="34" charset="-120"/>
              </a:rPr>
              <a:t>Conjunto de sistemas computacionales capaces de realizar tareas que tradicionalmente requerían inteligencia humana: reconocer patrones, razonar sobre información, tomar decisiones y generar lenguaje, imágenes o código.</a:t>
            </a:r>
            <a:endParaRPr lang="en-US" sz="1900" dirty="0"/>
          </a:p>
        </p:txBody>
      </p:sp>
      <p:sp>
        <p:nvSpPr>
          <p:cNvPr id="6" name="Text 4"/>
          <p:cNvSpPr txBox="1"/>
          <p:nvPr/>
        </p:nvSpPr>
        <p:spPr>
          <a:xfrm>
            <a:off x="566928" y="2761488"/>
            <a:ext cx="11057839"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Las tres capas que debe distinguir</a:t>
            </a:r>
            <a:endParaRPr lang="en-US" sz="2000" dirty="0"/>
          </a:p>
        </p:txBody>
      </p:sp>
      <p:sp>
        <p:nvSpPr>
          <p:cNvPr id="7" name="Shape 5"/>
          <p:cNvSpPr/>
          <p:nvPr/>
        </p:nvSpPr>
        <p:spPr>
          <a:xfrm>
            <a:off x="566928" y="3218688"/>
            <a:ext cx="3538728" cy="2596896"/>
          </a:xfrm>
          <a:prstGeom prst="roundRect">
            <a:avLst>
              <a:gd name="adj" fmla="val 3169"/>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8" name="Shape 6"/>
          <p:cNvSpPr/>
          <p:nvPr/>
        </p:nvSpPr>
        <p:spPr>
          <a:xfrm>
            <a:off x="822960" y="3438144"/>
            <a:ext cx="502920" cy="54864"/>
          </a:xfrm>
          <a:prstGeom prst="rect">
            <a:avLst/>
          </a:prstGeom>
          <a:solidFill>
            <a:srgbClr val="2A9D8F"/>
          </a:solidFill>
          <a:ln w="12700">
            <a:solidFill>
              <a:srgbClr val="2A9D8F"/>
            </a:solidFill>
            <a:prstDash val="solid"/>
          </a:ln>
        </p:spPr>
        <p:txBody>
          <a:bodyPr/>
          <a:lstStyle/>
          <a:p>
            <a:endParaRPr lang="en-PR"/>
          </a:p>
        </p:txBody>
      </p:sp>
      <p:sp>
        <p:nvSpPr>
          <p:cNvPr id="9" name="Text 7"/>
          <p:cNvSpPr txBox="1"/>
          <p:nvPr/>
        </p:nvSpPr>
        <p:spPr>
          <a:xfrm>
            <a:off x="822960" y="3602736"/>
            <a:ext cx="3072384" cy="786384"/>
          </a:xfrm>
          <a:prstGeom prst="rect">
            <a:avLst/>
          </a:prstGeom>
          <a:noFill/>
          <a:ln/>
        </p:spPr>
        <p:txBody>
          <a:bodyPr wrap="square" lIns="0" tIns="0" rIns="0" bIns="0" rtlCol="0" anchor="t"/>
          <a:lstStyle/>
          <a:p>
            <a:pPr marL="0" indent="0">
              <a:lnSpc>
                <a:spcPts val="2600"/>
              </a:lnSpc>
              <a:buNone/>
            </a:pPr>
            <a:r>
              <a:rPr lang="en-US" sz="2000" b="1" dirty="0">
                <a:solidFill>
                  <a:srgbClr val="1B2A4A"/>
                </a:solidFill>
                <a:latin typeface="Cambria" pitchFamily="34" charset="0"/>
                <a:ea typeface="Cambria" pitchFamily="34" charset="-122"/>
                <a:cs typeface="Cambria" pitchFamily="34" charset="-120"/>
              </a:rPr>
              <a:t>Aprendizaje</a:t>
            </a:r>
            <a:endParaRPr lang="en-US" sz="2000" dirty="0"/>
          </a:p>
          <a:p>
            <a:pPr marL="0" indent="0">
              <a:lnSpc>
                <a:spcPts val="2600"/>
              </a:lnSpc>
              <a:buNone/>
            </a:pPr>
            <a:r>
              <a:rPr lang="en-US" sz="2000" b="1" dirty="0">
                <a:solidFill>
                  <a:srgbClr val="1B2A4A"/>
                </a:solidFill>
                <a:latin typeface="Cambria" pitchFamily="34" charset="0"/>
                <a:ea typeface="Cambria" pitchFamily="34" charset="-122"/>
                <a:cs typeface="Cambria" pitchFamily="34" charset="-120"/>
              </a:rPr>
              <a:t>automático</a:t>
            </a:r>
            <a:endParaRPr lang="en-US" sz="2000" dirty="0"/>
          </a:p>
        </p:txBody>
      </p:sp>
      <p:sp>
        <p:nvSpPr>
          <p:cNvPr id="10" name="Text 8"/>
          <p:cNvSpPr txBox="1"/>
          <p:nvPr/>
        </p:nvSpPr>
        <p:spPr>
          <a:xfrm>
            <a:off x="822960" y="4425696"/>
            <a:ext cx="3072384" cy="292608"/>
          </a:xfrm>
          <a:prstGeom prst="rect">
            <a:avLst/>
          </a:prstGeom>
          <a:noFill/>
          <a:ln/>
        </p:spPr>
        <p:txBody>
          <a:bodyPr wrap="square" lIns="0" tIns="0" rIns="0" bIns="0" rtlCol="0" anchor="ctr"/>
          <a:lstStyle/>
          <a:p>
            <a:pPr marL="0" indent="0">
              <a:buNone/>
            </a:pPr>
            <a:r>
              <a:rPr lang="en-US" sz="1600" b="1" dirty="0">
                <a:solidFill>
                  <a:srgbClr val="2A9D8F"/>
                </a:solidFill>
                <a:latin typeface="Calibri" pitchFamily="34" charset="0"/>
                <a:ea typeface="Calibri" pitchFamily="34" charset="-122"/>
                <a:cs typeface="Calibri" pitchFamily="34" charset="-120"/>
              </a:rPr>
              <a:t>Machine Learning</a:t>
            </a:r>
            <a:endParaRPr lang="en-US" sz="1600" dirty="0"/>
          </a:p>
        </p:txBody>
      </p:sp>
      <p:sp>
        <p:nvSpPr>
          <p:cNvPr id="11" name="Text 9"/>
          <p:cNvSpPr txBox="1"/>
          <p:nvPr/>
        </p:nvSpPr>
        <p:spPr>
          <a:xfrm>
            <a:off x="822960" y="4754880"/>
            <a:ext cx="3090672" cy="969264"/>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El sistema aprende reglas a partir de ejemplos, en lugar de recibirlas programadas.</a:t>
            </a:r>
            <a:endParaRPr lang="en-US" sz="1700" dirty="0"/>
          </a:p>
        </p:txBody>
      </p:sp>
      <p:sp>
        <p:nvSpPr>
          <p:cNvPr id="12" name="Shape 10"/>
          <p:cNvSpPr/>
          <p:nvPr/>
        </p:nvSpPr>
        <p:spPr>
          <a:xfrm>
            <a:off x="4315968" y="3218688"/>
            <a:ext cx="3538728" cy="2596896"/>
          </a:xfrm>
          <a:prstGeom prst="roundRect">
            <a:avLst>
              <a:gd name="adj" fmla="val 3169"/>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3" name="Shape 11"/>
          <p:cNvSpPr/>
          <p:nvPr/>
        </p:nvSpPr>
        <p:spPr>
          <a:xfrm>
            <a:off x="4572000" y="3438144"/>
            <a:ext cx="502920" cy="54864"/>
          </a:xfrm>
          <a:prstGeom prst="rect">
            <a:avLst/>
          </a:prstGeom>
          <a:solidFill>
            <a:srgbClr val="1F3864"/>
          </a:solidFill>
          <a:ln w="12700">
            <a:solidFill>
              <a:srgbClr val="1F3864"/>
            </a:solidFill>
            <a:prstDash val="solid"/>
          </a:ln>
        </p:spPr>
        <p:txBody>
          <a:bodyPr/>
          <a:lstStyle/>
          <a:p>
            <a:endParaRPr lang="en-PR"/>
          </a:p>
        </p:txBody>
      </p:sp>
      <p:sp>
        <p:nvSpPr>
          <p:cNvPr id="14" name="Text 12"/>
          <p:cNvSpPr txBox="1"/>
          <p:nvPr/>
        </p:nvSpPr>
        <p:spPr>
          <a:xfrm>
            <a:off x="4572000" y="3602736"/>
            <a:ext cx="3072384" cy="786384"/>
          </a:xfrm>
          <a:prstGeom prst="rect">
            <a:avLst/>
          </a:prstGeom>
          <a:noFill/>
          <a:ln/>
        </p:spPr>
        <p:txBody>
          <a:bodyPr wrap="square" lIns="0" tIns="0" rIns="0" bIns="0" rtlCol="0" anchor="t"/>
          <a:lstStyle/>
          <a:p>
            <a:pPr marL="0" indent="0">
              <a:lnSpc>
                <a:spcPts val="2600"/>
              </a:lnSpc>
              <a:buNone/>
            </a:pPr>
            <a:r>
              <a:rPr lang="en-US" sz="2000" b="1" dirty="0">
                <a:solidFill>
                  <a:srgbClr val="1B2A4A"/>
                </a:solidFill>
                <a:latin typeface="Cambria" pitchFamily="34" charset="0"/>
                <a:ea typeface="Cambria" pitchFamily="34" charset="-122"/>
                <a:cs typeface="Cambria" pitchFamily="34" charset="-120"/>
              </a:rPr>
              <a:t>Aprendizaje</a:t>
            </a:r>
            <a:endParaRPr lang="en-US" sz="2000" dirty="0"/>
          </a:p>
          <a:p>
            <a:pPr marL="0" indent="0">
              <a:lnSpc>
                <a:spcPts val="2600"/>
              </a:lnSpc>
              <a:buNone/>
            </a:pPr>
            <a:r>
              <a:rPr lang="en-US" sz="2000" b="1" dirty="0">
                <a:solidFill>
                  <a:srgbClr val="1B2A4A"/>
                </a:solidFill>
                <a:latin typeface="Cambria" pitchFamily="34" charset="0"/>
                <a:ea typeface="Cambria" pitchFamily="34" charset="-122"/>
                <a:cs typeface="Cambria" pitchFamily="34" charset="-120"/>
              </a:rPr>
              <a:t>profundo</a:t>
            </a:r>
            <a:endParaRPr lang="en-US" sz="2000" dirty="0"/>
          </a:p>
        </p:txBody>
      </p:sp>
      <p:sp>
        <p:nvSpPr>
          <p:cNvPr id="15" name="Text 13"/>
          <p:cNvSpPr txBox="1"/>
          <p:nvPr/>
        </p:nvSpPr>
        <p:spPr>
          <a:xfrm>
            <a:off x="4572000" y="4425696"/>
            <a:ext cx="3072384" cy="292608"/>
          </a:xfrm>
          <a:prstGeom prst="rect">
            <a:avLst/>
          </a:prstGeom>
          <a:noFill/>
          <a:ln/>
        </p:spPr>
        <p:txBody>
          <a:bodyPr wrap="square" lIns="0" tIns="0" rIns="0" bIns="0"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Deep Learning</a:t>
            </a:r>
            <a:endParaRPr lang="en-US" sz="1600" dirty="0"/>
          </a:p>
        </p:txBody>
      </p:sp>
      <p:sp>
        <p:nvSpPr>
          <p:cNvPr id="16" name="Text 14"/>
          <p:cNvSpPr txBox="1"/>
          <p:nvPr/>
        </p:nvSpPr>
        <p:spPr>
          <a:xfrm>
            <a:off x="4572000" y="4754880"/>
            <a:ext cx="3090672" cy="969264"/>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Redes neuronales de muchas capas que detectan patrones cada vez más abstractos.</a:t>
            </a:r>
            <a:endParaRPr lang="en-US" sz="1700" dirty="0"/>
          </a:p>
        </p:txBody>
      </p:sp>
      <p:sp>
        <p:nvSpPr>
          <p:cNvPr id="17" name="Shape 15"/>
          <p:cNvSpPr/>
          <p:nvPr/>
        </p:nvSpPr>
        <p:spPr>
          <a:xfrm>
            <a:off x="8065008" y="3218688"/>
            <a:ext cx="3538728" cy="2596896"/>
          </a:xfrm>
          <a:prstGeom prst="roundRect">
            <a:avLst>
              <a:gd name="adj" fmla="val 3169"/>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8" name="Shape 16"/>
          <p:cNvSpPr/>
          <p:nvPr/>
        </p:nvSpPr>
        <p:spPr>
          <a:xfrm>
            <a:off x="8321040" y="3438144"/>
            <a:ext cx="502920" cy="54864"/>
          </a:xfrm>
          <a:prstGeom prst="rect">
            <a:avLst/>
          </a:prstGeom>
          <a:solidFill>
            <a:srgbClr val="C9A227"/>
          </a:solidFill>
          <a:ln w="12700">
            <a:solidFill>
              <a:srgbClr val="C9A227"/>
            </a:solidFill>
            <a:prstDash val="solid"/>
          </a:ln>
        </p:spPr>
        <p:txBody>
          <a:bodyPr/>
          <a:lstStyle/>
          <a:p>
            <a:endParaRPr lang="en-PR"/>
          </a:p>
        </p:txBody>
      </p:sp>
      <p:sp>
        <p:nvSpPr>
          <p:cNvPr id="19" name="Text 17"/>
          <p:cNvSpPr txBox="1"/>
          <p:nvPr/>
        </p:nvSpPr>
        <p:spPr>
          <a:xfrm>
            <a:off x="8321040" y="3602736"/>
            <a:ext cx="3072384" cy="786384"/>
          </a:xfrm>
          <a:prstGeom prst="rect">
            <a:avLst/>
          </a:prstGeom>
          <a:noFill/>
          <a:ln/>
        </p:spPr>
        <p:txBody>
          <a:bodyPr wrap="square" lIns="0" tIns="0" rIns="0" bIns="0" rtlCol="0" anchor="t"/>
          <a:lstStyle/>
          <a:p>
            <a:pPr marL="0" indent="0">
              <a:lnSpc>
                <a:spcPts val="2600"/>
              </a:lnSpc>
              <a:buNone/>
            </a:pPr>
            <a:r>
              <a:rPr lang="en-US" sz="2000" b="1" dirty="0">
                <a:solidFill>
                  <a:srgbClr val="1B2A4A"/>
                </a:solidFill>
                <a:latin typeface="Cambria" pitchFamily="34" charset="0"/>
                <a:ea typeface="Cambria" pitchFamily="34" charset="-122"/>
                <a:cs typeface="Cambria" pitchFamily="34" charset="-120"/>
              </a:rPr>
              <a:t>Modelos de</a:t>
            </a:r>
            <a:endParaRPr lang="en-US" sz="2000" dirty="0"/>
          </a:p>
          <a:p>
            <a:pPr marL="0" indent="0">
              <a:lnSpc>
                <a:spcPts val="2600"/>
              </a:lnSpc>
              <a:buNone/>
            </a:pPr>
            <a:r>
              <a:rPr lang="en-US" sz="2000" b="1" dirty="0">
                <a:solidFill>
                  <a:srgbClr val="1B2A4A"/>
                </a:solidFill>
                <a:latin typeface="Cambria" pitchFamily="34" charset="0"/>
                <a:ea typeface="Cambria" pitchFamily="34" charset="-122"/>
                <a:cs typeface="Cambria" pitchFamily="34" charset="-120"/>
              </a:rPr>
              <a:t>lenguaje grandes</a:t>
            </a:r>
            <a:endParaRPr lang="en-US" sz="2000" dirty="0"/>
          </a:p>
        </p:txBody>
      </p:sp>
      <p:sp>
        <p:nvSpPr>
          <p:cNvPr id="20" name="Text 18"/>
          <p:cNvSpPr txBox="1"/>
          <p:nvPr/>
        </p:nvSpPr>
        <p:spPr>
          <a:xfrm>
            <a:off x="8321040" y="4425696"/>
            <a:ext cx="3072384" cy="292608"/>
          </a:xfrm>
          <a:prstGeom prst="rect">
            <a:avLst/>
          </a:prstGeom>
          <a:noFill/>
          <a:ln/>
        </p:spPr>
        <p:txBody>
          <a:bodyPr wrap="square" lIns="0" tIns="0" rIns="0" bIns="0" rtlCol="0" anchor="ctr"/>
          <a:lstStyle/>
          <a:p>
            <a:pPr marL="0" indent="0">
              <a:buNone/>
            </a:pPr>
            <a:r>
              <a:rPr lang="en-US" sz="1600" b="1" dirty="0">
                <a:solidFill>
                  <a:srgbClr val="C9A227"/>
                </a:solidFill>
                <a:latin typeface="Calibri" pitchFamily="34" charset="0"/>
                <a:ea typeface="Calibri" pitchFamily="34" charset="-122"/>
                <a:cs typeface="Calibri" pitchFamily="34" charset="-120"/>
              </a:rPr>
              <a:t>LLM · IA Generativa</a:t>
            </a:r>
            <a:endParaRPr lang="en-US" sz="1600" dirty="0"/>
          </a:p>
        </p:txBody>
      </p:sp>
      <p:sp>
        <p:nvSpPr>
          <p:cNvPr id="21" name="Text 19"/>
          <p:cNvSpPr txBox="1"/>
          <p:nvPr/>
        </p:nvSpPr>
        <p:spPr>
          <a:xfrm>
            <a:off x="8321040" y="4754880"/>
            <a:ext cx="3090672" cy="969264"/>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Entrenados con enormes volúmenes de texto para predecir y producir lenguaje humano.</a:t>
            </a:r>
            <a:endParaRPr lang="en-US" sz="1700" dirty="0"/>
          </a:p>
        </p:txBody>
      </p:sp>
      <p:sp>
        <p:nvSpPr>
          <p:cNvPr id="22" name="Text 20"/>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3" name="Text 21"/>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32</a:t>
            </a:r>
            <a:endParaRPr lang="en-US" sz="1600" dirty="0"/>
          </a:p>
        </p:txBody>
      </p:sp>
    </p:spTree>
    <p:extLst>
      <p:ext uri="{BB962C8B-B14F-4D97-AF65-F5344CB8AC3E}">
        <p14:creationId xmlns:p14="http://schemas.microsoft.com/office/powerpoint/2010/main" val="1592891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EL MOTOR POR DENTRO</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Cómo funciona realmente un modelo de lenguaje</a:t>
            </a:r>
            <a:endParaRPr lang="en-US" sz="3000" dirty="0"/>
          </a:p>
        </p:txBody>
      </p:sp>
      <p:sp>
        <p:nvSpPr>
          <p:cNvPr id="4" name="Text 2"/>
          <p:cNvSpPr txBox="1"/>
          <p:nvPr/>
        </p:nvSpPr>
        <p:spPr>
          <a:xfrm>
            <a:off x="566928" y="1335024"/>
            <a:ext cx="11057839" cy="749808"/>
          </a:xfrm>
          <a:prstGeom prst="rect">
            <a:avLst/>
          </a:prstGeom>
          <a:noFill/>
          <a:ln/>
        </p:spPr>
        <p:txBody>
          <a:bodyPr wrap="square" lIns="0" tIns="0" rIns="0" bIns="0" rtlCol="0" anchor="t"/>
          <a:lstStyle/>
          <a:p>
            <a:pPr marL="0" indent="0">
              <a:lnSpc>
                <a:spcPts val="2700"/>
              </a:lnSpc>
              <a:buNone/>
            </a:pPr>
            <a:r>
              <a:rPr lang="en-US" sz="2000" i="1" dirty="0">
                <a:solidFill>
                  <a:srgbClr val="2A9D8F"/>
                </a:solidFill>
                <a:latin typeface="Calibri" pitchFamily="34" charset="0"/>
                <a:ea typeface="Calibri" pitchFamily="34" charset="-122"/>
                <a:cs typeface="Calibri" pitchFamily="34" charset="-120"/>
              </a:rPr>
              <a:t>Un LLM no consulta una base de datos de hechos. Calcula, palabra por palabra, cuál es la continuación más probable del texto.</a:t>
            </a:r>
            <a:endParaRPr lang="en-US" sz="2000" dirty="0"/>
          </a:p>
        </p:txBody>
      </p:sp>
      <p:sp>
        <p:nvSpPr>
          <p:cNvPr id="5" name="Shape 3"/>
          <p:cNvSpPr/>
          <p:nvPr/>
        </p:nvSpPr>
        <p:spPr>
          <a:xfrm>
            <a:off x="566928" y="2157984"/>
            <a:ext cx="2606040" cy="2450592"/>
          </a:xfrm>
          <a:prstGeom prst="roundRect">
            <a:avLst>
              <a:gd name="adj" fmla="val 3358"/>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6" name="Shape 4"/>
          <p:cNvSpPr/>
          <p:nvPr/>
        </p:nvSpPr>
        <p:spPr>
          <a:xfrm>
            <a:off x="804672" y="2359152"/>
            <a:ext cx="585216" cy="585216"/>
          </a:xfrm>
          <a:prstGeom prst="ellipse">
            <a:avLst/>
          </a:prstGeom>
          <a:solidFill>
            <a:srgbClr val="1B2A4A"/>
          </a:solidFill>
          <a:ln w="12700">
            <a:solidFill>
              <a:srgbClr val="1B2A4A"/>
            </a:solidFill>
            <a:prstDash val="solid"/>
          </a:ln>
        </p:spPr>
        <p:txBody>
          <a:bodyPr/>
          <a:lstStyle/>
          <a:p>
            <a:endParaRPr lang="en-PR"/>
          </a:p>
        </p:txBody>
      </p:sp>
      <p:sp>
        <p:nvSpPr>
          <p:cNvPr id="7" name="Text 5"/>
          <p:cNvSpPr txBox="1"/>
          <p:nvPr/>
        </p:nvSpPr>
        <p:spPr>
          <a:xfrm>
            <a:off x="804672" y="2359152"/>
            <a:ext cx="585216" cy="585216"/>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6"/>
          <p:cNvSpPr txBox="1"/>
          <p:nvPr/>
        </p:nvSpPr>
        <p:spPr>
          <a:xfrm>
            <a:off x="804672" y="3035808"/>
            <a:ext cx="2194560" cy="329184"/>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Entrenamiento</a:t>
            </a:r>
            <a:endParaRPr lang="en-US" sz="1900" dirty="0"/>
          </a:p>
        </p:txBody>
      </p:sp>
      <p:sp>
        <p:nvSpPr>
          <p:cNvPr id="9" name="Text 7"/>
          <p:cNvSpPr txBox="1"/>
          <p:nvPr/>
        </p:nvSpPr>
        <p:spPr>
          <a:xfrm>
            <a:off x="804672" y="3401568"/>
            <a:ext cx="2212848" cy="1133856"/>
          </a:xfrm>
          <a:prstGeom prst="rect">
            <a:avLst/>
          </a:prstGeom>
          <a:noFill/>
          <a:ln/>
        </p:spPr>
        <p:txBody>
          <a:bodyPr wrap="square" lIns="0" tIns="0" rIns="0" bIns="0" rtlCol="0" anchor="t"/>
          <a:lstStyle/>
          <a:p>
            <a:pPr marL="0" indent="0">
              <a:lnSpc>
                <a:spcPts val="2100"/>
              </a:lnSpc>
              <a:buNone/>
            </a:pPr>
            <a:r>
              <a:rPr lang="en-US" sz="1600" dirty="0">
                <a:solidFill>
                  <a:srgbClr val="2C3548"/>
                </a:solidFill>
                <a:latin typeface="Calibri" pitchFamily="34" charset="0"/>
                <a:ea typeface="Calibri" pitchFamily="34" charset="-122"/>
                <a:cs typeface="Calibri" pitchFamily="34" charset="-120"/>
              </a:rPr>
              <a:t>Procesa miles de millones de textos y aprende qué palabras tienden a seguir a cuáles.</a:t>
            </a:r>
            <a:endParaRPr lang="en-US" sz="1600" dirty="0"/>
          </a:p>
        </p:txBody>
      </p:sp>
      <p:sp>
        <p:nvSpPr>
          <p:cNvPr id="10" name="Text 8"/>
          <p:cNvSpPr txBox="1"/>
          <p:nvPr/>
        </p:nvSpPr>
        <p:spPr>
          <a:xfrm>
            <a:off x="3182112" y="3200400"/>
            <a:ext cx="192024" cy="402336"/>
          </a:xfrm>
          <a:prstGeom prst="rect">
            <a:avLst/>
          </a:prstGeom>
          <a:noFill/>
          <a:ln/>
        </p:spPr>
        <p:txBody>
          <a:bodyPr wrap="square" lIns="0" tIns="0" rIns="0" bIns="0" rtlCol="0" anchor="ctr"/>
          <a:lstStyle/>
          <a:p>
            <a:pPr marL="0" indent="0" algn="ctr">
              <a:buNone/>
            </a:pPr>
            <a:r>
              <a:rPr lang="en-US" sz="2200" b="1" dirty="0">
                <a:solidFill>
                  <a:srgbClr val="C9A227"/>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3374136" y="2157984"/>
            <a:ext cx="2606040" cy="2450592"/>
          </a:xfrm>
          <a:prstGeom prst="roundRect">
            <a:avLst>
              <a:gd name="adj" fmla="val 3358"/>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12" name="Shape 10"/>
          <p:cNvSpPr/>
          <p:nvPr/>
        </p:nvSpPr>
        <p:spPr>
          <a:xfrm>
            <a:off x="3611880" y="2359152"/>
            <a:ext cx="585216" cy="585216"/>
          </a:xfrm>
          <a:prstGeom prst="ellipse">
            <a:avLst/>
          </a:prstGeom>
          <a:solidFill>
            <a:srgbClr val="1B2A4A"/>
          </a:solidFill>
          <a:ln w="12700">
            <a:solidFill>
              <a:srgbClr val="1B2A4A"/>
            </a:solidFill>
            <a:prstDash val="solid"/>
          </a:ln>
        </p:spPr>
        <p:txBody>
          <a:bodyPr/>
          <a:lstStyle/>
          <a:p>
            <a:endParaRPr lang="en-PR"/>
          </a:p>
        </p:txBody>
      </p:sp>
      <p:sp>
        <p:nvSpPr>
          <p:cNvPr id="13" name="Text 11"/>
          <p:cNvSpPr txBox="1"/>
          <p:nvPr/>
        </p:nvSpPr>
        <p:spPr>
          <a:xfrm>
            <a:off x="3611880" y="2359152"/>
            <a:ext cx="585216" cy="585216"/>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4" name="Text 12"/>
          <p:cNvSpPr txBox="1"/>
          <p:nvPr/>
        </p:nvSpPr>
        <p:spPr>
          <a:xfrm>
            <a:off x="3611880" y="3035808"/>
            <a:ext cx="2194560" cy="329184"/>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Representación</a:t>
            </a:r>
            <a:endParaRPr lang="en-US" sz="1900" dirty="0"/>
          </a:p>
        </p:txBody>
      </p:sp>
      <p:sp>
        <p:nvSpPr>
          <p:cNvPr id="15" name="Text 13"/>
          <p:cNvSpPr txBox="1"/>
          <p:nvPr/>
        </p:nvSpPr>
        <p:spPr>
          <a:xfrm>
            <a:off x="3611880" y="3401568"/>
            <a:ext cx="2212848" cy="1133856"/>
          </a:xfrm>
          <a:prstGeom prst="rect">
            <a:avLst/>
          </a:prstGeom>
          <a:noFill/>
          <a:ln/>
        </p:spPr>
        <p:txBody>
          <a:bodyPr wrap="square" lIns="0" tIns="0" rIns="0" bIns="0" rtlCol="0" anchor="t"/>
          <a:lstStyle/>
          <a:p>
            <a:pPr marL="0" indent="0">
              <a:lnSpc>
                <a:spcPts val="2100"/>
              </a:lnSpc>
              <a:buNone/>
            </a:pPr>
            <a:r>
              <a:rPr lang="en-US" sz="1600" dirty="0">
                <a:solidFill>
                  <a:srgbClr val="2C3548"/>
                </a:solidFill>
                <a:latin typeface="Calibri" pitchFamily="34" charset="0"/>
                <a:ea typeface="Calibri" pitchFamily="34" charset="-122"/>
                <a:cs typeface="Calibri" pitchFamily="34" charset="-120"/>
              </a:rPr>
              <a:t>Convierte cada fragmento en un vector numérico que codifica su significado en contexto.</a:t>
            </a:r>
            <a:endParaRPr lang="en-US" sz="1600" dirty="0"/>
          </a:p>
        </p:txBody>
      </p:sp>
      <p:sp>
        <p:nvSpPr>
          <p:cNvPr id="16" name="Text 14"/>
          <p:cNvSpPr txBox="1"/>
          <p:nvPr/>
        </p:nvSpPr>
        <p:spPr>
          <a:xfrm>
            <a:off x="5989320" y="3200400"/>
            <a:ext cx="192024" cy="402336"/>
          </a:xfrm>
          <a:prstGeom prst="rect">
            <a:avLst/>
          </a:prstGeom>
          <a:noFill/>
          <a:ln/>
        </p:spPr>
        <p:txBody>
          <a:bodyPr wrap="square" lIns="0" tIns="0" rIns="0" bIns="0" rtlCol="0" anchor="ctr"/>
          <a:lstStyle/>
          <a:p>
            <a:pPr marL="0" indent="0" algn="ctr">
              <a:buNone/>
            </a:pPr>
            <a:r>
              <a:rPr lang="en-US" sz="2200" b="1" dirty="0">
                <a:solidFill>
                  <a:srgbClr val="C9A227"/>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6181344" y="2157984"/>
            <a:ext cx="2606040" cy="2450592"/>
          </a:xfrm>
          <a:prstGeom prst="roundRect">
            <a:avLst>
              <a:gd name="adj" fmla="val 3358"/>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8" name="Shape 16"/>
          <p:cNvSpPr/>
          <p:nvPr/>
        </p:nvSpPr>
        <p:spPr>
          <a:xfrm>
            <a:off x="6419088" y="2359152"/>
            <a:ext cx="585216" cy="585216"/>
          </a:xfrm>
          <a:prstGeom prst="ellipse">
            <a:avLst/>
          </a:prstGeom>
          <a:solidFill>
            <a:srgbClr val="1B2A4A"/>
          </a:solidFill>
          <a:ln w="12700">
            <a:solidFill>
              <a:srgbClr val="1B2A4A"/>
            </a:solidFill>
            <a:prstDash val="solid"/>
          </a:ln>
        </p:spPr>
        <p:txBody>
          <a:bodyPr/>
          <a:lstStyle/>
          <a:p>
            <a:endParaRPr lang="en-PR"/>
          </a:p>
        </p:txBody>
      </p:sp>
      <p:sp>
        <p:nvSpPr>
          <p:cNvPr id="19" name="Text 17"/>
          <p:cNvSpPr txBox="1"/>
          <p:nvPr/>
        </p:nvSpPr>
        <p:spPr>
          <a:xfrm>
            <a:off x="6419088" y="2359152"/>
            <a:ext cx="585216" cy="585216"/>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0" name="Text 18"/>
          <p:cNvSpPr txBox="1"/>
          <p:nvPr/>
        </p:nvSpPr>
        <p:spPr>
          <a:xfrm>
            <a:off x="6419088" y="3035808"/>
            <a:ext cx="2194560" cy="329184"/>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Predicción</a:t>
            </a:r>
            <a:endParaRPr lang="en-US" sz="1900" dirty="0"/>
          </a:p>
        </p:txBody>
      </p:sp>
      <p:sp>
        <p:nvSpPr>
          <p:cNvPr id="21" name="Text 19"/>
          <p:cNvSpPr txBox="1"/>
          <p:nvPr/>
        </p:nvSpPr>
        <p:spPr>
          <a:xfrm>
            <a:off x="6419088" y="3401568"/>
            <a:ext cx="2212848" cy="1133856"/>
          </a:xfrm>
          <a:prstGeom prst="rect">
            <a:avLst/>
          </a:prstGeom>
          <a:noFill/>
          <a:ln/>
        </p:spPr>
        <p:txBody>
          <a:bodyPr wrap="square" lIns="0" tIns="0" rIns="0" bIns="0" rtlCol="0" anchor="t"/>
          <a:lstStyle/>
          <a:p>
            <a:pPr marL="0" indent="0">
              <a:lnSpc>
                <a:spcPts val="2100"/>
              </a:lnSpc>
              <a:buNone/>
            </a:pPr>
            <a:r>
              <a:rPr lang="en-US" sz="1600" dirty="0">
                <a:solidFill>
                  <a:srgbClr val="2C3548"/>
                </a:solidFill>
                <a:latin typeface="Calibri" pitchFamily="34" charset="0"/>
                <a:ea typeface="Calibri" pitchFamily="34" charset="-122"/>
                <a:cs typeface="Calibri" pitchFamily="34" charset="-120"/>
              </a:rPr>
              <a:t>Ante su pregunta, calcula la probabilidad de cada posible próxima palabra.</a:t>
            </a:r>
            <a:endParaRPr lang="en-US" sz="1600" dirty="0"/>
          </a:p>
        </p:txBody>
      </p:sp>
      <p:sp>
        <p:nvSpPr>
          <p:cNvPr id="22" name="Text 20"/>
          <p:cNvSpPr txBox="1"/>
          <p:nvPr/>
        </p:nvSpPr>
        <p:spPr>
          <a:xfrm>
            <a:off x="8796528" y="3200400"/>
            <a:ext cx="192024" cy="402336"/>
          </a:xfrm>
          <a:prstGeom prst="rect">
            <a:avLst/>
          </a:prstGeom>
          <a:noFill/>
          <a:ln/>
        </p:spPr>
        <p:txBody>
          <a:bodyPr wrap="square" lIns="0" tIns="0" rIns="0" bIns="0" rtlCol="0" anchor="ctr"/>
          <a:lstStyle/>
          <a:p>
            <a:pPr marL="0" indent="0" algn="ctr">
              <a:buNone/>
            </a:pPr>
            <a:r>
              <a:rPr lang="en-US" sz="2200" b="1" dirty="0">
                <a:solidFill>
                  <a:srgbClr val="C9A227"/>
                </a:solidFill>
                <a:latin typeface="Calibri" pitchFamily="34" charset="0"/>
                <a:ea typeface="Calibri" pitchFamily="34" charset="-122"/>
                <a:cs typeface="Calibri" pitchFamily="34" charset="-120"/>
              </a:rPr>
              <a:t>→</a:t>
            </a:r>
            <a:endParaRPr lang="en-US" sz="2200" dirty="0"/>
          </a:p>
        </p:txBody>
      </p:sp>
      <p:sp>
        <p:nvSpPr>
          <p:cNvPr id="23" name="Shape 21"/>
          <p:cNvSpPr/>
          <p:nvPr/>
        </p:nvSpPr>
        <p:spPr>
          <a:xfrm>
            <a:off x="8988552" y="2157984"/>
            <a:ext cx="2606040" cy="2450592"/>
          </a:xfrm>
          <a:prstGeom prst="roundRect">
            <a:avLst>
              <a:gd name="adj" fmla="val 3358"/>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24" name="Shape 22"/>
          <p:cNvSpPr/>
          <p:nvPr/>
        </p:nvSpPr>
        <p:spPr>
          <a:xfrm>
            <a:off x="9226296" y="2359152"/>
            <a:ext cx="585216" cy="585216"/>
          </a:xfrm>
          <a:prstGeom prst="ellipse">
            <a:avLst/>
          </a:prstGeom>
          <a:solidFill>
            <a:srgbClr val="1B2A4A"/>
          </a:solidFill>
          <a:ln w="12700">
            <a:solidFill>
              <a:srgbClr val="1B2A4A"/>
            </a:solidFill>
            <a:prstDash val="solid"/>
          </a:ln>
        </p:spPr>
        <p:txBody>
          <a:bodyPr/>
          <a:lstStyle/>
          <a:p>
            <a:endParaRPr lang="en-PR"/>
          </a:p>
        </p:txBody>
      </p:sp>
      <p:sp>
        <p:nvSpPr>
          <p:cNvPr id="25" name="Text 23"/>
          <p:cNvSpPr txBox="1"/>
          <p:nvPr/>
        </p:nvSpPr>
        <p:spPr>
          <a:xfrm>
            <a:off x="9226296" y="2359152"/>
            <a:ext cx="585216" cy="585216"/>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6" name="Text 24"/>
          <p:cNvSpPr txBox="1"/>
          <p:nvPr/>
        </p:nvSpPr>
        <p:spPr>
          <a:xfrm>
            <a:off x="9226296" y="3035808"/>
            <a:ext cx="2194560" cy="329184"/>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Generación</a:t>
            </a:r>
            <a:endParaRPr lang="en-US" sz="1900" dirty="0"/>
          </a:p>
        </p:txBody>
      </p:sp>
      <p:sp>
        <p:nvSpPr>
          <p:cNvPr id="27" name="Text 25"/>
          <p:cNvSpPr txBox="1"/>
          <p:nvPr/>
        </p:nvSpPr>
        <p:spPr>
          <a:xfrm>
            <a:off x="9226296" y="3401568"/>
            <a:ext cx="2212848" cy="1133856"/>
          </a:xfrm>
          <a:prstGeom prst="rect">
            <a:avLst/>
          </a:prstGeom>
          <a:noFill/>
          <a:ln/>
        </p:spPr>
        <p:txBody>
          <a:bodyPr wrap="square" lIns="0" tIns="0" rIns="0" bIns="0" rtlCol="0" anchor="t"/>
          <a:lstStyle/>
          <a:p>
            <a:pPr marL="0" indent="0">
              <a:lnSpc>
                <a:spcPts val="2100"/>
              </a:lnSpc>
              <a:buNone/>
            </a:pPr>
            <a:r>
              <a:rPr lang="en-US" sz="1600" dirty="0">
                <a:solidFill>
                  <a:srgbClr val="2C3548"/>
                </a:solidFill>
                <a:latin typeface="Calibri" pitchFamily="34" charset="0"/>
                <a:ea typeface="Calibri" pitchFamily="34" charset="-122"/>
                <a:cs typeface="Calibri" pitchFamily="34" charset="-120"/>
              </a:rPr>
              <a:t>Escoge una, la añade al texto y repite el cálculo miles de veces.</a:t>
            </a:r>
            <a:endParaRPr lang="en-US" sz="1600" dirty="0"/>
          </a:p>
        </p:txBody>
      </p:sp>
      <p:sp>
        <p:nvSpPr>
          <p:cNvPr id="28" name="Shape 26"/>
          <p:cNvSpPr/>
          <p:nvPr/>
        </p:nvSpPr>
        <p:spPr>
          <a:xfrm>
            <a:off x="566928" y="4754880"/>
            <a:ext cx="11057839" cy="1371600"/>
          </a:xfrm>
          <a:prstGeom prst="roundRect">
            <a:avLst>
              <a:gd name="adj" fmla="val 6000"/>
            </a:avLst>
          </a:prstGeom>
          <a:solidFill>
            <a:srgbClr val="FDF6E3"/>
          </a:solidFill>
          <a:ln w="12700">
            <a:solidFill>
              <a:srgbClr val="FDF6E3"/>
            </a:solidFill>
            <a:prstDash val="solid"/>
          </a:ln>
          <a:effectLst>
            <a:outerShdw blurRad="127000" dist="25400" dir="5400000" algn="bl" rotWithShape="0">
              <a:srgbClr val="1B2A4A">
                <a:alpha val="14000"/>
              </a:srgbClr>
            </a:outerShdw>
          </a:effectLst>
        </p:spPr>
        <p:txBody>
          <a:bodyPr/>
          <a:lstStyle/>
          <a:p>
            <a:endParaRPr lang="en-PR"/>
          </a:p>
        </p:txBody>
      </p:sp>
      <p:sp>
        <p:nvSpPr>
          <p:cNvPr id="29" name="Shape 27"/>
          <p:cNvSpPr/>
          <p:nvPr/>
        </p:nvSpPr>
        <p:spPr>
          <a:xfrm>
            <a:off x="886968" y="5102352"/>
            <a:ext cx="658368" cy="658368"/>
          </a:xfrm>
          <a:prstGeom prst="ellipse">
            <a:avLst/>
          </a:prstGeom>
          <a:solidFill>
            <a:srgbClr val="C9A227"/>
          </a:solidFill>
          <a:ln w="12700">
            <a:solidFill>
              <a:srgbClr val="C9A227"/>
            </a:solidFill>
            <a:prstDash val="solid"/>
          </a:ln>
        </p:spPr>
        <p:txBody>
          <a:bodyPr/>
          <a:lstStyle/>
          <a:p>
            <a:endParaRPr lang="en-PR"/>
          </a:p>
        </p:txBody>
      </p:sp>
      <p:sp>
        <p:nvSpPr>
          <p:cNvPr id="30" name="Text 28"/>
          <p:cNvSpPr txBox="1"/>
          <p:nvPr/>
        </p:nvSpPr>
        <p:spPr>
          <a:xfrm>
            <a:off x="886968" y="5102352"/>
            <a:ext cx="658368" cy="658368"/>
          </a:xfrm>
          <a:prstGeom prst="rect">
            <a:avLst/>
          </a:prstGeom>
          <a:noFill/>
          <a:ln/>
        </p:spPr>
        <p:txBody>
          <a:bodyPr wrap="square" lIns="0" tIns="0" rIns="0" bIns="0" rtlCol="0" anchor="ctr"/>
          <a:lstStyle/>
          <a:p>
            <a:pPr marL="0" indent="0" algn="ctr">
              <a:buNone/>
            </a:pPr>
            <a:r>
              <a:rPr lang="en-US" sz="2200" b="1" dirty="0">
                <a:solidFill>
                  <a:srgbClr val="1B2A4A"/>
                </a:solidFill>
                <a:latin typeface="Cambria" pitchFamily="34" charset="0"/>
                <a:ea typeface="Cambria" pitchFamily="34" charset="-122"/>
                <a:cs typeface="Cambria" pitchFamily="34" charset="-120"/>
              </a:rPr>
              <a:t>?</a:t>
            </a:r>
            <a:endParaRPr lang="en-US" sz="2200" dirty="0"/>
          </a:p>
        </p:txBody>
      </p:sp>
      <p:sp>
        <p:nvSpPr>
          <p:cNvPr id="31" name="Text 29"/>
          <p:cNvSpPr txBox="1"/>
          <p:nvPr/>
        </p:nvSpPr>
        <p:spPr>
          <a:xfrm>
            <a:off x="1773936" y="4864608"/>
            <a:ext cx="950976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Por eso alucina.</a:t>
            </a:r>
            <a:endParaRPr lang="en-US" sz="2000" dirty="0"/>
          </a:p>
        </p:txBody>
      </p:sp>
      <p:sp>
        <p:nvSpPr>
          <p:cNvPr id="32" name="Text 30"/>
          <p:cNvSpPr txBox="1"/>
          <p:nvPr/>
        </p:nvSpPr>
        <p:spPr>
          <a:xfrm>
            <a:off x="1773936" y="5248656"/>
            <a:ext cx="9509760" cy="768096"/>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Cuando el modelo no sabe algo, no se detiene: genera la continuación más plausible. Una cita falsa se ve exactamente igual de convincente que una verdadera, porque el sistema optimiza verosimilitud, no veracidad.</a:t>
            </a:r>
            <a:endParaRPr lang="en-US" sz="1700" dirty="0"/>
          </a:p>
        </p:txBody>
      </p:sp>
      <p:sp>
        <p:nvSpPr>
          <p:cNvPr id="33" name="Text 31"/>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34" name="Text 32"/>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33</a:t>
            </a:r>
            <a:endParaRPr lang="en-US" sz="1600" dirty="0"/>
          </a:p>
        </p:txBody>
      </p:sp>
    </p:spTree>
    <p:extLst>
      <p:ext uri="{BB962C8B-B14F-4D97-AF65-F5344CB8AC3E}">
        <p14:creationId xmlns:p14="http://schemas.microsoft.com/office/powerpoint/2010/main" val="2507255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DOS CLASIFICACIONES QUE SUELEN CONFUNDIRSE</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Tipos de inteligencia artificial</a:t>
            </a:r>
            <a:endParaRPr lang="en-US" sz="3000" dirty="0"/>
          </a:p>
        </p:txBody>
      </p:sp>
      <p:sp>
        <p:nvSpPr>
          <p:cNvPr id="4" name="Text 2"/>
          <p:cNvSpPr txBox="1"/>
          <p:nvPr/>
        </p:nvSpPr>
        <p:spPr>
          <a:xfrm>
            <a:off x="566928" y="1408176"/>
            <a:ext cx="11057839" cy="384048"/>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Por capacidad</a:t>
            </a:r>
            <a:endParaRPr lang="en-US" sz="2200" dirty="0"/>
          </a:p>
        </p:txBody>
      </p:sp>
      <p:sp>
        <p:nvSpPr>
          <p:cNvPr id="5" name="Shape 3"/>
          <p:cNvSpPr/>
          <p:nvPr/>
        </p:nvSpPr>
        <p:spPr>
          <a:xfrm>
            <a:off x="566928" y="1920240"/>
            <a:ext cx="11057839" cy="1243584"/>
          </a:xfrm>
          <a:prstGeom prst="roundRect">
            <a:avLst>
              <a:gd name="adj" fmla="val 6618"/>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6" name="Text 4"/>
          <p:cNvSpPr txBox="1"/>
          <p:nvPr/>
        </p:nvSpPr>
        <p:spPr>
          <a:xfrm>
            <a:off x="859536" y="2066544"/>
            <a:ext cx="566928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IA estrecha (ANI)</a:t>
            </a:r>
            <a:endParaRPr lang="en-US" sz="2000" dirty="0"/>
          </a:p>
        </p:txBody>
      </p:sp>
      <p:sp>
        <p:nvSpPr>
          <p:cNvPr id="7" name="Shape 5"/>
          <p:cNvSpPr/>
          <p:nvPr/>
        </p:nvSpPr>
        <p:spPr>
          <a:xfrm>
            <a:off x="9299448" y="2084832"/>
            <a:ext cx="1920240" cy="329184"/>
          </a:xfrm>
          <a:prstGeom prst="roundRect">
            <a:avLst>
              <a:gd name="adj" fmla="val 50000"/>
            </a:avLst>
          </a:prstGeom>
          <a:solidFill>
            <a:srgbClr val="2A9D8F"/>
          </a:solidFill>
          <a:ln w="12700">
            <a:solidFill>
              <a:srgbClr val="2A9D8F"/>
            </a:solidFill>
            <a:prstDash val="solid"/>
          </a:ln>
        </p:spPr>
        <p:txBody>
          <a:bodyPr/>
          <a:lstStyle/>
          <a:p>
            <a:endParaRPr lang="en-PR"/>
          </a:p>
        </p:txBody>
      </p:sp>
      <p:sp>
        <p:nvSpPr>
          <p:cNvPr id="8" name="Text 6"/>
          <p:cNvSpPr txBox="1"/>
          <p:nvPr/>
        </p:nvSpPr>
        <p:spPr>
          <a:xfrm>
            <a:off x="9299448" y="2084832"/>
            <a:ext cx="1920240" cy="329184"/>
          </a:xfrm>
          <a:prstGeom prst="rect">
            <a:avLst/>
          </a:prstGeom>
          <a:noFill/>
          <a:ln/>
        </p:spPr>
        <p:txBody>
          <a:bodyPr wrap="square" lIns="0" tIns="0" rIns="0" bIns="0" rtlCol="0" anchor="ctr"/>
          <a:lstStyle/>
          <a:p>
            <a:pPr marL="0" indent="0" algn="ctr">
              <a:buNone/>
            </a:pPr>
            <a:r>
              <a:rPr lang="en-US" sz="1600" b="1" kern="0" spc="60" dirty="0">
                <a:solidFill>
                  <a:srgbClr val="FFFFFF"/>
                </a:solidFill>
                <a:latin typeface="Calibri" pitchFamily="34" charset="0"/>
                <a:ea typeface="Calibri" pitchFamily="34" charset="-122"/>
                <a:cs typeface="Calibri" pitchFamily="34" charset="-120"/>
              </a:rPr>
              <a:t>REAL</a:t>
            </a:r>
            <a:endParaRPr lang="en-US" sz="1600" dirty="0"/>
          </a:p>
        </p:txBody>
      </p:sp>
      <p:sp>
        <p:nvSpPr>
          <p:cNvPr id="9" name="Text 7"/>
          <p:cNvSpPr txBox="1"/>
          <p:nvPr/>
        </p:nvSpPr>
        <p:spPr>
          <a:xfrm>
            <a:off x="859536" y="2487168"/>
            <a:ext cx="10424160" cy="566928"/>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Resuelve un dominio de tareas. Es todo lo que existe hoy, incluidos ChatGPT, Gemini y Claude.</a:t>
            </a:r>
            <a:endParaRPr lang="en-US" sz="1800" dirty="0"/>
          </a:p>
        </p:txBody>
      </p:sp>
      <p:sp>
        <p:nvSpPr>
          <p:cNvPr id="10" name="Shape 8"/>
          <p:cNvSpPr/>
          <p:nvPr/>
        </p:nvSpPr>
        <p:spPr>
          <a:xfrm>
            <a:off x="566928" y="3310128"/>
            <a:ext cx="11057839" cy="1243584"/>
          </a:xfrm>
          <a:prstGeom prst="roundRect">
            <a:avLst>
              <a:gd name="adj" fmla="val 6618"/>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11" name="Text 9"/>
          <p:cNvSpPr txBox="1"/>
          <p:nvPr/>
        </p:nvSpPr>
        <p:spPr>
          <a:xfrm>
            <a:off x="859536" y="3456432"/>
            <a:ext cx="566928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IA general (AGI)</a:t>
            </a:r>
            <a:endParaRPr lang="en-US" sz="2000" dirty="0"/>
          </a:p>
        </p:txBody>
      </p:sp>
      <p:sp>
        <p:nvSpPr>
          <p:cNvPr id="12" name="Shape 10"/>
          <p:cNvSpPr/>
          <p:nvPr/>
        </p:nvSpPr>
        <p:spPr>
          <a:xfrm>
            <a:off x="9299448" y="3474720"/>
            <a:ext cx="1920240" cy="329184"/>
          </a:xfrm>
          <a:prstGeom prst="roundRect">
            <a:avLst>
              <a:gd name="adj" fmla="val 50000"/>
            </a:avLst>
          </a:prstGeom>
          <a:solidFill>
            <a:srgbClr val="C9A227"/>
          </a:solidFill>
          <a:ln w="12700">
            <a:solidFill>
              <a:srgbClr val="C9A227"/>
            </a:solidFill>
            <a:prstDash val="solid"/>
          </a:ln>
        </p:spPr>
        <p:txBody>
          <a:bodyPr/>
          <a:lstStyle/>
          <a:p>
            <a:endParaRPr lang="en-PR"/>
          </a:p>
        </p:txBody>
      </p:sp>
      <p:sp>
        <p:nvSpPr>
          <p:cNvPr id="13" name="Text 11"/>
          <p:cNvSpPr txBox="1"/>
          <p:nvPr/>
        </p:nvSpPr>
        <p:spPr>
          <a:xfrm>
            <a:off x="9299448" y="3474720"/>
            <a:ext cx="1920240" cy="329184"/>
          </a:xfrm>
          <a:prstGeom prst="rect">
            <a:avLst/>
          </a:prstGeom>
          <a:noFill/>
          <a:ln/>
        </p:spPr>
        <p:txBody>
          <a:bodyPr wrap="square" lIns="0" tIns="0" rIns="0" bIns="0" rtlCol="0" anchor="ctr"/>
          <a:lstStyle/>
          <a:p>
            <a:pPr marL="0" indent="0" algn="ctr">
              <a:buNone/>
            </a:pPr>
            <a:r>
              <a:rPr lang="en-US" sz="1600" b="1" kern="0" spc="60" dirty="0">
                <a:solidFill>
                  <a:srgbClr val="1B2A4A"/>
                </a:solidFill>
                <a:latin typeface="Calibri" pitchFamily="34" charset="0"/>
                <a:ea typeface="Calibri" pitchFamily="34" charset="-122"/>
                <a:cs typeface="Calibri" pitchFamily="34" charset="-120"/>
              </a:rPr>
              <a:t>HIPOTÉTICA</a:t>
            </a:r>
            <a:endParaRPr lang="en-US" sz="1600" dirty="0"/>
          </a:p>
        </p:txBody>
      </p:sp>
      <p:sp>
        <p:nvSpPr>
          <p:cNvPr id="14" name="Text 12"/>
          <p:cNvSpPr txBox="1"/>
          <p:nvPr/>
        </p:nvSpPr>
        <p:spPr>
          <a:xfrm>
            <a:off x="859536" y="3877056"/>
            <a:ext cx="10424160" cy="566928"/>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Igualaría a un ser humano en cualquier tarea intelectual. Todavía no existe; el debate sobre su cercanía es abierto.</a:t>
            </a:r>
            <a:endParaRPr lang="en-US" sz="1800" dirty="0"/>
          </a:p>
        </p:txBody>
      </p:sp>
      <p:sp>
        <p:nvSpPr>
          <p:cNvPr id="15" name="Shape 13"/>
          <p:cNvSpPr/>
          <p:nvPr/>
        </p:nvSpPr>
        <p:spPr>
          <a:xfrm>
            <a:off x="566928" y="4700016"/>
            <a:ext cx="11057839" cy="1243584"/>
          </a:xfrm>
          <a:prstGeom prst="roundRect">
            <a:avLst>
              <a:gd name="adj" fmla="val 6618"/>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6" name="Text 14"/>
          <p:cNvSpPr txBox="1"/>
          <p:nvPr/>
        </p:nvSpPr>
        <p:spPr>
          <a:xfrm>
            <a:off x="859536" y="4846320"/>
            <a:ext cx="566928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Superinteligencia (ASI)</a:t>
            </a:r>
            <a:endParaRPr lang="en-US" sz="2000" dirty="0"/>
          </a:p>
        </p:txBody>
      </p:sp>
      <p:sp>
        <p:nvSpPr>
          <p:cNvPr id="17" name="Shape 15"/>
          <p:cNvSpPr/>
          <p:nvPr/>
        </p:nvSpPr>
        <p:spPr>
          <a:xfrm>
            <a:off x="9299448" y="4864608"/>
            <a:ext cx="1920240" cy="329184"/>
          </a:xfrm>
          <a:prstGeom prst="roundRect">
            <a:avLst>
              <a:gd name="adj" fmla="val 50000"/>
            </a:avLst>
          </a:prstGeom>
          <a:solidFill>
            <a:srgbClr val="C0392B"/>
          </a:solidFill>
          <a:ln w="12700">
            <a:solidFill>
              <a:srgbClr val="C0392B"/>
            </a:solidFill>
            <a:prstDash val="solid"/>
          </a:ln>
        </p:spPr>
        <p:txBody>
          <a:bodyPr/>
          <a:lstStyle/>
          <a:p>
            <a:endParaRPr lang="en-PR"/>
          </a:p>
        </p:txBody>
      </p:sp>
      <p:sp>
        <p:nvSpPr>
          <p:cNvPr id="18" name="Text 16"/>
          <p:cNvSpPr txBox="1"/>
          <p:nvPr/>
        </p:nvSpPr>
        <p:spPr>
          <a:xfrm>
            <a:off x="9299448" y="4864608"/>
            <a:ext cx="1920240" cy="329184"/>
          </a:xfrm>
          <a:prstGeom prst="rect">
            <a:avLst/>
          </a:prstGeom>
          <a:noFill/>
          <a:ln/>
        </p:spPr>
        <p:txBody>
          <a:bodyPr wrap="square" lIns="0" tIns="0" rIns="0" bIns="0" rtlCol="0" anchor="ctr"/>
          <a:lstStyle/>
          <a:p>
            <a:pPr marL="0" indent="0" algn="ctr">
              <a:buNone/>
            </a:pPr>
            <a:r>
              <a:rPr lang="en-US" sz="1600" b="1" kern="0" spc="60" dirty="0">
                <a:solidFill>
                  <a:srgbClr val="FFFFFF"/>
                </a:solidFill>
                <a:latin typeface="Calibri" pitchFamily="34" charset="0"/>
                <a:ea typeface="Calibri" pitchFamily="34" charset="-122"/>
                <a:cs typeface="Calibri" pitchFamily="34" charset="-120"/>
              </a:rPr>
              <a:t>HIPOTÉTICA</a:t>
            </a:r>
            <a:endParaRPr lang="en-US" sz="1600" dirty="0"/>
          </a:p>
        </p:txBody>
      </p:sp>
      <p:sp>
        <p:nvSpPr>
          <p:cNvPr id="19" name="Text 17"/>
          <p:cNvSpPr txBox="1"/>
          <p:nvPr/>
        </p:nvSpPr>
        <p:spPr>
          <a:xfrm>
            <a:off x="859536" y="5266944"/>
            <a:ext cx="10424160" cy="566928"/>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Superaría a la humanidad en toda actividad cognitiva. Especulación teórica.</a:t>
            </a:r>
            <a:endParaRPr lang="en-US" sz="1800" dirty="0"/>
          </a:p>
        </p:txBody>
      </p:sp>
      <p:sp>
        <p:nvSpPr>
          <p:cNvPr id="20" name="Text 18"/>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1" name="Text 19"/>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34</a:t>
            </a:r>
            <a:endParaRPr lang="en-US" sz="1600" dirty="0"/>
          </a:p>
        </p:txBody>
      </p:sp>
    </p:spTree>
    <p:extLst>
      <p:ext uri="{BB962C8B-B14F-4D97-AF65-F5344CB8AC3E}">
        <p14:creationId xmlns:p14="http://schemas.microsoft.com/office/powerpoint/2010/main" val="2123683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DOS CLASIFICACIONES QUE SUELEN CONFUNDIRSE</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Tipos de inteligencia artificial (cont.)</a:t>
            </a:r>
            <a:endParaRPr lang="en-US" sz="3000" dirty="0"/>
          </a:p>
        </p:txBody>
      </p:sp>
      <p:sp>
        <p:nvSpPr>
          <p:cNvPr id="4" name="Text 2"/>
          <p:cNvSpPr txBox="1"/>
          <p:nvPr/>
        </p:nvSpPr>
        <p:spPr>
          <a:xfrm>
            <a:off x="566928" y="1408176"/>
            <a:ext cx="11057839" cy="384048"/>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Por funcionalidad</a:t>
            </a:r>
            <a:endParaRPr lang="en-US" sz="2200" dirty="0"/>
          </a:p>
        </p:txBody>
      </p:sp>
      <p:sp>
        <p:nvSpPr>
          <p:cNvPr id="5" name="Shape 3"/>
          <p:cNvSpPr/>
          <p:nvPr/>
        </p:nvSpPr>
        <p:spPr>
          <a:xfrm>
            <a:off x="566928" y="1901952"/>
            <a:ext cx="11057839" cy="969264"/>
          </a:xfrm>
          <a:prstGeom prst="roundRect">
            <a:avLst>
              <a:gd name="adj" fmla="val 8491"/>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6" name="Shape 4"/>
          <p:cNvSpPr/>
          <p:nvPr/>
        </p:nvSpPr>
        <p:spPr>
          <a:xfrm>
            <a:off x="859536" y="2121408"/>
            <a:ext cx="237744" cy="237744"/>
          </a:xfrm>
          <a:prstGeom prst="ellipse">
            <a:avLst/>
          </a:prstGeom>
          <a:solidFill>
            <a:srgbClr val="C9A227"/>
          </a:solidFill>
          <a:ln w="12700">
            <a:solidFill>
              <a:srgbClr val="C9A227"/>
            </a:solidFill>
            <a:prstDash val="solid"/>
          </a:ln>
        </p:spPr>
        <p:txBody>
          <a:bodyPr/>
          <a:lstStyle/>
          <a:p>
            <a:endParaRPr lang="en-PR"/>
          </a:p>
        </p:txBody>
      </p:sp>
      <p:sp>
        <p:nvSpPr>
          <p:cNvPr id="7" name="Text 5"/>
          <p:cNvSpPr txBox="1"/>
          <p:nvPr/>
        </p:nvSpPr>
        <p:spPr>
          <a:xfrm>
            <a:off x="1261872" y="2011680"/>
            <a:ext cx="100584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Máquinas reactivas</a:t>
            </a:r>
            <a:endParaRPr lang="en-US" sz="2000" dirty="0"/>
          </a:p>
        </p:txBody>
      </p:sp>
      <p:sp>
        <p:nvSpPr>
          <p:cNvPr id="8" name="Text 6"/>
          <p:cNvSpPr txBox="1"/>
          <p:nvPr/>
        </p:nvSpPr>
        <p:spPr>
          <a:xfrm>
            <a:off x="1261872" y="2395728"/>
            <a:ext cx="10058400" cy="365760"/>
          </a:xfrm>
          <a:prstGeom prst="rect">
            <a:avLst/>
          </a:prstGeom>
          <a:noFill/>
          <a:ln/>
        </p:spPr>
        <p:txBody>
          <a:bodyPr wrap="square" lIns="0" tIns="0" rIns="0" bIns="0" rtlCol="0" anchor="ctr"/>
          <a:lstStyle/>
          <a:p>
            <a:pPr marL="0" indent="0">
              <a:buNone/>
            </a:pPr>
            <a:r>
              <a:rPr lang="en-US" sz="1800" dirty="0">
                <a:solidFill>
                  <a:srgbClr val="2C3548"/>
                </a:solidFill>
                <a:latin typeface="Calibri" pitchFamily="34" charset="0"/>
                <a:ea typeface="Calibri" pitchFamily="34" charset="-122"/>
                <a:cs typeface="Calibri" pitchFamily="34" charset="-120"/>
              </a:rPr>
              <a:t>Responden al estímulo presente sin memoria. Ej.: Deep Blue en ajedrez.</a:t>
            </a:r>
            <a:endParaRPr lang="en-US" sz="1800" dirty="0"/>
          </a:p>
        </p:txBody>
      </p:sp>
      <p:sp>
        <p:nvSpPr>
          <p:cNvPr id="9" name="Shape 7"/>
          <p:cNvSpPr/>
          <p:nvPr/>
        </p:nvSpPr>
        <p:spPr>
          <a:xfrm>
            <a:off x="566928" y="2999232"/>
            <a:ext cx="11057839" cy="969264"/>
          </a:xfrm>
          <a:prstGeom prst="roundRect">
            <a:avLst>
              <a:gd name="adj" fmla="val 8491"/>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0" name="Shape 8"/>
          <p:cNvSpPr/>
          <p:nvPr/>
        </p:nvSpPr>
        <p:spPr>
          <a:xfrm>
            <a:off x="859536" y="3218688"/>
            <a:ext cx="237744" cy="237744"/>
          </a:xfrm>
          <a:prstGeom prst="ellipse">
            <a:avLst/>
          </a:prstGeom>
          <a:solidFill>
            <a:srgbClr val="C9A227"/>
          </a:solidFill>
          <a:ln w="12700">
            <a:solidFill>
              <a:srgbClr val="C9A227"/>
            </a:solidFill>
            <a:prstDash val="solid"/>
          </a:ln>
        </p:spPr>
        <p:txBody>
          <a:bodyPr/>
          <a:lstStyle/>
          <a:p>
            <a:endParaRPr lang="en-PR"/>
          </a:p>
        </p:txBody>
      </p:sp>
      <p:sp>
        <p:nvSpPr>
          <p:cNvPr id="11" name="Text 9"/>
          <p:cNvSpPr txBox="1"/>
          <p:nvPr/>
        </p:nvSpPr>
        <p:spPr>
          <a:xfrm>
            <a:off x="1261872" y="3108960"/>
            <a:ext cx="100584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Memoria limitada</a:t>
            </a:r>
            <a:endParaRPr lang="en-US" sz="2000" dirty="0"/>
          </a:p>
        </p:txBody>
      </p:sp>
      <p:sp>
        <p:nvSpPr>
          <p:cNvPr id="12" name="Text 10"/>
          <p:cNvSpPr txBox="1"/>
          <p:nvPr/>
        </p:nvSpPr>
        <p:spPr>
          <a:xfrm>
            <a:off x="1261872" y="3493008"/>
            <a:ext cx="10058400" cy="365760"/>
          </a:xfrm>
          <a:prstGeom prst="rect">
            <a:avLst/>
          </a:prstGeom>
          <a:noFill/>
          <a:ln/>
        </p:spPr>
        <p:txBody>
          <a:bodyPr wrap="square" lIns="0" tIns="0" rIns="0" bIns="0" rtlCol="0" anchor="ctr"/>
          <a:lstStyle/>
          <a:p>
            <a:pPr marL="0" indent="0">
              <a:buNone/>
            </a:pPr>
            <a:r>
              <a:rPr lang="en-US" sz="1800" dirty="0">
                <a:solidFill>
                  <a:srgbClr val="2C3548"/>
                </a:solidFill>
                <a:latin typeface="Calibri" pitchFamily="34" charset="0"/>
                <a:ea typeface="Calibri" pitchFamily="34" charset="-122"/>
                <a:cs typeface="Calibri" pitchFamily="34" charset="-120"/>
              </a:rPr>
              <a:t>Usan datos recientes para decidir. Aquí están todos los sistemas actuales.</a:t>
            </a:r>
            <a:endParaRPr lang="en-US" sz="1800" dirty="0"/>
          </a:p>
        </p:txBody>
      </p:sp>
      <p:sp>
        <p:nvSpPr>
          <p:cNvPr id="13" name="Shape 11"/>
          <p:cNvSpPr/>
          <p:nvPr/>
        </p:nvSpPr>
        <p:spPr>
          <a:xfrm>
            <a:off x="566928" y="4096512"/>
            <a:ext cx="11057839" cy="969264"/>
          </a:xfrm>
          <a:prstGeom prst="roundRect">
            <a:avLst>
              <a:gd name="adj" fmla="val 8491"/>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14" name="Shape 12"/>
          <p:cNvSpPr/>
          <p:nvPr/>
        </p:nvSpPr>
        <p:spPr>
          <a:xfrm>
            <a:off x="859536" y="4315968"/>
            <a:ext cx="237744" cy="237744"/>
          </a:xfrm>
          <a:prstGeom prst="ellipse">
            <a:avLst/>
          </a:prstGeom>
          <a:solidFill>
            <a:srgbClr val="5A6478"/>
          </a:solidFill>
          <a:ln w="12700">
            <a:solidFill>
              <a:srgbClr val="5A6478"/>
            </a:solidFill>
            <a:prstDash val="solid"/>
          </a:ln>
        </p:spPr>
        <p:txBody>
          <a:bodyPr/>
          <a:lstStyle/>
          <a:p>
            <a:endParaRPr lang="en-PR"/>
          </a:p>
        </p:txBody>
      </p:sp>
      <p:sp>
        <p:nvSpPr>
          <p:cNvPr id="15" name="Text 13"/>
          <p:cNvSpPr txBox="1"/>
          <p:nvPr/>
        </p:nvSpPr>
        <p:spPr>
          <a:xfrm>
            <a:off x="1261872" y="4206240"/>
            <a:ext cx="100584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Teoría de la mente</a:t>
            </a:r>
            <a:endParaRPr lang="en-US" sz="2000" dirty="0"/>
          </a:p>
        </p:txBody>
      </p:sp>
      <p:sp>
        <p:nvSpPr>
          <p:cNvPr id="16" name="Text 14"/>
          <p:cNvSpPr txBox="1"/>
          <p:nvPr/>
        </p:nvSpPr>
        <p:spPr>
          <a:xfrm>
            <a:off x="1261872" y="4590288"/>
            <a:ext cx="10058400" cy="365760"/>
          </a:xfrm>
          <a:prstGeom prst="rect">
            <a:avLst/>
          </a:prstGeom>
          <a:noFill/>
          <a:ln/>
        </p:spPr>
        <p:txBody>
          <a:bodyPr wrap="square" lIns="0" tIns="0" rIns="0" bIns="0" rtlCol="0" anchor="ctr"/>
          <a:lstStyle/>
          <a:p>
            <a:pPr marL="0" indent="0">
              <a:buNone/>
            </a:pPr>
            <a:r>
              <a:rPr lang="en-US" sz="1800" dirty="0">
                <a:solidFill>
                  <a:srgbClr val="2C3548"/>
                </a:solidFill>
                <a:latin typeface="Calibri" pitchFamily="34" charset="0"/>
                <a:ea typeface="Calibri" pitchFamily="34" charset="-122"/>
                <a:cs typeface="Calibri" pitchFamily="34" charset="-120"/>
              </a:rPr>
              <a:t>Comprenderían emociones e intenciones ajenas. En investigación.</a:t>
            </a:r>
            <a:endParaRPr lang="en-US" sz="1800" dirty="0"/>
          </a:p>
        </p:txBody>
      </p:sp>
      <p:sp>
        <p:nvSpPr>
          <p:cNvPr id="17" name="Shape 15"/>
          <p:cNvSpPr/>
          <p:nvPr/>
        </p:nvSpPr>
        <p:spPr>
          <a:xfrm>
            <a:off x="566928" y="5193792"/>
            <a:ext cx="11057839" cy="969264"/>
          </a:xfrm>
          <a:prstGeom prst="roundRect">
            <a:avLst>
              <a:gd name="adj" fmla="val 8491"/>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18" name="Shape 16"/>
          <p:cNvSpPr/>
          <p:nvPr/>
        </p:nvSpPr>
        <p:spPr>
          <a:xfrm>
            <a:off x="859536" y="5413248"/>
            <a:ext cx="237744" cy="237744"/>
          </a:xfrm>
          <a:prstGeom prst="ellipse">
            <a:avLst/>
          </a:prstGeom>
          <a:solidFill>
            <a:srgbClr val="5A6478"/>
          </a:solidFill>
          <a:ln w="12700">
            <a:solidFill>
              <a:srgbClr val="5A6478"/>
            </a:solidFill>
            <a:prstDash val="solid"/>
          </a:ln>
        </p:spPr>
        <p:txBody>
          <a:bodyPr/>
          <a:lstStyle/>
          <a:p>
            <a:endParaRPr lang="en-PR"/>
          </a:p>
        </p:txBody>
      </p:sp>
      <p:sp>
        <p:nvSpPr>
          <p:cNvPr id="19" name="Text 17"/>
          <p:cNvSpPr txBox="1"/>
          <p:nvPr/>
        </p:nvSpPr>
        <p:spPr>
          <a:xfrm>
            <a:off x="1261872" y="5303520"/>
            <a:ext cx="100584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Autoconciencia</a:t>
            </a:r>
            <a:endParaRPr lang="en-US" sz="2000" dirty="0"/>
          </a:p>
        </p:txBody>
      </p:sp>
      <p:sp>
        <p:nvSpPr>
          <p:cNvPr id="20" name="Text 18"/>
          <p:cNvSpPr txBox="1"/>
          <p:nvPr/>
        </p:nvSpPr>
        <p:spPr>
          <a:xfrm>
            <a:off x="1261872" y="5687568"/>
            <a:ext cx="10058400" cy="365760"/>
          </a:xfrm>
          <a:prstGeom prst="rect">
            <a:avLst/>
          </a:prstGeom>
          <a:noFill/>
          <a:ln/>
        </p:spPr>
        <p:txBody>
          <a:bodyPr wrap="square" lIns="0" tIns="0" rIns="0" bIns="0" rtlCol="0" anchor="ctr"/>
          <a:lstStyle/>
          <a:p>
            <a:pPr marL="0" indent="0">
              <a:buNone/>
            </a:pPr>
            <a:r>
              <a:rPr lang="en-US" sz="1800" dirty="0">
                <a:solidFill>
                  <a:srgbClr val="2C3548"/>
                </a:solidFill>
                <a:latin typeface="Calibri" pitchFamily="34" charset="0"/>
                <a:ea typeface="Calibri" pitchFamily="34" charset="-122"/>
                <a:cs typeface="Calibri" pitchFamily="34" charset="-120"/>
              </a:rPr>
              <a:t>Tendrían conciencia de sí mismas. Puramente especulativo.</a:t>
            </a:r>
            <a:endParaRPr lang="en-US" sz="1800" dirty="0"/>
          </a:p>
        </p:txBody>
      </p:sp>
      <p:sp>
        <p:nvSpPr>
          <p:cNvPr id="21" name="Text 19"/>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2" name="Text 20"/>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35</a:t>
            </a:r>
            <a:endParaRPr lang="en-US" sz="1600" dirty="0"/>
          </a:p>
        </p:txBody>
      </p:sp>
    </p:spTree>
    <p:extLst>
      <p:ext uri="{BB962C8B-B14F-4D97-AF65-F5344CB8AC3E}">
        <p14:creationId xmlns:p14="http://schemas.microsoft.com/office/powerpoint/2010/main" val="4022665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HIGIENE CONCEPTUAL</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Siete mitos que conviene desmontar</a:t>
            </a:r>
            <a:endParaRPr lang="en-US" sz="3000" dirty="0"/>
          </a:p>
        </p:txBody>
      </p:sp>
      <p:sp>
        <p:nvSpPr>
          <p:cNvPr id="4" name="Shape 2"/>
          <p:cNvSpPr/>
          <p:nvPr/>
        </p:nvSpPr>
        <p:spPr>
          <a:xfrm>
            <a:off x="566928" y="1554480"/>
            <a:ext cx="11057839" cy="1060704"/>
          </a:xfrm>
          <a:prstGeom prst="roundRect">
            <a:avLst>
              <a:gd name="adj" fmla="val 7759"/>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786384" y="1709928"/>
            <a:ext cx="566928" cy="566928"/>
          </a:xfrm>
          <a:prstGeom prst="ellipse">
            <a:avLst/>
          </a:prstGeom>
          <a:solidFill>
            <a:srgbClr val="C0392B"/>
          </a:solidFill>
          <a:ln w="12700">
            <a:solidFill>
              <a:srgbClr val="C0392B"/>
            </a:solidFill>
            <a:prstDash val="solid"/>
          </a:ln>
        </p:spPr>
        <p:txBody>
          <a:bodyPr/>
          <a:lstStyle/>
          <a:p>
            <a:endParaRPr lang="en-PR"/>
          </a:p>
        </p:txBody>
      </p:sp>
      <p:sp>
        <p:nvSpPr>
          <p:cNvPr id="6" name="Text 4"/>
          <p:cNvSpPr txBox="1"/>
          <p:nvPr/>
        </p:nvSpPr>
        <p:spPr>
          <a:xfrm>
            <a:off x="786384" y="170992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7" name="Text 5"/>
          <p:cNvSpPr txBox="1"/>
          <p:nvPr/>
        </p:nvSpPr>
        <p:spPr>
          <a:xfrm>
            <a:off x="1536192" y="1700784"/>
            <a:ext cx="9869119" cy="365760"/>
          </a:xfrm>
          <a:prstGeom prst="rect">
            <a:avLst/>
          </a:prstGeom>
          <a:noFill/>
          <a:ln/>
        </p:spPr>
        <p:txBody>
          <a:bodyPr wrap="square" lIns="0" tIns="0" rIns="0" bIns="0" rtlCol="0" anchor="ctr"/>
          <a:lstStyle/>
          <a:p>
            <a:pPr marL="0" indent="0">
              <a:buNone/>
            </a:pPr>
            <a:r>
              <a:rPr lang="en-US" sz="2000" b="1" dirty="0">
                <a:solidFill>
                  <a:srgbClr val="C0392B"/>
                </a:solidFill>
                <a:latin typeface="Cambria" pitchFamily="34" charset="0"/>
                <a:ea typeface="Cambria" pitchFamily="34" charset="-122"/>
                <a:cs typeface="Cambria" pitchFamily="34" charset="-120"/>
              </a:rPr>
              <a:t>“La IA piensa y entiende”</a:t>
            </a:r>
            <a:endParaRPr lang="en-US" sz="2000" dirty="0"/>
          </a:p>
        </p:txBody>
      </p:sp>
      <p:sp>
        <p:nvSpPr>
          <p:cNvPr id="8" name="Text 6"/>
          <p:cNvSpPr txBox="1"/>
          <p:nvPr/>
        </p:nvSpPr>
        <p:spPr>
          <a:xfrm>
            <a:off x="1536192" y="2103120"/>
            <a:ext cx="9869119" cy="384048"/>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Procesa patrones estadísticos. No comprende el significado de lo que escribe.</a:t>
            </a:r>
            <a:endParaRPr lang="en-US" sz="1800" dirty="0"/>
          </a:p>
        </p:txBody>
      </p:sp>
      <p:sp>
        <p:nvSpPr>
          <p:cNvPr id="9" name="Shape 7"/>
          <p:cNvSpPr/>
          <p:nvPr/>
        </p:nvSpPr>
        <p:spPr>
          <a:xfrm>
            <a:off x="566928" y="2743200"/>
            <a:ext cx="11057839" cy="1060704"/>
          </a:xfrm>
          <a:prstGeom prst="roundRect">
            <a:avLst>
              <a:gd name="adj" fmla="val 7759"/>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0" name="Shape 8"/>
          <p:cNvSpPr/>
          <p:nvPr/>
        </p:nvSpPr>
        <p:spPr>
          <a:xfrm>
            <a:off x="786384" y="2898648"/>
            <a:ext cx="566928" cy="566928"/>
          </a:xfrm>
          <a:prstGeom prst="ellipse">
            <a:avLst/>
          </a:prstGeom>
          <a:solidFill>
            <a:srgbClr val="C0392B"/>
          </a:solidFill>
          <a:ln w="12700">
            <a:solidFill>
              <a:srgbClr val="C0392B"/>
            </a:solidFill>
            <a:prstDash val="solid"/>
          </a:ln>
        </p:spPr>
        <p:txBody>
          <a:bodyPr/>
          <a:lstStyle/>
          <a:p>
            <a:endParaRPr lang="en-PR"/>
          </a:p>
        </p:txBody>
      </p:sp>
      <p:sp>
        <p:nvSpPr>
          <p:cNvPr id="11" name="Text 9"/>
          <p:cNvSpPr txBox="1"/>
          <p:nvPr/>
        </p:nvSpPr>
        <p:spPr>
          <a:xfrm>
            <a:off x="786384" y="289864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2" name="Text 10"/>
          <p:cNvSpPr txBox="1"/>
          <p:nvPr/>
        </p:nvSpPr>
        <p:spPr>
          <a:xfrm>
            <a:off x="1536192" y="2889504"/>
            <a:ext cx="9869119" cy="365760"/>
          </a:xfrm>
          <a:prstGeom prst="rect">
            <a:avLst/>
          </a:prstGeom>
          <a:noFill/>
          <a:ln/>
        </p:spPr>
        <p:txBody>
          <a:bodyPr wrap="square" lIns="0" tIns="0" rIns="0" bIns="0" rtlCol="0" anchor="ctr"/>
          <a:lstStyle/>
          <a:p>
            <a:pPr marL="0" indent="0">
              <a:buNone/>
            </a:pPr>
            <a:r>
              <a:rPr lang="en-US" sz="2000" b="1" dirty="0">
                <a:solidFill>
                  <a:srgbClr val="C0392B"/>
                </a:solidFill>
                <a:latin typeface="Cambria" pitchFamily="34" charset="0"/>
                <a:ea typeface="Cambria" pitchFamily="34" charset="-122"/>
                <a:cs typeface="Cambria" pitchFamily="34" charset="-120"/>
              </a:rPr>
              <a:t>“Si lo dice, es cierto”</a:t>
            </a:r>
            <a:endParaRPr lang="en-US" sz="2000" dirty="0"/>
          </a:p>
        </p:txBody>
      </p:sp>
      <p:sp>
        <p:nvSpPr>
          <p:cNvPr id="13" name="Text 11"/>
          <p:cNvSpPr txBox="1"/>
          <p:nvPr/>
        </p:nvSpPr>
        <p:spPr>
          <a:xfrm>
            <a:off x="1536192" y="3291840"/>
            <a:ext cx="9869119" cy="384048"/>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Genera texto plausible. Puede inventar datos, citas y autores con total seguridad.</a:t>
            </a:r>
            <a:endParaRPr lang="en-US" sz="1800" dirty="0"/>
          </a:p>
        </p:txBody>
      </p:sp>
      <p:sp>
        <p:nvSpPr>
          <p:cNvPr id="14" name="Shape 12"/>
          <p:cNvSpPr/>
          <p:nvPr/>
        </p:nvSpPr>
        <p:spPr>
          <a:xfrm>
            <a:off x="566928" y="3931920"/>
            <a:ext cx="11057839" cy="1060704"/>
          </a:xfrm>
          <a:prstGeom prst="roundRect">
            <a:avLst>
              <a:gd name="adj" fmla="val 7759"/>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5" name="Shape 13"/>
          <p:cNvSpPr/>
          <p:nvPr/>
        </p:nvSpPr>
        <p:spPr>
          <a:xfrm>
            <a:off x="786384" y="4087368"/>
            <a:ext cx="566928" cy="566928"/>
          </a:xfrm>
          <a:prstGeom prst="ellipse">
            <a:avLst/>
          </a:prstGeom>
          <a:solidFill>
            <a:srgbClr val="C0392B"/>
          </a:solidFill>
          <a:ln w="12700">
            <a:solidFill>
              <a:srgbClr val="C0392B"/>
            </a:solidFill>
            <a:prstDash val="solid"/>
          </a:ln>
        </p:spPr>
        <p:txBody>
          <a:bodyPr/>
          <a:lstStyle/>
          <a:p>
            <a:endParaRPr lang="en-PR"/>
          </a:p>
        </p:txBody>
      </p:sp>
      <p:sp>
        <p:nvSpPr>
          <p:cNvPr id="16" name="Text 14"/>
          <p:cNvSpPr txBox="1"/>
          <p:nvPr/>
        </p:nvSpPr>
        <p:spPr>
          <a:xfrm>
            <a:off x="786384" y="408736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7" name="Text 15"/>
          <p:cNvSpPr txBox="1"/>
          <p:nvPr/>
        </p:nvSpPr>
        <p:spPr>
          <a:xfrm>
            <a:off x="1536192" y="4078224"/>
            <a:ext cx="9869119" cy="365760"/>
          </a:xfrm>
          <a:prstGeom prst="rect">
            <a:avLst/>
          </a:prstGeom>
          <a:noFill/>
          <a:ln/>
        </p:spPr>
        <p:txBody>
          <a:bodyPr wrap="square" lIns="0" tIns="0" rIns="0" bIns="0" rtlCol="0" anchor="ctr"/>
          <a:lstStyle/>
          <a:p>
            <a:pPr marL="0" indent="0">
              <a:buNone/>
            </a:pPr>
            <a:r>
              <a:rPr lang="en-US" sz="2000" b="1" dirty="0">
                <a:solidFill>
                  <a:srgbClr val="C0392B"/>
                </a:solidFill>
                <a:latin typeface="Cambria" pitchFamily="34" charset="0"/>
                <a:ea typeface="Cambria" pitchFamily="34" charset="-122"/>
                <a:cs typeface="Cambria" pitchFamily="34" charset="-120"/>
              </a:rPr>
              <a:t>“Es objetiva y neutral”</a:t>
            </a:r>
            <a:endParaRPr lang="en-US" sz="2000" dirty="0"/>
          </a:p>
        </p:txBody>
      </p:sp>
      <p:sp>
        <p:nvSpPr>
          <p:cNvPr id="18" name="Text 16"/>
          <p:cNvSpPr txBox="1"/>
          <p:nvPr/>
        </p:nvSpPr>
        <p:spPr>
          <a:xfrm>
            <a:off x="1536192" y="4480560"/>
            <a:ext cx="9869119" cy="384048"/>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Reproduce los sesgos presentes en los datos con que fue entrenada.</a:t>
            </a:r>
            <a:endParaRPr lang="en-US" sz="1800" dirty="0"/>
          </a:p>
        </p:txBody>
      </p:sp>
      <p:sp>
        <p:nvSpPr>
          <p:cNvPr id="19" name="Shape 17"/>
          <p:cNvSpPr/>
          <p:nvPr/>
        </p:nvSpPr>
        <p:spPr>
          <a:xfrm>
            <a:off x="566928" y="5120640"/>
            <a:ext cx="11057839" cy="1060704"/>
          </a:xfrm>
          <a:prstGeom prst="roundRect">
            <a:avLst>
              <a:gd name="adj" fmla="val 7759"/>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20" name="Shape 18"/>
          <p:cNvSpPr/>
          <p:nvPr/>
        </p:nvSpPr>
        <p:spPr>
          <a:xfrm>
            <a:off x="786384" y="5276088"/>
            <a:ext cx="566928" cy="566928"/>
          </a:xfrm>
          <a:prstGeom prst="ellipse">
            <a:avLst/>
          </a:prstGeom>
          <a:solidFill>
            <a:srgbClr val="C0392B"/>
          </a:solidFill>
          <a:ln w="12700">
            <a:solidFill>
              <a:srgbClr val="C0392B"/>
            </a:solidFill>
            <a:prstDash val="solid"/>
          </a:ln>
        </p:spPr>
        <p:txBody>
          <a:bodyPr/>
          <a:lstStyle/>
          <a:p>
            <a:endParaRPr lang="en-PR"/>
          </a:p>
        </p:txBody>
      </p:sp>
      <p:sp>
        <p:nvSpPr>
          <p:cNvPr id="21" name="Text 19"/>
          <p:cNvSpPr txBox="1"/>
          <p:nvPr/>
        </p:nvSpPr>
        <p:spPr>
          <a:xfrm>
            <a:off x="786384" y="527608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22" name="Text 20"/>
          <p:cNvSpPr txBox="1"/>
          <p:nvPr/>
        </p:nvSpPr>
        <p:spPr>
          <a:xfrm>
            <a:off x="1536192" y="5266944"/>
            <a:ext cx="9869119" cy="365760"/>
          </a:xfrm>
          <a:prstGeom prst="rect">
            <a:avLst/>
          </a:prstGeom>
          <a:noFill/>
          <a:ln/>
        </p:spPr>
        <p:txBody>
          <a:bodyPr wrap="square" lIns="0" tIns="0" rIns="0" bIns="0" rtlCol="0" anchor="ctr"/>
          <a:lstStyle/>
          <a:p>
            <a:pPr marL="0" indent="0">
              <a:buNone/>
            </a:pPr>
            <a:r>
              <a:rPr lang="en-US" sz="2000" b="1" dirty="0">
                <a:solidFill>
                  <a:srgbClr val="C0392B"/>
                </a:solidFill>
                <a:latin typeface="Cambria" pitchFamily="34" charset="0"/>
                <a:ea typeface="Cambria" pitchFamily="34" charset="-122"/>
                <a:cs typeface="Cambria" pitchFamily="34" charset="-120"/>
              </a:rPr>
              <a:t>“Va a sustituir al maestro”</a:t>
            </a:r>
            <a:endParaRPr lang="en-US" sz="2000" dirty="0"/>
          </a:p>
        </p:txBody>
      </p:sp>
      <p:sp>
        <p:nvSpPr>
          <p:cNvPr id="23" name="Text 21"/>
          <p:cNvSpPr txBox="1"/>
          <p:nvPr/>
        </p:nvSpPr>
        <p:spPr>
          <a:xfrm>
            <a:off x="1536192" y="5669280"/>
            <a:ext cx="9869119" cy="384048"/>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Automatiza tareas, no relaciones. La mediación pedagógica sigue siendo humana.</a:t>
            </a:r>
            <a:endParaRPr lang="en-US" sz="1800" dirty="0"/>
          </a:p>
        </p:txBody>
      </p:sp>
      <p:sp>
        <p:nvSpPr>
          <p:cNvPr id="24" name="Text 22"/>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5" name="Text 23"/>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36</a:t>
            </a:r>
            <a:endParaRPr lang="en-US" sz="1600" dirty="0"/>
          </a:p>
        </p:txBody>
      </p:sp>
    </p:spTree>
    <p:extLst>
      <p:ext uri="{BB962C8B-B14F-4D97-AF65-F5344CB8AC3E}">
        <p14:creationId xmlns:p14="http://schemas.microsoft.com/office/powerpoint/2010/main" val="2230601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HIGIENE CONCEPTUAL</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Siete mitos que conviene desmontar (cont.)</a:t>
            </a:r>
            <a:endParaRPr lang="en-US" sz="3000" dirty="0"/>
          </a:p>
        </p:txBody>
      </p:sp>
      <p:sp>
        <p:nvSpPr>
          <p:cNvPr id="4" name="Shape 2"/>
          <p:cNvSpPr/>
          <p:nvPr/>
        </p:nvSpPr>
        <p:spPr>
          <a:xfrm>
            <a:off x="566928" y="1554480"/>
            <a:ext cx="11057839" cy="1060704"/>
          </a:xfrm>
          <a:prstGeom prst="roundRect">
            <a:avLst>
              <a:gd name="adj" fmla="val 7759"/>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786384" y="1709928"/>
            <a:ext cx="566928" cy="566928"/>
          </a:xfrm>
          <a:prstGeom prst="ellipse">
            <a:avLst/>
          </a:prstGeom>
          <a:solidFill>
            <a:srgbClr val="C0392B"/>
          </a:solidFill>
          <a:ln w="12700">
            <a:solidFill>
              <a:srgbClr val="C0392B"/>
            </a:solidFill>
            <a:prstDash val="solid"/>
          </a:ln>
        </p:spPr>
        <p:txBody>
          <a:bodyPr/>
          <a:lstStyle/>
          <a:p>
            <a:endParaRPr lang="en-PR"/>
          </a:p>
        </p:txBody>
      </p:sp>
      <p:sp>
        <p:nvSpPr>
          <p:cNvPr id="6" name="Text 4"/>
          <p:cNvSpPr txBox="1"/>
          <p:nvPr/>
        </p:nvSpPr>
        <p:spPr>
          <a:xfrm>
            <a:off x="786384" y="170992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7" name="Text 5"/>
          <p:cNvSpPr txBox="1"/>
          <p:nvPr/>
        </p:nvSpPr>
        <p:spPr>
          <a:xfrm>
            <a:off x="1536192" y="1700784"/>
            <a:ext cx="9869119" cy="365760"/>
          </a:xfrm>
          <a:prstGeom prst="rect">
            <a:avLst/>
          </a:prstGeom>
          <a:noFill/>
          <a:ln/>
        </p:spPr>
        <p:txBody>
          <a:bodyPr wrap="square" lIns="0" tIns="0" rIns="0" bIns="0" rtlCol="0" anchor="ctr"/>
          <a:lstStyle/>
          <a:p>
            <a:pPr marL="0" indent="0">
              <a:buNone/>
            </a:pPr>
            <a:r>
              <a:rPr lang="en-US" sz="2000" b="1" dirty="0">
                <a:solidFill>
                  <a:srgbClr val="C0392B"/>
                </a:solidFill>
                <a:latin typeface="Cambria" pitchFamily="34" charset="0"/>
                <a:ea typeface="Cambria" pitchFamily="34" charset="-122"/>
                <a:cs typeface="Cambria" pitchFamily="34" charset="-120"/>
              </a:rPr>
              <a:t>“Todo lo que escribo es privado”</a:t>
            </a:r>
            <a:endParaRPr lang="en-US" sz="2000" dirty="0"/>
          </a:p>
        </p:txBody>
      </p:sp>
      <p:sp>
        <p:nvSpPr>
          <p:cNvPr id="8" name="Text 6"/>
          <p:cNvSpPr txBox="1"/>
          <p:nvPr/>
        </p:nvSpPr>
        <p:spPr>
          <a:xfrm>
            <a:off x="1536192" y="2103120"/>
            <a:ext cx="9869119" cy="384048"/>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En cuentas gratuitas, sus textos pueden usarse para entrenar el modelo.</a:t>
            </a:r>
            <a:endParaRPr lang="en-US" sz="1800" dirty="0"/>
          </a:p>
        </p:txBody>
      </p:sp>
      <p:sp>
        <p:nvSpPr>
          <p:cNvPr id="9" name="Shape 7"/>
          <p:cNvSpPr/>
          <p:nvPr/>
        </p:nvSpPr>
        <p:spPr>
          <a:xfrm>
            <a:off x="566928" y="2743200"/>
            <a:ext cx="11057839" cy="1060704"/>
          </a:xfrm>
          <a:prstGeom prst="roundRect">
            <a:avLst>
              <a:gd name="adj" fmla="val 7759"/>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0" name="Shape 8"/>
          <p:cNvSpPr/>
          <p:nvPr/>
        </p:nvSpPr>
        <p:spPr>
          <a:xfrm>
            <a:off x="786384" y="2898648"/>
            <a:ext cx="566928" cy="566928"/>
          </a:xfrm>
          <a:prstGeom prst="ellipse">
            <a:avLst/>
          </a:prstGeom>
          <a:solidFill>
            <a:srgbClr val="C0392B"/>
          </a:solidFill>
          <a:ln w="12700">
            <a:solidFill>
              <a:srgbClr val="C0392B"/>
            </a:solidFill>
            <a:prstDash val="solid"/>
          </a:ln>
        </p:spPr>
        <p:txBody>
          <a:bodyPr/>
          <a:lstStyle/>
          <a:p>
            <a:endParaRPr lang="en-PR"/>
          </a:p>
        </p:txBody>
      </p:sp>
      <p:sp>
        <p:nvSpPr>
          <p:cNvPr id="11" name="Text 9"/>
          <p:cNvSpPr txBox="1"/>
          <p:nvPr/>
        </p:nvSpPr>
        <p:spPr>
          <a:xfrm>
            <a:off x="786384" y="289864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2" name="Text 10"/>
          <p:cNvSpPr txBox="1"/>
          <p:nvPr/>
        </p:nvSpPr>
        <p:spPr>
          <a:xfrm>
            <a:off x="1536192" y="2889504"/>
            <a:ext cx="9869119" cy="365760"/>
          </a:xfrm>
          <a:prstGeom prst="rect">
            <a:avLst/>
          </a:prstGeom>
          <a:noFill/>
          <a:ln/>
        </p:spPr>
        <p:txBody>
          <a:bodyPr wrap="square" lIns="0" tIns="0" rIns="0" bIns="0" rtlCol="0" anchor="ctr"/>
          <a:lstStyle/>
          <a:p>
            <a:pPr marL="0" indent="0">
              <a:buNone/>
            </a:pPr>
            <a:r>
              <a:rPr lang="en-US" sz="2000" b="1" dirty="0">
                <a:solidFill>
                  <a:srgbClr val="C0392B"/>
                </a:solidFill>
                <a:latin typeface="Cambria" pitchFamily="34" charset="0"/>
                <a:ea typeface="Cambria" pitchFamily="34" charset="-122"/>
                <a:cs typeface="Cambria" pitchFamily="34" charset="-120"/>
              </a:rPr>
              <a:t>“Los detectores identifican la IA”</a:t>
            </a:r>
            <a:endParaRPr lang="en-US" sz="2000" dirty="0"/>
          </a:p>
        </p:txBody>
      </p:sp>
      <p:sp>
        <p:nvSpPr>
          <p:cNvPr id="13" name="Text 11"/>
          <p:cNvSpPr txBox="1"/>
          <p:nvPr/>
        </p:nvSpPr>
        <p:spPr>
          <a:xfrm>
            <a:off x="1536192" y="3291840"/>
            <a:ext cx="9869119" cy="384048"/>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Fallan con frecuencia y perjudican a estudiantes bilingües. Vea la sección 5.</a:t>
            </a:r>
            <a:endParaRPr lang="en-US" sz="1800" dirty="0"/>
          </a:p>
        </p:txBody>
      </p:sp>
      <p:sp>
        <p:nvSpPr>
          <p:cNvPr id="14" name="Shape 12"/>
          <p:cNvSpPr/>
          <p:nvPr/>
        </p:nvSpPr>
        <p:spPr>
          <a:xfrm>
            <a:off x="566928" y="3931920"/>
            <a:ext cx="11057839" cy="1060704"/>
          </a:xfrm>
          <a:prstGeom prst="roundRect">
            <a:avLst>
              <a:gd name="adj" fmla="val 7759"/>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5" name="Shape 13"/>
          <p:cNvSpPr/>
          <p:nvPr/>
        </p:nvSpPr>
        <p:spPr>
          <a:xfrm>
            <a:off x="786384" y="4087368"/>
            <a:ext cx="566928" cy="566928"/>
          </a:xfrm>
          <a:prstGeom prst="ellipse">
            <a:avLst/>
          </a:prstGeom>
          <a:solidFill>
            <a:srgbClr val="C0392B"/>
          </a:solidFill>
          <a:ln w="12700">
            <a:solidFill>
              <a:srgbClr val="C0392B"/>
            </a:solidFill>
            <a:prstDash val="solid"/>
          </a:ln>
        </p:spPr>
        <p:txBody>
          <a:bodyPr/>
          <a:lstStyle/>
          <a:p>
            <a:endParaRPr lang="en-PR"/>
          </a:p>
        </p:txBody>
      </p:sp>
      <p:sp>
        <p:nvSpPr>
          <p:cNvPr id="16" name="Text 14"/>
          <p:cNvSpPr txBox="1"/>
          <p:nvPr/>
        </p:nvSpPr>
        <p:spPr>
          <a:xfrm>
            <a:off x="786384" y="408736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7" name="Text 15"/>
          <p:cNvSpPr txBox="1"/>
          <p:nvPr/>
        </p:nvSpPr>
        <p:spPr>
          <a:xfrm>
            <a:off x="1536192" y="4078224"/>
            <a:ext cx="9869119" cy="365760"/>
          </a:xfrm>
          <a:prstGeom prst="rect">
            <a:avLst/>
          </a:prstGeom>
          <a:noFill/>
          <a:ln/>
        </p:spPr>
        <p:txBody>
          <a:bodyPr wrap="square" lIns="0" tIns="0" rIns="0" bIns="0" rtlCol="0" anchor="ctr"/>
          <a:lstStyle/>
          <a:p>
            <a:pPr marL="0" indent="0">
              <a:buNone/>
            </a:pPr>
            <a:r>
              <a:rPr lang="en-US" sz="2000" b="1" dirty="0">
                <a:solidFill>
                  <a:srgbClr val="C0392B"/>
                </a:solidFill>
                <a:latin typeface="Cambria" pitchFamily="34" charset="0"/>
                <a:ea typeface="Cambria" pitchFamily="34" charset="-122"/>
                <a:cs typeface="Cambria" pitchFamily="34" charset="-120"/>
              </a:rPr>
              <a:t>“Sabe lo que pasó ayer”</a:t>
            </a:r>
            <a:endParaRPr lang="en-US" sz="2000" dirty="0"/>
          </a:p>
        </p:txBody>
      </p:sp>
      <p:sp>
        <p:nvSpPr>
          <p:cNvPr id="18" name="Text 16"/>
          <p:cNvSpPr txBox="1"/>
          <p:nvPr/>
        </p:nvSpPr>
        <p:spPr>
          <a:xfrm>
            <a:off x="1536192" y="4480560"/>
            <a:ext cx="9869119" cy="384048"/>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Su conocimiento tiene fecha de corte, salvo que la herramienta busque en la web.</a:t>
            </a:r>
            <a:endParaRPr lang="en-US" sz="1800" dirty="0"/>
          </a:p>
        </p:txBody>
      </p:sp>
      <p:sp>
        <p:nvSpPr>
          <p:cNvPr id="19" name="Text 17"/>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0" name="Text 18"/>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37</a:t>
            </a:r>
            <a:endParaRPr lang="en-US" sz="1600" dirty="0"/>
          </a:p>
        </p:txBody>
      </p:sp>
    </p:spTree>
    <p:extLst>
      <p:ext uri="{BB962C8B-B14F-4D97-AF65-F5344CB8AC3E}">
        <p14:creationId xmlns:p14="http://schemas.microsoft.com/office/powerpoint/2010/main" val="1246159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HITOS VERIFICADOS</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Línea de tiempo de la IA</a:t>
            </a:r>
            <a:endParaRPr lang="en-US" sz="3000" dirty="0"/>
          </a:p>
        </p:txBody>
      </p:sp>
      <p:sp>
        <p:nvSpPr>
          <p:cNvPr id="4" name="Text 2"/>
          <p:cNvSpPr txBox="1"/>
          <p:nvPr/>
        </p:nvSpPr>
        <p:spPr>
          <a:xfrm>
            <a:off x="566928" y="1408176"/>
            <a:ext cx="11057839" cy="384048"/>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De la idea a la máquina que gana</a:t>
            </a:r>
            <a:endParaRPr lang="en-US" sz="2200" dirty="0"/>
          </a:p>
        </p:txBody>
      </p:sp>
      <p:sp>
        <p:nvSpPr>
          <p:cNvPr id="5" name="Shape 3"/>
          <p:cNvSpPr/>
          <p:nvPr/>
        </p:nvSpPr>
        <p:spPr>
          <a:xfrm>
            <a:off x="566928" y="1920240"/>
            <a:ext cx="11057839" cy="694944"/>
          </a:xfrm>
          <a:prstGeom prst="roundRect">
            <a:avLst>
              <a:gd name="adj" fmla="val 11842"/>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6" name="Text 4"/>
          <p:cNvSpPr txBox="1"/>
          <p:nvPr/>
        </p:nvSpPr>
        <p:spPr>
          <a:xfrm>
            <a:off x="859536" y="1920240"/>
            <a:ext cx="1417320" cy="694944"/>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1943</a:t>
            </a:r>
            <a:endParaRPr lang="en-US" sz="2000" dirty="0"/>
          </a:p>
        </p:txBody>
      </p:sp>
      <p:sp>
        <p:nvSpPr>
          <p:cNvPr id="7" name="Text 5"/>
          <p:cNvSpPr txBox="1"/>
          <p:nvPr/>
        </p:nvSpPr>
        <p:spPr>
          <a:xfrm>
            <a:off x="2395728" y="1920240"/>
            <a:ext cx="8915400" cy="694944"/>
          </a:xfrm>
          <a:prstGeom prst="rect">
            <a:avLst/>
          </a:prstGeom>
          <a:noFill/>
          <a:ln/>
        </p:spPr>
        <p:txBody>
          <a:bodyPr wrap="square" lIns="0" tIns="0" rIns="0" bIns="0" rtlCol="0" anchor="ctr"/>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McCulloch y Pitts proponen el primer modelo matemático de neurona artificial.</a:t>
            </a:r>
            <a:endParaRPr lang="en-US" sz="1700" dirty="0"/>
          </a:p>
        </p:txBody>
      </p:sp>
      <p:sp>
        <p:nvSpPr>
          <p:cNvPr id="8" name="Shape 6"/>
          <p:cNvSpPr/>
          <p:nvPr/>
        </p:nvSpPr>
        <p:spPr>
          <a:xfrm>
            <a:off x="566928" y="2706624"/>
            <a:ext cx="11057839" cy="694944"/>
          </a:xfrm>
          <a:prstGeom prst="roundRect">
            <a:avLst>
              <a:gd name="adj" fmla="val 11842"/>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9" name="Text 7"/>
          <p:cNvSpPr txBox="1"/>
          <p:nvPr/>
        </p:nvSpPr>
        <p:spPr>
          <a:xfrm>
            <a:off x="859536" y="2706624"/>
            <a:ext cx="1417320" cy="694944"/>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1950</a:t>
            </a:r>
            <a:endParaRPr lang="en-US" sz="2000" dirty="0"/>
          </a:p>
        </p:txBody>
      </p:sp>
      <p:sp>
        <p:nvSpPr>
          <p:cNvPr id="10" name="Text 8"/>
          <p:cNvSpPr txBox="1"/>
          <p:nvPr/>
        </p:nvSpPr>
        <p:spPr>
          <a:xfrm>
            <a:off x="2395728" y="2706624"/>
            <a:ext cx="8915400" cy="694944"/>
          </a:xfrm>
          <a:prstGeom prst="rect">
            <a:avLst/>
          </a:prstGeom>
          <a:noFill/>
          <a:ln/>
        </p:spPr>
        <p:txBody>
          <a:bodyPr wrap="square" lIns="0" tIns="0" rIns="0" bIns="0" rtlCol="0" anchor="ctr"/>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Alan Turing publica Computing Machinery and Intelligence y propone su prueba.</a:t>
            </a:r>
            <a:endParaRPr lang="en-US" sz="1700" dirty="0"/>
          </a:p>
        </p:txBody>
      </p:sp>
      <p:sp>
        <p:nvSpPr>
          <p:cNvPr id="11" name="Shape 9"/>
          <p:cNvSpPr/>
          <p:nvPr/>
        </p:nvSpPr>
        <p:spPr>
          <a:xfrm>
            <a:off x="566928" y="3493008"/>
            <a:ext cx="11057839" cy="694944"/>
          </a:xfrm>
          <a:prstGeom prst="roundRect">
            <a:avLst>
              <a:gd name="adj" fmla="val 11842"/>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2" name="Text 10"/>
          <p:cNvSpPr txBox="1"/>
          <p:nvPr/>
        </p:nvSpPr>
        <p:spPr>
          <a:xfrm>
            <a:off x="859536" y="3493008"/>
            <a:ext cx="1417320" cy="694944"/>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1956</a:t>
            </a:r>
            <a:endParaRPr lang="en-US" sz="2000" dirty="0"/>
          </a:p>
        </p:txBody>
      </p:sp>
      <p:sp>
        <p:nvSpPr>
          <p:cNvPr id="13" name="Text 11"/>
          <p:cNvSpPr txBox="1"/>
          <p:nvPr/>
        </p:nvSpPr>
        <p:spPr>
          <a:xfrm>
            <a:off x="2395728" y="3493008"/>
            <a:ext cx="8915400" cy="694944"/>
          </a:xfrm>
          <a:prstGeom prst="rect">
            <a:avLst/>
          </a:prstGeom>
          <a:noFill/>
          <a:ln/>
        </p:spPr>
        <p:txBody>
          <a:bodyPr wrap="square" lIns="0" tIns="0" rIns="0" bIns="0" rtlCol="0" anchor="ctr"/>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La Conferencia de Dartmouth consagra el término “inteligencia artificial”, acuñado por John McCarthy en la propuesta de 1955.</a:t>
            </a:r>
            <a:endParaRPr lang="en-US" sz="1700" dirty="0"/>
          </a:p>
        </p:txBody>
      </p:sp>
      <p:sp>
        <p:nvSpPr>
          <p:cNvPr id="14" name="Shape 12"/>
          <p:cNvSpPr/>
          <p:nvPr/>
        </p:nvSpPr>
        <p:spPr>
          <a:xfrm>
            <a:off x="566928" y="4279392"/>
            <a:ext cx="11057839" cy="694944"/>
          </a:xfrm>
          <a:prstGeom prst="roundRect">
            <a:avLst>
              <a:gd name="adj" fmla="val 11842"/>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15" name="Text 13"/>
          <p:cNvSpPr txBox="1"/>
          <p:nvPr/>
        </p:nvSpPr>
        <p:spPr>
          <a:xfrm>
            <a:off x="859536" y="4279392"/>
            <a:ext cx="1417320" cy="694944"/>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1966</a:t>
            </a:r>
            <a:endParaRPr lang="en-US" sz="2000" dirty="0"/>
          </a:p>
        </p:txBody>
      </p:sp>
      <p:sp>
        <p:nvSpPr>
          <p:cNvPr id="16" name="Text 14"/>
          <p:cNvSpPr txBox="1"/>
          <p:nvPr/>
        </p:nvSpPr>
        <p:spPr>
          <a:xfrm>
            <a:off x="2395728" y="4279392"/>
            <a:ext cx="8915400" cy="694944"/>
          </a:xfrm>
          <a:prstGeom prst="rect">
            <a:avLst/>
          </a:prstGeom>
          <a:noFill/>
          <a:ln/>
        </p:spPr>
        <p:txBody>
          <a:bodyPr wrap="square" lIns="0" tIns="0" rIns="0" bIns="0" rtlCol="0" anchor="ctr"/>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ELIZA, del MIT, se convierte en el primer chatbot ampliamente conocido.</a:t>
            </a:r>
            <a:endParaRPr lang="en-US" sz="1700" dirty="0"/>
          </a:p>
        </p:txBody>
      </p:sp>
      <p:sp>
        <p:nvSpPr>
          <p:cNvPr id="17" name="Shape 15"/>
          <p:cNvSpPr/>
          <p:nvPr/>
        </p:nvSpPr>
        <p:spPr>
          <a:xfrm>
            <a:off x="566928" y="5065776"/>
            <a:ext cx="11057839" cy="694944"/>
          </a:xfrm>
          <a:prstGeom prst="roundRect">
            <a:avLst>
              <a:gd name="adj" fmla="val 11842"/>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8" name="Text 16"/>
          <p:cNvSpPr txBox="1"/>
          <p:nvPr/>
        </p:nvSpPr>
        <p:spPr>
          <a:xfrm>
            <a:off x="859536" y="5065776"/>
            <a:ext cx="1417320" cy="694944"/>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1997</a:t>
            </a:r>
            <a:endParaRPr lang="en-US" sz="2000" dirty="0"/>
          </a:p>
        </p:txBody>
      </p:sp>
      <p:sp>
        <p:nvSpPr>
          <p:cNvPr id="19" name="Text 17"/>
          <p:cNvSpPr txBox="1"/>
          <p:nvPr/>
        </p:nvSpPr>
        <p:spPr>
          <a:xfrm>
            <a:off x="2395728" y="5065776"/>
            <a:ext cx="8915400" cy="694944"/>
          </a:xfrm>
          <a:prstGeom prst="rect">
            <a:avLst/>
          </a:prstGeom>
          <a:noFill/>
          <a:ln/>
        </p:spPr>
        <p:txBody>
          <a:bodyPr wrap="square" lIns="0" tIns="0" rIns="0" bIns="0" rtlCol="0" anchor="ctr"/>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Deep Blue derrota al campeón mundial de ajedrez Garry Kaspárov.</a:t>
            </a:r>
            <a:endParaRPr lang="en-US" sz="1700" dirty="0"/>
          </a:p>
        </p:txBody>
      </p:sp>
      <p:sp>
        <p:nvSpPr>
          <p:cNvPr id="20" name="Text 18"/>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1" name="Text 19"/>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38</a:t>
            </a:r>
            <a:endParaRPr lang="en-US" sz="1600" dirty="0"/>
          </a:p>
        </p:txBody>
      </p:sp>
    </p:spTree>
    <p:extLst>
      <p:ext uri="{BB962C8B-B14F-4D97-AF65-F5344CB8AC3E}">
        <p14:creationId xmlns:p14="http://schemas.microsoft.com/office/powerpoint/2010/main" val="2210673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HITOS VERIFICADOS</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Línea de tiempo de la IA (cont.)</a:t>
            </a:r>
            <a:endParaRPr lang="en-US" sz="3000" dirty="0"/>
          </a:p>
        </p:txBody>
      </p:sp>
      <p:sp>
        <p:nvSpPr>
          <p:cNvPr id="4" name="Text 2"/>
          <p:cNvSpPr txBox="1"/>
          <p:nvPr/>
        </p:nvSpPr>
        <p:spPr>
          <a:xfrm>
            <a:off x="566928" y="1408176"/>
            <a:ext cx="11057839" cy="384048"/>
          </a:xfrm>
          <a:prstGeom prst="rect">
            <a:avLst/>
          </a:prstGeom>
          <a:noFill/>
          <a:ln/>
        </p:spPr>
        <p:txBody>
          <a:bodyPr wrap="square" lIns="0" tIns="0" rIns="0" bIns="0" rtlCol="0" anchor="ctr"/>
          <a:lstStyle/>
          <a:p>
            <a:pPr marL="0" indent="0">
              <a:buNone/>
            </a:pPr>
            <a:r>
              <a:rPr lang="en-US" sz="2200" b="1" dirty="0">
                <a:solidFill>
                  <a:srgbClr val="2A9D8F"/>
                </a:solidFill>
                <a:latin typeface="Cambria" pitchFamily="34" charset="0"/>
                <a:ea typeface="Cambria" pitchFamily="34" charset="-122"/>
                <a:cs typeface="Cambria" pitchFamily="34" charset="-120"/>
              </a:rPr>
              <a:t>De la máquina que gana a la que escribe</a:t>
            </a:r>
            <a:endParaRPr lang="en-US" sz="2200" dirty="0"/>
          </a:p>
        </p:txBody>
      </p:sp>
      <p:sp>
        <p:nvSpPr>
          <p:cNvPr id="5" name="Shape 3"/>
          <p:cNvSpPr/>
          <p:nvPr/>
        </p:nvSpPr>
        <p:spPr>
          <a:xfrm>
            <a:off x="566928" y="1920240"/>
            <a:ext cx="11057839" cy="694944"/>
          </a:xfrm>
          <a:prstGeom prst="roundRect">
            <a:avLst>
              <a:gd name="adj" fmla="val 11842"/>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6" name="Text 4"/>
          <p:cNvSpPr txBox="1"/>
          <p:nvPr/>
        </p:nvSpPr>
        <p:spPr>
          <a:xfrm>
            <a:off x="859536" y="1920240"/>
            <a:ext cx="1417320" cy="694944"/>
          </a:xfrm>
          <a:prstGeom prst="rect">
            <a:avLst/>
          </a:prstGeom>
          <a:noFill/>
          <a:ln/>
        </p:spPr>
        <p:txBody>
          <a:bodyPr wrap="square" lIns="0" tIns="0" rIns="0" bIns="0" rtlCol="0" anchor="ctr"/>
          <a:lstStyle/>
          <a:p>
            <a:pPr marL="0" indent="0">
              <a:buNone/>
            </a:pPr>
            <a:r>
              <a:rPr lang="en-US" sz="2000" b="1" dirty="0">
                <a:solidFill>
                  <a:srgbClr val="2A9D8F"/>
                </a:solidFill>
                <a:latin typeface="Cambria" pitchFamily="34" charset="0"/>
                <a:ea typeface="Cambria" pitchFamily="34" charset="-122"/>
                <a:cs typeface="Cambria" pitchFamily="34" charset="-120"/>
              </a:rPr>
              <a:t>2011</a:t>
            </a:r>
            <a:endParaRPr lang="en-US" sz="2000" dirty="0"/>
          </a:p>
        </p:txBody>
      </p:sp>
      <p:sp>
        <p:nvSpPr>
          <p:cNvPr id="7" name="Text 5"/>
          <p:cNvSpPr txBox="1"/>
          <p:nvPr/>
        </p:nvSpPr>
        <p:spPr>
          <a:xfrm>
            <a:off x="2395728" y="1920240"/>
            <a:ext cx="8915400" cy="694944"/>
          </a:xfrm>
          <a:prstGeom prst="rect">
            <a:avLst/>
          </a:prstGeom>
          <a:noFill/>
          <a:ln/>
        </p:spPr>
        <p:txBody>
          <a:bodyPr wrap="square" lIns="0" tIns="0" rIns="0" bIns="0" rtlCol="0" anchor="ctr"/>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Watson gana Jeopardy!; Apple lanza Siri.</a:t>
            </a:r>
            <a:endParaRPr lang="en-US" sz="1700" dirty="0"/>
          </a:p>
        </p:txBody>
      </p:sp>
      <p:sp>
        <p:nvSpPr>
          <p:cNvPr id="8" name="Shape 6"/>
          <p:cNvSpPr/>
          <p:nvPr/>
        </p:nvSpPr>
        <p:spPr>
          <a:xfrm>
            <a:off x="566928" y="2706624"/>
            <a:ext cx="11057839" cy="694944"/>
          </a:xfrm>
          <a:prstGeom prst="roundRect">
            <a:avLst>
              <a:gd name="adj" fmla="val 11842"/>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9" name="Text 7"/>
          <p:cNvSpPr txBox="1"/>
          <p:nvPr/>
        </p:nvSpPr>
        <p:spPr>
          <a:xfrm>
            <a:off x="859536" y="2706624"/>
            <a:ext cx="1417320" cy="694944"/>
          </a:xfrm>
          <a:prstGeom prst="rect">
            <a:avLst/>
          </a:prstGeom>
          <a:noFill/>
          <a:ln/>
        </p:spPr>
        <p:txBody>
          <a:bodyPr wrap="square" lIns="0" tIns="0" rIns="0" bIns="0" rtlCol="0" anchor="ctr"/>
          <a:lstStyle/>
          <a:p>
            <a:pPr marL="0" indent="0">
              <a:buNone/>
            </a:pPr>
            <a:r>
              <a:rPr lang="en-US" sz="2000" b="1" dirty="0">
                <a:solidFill>
                  <a:srgbClr val="2A9D8F"/>
                </a:solidFill>
                <a:latin typeface="Cambria" pitchFamily="34" charset="0"/>
                <a:ea typeface="Cambria" pitchFamily="34" charset="-122"/>
                <a:cs typeface="Cambria" pitchFamily="34" charset="-120"/>
              </a:rPr>
              <a:t>2016</a:t>
            </a:r>
            <a:endParaRPr lang="en-US" sz="2000" dirty="0"/>
          </a:p>
        </p:txBody>
      </p:sp>
      <p:sp>
        <p:nvSpPr>
          <p:cNvPr id="10" name="Text 8"/>
          <p:cNvSpPr txBox="1"/>
          <p:nvPr/>
        </p:nvSpPr>
        <p:spPr>
          <a:xfrm>
            <a:off x="2395728" y="2706624"/>
            <a:ext cx="8915400" cy="694944"/>
          </a:xfrm>
          <a:prstGeom prst="rect">
            <a:avLst/>
          </a:prstGeom>
          <a:noFill/>
          <a:ln/>
        </p:spPr>
        <p:txBody>
          <a:bodyPr wrap="square" lIns="0" tIns="0" rIns="0" bIns="0" rtlCol="0" anchor="ctr"/>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AlphaGo vence a Lee Sedol en Go; en 2017 derrota a Ke Jie.</a:t>
            </a:r>
            <a:endParaRPr lang="en-US" sz="1700" dirty="0"/>
          </a:p>
        </p:txBody>
      </p:sp>
      <p:sp>
        <p:nvSpPr>
          <p:cNvPr id="11" name="Shape 9"/>
          <p:cNvSpPr/>
          <p:nvPr/>
        </p:nvSpPr>
        <p:spPr>
          <a:xfrm>
            <a:off x="566928" y="3493008"/>
            <a:ext cx="11057839" cy="694944"/>
          </a:xfrm>
          <a:prstGeom prst="roundRect">
            <a:avLst>
              <a:gd name="adj" fmla="val 11842"/>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2" name="Text 10"/>
          <p:cNvSpPr txBox="1"/>
          <p:nvPr/>
        </p:nvSpPr>
        <p:spPr>
          <a:xfrm>
            <a:off x="859536" y="3493008"/>
            <a:ext cx="1417320" cy="694944"/>
          </a:xfrm>
          <a:prstGeom prst="rect">
            <a:avLst/>
          </a:prstGeom>
          <a:noFill/>
          <a:ln/>
        </p:spPr>
        <p:txBody>
          <a:bodyPr wrap="square" lIns="0" tIns="0" rIns="0" bIns="0" rtlCol="0" anchor="ctr"/>
          <a:lstStyle/>
          <a:p>
            <a:pPr marL="0" indent="0">
              <a:buNone/>
            </a:pPr>
            <a:r>
              <a:rPr lang="en-US" sz="2000" b="1" dirty="0">
                <a:solidFill>
                  <a:srgbClr val="2A9D8F"/>
                </a:solidFill>
                <a:latin typeface="Cambria" pitchFamily="34" charset="0"/>
                <a:ea typeface="Cambria" pitchFamily="34" charset="-122"/>
                <a:cs typeface="Cambria" pitchFamily="34" charset="-120"/>
              </a:rPr>
              <a:t>2017</a:t>
            </a:r>
            <a:endParaRPr lang="en-US" sz="2000" dirty="0"/>
          </a:p>
        </p:txBody>
      </p:sp>
      <p:sp>
        <p:nvSpPr>
          <p:cNvPr id="13" name="Text 11"/>
          <p:cNvSpPr txBox="1"/>
          <p:nvPr/>
        </p:nvSpPr>
        <p:spPr>
          <a:xfrm>
            <a:off x="2395728" y="3493008"/>
            <a:ext cx="8915400" cy="694944"/>
          </a:xfrm>
          <a:prstGeom prst="rect">
            <a:avLst/>
          </a:prstGeom>
          <a:noFill/>
          <a:ln/>
        </p:spPr>
        <p:txBody>
          <a:bodyPr wrap="square" lIns="0" tIns="0" rIns="0" bIns="0" rtlCol="0" anchor="ctr"/>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Google publica Attention Is All You Need: nace la arquitectura Transformer, base de todo lo que vendría.</a:t>
            </a:r>
            <a:endParaRPr lang="en-US" sz="1700" dirty="0"/>
          </a:p>
        </p:txBody>
      </p:sp>
      <p:sp>
        <p:nvSpPr>
          <p:cNvPr id="14" name="Shape 12"/>
          <p:cNvSpPr/>
          <p:nvPr/>
        </p:nvSpPr>
        <p:spPr>
          <a:xfrm>
            <a:off x="566928" y="4279392"/>
            <a:ext cx="11057839" cy="694944"/>
          </a:xfrm>
          <a:prstGeom prst="roundRect">
            <a:avLst>
              <a:gd name="adj" fmla="val 11842"/>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15" name="Text 13"/>
          <p:cNvSpPr txBox="1"/>
          <p:nvPr/>
        </p:nvSpPr>
        <p:spPr>
          <a:xfrm>
            <a:off x="859536" y="4279392"/>
            <a:ext cx="1417320" cy="694944"/>
          </a:xfrm>
          <a:prstGeom prst="rect">
            <a:avLst/>
          </a:prstGeom>
          <a:noFill/>
          <a:ln/>
        </p:spPr>
        <p:txBody>
          <a:bodyPr wrap="square" lIns="0" tIns="0" rIns="0" bIns="0" rtlCol="0" anchor="ctr"/>
          <a:lstStyle/>
          <a:p>
            <a:pPr marL="0" indent="0">
              <a:buNone/>
            </a:pPr>
            <a:r>
              <a:rPr lang="en-US" sz="2000" b="1" dirty="0">
                <a:solidFill>
                  <a:srgbClr val="2A9D8F"/>
                </a:solidFill>
                <a:latin typeface="Cambria" pitchFamily="34" charset="0"/>
                <a:ea typeface="Cambria" pitchFamily="34" charset="-122"/>
                <a:cs typeface="Cambria" pitchFamily="34" charset="-120"/>
              </a:rPr>
              <a:t>2022</a:t>
            </a:r>
            <a:endParaRPr lang="en-US" sz="2000" dirty="0"/>
          </a:p>
        </p:txBody>
      </p:sp>
      <p:sp>
        <p:nvSpPr>
          <p:cNvPr id="16" name="Text 14"/>
          <p:cNvSpPr txBox="1"/>
          <p:nvPr/>
        </p:nvSpPr>
        <p:spPr>
          <a:xfrm>
            <a:off x="2395728" y="4279392"/>
            <a:ext cx="8915400" cy="694944"/>
          </a:xfrm>
          <a:prstGeom prst="rect">
            <a:avLst/>
          </a:prstGeom>
          <a:noFill/>
          <a:ln/>
        </p:spPr>
        <p:txBody>
          <a:bodyPr wrap="square" lIns="0" tIns="0" rIns="0" bIns="0" rtlCol="0" anchor="ctr"/>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ChatGPT abre la IA generativa al público masivo.</a:t>
            </a:r>
            <a:endParaRPr lang="en-US" sz="1700" dirty="0"/>
          </a:p>
        </p:txBody>
      </p:sp>
      <p:sp>
        <p:nvSpPr>
          <p:cNvPr id="17" name="Shape 15"/>
          <p:cNvSpPr/>
          <p:nvPr/>
        </p:nvSpPr>
        <p:spPr>
          <a:xfrm>
            <a:off x="566928" y="5065776"/>
            <a:ext cx="11057839" cy="694944"/>
          </a:xfrm>
          <a:prstGeom prst="roundRect">
            <a:avLst>
              <a:gd name="adj" fmla="val 11842"/>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8" name="Text 16"/>
          <p:cNvSpPr txBox="1"/>
          <p:nvPr/>
        </p:nvSpPr>
        <p:spPr>
          <a:xfrm>
            <a:off x="859536" y="5065776"/>
            <a:ext cx="1417320" cy="694944"/>
          </a:xfrm>
          <a:prstGeom prst="rect">
            <a:avLst/>
          </a:prstGeom>
          <a:noFill/>
          <a:ln/>
        </p:spPr>
        <p:txBody>
          <a:bodyPr wrap="square" lIns="0" tIns="0" rIns="0" bIns="0" rtlCol="0" anchor="ctr"/>
          <a:lstStyle/>
          <a:p>
            <a:pPr marL="0" indent="0">
              <a:buNone/>
            </a:pPr>
            <a:r>
              <a:rPr lang="en-US" sz="2000" b="1" dirty="0">
                <a:solidFill>
                  <a:srgbClr val="2A9D8F"/>
                </a:solidFill>
                <a:latin typeface="Cambria" pitchFamily="34" charset="0"/>
                <a:ea typeface="Cambria" pitchFamily="34" charset="-122"/>
                <a:cs typeface="Cambria" pitchFamily="34" charset="-120"/>
              </a:rPr>
              <a:t>2023-26</a:t>
            </a:r>
            <a:endParaRPr lang="en-US" sz="2000" dirty="0"/>
          </a:p>
        </p:txBody>
      </p:sp>
      <p:sp>
        <p:nvSpPr>
          <p:cNvPr id="19" name="Text 17"/>
          <p:cNvSpPr txBox="1"/>
          <p:nvPr/>
        </p:nvSpPr>
        <p:spPr>
          <a:xfrm>
            <a:off x="2395728" y="5065776"/>
            <a:ext cx="8915400" cy="694944"/>
          </a:xfrm>
          <a:prstGeom prst="rect">
            <a:avLst/>
          </a:prstGeom>
          <a:noFill/>
          <a:ln/>
        </p:spPr>
        <p:txBody>
          <a:bodyPr wrap="square" lIns="0" tIns="0" rIns="0" bIns="0" rtlCol="0" anchor="ctr"/>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Modelos multimodales y agentes: GPT-5.x, Claude Opus 5, Gemini 3, Llama, DeepSeek.</a:t>
            </a:r>
            <a:endParaRPr lang="en-US" sz="1700" dirty="0"/>
          </a:p>
        </p:txBody>
      </p:sp>
      <p:sp>
        <p:nvSpPr>
          <p:cNvPr id="20" name="Text 18"/>
          <p:cNvSpPr txBox="1"/>
          <p:nvPr/>
        </p:nvSpPr>
        <p:spPr>
          <a:xfrm>
            <a:off x="566928" y="5760720"/>
            <a:ext cx="11057839" cy="548640"/>
          </a:xfrm>
          <a:prstGeom prst="rect">
            <a:avLst/>
          </a:prstGeom>
          <a:noFill/>
          <a:ln/>
        </p:spPr>
        <p:txBody>
          <a:bodyPr wrap="square" lIns="0" tIns="0" rIns="0" bIns="0" rtlCol="0" anchor="t"/>
          <a:lstStyle/>
          <a:p>
            <a:pPr marL="0" indent="0">
              <a:lnSpc>
                <a:spcPts val="2100"/>
              </a:lnSpc>
              <a:buNone/>
            </a:pPr>
            <a:r>
              <a:rPr lang="en-US" sz="1600" i="1" dirty="0">
                <a:solidFill>
                  <a:srgbClr val="5A6478"/>
                </a:solidFill>
                <a:latin typeface="Calibri" pitchFamily="34" charset="0"/>
                <a:ea typeface="Calibri" pitchFamily="34" charset="-122"/>
                <a:cs typeface="Calibri" pitchFamily="34" charset="-120"/>
              </a:rPr>
              <a:t>Correcciones a versiones anteriores: Ada Lovelace escribió sus notas en 1843 y la Máquina Analítica nunca se construyó; AlphaGo venció a Lee Sedol en 2016, no en 2015; el caso “Eugene Goostman” (2014) no se considera una superación válida de la prueba de Turing.</a:t>
            </a:r>
            <a:endParaRPr lang="en-US" sz="1600" dirty="0"/>
          </a:p>
        </p:txBody>
      </p:sp>
      <p:sp>
        <p:nvSpPr>
          <p:cNvPr id="21" name="Text 19"/>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2" name="Text 20"/>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39</a:t>
            </a:r>
            <a:endParaRPr lang="en-US" sz="1600" dirty="0"/>
          </a:p>
        </p:txBody>
      </p:sp>
    </p:spTree>
    <p:extLst>
      <p:ext uri="{BB962C8B-B14F-4D97-AF65-F5344CB8AC3E}">
        <p14:creationId xmlns:p14="http://schemas.microsoft.com/office/powerpoint/2010/main" val="627847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2103120"/>
            <a:ext cx="1463040" cy="1463040"/>
          </a:xfrm>
          <a:prstGeom prst="ellipse">
            <a:avLst/>
          </a:prstGeom>
          <a:solidFill>
            <a:srgbClr val="C9A227"/>
          </a:solidFill>
          <a:ln w="12700">
            <a:solidFill>
              <a:srgbClr val="C9A227"/>
            </a:solidFill>
            <a:prstDash val="solid"/>
          </a:ln>
        </p:spPr>
        <p:txBody>
          <a:bodyPr/>
          <a:lstStyle/>
          <a:p>
            <a:endParaRPr lang="en-PR"/>
          </a:p>
        </p:txBody>
      </p:sp>
      <p:sp>
        <p:nvSpPr>
          <p:cNvPr id="3" name="Text 1"/>
          <p:cNvSpPr txBox="1"/>
          <p:nvPr/>
        </p:nvSpPr>
        <p:spPr>
          <a:xfrm>
            <a:off x="566928" y="2103120"/>
            <a:ext cx="1463040" cy="1463040"/>
          </a:xfrm>
          <a:prstGeom prst="rect">
            <a:avLst/>
          </a:prstGeom>
          <a:noFill/>
          <a:ln/>
        </p:spPr>
        <p:txBody>
          <a:bodyPr wrap="square" lIns="0" tIns="0" rIns="0" bIns="0" rtlCol="0" anchor="ctr"/>
          <a:lstStyle/>
          <a:p>
            <a:pPr marL="0" indent="0" algn="ctr">
              <a:buNone/>
            </a:pPr>
            <a:r>
              <a:rPr lang="en-US" sz="5600" b="1" dirty="0">
                <a:solidFill>
                  <a:srgbClr val="1B2A4A"/>
                </a:solidFill>
                <a:latin typeface="Cambria" pitchFamily="34" charset="0"/>
                <a:ea typeface="Cambria" pitchFamily="34" charset="-122"/>
              </a:rPr>
              <a:t>3</a:t>
            </a:r>
            <a:endParaRPr lang="en-US" sz="5600" dirty="0"/>
          </a:p>
        </p:txBody>
      </p:sp>
      <p:sp>
        <p:nvSpPr>
          <p:cNvPr id="4" name="Text 2"/>
          <p:cNvSpPr txBox="1"/>
          <p:nvPr/>
        </p:nvSpPr>
        <p:spPr>
          <a:xfrm>
            <a:off x="2377440" y="2029968"/>
            <a:ext cx="9052560" cy="96012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Ingeniería de prompts</a:t>
            </a:r>
            <a:endParaRPr lang="en-US" sz="4200" dirty="0"/>
          </a:p>
        </p:txBody>
      </p:sp>
      <p:sp>
        <p:nvSpPr>
          <p:cNvPr id="5" name="Text 3"/>
          <p:cNvSpPr txBox="1"/>
          <p:nvPr/>
        </p:nvSpPr>
        <p:spPr>
          <a:xfrm>
            <a:off x="2377440" y="3035808"/>
            <a:ext cx="9052560" cy="822960"/>
          </a:xfrm>
          <a:prstGeom prst="rect">
            <a:avLst/>
          </a:prstGeom>
          <a:noFill/>
          <a:ln/>
        </p:spPr>
        <p:txBody>
          <a:bodyPr wrap="square" lIns="0" tIns="0" rIns="0" bIns="0" rtlCol="0" anchor="t"/>
          <a:lstStyle/>
          <a:p>
            <a:pPr marL="0" indent="0">
              <a:lnSpc>
                <a:spcPts val="2700"/>
              </a:lnSpc>
              <a:buNone/>
            </a:pPr>
            <a:r>
              <a:rPr lang="en-US" sz="2000" dirty="0">
                <a:solidFill>
                  <a:srgbClr val="DDE3EC"/>
                </a:solidFill>
                <a:latin typeface="Calibri" pitchFamily="34" charset="0"/>
                <a:ea typeface="Calibri" pitchFamily="34" charset="-122"/>
                <a:cs typeface="Calibri" pitchFamily="34" charset="-120"/>
              </a:rPr>
              <a:t>El modelo RC-TTF para redactar instrucciones que produzcan lo que usted necesita, con ejemplos por materia de 6.º a 12.º grado</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CÓMO REDACTAR UNA BUENA INSTRUCCIÓN · CORRALIZA, 2024</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El modelo RC-TTF</a:t>
            </a:r>
            <a:endParaRPr lang="en-US" sz="3000" dirty="0"/>
          </a:p>
        </p:txBody>
      </p:sp>
      <p:sp>
        <p:nvSpPr>
          <p:cNvPr id="4" name="Text 2"/>
          <p:cNvSpPr txBox="1"/>
          <p:nvPr/>
        </p:nvSpPr>
        <p:spPr>
          <a:xfrm>
            <a:off x="566928" y="1408176"/>
            <a:ext cx="11057839" cy="420624"/>
          </a:xfrm>
          <a:prstGeom prst="rect">
            <a:avLst/>
          </a:prstGeom>
          <a:noFill/>
          <a:ln/>
        </p:spPr>
        <p:txBody>
          <a:bodyPr wrap="square" lIns="0" tIns="0" rIns="0" bIns="0" rtlCol="0" anchor="ctr"/>
          <a:lstStyle/>
          <a:p>
            <a:pPr marL="0" indent="0">
              <a:buNone/>
            </a:pPr>
            <a:r>
              <a:rPr lang="en-US" sz="2000" i="1" dirty="0">
                <a:solidFill>
                  <a:srgbClr val="2A9D8F"/>
                </a:solidFill>
                <a:latin typeface="Calibri" pitchFamily="34" charset="0"/>
                <a:ea typeface="Calibri" pitchFamily="34" charset="-122"/>
                <a:cs typeface="Calibri" pitchFamily="34" charset="-120"/>
              </a:rPr>
              <a:t>La calidad de la respuesta depende de la calidad de la instrucción. Cinco elementos convierten una pregunta vaga en un encargo profesional.</a:t>
            </a:r>
            <a:endParaRPr lang="en-US" sz="2000" dirty="0"/>
          </a:p>
        </p:txBody>
      </p:sp>
      <p:sp>
        <p:nvSpPr>
          <p:cNvPr id="5" name="Shape 3"/>
          <p:cNvSpPr/>
          <p:nvPr/>
        </p:nvSpPr>
        <p:spPr>
          <a:xfrm>
            <a:off x="566928" y="1956816"/>
            <a:ext cx="11057839" cy="1207008"/>
          </a:xfrm>
          <a:prstGeom prst="roundRect">
            <a:avLst>
              <a:gd name="adj" fmla="val 6818"/>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6" name="Shape 4"/>
          <p:cNvSpPr/>
          <p:nvPr/>
        </p:nvSpPr>
        <p:spPr>
          <a:xfrm>
            <a:off x="768096" y="2258568"/>
            <a:ext cx="603504" cy="603504"/>
          </a:xfrm>
          <a:prstGeom prst="roundRect">
            <a:avLst>
              <a:gd name="adj" fmla="val 19697"/>
            </a:avLst>
          </a:prstGeom>
          <a:solidFill>
            <a:srgbClr val="1B2A4A"/>
          </a:solidFill>
          <a:ln w="12700">
            <a:solidFill>
              <a:srgbClr val="1B2A4A"/>
            </a:solidFill>
            <a:prstDash val="solid"/>
          </a:ln>
        </p:spPr>
        <p:txBody>
          <a:bodyPr/>
          <a:lstStyle/>
          <a:p>
            <a:endParaRPr lang="en-PR"/>
          </a:p>
        </p:txBody>
      </p:sp>
      <p:sp>
        <p:nvSpPr>
          <p:cNvPr id="7" name="Text 5"/>
          <p:cNvSpPr txBox="1"/>
          <p:nvPr/>
        </p:nvSpPr>
        <p:spPr>
          <a:xfrm>
            <a:off x="768096" y="2258568"/>
            <a:ext cx="603504" cy="603504"/>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R</a:t>
            </a:r>
            <a:endParaRPr lang="en-US" sz="2600" dirty="0"/>
          </a:p>
        </p:txBody>
      </p:sp>
      <p:sp>
        <p:nvSpPr>
          <p:cNvPr id="8" name="Text 6"/>
          <p:cNvSpPr txBox="1"/>
          <p:nvPr/>
        </p:nvSpPr>
        <p:spPr>
          <a:xfrm>
            <a:off x="1499616" y="2103120"/>
            <a:ext cx="22860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Rol</a:t>
            </a:r>
            <a:endParaRPr lang="en-US" sz="2000" dirty="0"/>
          </a:p>
        </p:txBody>
      </p:sp>
      <p:sp>
        <p:nvSpPr>
          <p:cNvPr id="9" name="Text 7"/>
          <p:cNvSpPr txBox="1"/>
          <p:nvPr/>
        </p:nvSpPr>
        <p:spPr>
          <a:xfrm>
            <a:off x="1499616" y="2487168"/>
            <a:ext cx="2377440" cy="566928"/>
          </a:xfrm>
          <a:prstGeom prst="rect">
            <a:avLst/>
          </a:prstGeom>
          <a:noFill/>
          <a:ln/>
        </p:spPr>
        <p:txBody>
          <a:bodyPr wrap="square" lIns="0" tIns="0" rIns="0" bIns="0" rtlCol="0" anchor="t"/>
          <a:lstStyle/>
          <a:p>
            <a:pPr marL="0" indent="0">
              <a:lnSpc>
                <a:spcPts val="2100"/>
              </a:lnSpc>
              <a:buNone/>
            </a:pPr>
            <a:r>
              <a:rPr lang="en-US" sz="1600" dirty="0">
                <a:solidFill>
                  <a:srgbClr val="5A6478"/>
                </a:solidFill>
                <a:latin typeface="Calibri" pitchFamily="34" charset="0"/>
                <a:ea typeface="Calibri" pitchFamily="34" charset="-122"/>
                <a:cs typeface="Calibri" pitchFamily="34" charset="-120"/>
              </a:rPr>
              <a:t>Qué experiencia debe asumir el modelo</a:t>
            </a:r>
            <a:endParaRPr lang="en-US" sz="1600" dirty="0"/>
          </a:p>
        </p:txBody>
      </p:sp>
      <p:sp>
        <p:nvSpPr>
          <p:cNvPr id="10" name="Text 8"/>
          <p:cNvSpPr txBox="1"/>
          <p:nvPr/>
        </p:nvSpPr>
        <p:spPr>
          <a:xfrm>
            <a:off x="4041648" y="2066544"/>
            <a:ext cx="7269480" cy="987552"/>
          </a:xfrm>
          <a:prstGeom prst="rect">
            <a:avLst/>
          </a:prstGeom>
          <a:noFill/>
          <a:ln/>
        </p:spPr>
        <p:txBody>
          <a:bodyPr wrap="square" lIns="0" tIns="0" rIns="0" bIns="0" rtlCol="0" anchor="ctr"/>
          <a:lstStyle/>
          <a:p>
            <a:pPr marL="0" indent="0">
              <a:lnSpc>
                <a:spcPts val="2400"/>
              </a:lnSpc>
              <a:buNone/>
            </a:pPr>
            <a:r>
              <a:rPr lang="en-US" sz="1700" i="1" dirty="0">
                <a:solidFill>
                  <a:srgbClr val="2C3548"/>
                </a:solidFill>
                <a:latin typeface="Calibri" pitchFamily="34" charset="0"/>
                <a:ea typeface="Calibri" pitchFamily="34" charset="-122"/>
                <a:cs typeface="Calibri" pitchFamily="34" charset="-120"/>
              </a:rPr>
              <a:t>“Actúa como facilitador docente de matemáticas de escuela superior…”</a:t>
            </a:r>
            <a:endParaRPr lang="en-US" sz="1700" dirty="0"/>
          </a:p>
        </p:txBody>
      </p:sp>
      <p:sp>
        <p:nvSpPr>
          <p:cNvPr id="11" name="Shape 9"/>
          <p:cNvSpPr/>
          <p:nvPr/>
        </p:nvSpPr>
        <p:spPr>
          <a:xfrm>
            <a:off x="566928" y="3282696"/>
            <a:ext cx="11057839" cy="1207008"/>
          </a:xfrm>
          <a:prstGeom prst="roundRect">
            <a:avLst>
              <a:gd name="adj" fmla="val 6818"/>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12" name="Shape 10"/>
          <p:cNvSpPr/>
          <p:nvPr/>
        </p:nvSpPr>
        <p:spPr>
          <a:xfrm>
            <a:off x="768096" y="3584448"/>
            <a:ext cx="603504" cy="603504"/>
          </a:xfrm>
          <a:prstGeom prst="roundRect">
            <a:avLst>
              <a:gd name="adj" fmla="val 19697"/>
            </a:avLst>
          </a:prstGeom>
          <a:solidFill>
            <a:srgbClr val="2A9D8F"/>
          </a:solidFill>
          <a:ln w="12700">
            <a:solidFill>
              <a:srgbClr val="2A9D8F"/>
            </a:solidFill>
            <a:prstDash val="solid"/>
          </a:ln>
        </p:spPr>
        <p:txBody>
          <a:bodyPr/>
          <a:lstStyle/>
          <a:p>
            <a:endParaRPr lang="en-PR"/>
          </a:p>
        </p:txBody>
      </p:sp>
      <p:sp>
        <p:nvSpPr>
          <p:cNvPr id="13" name="Text 11"/>
          <p:cNvSpPr txBox="1"/>
          <p:nvPr/>
        </p:nvSpPr>
        <p:spPr>
          <a:xfrm>
            <a:off x="768096" y="3584448"/>
            <a:ext cx="603504" cy="603504"/>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C</a:t>
            </a:r>
            <a:endParaRPr lang="en-US" sz="2600" dirty="0"/>
          </a:p>
        </p:txBody>
      </p:sp>
      <p:sp>
        <p:nvSpPr>
          <p:cNvPr id="14" name="Text 12"/>
          <p:cNvSpPr txBox="1"/>
          <p:nvPr/>
        </p:nvSpPr>
        <p:spPr>
          <a:xfrm>
            <a:off x="1499616" y="3429000"/>
            <a:ext cx="22860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Contexto</a:t>
            </a:r>
            <a:endParaRPr lang="en-US" sz="2000" dirty="0"/>
          </a:p>
        </p:txBody>
      </p:sp>
      <p:sp>
        <p:nvSpPr>
          <p:cNvPr id="15" name="Text 13"/>
          <p:cNvSpPr txBox="1"/>
          <p:nvPr/>
        </p:nvSpPr>
        <p:spPr>
          <a:xfrm>
            <a:off x="1499616" y="3813048"/>
            <a:ext cx="2377440" cy="566928"/>
          </a:xfrm>
          <a:prstGeom prst="rect">
            <a:avLst/>
          </a:prstGeom>
          <a:noFill/>
          <a:ln/>
        </p:spPr>
        <p:txBody>
          <a:bodyPr wrap="square" lIns="0" tIns="0" rIns="0" bIns="0" rtlCol="0" anchor="t"/>
          <a:lstStyle/>
          <a:p>
            <a:pPr marL="0" indent="0">
              <a:lnSpc>
                <a:spcPts val="2100"/>
              </a:lnSpc>
              <a:buNone/>
            </a:pPr>
            <a:r>
              <a:rPr lang="en-US" sz="1600" dirty="0">
                <a:solidFill>
                  <a:srgbClr val="5A6478"/>
                </a:solidFill>
                <a:latin typeface="Calibri" pitchFamily="34" charset="0"/>
                <a:ea typeface="Calibri" pitchFamily="34" charset="-122"/>
                <a:cs typeface="Calibri" pitchFamily="34" charset="-120"/>
              </a:rPr>
              <a:t>Quién, dónde y bajo qué condiciones</a:t>
            </a:r>
            <a:endParaRPr lang="en-US" sz="1600" dirty="0"/>
          </a:p>
        </p:txBody>
      </p:sp>
      <p:sp>
        <p:nvSpPr>
          <p:cNvPr id="16" name="Text 14"/>
          <p:cNvSpPr txBox="1"/>
          <p:nvPr/>
        </p:nvSpPr>
        <p:spPr>
          <a:xfrm>
            <a:off x="4041648" y="3392424"/>
            <a:ext cx="7269480" cy="987552"/>
          </a:xfrm>
          <a:prstGeom prst="rect">
            <a:avLst/>
          </a:prstGeom>
          <a:noFill/>
          <a:ln/>
        </p:spPr>
        <p:txBody>
          <a:bodyPr wrap="square" lIns="0" tIns="0" rIns="0" bIns="0" rtlCol="0" anchor="ctr"/>
          <a:lstStyle/>
          <a:p>
            <a:pPr marL="0" indent="0">
              <a:lnSpc>
                <a:spcPts val="2400"/>
              </a:lnSpc>
              <a:buNone/>
            </a:pPr>
            <a:r>
              <a:rPr lang="en-US" sz="1700" i="1" dirty="0">
                <a:solidFill>
                  <a:srgbClr val="2C3548"/>
                </a:solidFill>
                <a:latin typeface="Calibri" pitchFamily="34" charset="0"/>
                <a:ea typeface="Calibri" pitchFamily="34" charset="-122"/>
                <a:cs typeface="Calibri" pitchFamily="34" charset="-120"/>
              </a:rPr>
              <a:t>“…para un grupo de 28 estudiantes de 10mo grado en una escuela pública de Ponce…”</a:t>
            </a:r>
            <a:endParaRPr lang="en-US" sz="1700" dirty="0"/>
          </a:p>
        </p:txBody>
      </p:sp>
      <p:sp>
        <p:nvSpPr>
          <p:cNvPr id="17" name="Shape 15"/>
          <p:cNvSpPr/>
          <p:nvPr/>
        </p:nvSpPr>
        <p:spPr>
          <a:xfrm>
            <a:off x="566928" y="4608576"/>
            <a:ext cx="11057839" cy="1207008"/>
          </a:xfrm>
          <a:prstGeom prst="roundRect">
            <a:avLst>
              <a:gd name="adj" fmla="val 6818"/>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8" name="Shape 16"/>
          <p:cNvSpPr/>
          <p:nvPr/>
        </p:nvSpPr>
        <p:spPr>
          <a:xfrm>
            <a:off x="768096" y="4910328"/>
            <a:ext cx="603504" cy="603504"/>
          </a:xfrm>
          <a:prstGeom prst="roundRect">
            <a:avLst>
              <a:gd name="adj" fmla="val 19697"/>
            </a:avLst>
          </a:prstGeom>
          <a:solidFill>
            <a:srgbClr val="C9A227"/>
          </a:solidFill>
          <a:ln w="12700">
            <a:solidFill>
              <a:srgbClr val="C9A227"/>
            </a:solidFill>
            <a:prstDash val="solid"/>
          </a:ln>
        </p:spPr>
        <p:txBody>
          <a:bodyPr/>
          <a:lstStyle/>
          <a:p>
            <a:endParaRPr lang="en-PR"/>
          </a:p>
        </p:txBody>
      </p:sp>
      <p:sp>
        <p:nvSpPr>
          <p:cNvPr id="19" name="Text 17"/>
          <p:cNvSpPr txBox="1"/>
          <p:nvPr/>
        </p:nvSpPr>
        <p:spPr>
          <a:xfrm>
            <a:off x="768096" y="4910328"/>
            <a:ext cx="603504" cy="603504"/>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T</a:t>
            </a:r>
            <a:endParaRPr lang="en-US" sz="2600" dirty="0"/>
          </a:p>
        </p:txBody>
      </p:sp>
      <p:sp>
        <p:nvSpPr>
          <p:cNvPr id="20" name="Text 18"/>
          <p:cNvSpPr txBox="1"/>
          <p:nvPr/>
        </p:nvSpPr>
        <p:spPr>
          <a:xfrm>
            <a:off x="1499616" y="4754880"/>
            <a:ext cx="22860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Tarea</a:t>
            </a:r>
            <a:endParaRPr lang="en-US" sz="2000" dirty="0"/>
          </a:p>
        </p:txBody>
      </p:sp>
      <p:sp>
        <p:nvSpPr>
          <p:cNvPr id="21" name="Text 19"/>
          <p:cNvSpPr txBox="1"/>
          <p:nvPr/>
        </p:nvSpPr>
        <p:spPr>
          <a:xfrm>
            <a:off x="1499616" y="5138928"/>
            <a:ext cx="2377440" cy="566928"/>
          </a:xfrm>
          <a:prstGeom prst="rect">
            <a:avLst/>
          </a:prstGeom>
          <a:noFill/>
          <a:ln/>
        </p:spPr>
        <p:txBody>
          <a:bodyPr wrap="square" lIns="0" tIns="0" rIns="0" bIns="0" rtlCol="0" anchor="t"/>
          <a:lstStyle/>
          <a:p>
            <a:pPr marL="0" indent="0">
              <a:lnSpc>
                <a:spcPts val="2100"/>
              </a:lnSpc>
              <a:buNone/>
            </a:pPr>
            <a:r>
              <a:rPr lang="en-US" sz="1600" dirty="0">
                <a:solidFill>
                  <a:srgbClr val="5A6478"/>
                </a:solidFill>
                <a:latin typeface="Calibri" pitchFamily="34" charset="0"/>
                <a:ea typeface="Calibri" pitchFamily="34" charset="-122"/>
                <a:cs typeface="Calibri" pitchFamily="34" charset="-120"/>
              </a:rPr>
              <a:t>Qué debe producir exactamente</a:t>
            </a:r>
            <a:endParaRPr lang="en-US" sz="1600" dirty="0"/>
          </a:p>
        </p:txBody>
      </p:sp>
      <p:sp>
        <p:nvSpPr>
          <p:cNvPr id="22" name="Text 20"/>
          <p:cNvSpPr txBox="1"/>
          <p:nvPr/>
        </p:nvSpPr>
        <p:spPr>
          <a:xfrm>
            <a:off x="4041648" y="4718304"/>
            <a:ext cx="7269480" cy="987552"/>
          </a:xfrm>
          <a:prstGeom prst="rect">
            <a:avLst/>
          </a:prstGeom>
          <a:noFill/>
          <a:ln/>
        </p:spPr>
        <p:txBody>
          <a:bodyPr wrap="square" lIns="0" tIns="0" rIns="0" bIns="0" rtlCol="0" anchor="ctr"/>
          <a:lstStyle/>
          <a:p>
            <a:pPr marL="0" indent="0">
              <a:lnSpc>
                <a:spcPts val="2400"/>
              </a:lnSpc>
              <a:buNone/>
            </a:pPr>
            <a:r>
              <a:rPr lang="en-US" sz="1700" i="1" dirty="0">
                <a:solidFill>
                  <a:srgbClr val="2C3548"/>
                </a:solidFill>
                <a:latin typeface="Calibri" pitchFamily="34" charset="0"/>
                <a:ea typeface="Calibri" pitchFamily="34" charset="-122"/>
                <a:cs typeface="Calibri" pitchFamily="34" charset="-120"/>
              </a:rPr>
              <a:t>“…diseña tres actividades de introducción a funciones cuadráticas…”</a:t>
            </a:r>
            <a:endParaRPr lang="en-US" sz="1700" dirty="0"/>
          </a:p>
        </p:txBody>
      </p:sp>
      <p:sp>
        <p:nvSpPr>
          <p:cNvPr id="23" name="Text 21"/>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4" name="Text 22"/>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12</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CÓMO REDACTAR UNA BUENA INSTRUCCIÓN · CORRALIZA, 2024</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El modelo RC-TTF (cont.)</a:t>
            </a:r>
            <a:endParaRPr lang="en-US" sz="3000" dirty="0"/>
          </a:p>
        </p:txBody>
      </p:sp>
      <p:sp>
        <p:nvSpPr>
          <p:cNvPr id="4" name="Shape 2"/>
          <p:cNvSpPr/>
          <p:nvPr/>
        </p:nvSpPr>
        <p:spPr>
          <a:xfrm>
            <a:off x="566928" y="2194560"/>
            <a:ext cx="11057839" cy="1207008"/>
          </a:xfrm>
          <a:prstGeom prst="roundRect">
            <a:avLst>
              <a:gd name="adj" fmla="val 6818"/>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768096" y="2496312"/>
            <a:ext cx="603504" cy="603504"/>
          </a:xfrm>
          <a:prstGeom prst="roundRect">
            <a:avLst>
              <a:gd name="adj" fmla="val 19697"/>
            </a:avLst>
          </a:prstGeom>
          <a:solidFill>
            <a:srgbClr val="8E44AD"/>
          </a:solidFill>
          <a:ln w="12700">
            <a:solidFill>
              <a:srgbClr val="8E44AD"/>
            </a:solidFill>
            <a:prstDash val="solid"/>
          </a:ln>
        </p:spPr>
        <p:txBody>
          <a:bodyPr/>
          <a:lstStyle/>
          <a:p>
            <a:endParaRPr lang="en-PR"/>
          </a:p>
        </p:txBody>
      </p:sp>
      <p:sp>
        <p:nvSpPr>
          <p:cNvPr id="6" name="Text 4"/>
          <p:cNvSpPr txBox="1"/>
          <p:nvPr/>
        </p:nvSpPr>
        <p:spPr>
          <a:xfrm>
            <a:off x="768096" y="2496312"/>
            <a:ext cx="603504" cy="603504"/>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T</a:t>
            </a:r>
            <a:endParaRPr lang="en-US" sz="2600" dirty="0"/>
          </a:p>
        </p:txBody>
      </p:sp>
      <p:sp>
        <p:nvSpPr>
          <p:cNvPr id="7" name="Text 5"/>
          <p:cNvSpPr txBox="1"/>
          <p:nvPr/>
        </p:nvSpPr>
        <p:spPr>
          <a:xfrm>
            <a:off x="1499616" y="2340864"/>
            <a:ext cx="22860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Tono</a:t>
            </a:r>
            <a:endParaRPr lang="en-US" sz="2000" dirty="0"/>
          </a:p>
        </p:txBody>
      </p:sp>
      <p:sp>
        <p:nvSpPr>
          <p:cNvPr id="8" name="Text 6"/>
          <p:cNvSpPr txBox="1"/>
          <p:nvPr/>
        </p:nvSpPr>
        <p:spPr>
          <a:xfrm>
            <a:off x="1499616" y="2724912"/>
            <a:ext cx="2377440" cy="566928"/>
          </a:xfrm>
          <a:prstGeom prst="rect">
            <a:avLst/>
          </a:prstGeom>
          <a:noFill/>
          <a:ln/>
        </p:spPr>
        <p:txBody>
          <a:bodyPr wrap="square" lIns="0" tIns="0" rIns="0" bIns="0" rtlCol="0" anchor="t"/>
          <a:lstStyle/>
          <a:p>
            <a:pPr marL="0" indent="0">
              <a:lnSpc>
                <a:spcPts val="2100"/>
              </a:lnSpc>
              <a:buNone/>
            </a:pPr>
            <a:r>
              <a:rPr lang="en-US" sz="1600" dirty="0">
                <a:solidFill>
                  <a:srgbClr val="5A6478"/>
                </a:solidFill>
                <a:latin typeface="Calibri" pitchFamily="34" charset="0"/>
                <a:ea typeface="Calibri" pitchFamily="34" charset="-122"/>
                <a:cs typeface="Calibri" pitchFamily="34" charset="-120"/>
              </a:rPr>
              <a:t>Con qué registro y para quién</a:t>
            </a:r>
            <a:endParaRPr lang="en-US" sz="1600" dirty="0"/>
          </a:p>
        </p:txBody>
      </p:sp>
      <p:sp>
        <p:nvSpPr>
          <p:cNvPr id="9" name="Text 7"/>
          <p:cNvSpPr txBox="1"/>
          <p:nvPr/>
        </p:nvSpPr>
        <p:spPr>
          <a:xfrm>
            <a:off x="4041648" y="2304288"/>
            <a:ext cx="7269480" cy="987552"/>
          </a:xfrm>
          <a:prstGeom prst="rect">
            <a:avLst/>
          </a:prstGeom>
          <a:noFill/>
          <a:ln/>
        </p:spPr>
        <p:txBody>
          <a:bodyPr wrap="square" lIns="0" tIns="0" rIns="0" bIns="0" rtlCol="0" anchor="ctr"/>
          <a:lstStyle/>
          <a:p>
            <a:pPr marL="0" indent="0">
              <a:lnSpc>
                <a:spcPts val="2400"/>
              </a:lnSpc>
              <a:buNone/>
            </a:pPr>
            <a:r>
              <a:rPr lang="en-US" sz="1700" i="1" dirty="0">
                <a:solidFill>
                  <a:srgbClr val="2C3548"/>
                </a:solidFill>
                <a:latin typeface="Calibri" pitchFamily="34" charset="0"/>
                <a:ea typeface="Calibri" pitchFamily="34" charset="-122"/>
                <a:cs typeface="Calibri" pitchFamily="34" charset="-120"/>
              </a:rPr>
              <a:t>“…con lenguaje accesible, sin tecnicismos innecesarios…”</a:t>
            </a:r>
            <a:endParaRPr lang="en-US" sz="1700" dirty="0"/>
          </a:p>
        </p:txBody>
      </p:sp>
      <p:sp>
        <p:nvSpPr>
          <p:cNvPr id="10" name="Shape 8"/>
          <p:cNvSpPr/>
          <p:nvPr/>
        </p:nvSpPr>
        <p:spPr>
          <a:xfrm>
            <a:off x="566928" y="3675888"/>
            <a:ext cx="11057839" cy="1207008"/>
          </a:xfrm>
          <a:prstGeom prst="roundRect">
            <a:avLst>
              <a:gd name="adj" fmla="val 6818"/>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1" name="Shape 9"/>
          <p:cNvSpPr/>
          <p:nvPr/>
        </p:nvSpPr>
        <p:spPr>
          <a:xfrm>
            <a:off x="768096" y="3977640"/>
            <a:ext cx="603504" cy="603504"/>
          </a:xfrm>
          <a:prstGeom prst="roundRect">
            <a:avLst>
              <a:gd name="adj" fmla="val 19697"/>
            </a:avLst>
          </a:prstGeom>
          <a:solidFill>
            <a:srgbClr val="1F3864"/>
          </a:solidFill>
          <a:ln w="12700">
            <a:solidFill>
              <a:srgbClr val="1F3864"/>
            </a:solidFill>
            <a:prstDash val="solid"/>
          </a:ln>
        </p:spPr>
        <p:txBody>
          <a:bodyPr/>
          <a:lstStyle/>
          <a:p>
            <a:endParaRPr lang="en-PR"/>
          </a:p>
        </p:txBody>
      </p:sp>
      <p:sp>
        <p:nvSpPr>
          <p:cNvPr id="12" name="Text 10"/>
          <p:cNvSpPr txBox="1"/>
          <p:nvPr/>
        </p:nvSpPr>
        <p:spPr>
          <a:xfrm>
            <a:off x="768096" y="3977640"/>
            <a:ext cx="603504" cy="603504"/>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F</a:t>
            </a:r>
            <a:endParaRPr lang="en-US" sz="2600" dirty="0"/>
          </a:p>
        </p:txBody>
      </p:sp>
      <p:sp>
        <p:nvSpPr>
          <p:cNvPr id="13" name="Text 11"/>
          <p:cNvSpPr txBox="1"/>
          <p:nvPr/>
        </p:nvSpPr>
        <p:spPr>
          <a:xfrm>
            <a:off x="1499616" y="3822192"/>
            <a:ext cx="22860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Formato</a:t>
            </a:r>
            <a:endParaRPr lang="en-US" sz="2000" dirty="0"/>
          </a:p>
        </p:txBody>
      </p:sp>
      <p:sp>
        <p:nvSpPr>
          <p:cNvPr id="14" name="Text 12"/>
          <p:cNvSpPr txBox="1"/>
          <p:nvPr/>
        </p:nvSpPr>
        <p:spPr>
          <a:xfrm>
            <a:off x="1499616" y="4206240"/>
            <a:ext cx="2377440" cy="566928"/>
          </a:xfrm>
          <a:prstGeom prst="rect">
            <a:avLst/>
          </a:prstGeom>
          <a:noFill/>
          <a:ln/>
        </p:spPr>
        <p:txBody>
          <a:bodyPr wrap="square" lIns="0" tIns="0" rIns="0" bIns="0" rtlCol="0" anchor="t"/>
          <a:lstStyle/>
          <a:p>
            <a:pPr marL="0" indent="0">
              <a:lnSpc>
                <a:spcPts val="2100"/>
              </a:lnSpc>
              <a:buNone/>
            </a:pPr>
            <a:r>
              <a:rPr lang="en-US" sz="1600" dirty="0">
                <a:solidFill>
                  <a:srgbClr val="5A6478"/>
                </a:solidFill>
                <a:latin typeface="Calibri" pitchFamily="34" charset="0"/>
                <a:ea typeface="Calibri" pitchFamily="34" charset="-122"/>
                <a:cs typeface="Calibri" pitchFamily="34" charset="-120"/>
              </a:rPr>
              <a:t>Cómo debe entregarlo</a:t>
            </a:r>
            <a:endParaRPr lang="en-US" sz="1600" dirty="0"/>
          </a:p>
        </p:txBody>
      </p:sp>
      <p:sp>
        <p:nvSpPr>
          <p:cNvPr id="15" name="Text 13"/>
          <p:cNvSpPr txBox="1"/>
          <p:nvPr/>
        </p:nvSpPr>
        <p:spPr>
          <a:xfrm>
            <a:off x="4041648" y="3785616"/>
            <a:ext cx="7269480" cy="987552"/>
          </a:xfrm>
          <a:prstGeom prst="rect">
            <a:avLst/>
          </a:prstGeom>
          <a:noFill/>
          <a:ln/>
        </p:spPr>
        <p:txBody>
          <a:bodyPr wrap="square" lIns="0" tIns="0" rIns="0" bIns="0" rtlCol="0" anchor="ctr"/>
          <a:lstStyle/>
          <a:p>
            <a:pPr marL="0" indent="0">
              <a:lnSpc>
                <a:spcPts val="2400"/>
              </a:lnSpc>
              <a:buNone/>
            </a:pPr>
            <a:r>
              <a:rPr lang="en-US" sz="1700" i="1" dirty="0">
                <a:solidFill>
                  <a:srgbClr val="2C3548"/>
                </a:solidFill>
                <a:latin typeface="Calibri" pitchFamily="34" charset="0"/>
                <a:ea typeface="Calibri" pitchFamily="34" charset="-122"/>
                <a:cs typeface="Calibri" pitchFamily="34" charset="-120"/>
              </a:rPr>
              <a:t>“…en una tabla con columnas de objetivo, actividad, materiales y tiempo estimado.”</a:t>
            </a:r>
            <a:endParaRPr lang="en-US" sz="1700" dirty="0"/>
          </a:p>
        </p:txBody>
      </p:sp>
      <p:sp>
        <p:nvSpPr>
          <p:cNvPr id="16" name="Text 14"/>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7" name="Text 15"/>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13</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MISMA NECESIDAD, DOS INSTRUCCIONES</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La diferencia en la práctica</a:t>
            </a:r>
            <a:endParaRPr lang="en-US" sz="3000" dirty="0"/>
          </a:p>
        </p:txBody>
      </p:sp>
      <p:sp>
        <p:nvSpPr>
          <p:cNvPr id="4" name="Shape 2"/>
          <p:cNvSpPr/>
          <p:nvPr/>
        </p:nvSpPr>
        <p:spPr>
          <a:xfrm>
            <a:off x="566928" y="1463040"/>
            <a:ext cx="5422392" cy="4517136"/>
          </a:xfrm>
          <a:prstGeom prst="roundRect">
            <a:avLst>
              <a:gd name="adj" fmla="val 1822"/>
            </a:avLst>
          </a:prstGeom>
          <a:solidFill>
            <a:srgbClr val="FBF0EF"/>
          </a:solidFill>
          <a:ln w="12700">
            <a:solidFill>
              <a:srgbClr val="FBF0EF"/>
            </a:solidFill>
            <a:prstDash val="solid"/>
          </a:ln>
          <a:effectLst>
            <a:outerShdw blurRad="127000" dist="25400" dir="5400000" algn="bl" rotWithShape="0">
              <a:srgbClr val="1B2A4A">
                <a:alpha val="14000"/>
              </a:srgbClr>
            </a:outerShdw>
          </a:effectLst>
        </p:spPr>
        <p:txBody>
          <a:bodyPr/>
          <a:lstStyle/>
          <a:p>
            <a:endParaRPr lang="en-PR"/>
          </a:p>
        </p:txBody>
      </p:sp>
      <p:sp>
        <p:nvSpPr>
          <p:cNvPr id="5" name="Text 3"/>
          <p:cNvSpPr txBox="1"/>
          <p:nvPr/>
        </p:nvSpPr>
        <p:spPr>
          <a:xfrm>
            <a:off x="841248" y="1645920"/>
            <a:ext cx="4846320" cy="365760"/>
          </a:xfrm>
          <a:prstGeom prst="rect">
            <a:avLst/>
          </a:prstGeom>
          <a:noFill/>
          <a:ln/>
        </p:spPr>
        <p:txBody>
          <a:bodyPr wrap="square" lIns="0" tIns="0" rIns="0" bIns="0" rtlCol="0" anchor="ctr"/>
          <a:lstStyle/>
          <a:p>
            <a:pPr marL="0" indent="0">
              <a:buNone/>
            </a:pPr>
            <a:r>
              <a:rPr lang="en-US" sz="2000" b="1" dirty="0">
                <a:solidFill>
                  <a:srgbClr val="C0392B"/>
                </a:solidFill>
                <a:latin typeface="Cambria" pitchFamily="34" charset="0"/>
                <a:ea typeface="Cambria" pitchFamily="34" charset="-122"/>
                <a:cs typeface="Cambria" pitchFamily="34" charset="-120"/>
              </a:rPr>
              <a:t>Instrucción débil</a:t>
            </a:r>
            <a:endParaRPr lang="en-US" sz="2000" dirty="0"/>
          </a:p>
        </p:txBody>
      </p:sp>
      <p:sp>
        <p:nvSpPr>
          <p:cNvPr id="6" name="Shape 4"/>
          <p:cNvSpPr/>
          <p:nvPr/>
        </p:nvSpPr>
        <p:spPr>
          <a:xfrm>
            <a:off x="841248" y="2084832"/>
            <a:ext cx="4873752" cy="1426464"/>
          </a:xfrm>
          <a:prstGeom prst="roundRect">
            <a:avLst>
              <a:gd name="adj" fmla="val 5769"/>
            </a:avLst>
          </a:prstGeom>
          <a:solidFill>
            <a:srgbClr val="FFFFFF"/>
          </a:solidFill>
          <a:ln w="12700">
            <a:solidFill>
              <a:srgbClr val="FFFFFF"/>
            </a:solidFill>
            <a:prstDash val="solid"/>
          </a:ln>
          <a:effectLst>
            <a:outerShdw blurRad="127000" dist="25400" dir="5400000" algn="bl" rotWithShape="0">
              <a:srgbClr val="1B2A4A">
                <a:alpha val="14000"/>
              </a:srgbClr>
            </a:outerShdw>
          </a:effectLst>
        </p:spPr>
        <p:txBody>
          <a:bodyPr/>
          <a:lstStyle/>
          <a:p>
            <a:endParaRPr lang="en-PR"/>
          </a:p>
        </p:txBody>
      </p:sp>
      <p:sp>
        <p:nvSpPr>
          <p:cNvPr id="7" name="Text 5"/>
          <p:cNvSpPr txBox="1"/>
          <p:nvPr/>
        </p:nvSpPr>
        <p:spPr>
          <a:xfrm>
            <a:off x="1024128" y="2084832"/>
            <a:ext cx="4507992" cy="1426464"/>
          </a:xfrm>
          <a:prstGeom prst="rect">
            <a:avLst/>
          </a:prstGeom>
          <a:noFill/>
          <a:ln/>
        </p:spPr>
        <p:txBody>
          <a:bodyPr wrap="square" lIns="0" tIns="0" rIns="0" bIns="0" rtlCol="0" anchor="ctr"/>
          <a:lstStyle/>
          <a:p>
            <a:pPr marL="0" indent="0">
              <a:lnSpc>
                <a:spcPts val="2500"/>
              </a:lnSpc>
              <a:buNone/>
            </a:pPr>
            <a:r>
              <a:rPr lang="en-US" sz="1800" i="1" dirty="0">
                <a:solidFill>
                  <a:srgbClr val="1B2A4A"/>
                </a:solidFill>
                <a:latin typeface="Calibri" pitchFamily="34" charset="0"/>
                <a:ea typeface="Calibri" pitchFamily="34" charset="-122"/>
                <a:cs typeface="Calibri" pitchFamily="34" charset="-120"/>
              </a:rPr>
              <a:t>“Hazme un plan de clase de matemáticas.”</a:t>
            </a:r>
            <a:endParaRPr lang="en-US" sz="1800" dirty="0"/>
          </a:p>
        </p:txBody>
      </p:sp>
      <p:sp>
        <p:nvSpPr>
          <p:cNvPr id="8" name="Text 6"/>
          <p:cNvSpPr txBox="1"/>
          <p:nvPr/>
        </p:nvSpPr>
        <p:spPr>
          <a:xfrm>
            <a:off x="841248" y="3657600"/>
            <a:ext cx="4846320" cy="292608"/>
          </a:xfrm>
          <a:prstGeom prst="rect">
            <a:avLst/>
          </a:prstGeom>
          <a:noFill/>
          <a:ln/>
        </p:spPr>
        <p:txBody>
          <a:bodyPr wrap="square" lIns="0" tIns="0" rIns="0" bIns="0" rtlCol="0" anchor="ctr"/>
          <a:lstStyle/>
          <a:p>
            <a:pPr marL="0" indent="0">
              <a:buNone/>
            </a:pPr>
            <a:r>
              <a:rPr lang="en-US" sz="1600" b="1" kern="0" spc="100" dirty="0">
                <a:solidFill>
                  <a:srgbClr val="5A6478"/>
                </a:solidFill>
                <a:latin typeface="Calibri" pitchFamily="34" charset="0"/>
                <a:ea typeface="Calibri" pitchFamily="34" charset="-122"/>
                <a:cs typeface="Calibri" pitchFamily="34" charset="-120"/>
              </a:rPr>
              <a:t>Qué obtiene</a:t>
            </a:r>
            <a:endParaRPr lang="en-US" sz="1600" dirty="0"/>
          </a:p>
        </p:txBody>
      </p:sp>
      <p:sp>
        <p:nvSpPr>
          <p:cNvPr id="9" name="Text 7"/>
          <p:cNvSpPr txBox="1"/>
          <p:nvPr/>
        </p:nvSpPr>
        <p:spPr>
          <a:xfrm>
            <a:off x="841248" y="3986784"/>
            <a:ext cx="4873752" cy="1883664"/>
          </a:xfrm>
          <a:prstGeom prst="rect">
            <a:avLst/>
          </a:prstGeom>
          <a:noFill/>
          <a:ln/>
        </p:spPr>
        <p:txBody>
          <a:bodyPr wrap="square" lIns="0" tIns="0" rIns="0" bIns="0" rtlCol="0" anchor="t"/>
          <a:lstStyle/>
          <a:p>
            <a:pPr marL="342900" indent="-342900">
              <a:lnSpc>
                <a:spcPts val="2300"/>
              </a:lnSpc>
              <a:spcAft>
                <a:spcPts val="800"/>
              </a:spcAft>
              <a:buSzPct val="100000"/>
              <a:buChar char="•"/>
            </a:pPr>
            <a:r>
              <a:rPr lang="en-US" sz="1700" dirty="0">
                <a:solidFill>
                  <a:srgbClr val="2C3548"/>
                </a:solidFill>
                <a:latin typeface="Calibri" pitchFamily="34" charset="0"/>
                <a:ea typeface="Calibri" pitchFamily="34" charset="-122"/>
                <a:cs typeface="Calibri" pitchFamily="34" charset="-120"/>
              </a:rPr>
              <a:t>Un plan genérico sin grado ni estándar</a:t>
            </a:r>
            <a:endParaRPr lang="en-US" sz="1700" dirty="0"/>
          </a:p>
          <a:p>
            <a:pPr marL="342900" indent="-342900">
              <a:lnSpc>
                <a:spcPts val="2300"/>
              </a:lnSpc>
              <a:spcAft>
                <a:spcPts val="800"/>
              </a:spcAft>
              <a:buSzPct val="100000"/>
              <a:buChar char="•"/>
            </a:pPr>
            <a:r>
              <a:rPr lang="en-US" sz="1700" dirty="0">
                <a:solidFill>
                  <a:srgbClr val="2C3548"/>
                </a:solidFill>
                <a:latin typeface="Calibri" pitchFamily="34" charset="0"/>
                <a:ea typeface="Calibri" pitchFamily="34" charset="-122"/>
                <a:cs typeface="Calibri" pitchFamily="34" charset="-120"/>
              </a:rPr>
              <a:t>Ejemplos descontextualizados</a:t>
            </a:r>
            <a:endParaRPr lang="en-US" sz="1700" dirty="0"/>
          </a:p>
          <a:p>
            <a:pPr marL="342900" indent="-342900">
              <a:lnSpc>
                <a:spcPts val="2300"/>
              </a:lnSpc>
              <a:spcAft>
                <a:spcPts val="800"/>
              </a:spcAft>
              <a:buSzPct val="100000"/>
              <a:buChar char="•"/>
            </a:pPr>
            <a:r>
              <a:rPr lang="en-US" sz="1700" dirty="0">
                <a:solidFill>
                  <a:srgbClr val="2C3548"/>
                </a:solidFill>
                <a:latin typeface="Calibri" pitchFamily="34" charset="0"/>
                <a:ea typeface="Calibri" pitchFamily="34" charset="-122"/>
                <a:cs typeface="Calibri" pitchFamily="34" charset="-120"/>
              </a:rPr>
              <a:t>Formato impredecible</a:t>
            </a:r>
            <a:endParaRPr lang="en-US" sz="1700" dirty="0"/>
          </a:p>
          <a:p>
            <a:pPr marL="342900" indent="-342900">
              <a:lnSpc>
                <a:spcPts val="2300"/>
              </a:lnSpc>
              <a:spcAft>
                <a:spcPts val="800"/>
              </a:spcAft>
              <a:buSzPct val="100000"/>
              <a:buChar char="•"/>
            </a:pPr>
            <a:r>
              <a:rPr lang="en-US" sz="1700" dirty="0">
                <a:solidFill>
                  <a:srgbClr val="2C3548"/>
                </a:solidFill>
                <a:latin typeface="Calibri" pitchFamily="34" charset="0"/>
                <a:ea typeface="Calibri" pitchFamily="34" charset="-122"/>
                <a:cs typeface="Calibri" pitchFamily="34" charset="-120"/>
              </a:rPr>
              <a:t>Veinte minutos reescribiéndolo usted mismo</a:t>
            </a:r>
            <a:endParaRPr lang="en-US" sz="1700" dirty="0"/>
          </a:p>
        </p:txBody>
      </p:sp>
      <p:sp>
        <p:nvSpPr>
          <p:cNvPr id="10" name="Shape 8"/>
          <p:cNvSpPr/>
          <p:nvPr/>
        </p:nvSpPr>
        <p:spPr>
          <a:xfrm>
            <a:off x="6199632" y="1463040"/>
            <a:ext cx="5422392" cy="4517136"/>
          </a:xfrm>
          <a:prstGeom prst="roundRect">
            <a:avLst>
              <a:gd name="adj" fmla="val 1822"/>
            </a:avLst>
          </a:prstGeom>
          <a:solidFill>
            <a:srgbClr val="F1F8F7"/>
          </a:solidFill>
          <a:ln w="12700">
            <a:solidFill>
              <a:srgbClr val="F1F8F7"/>
            </a:solidFill>
            <a:prstDash val="solid"/>
          </a:ln>
          <a:effectLst>
            <a:outerShdw blurRad="127000" dist="25400" dir="5400000" algn="bl" rotWithShape="0">
              <a:srgbClr val="1B2A4A">
                <a:alpha val="14000"/>
              </a:srgbClr>
            </a:outerShdw>
          </a:effectLst>
        </p:spPr>
        <p:txBody>
          <a:bodyPr/>
          <a:lstStyle/>
          <a:p>
            <a:endParaRPr lang="en-PR"/>
          </a:p>
        </p:txBody>
      </p:sp>
      <p:sp>
        <p:nvSpPr>
          <p:cNvPr id="11" name="Text 9"/>
          <p:cNvSpPr txBox="1"/>
          <p:nvPr/>
        </p:nvSpPr>
        <p:spPr>
          <a:xfrm>
            <a:off x="6473952" y="1645920"/>
            <a:ext cx="4846320" cy="365760"/>
          </a:xfrm>
          <a:prstGeom prst="rect">
            <a:avLst/>
          </a:prstGeom>
          <a:noFill/>
          <a:ln/>
        </p:spPr>
        <p:txBody>
          <a:bodyPr wrap="square" lIns="0" tIns="0" rIns="0" bIns="0" rtlCol="0" anchor="ctr"/>
          <a:lstStyle/>
          <a:p>
            <a:pPr marL="0" indent="0">
              <a:buNone/>
            </a:pPr>
            <a:r>
              <a:rPr lang="en-US" sz="2000" b="1" dirty="0">
                <a:solidFill>
                  <a:srgbClr val="2A9D8F"/>
                </a:solidFill>
                <a:latin typeface="Cambria" pitchFamily="34" charset="0"/>
                <a:ea typeface="Cambria" pitchFamily="34" charset="-122"/>
                <a:cs typeface="Cambria" pitchFamily="34" charset="-120"/>
              </a:rPr>
              <a:t>Instrucción con RC-TTF</a:t>
            </a:r>
            <a:endParaRPr lang="en-US" sz="2000" dirty="0"/>
          </a:p>
        </p:txBody>
      </p:sp>
      <p:sp>
        <p:nvSpPr>
          <p:cNvPr id="12" name="Shape 10"/>
          <p:cNvSpPr/>
          <p:nvPr/>
        </p:nvSpPr>
        <p:spPr>
          <a:xfrm>
            <a:off x="6473952" y="2084832"/>
            <a:ext cx="4873752" cy="1426464"/>
          </a:xfrm>
          <a:prstGeom prst="roundRect">
            <a:avLst>
              <a:gd name="adj" fmla="val 5769"/>
            </a:avLst>
          </a:prstGeom>
          <a:solidFill>
            <a:srgbClr val="FFFFFF"/>
          </a:solidFill>
          <a:ln w="12700">
            <a:solidFill>
              <a:srgbClr val="FFFFFF"/>
            </a:solidFill>
            <a:prstDash val="solid"/>
          </a:ln>
          <a:effectLst>
            <a:outerShdw blurRad="127000" dist="25400" dir="5400000" algn="bl" rotWithShape="0">
              <a:srgbClr val="1B2A4A">
                <a:alpha val="14000"/>
              </a:srgbClr>
            </a:outerShdw>
          </a:effectLst>
        </p:spPr>
        <p:txBody>
          <a:bodyPr/>
          <a:lstStyle/>
          <a:p>
            <a:endParaRPr lang="en-PR"/>
          </a:p>
        </p:txBody>
      </p:sp>
      <p:sp>
        <p:nvSpPr>
          <p:cNvPr id="13" name="Text 11"/>
          <p:cNvSpPr txBox="1"/>
          <p:nvPr/>
        </p:nvSpPr>
        <p:spPr>
          <a:xfrm>
            <a:off x="6620256" y="2084832"/>
            <a:ext cx="4581144" cy="1426464"/>
          </a:xfrm>
          <a:prstGeom prst="rect">
            <a:avLst/>
          </a:prstGeom>
          <a:noFill/>
          <a:ln/>
        </p:spPr>
        <p:txBody>
          <a:bodyPr wrap="square" lIns="0" tIns="0" rIns="0" bIns="0" rtlCol="0" anchor="ctr"/>
          <a:lstStyle/>
          <a:p>
            <a:pPr marL="0" indent="0">
              <a:lnSpc>
                <a:spcPts val="2000"/>
              </a:lnSpc>
              <a:buNone/>
            </a:pPr>
            <a:r>
              <a:rPr lang="en-US" sz="1600" i="1" dirty="0">
                <a:solidFill>
                  <a:srgbClr val="1B2A4A"/>
                </a:solidFill>
                <a:latin typeface="Calibri" pitchFamily="34" charset="0"/>
                <a:ea typeface="Calibri" pitchFamily="34" charset="-122"/>
                <a:cs typeface="Calibri" pitchFamily="34" charset="-120"/>
              </a:rPr>
              <a:t>“Actúa como facilitador de matemáticas. Para 10mo grado en una escuela pública de Ponce, diseña una lección de 50 minutos sobre función cuadrática, en lenguaje accesible, en tabla con objetivo, actividad, materiales y avalúo.”</a:t>
            </a:r>
            <a:endParaRPr lang="en-US" sz="1600" dirty="0"/>
          </a:p>
        </p:txBody>
      </p:sp>
      <p:sp>
        <p:nvSpPr>
          <p:cNvPr id="14" name="Text 12"/>
          <p:cNvSpPr txBox="1"/>
          <p:nvPr/>
        </p:nvSpPr>
        <p:spPr>
          <a:xfrm>
            <a:off x="6473952" y="3657600"/>
            <a:ext cx="4846320" cy="292608"/>
          </a:xfrm>
          <a:prstGeom prst="rect">
            <a:avLst/>
          </a:prstGeom>
          <a:noFill/>
          <a:ln/>
        </p:spPr>
        <p:txBody>
          <a:bodyPr wrap="square" lIns="0" tIns="0" rIns="0" bIns="0" rtlCol="0" anchor="ctr"/>
          <a:lstStyle/>
          <a:p>
            <a:pPr marL="0" indent="0">
              <a:buNone/>
            </a:pPr>
            <a:r>
              <a:rPr lang="en-US" sz="1600" b="1" kern="0" spc="100" dirty="0">
                <a:solidFill>
                  <a:srgbClr val="5A6478"/>
                </a:solidFill>
                <a:latin typeface="Calibri" pitchFamily="34" charset="0"/>
                <a:ea typeface="Calibri" pitchFamily="34" charset="-122"/>
                <a:cs typeface="Calibri" pitchFamily="34" charset="-120"/>
              </a:rPr>
              <a:t>Qué obtiene</a:t>
            </a:r>
            <a:endParaRPr lang="en-US" sz="1600" dirty="0"/>
          </a:p>
        </p:txBody>
      </p:sp>
      <p:sp>
        <p:nvSpPr>
          <p:cNvPr id="15" name="Text 13"/>
          <p:cNvSpPr txBox="1"/>
          <p:nvPr/>
        </p:nvSpPr>
        <p:spPr>
          <a:xfrm>
            <a:off x="6473952" y="3986784"/>
            <a:ext cx="4873752" cy="1883664"/>
          </a:xfrm>
          <a:prstGeom prst="rect">
            <a:avLst/>
          </a:prstGeom>
          <a:noFill/>
          <a:ln/>
        </p:spPr>
        <p:txBody>
          <a:bodyPr wrap="square" lIns="0" tIns="0" rIns="0" bIns="0" rtlCol="0" anchor="t"/>
          <a:lstStyle/>
          <a:p>
            <a:pPr marL="342900" indent="-342900">
              <a:lnSpc>
                <a:spcPts val="2300"/>
              </a:lnSpc>
              <a:spcAft>
                <a:spcPts val="800"/>
              </a:spcAft>
              <a:buSzPct val="100000"/>
              <a:buChar char="•"/>
            </a:pPr>
            <a:r>
              <a:rPr lang="en-US" sz="1700" dirty="0">
                <a:solidFill>
                  <a:srgbClr val="2C3548"/>
                </a:solidFill>
                <a:latin typeface="Calibri" pitchFamily="34" charset="0"/>
                <a:ea typeface="Calibri" pitchFamily="34" charset="-122"/>
                <a:cs typeface="Calibri" pitchFamily="34" charset="-120"/>
              </a:rPr>
              <a:t>Una lección ajustada al nivel y al tiempo real</a:t>
            </a:r>
            <a:endParaRPr lang="en-US" sz="1700" dirty="0"/>
          </a:p>
          <a:p>
            <a:pPr marL="342900" indent="-342900">
              <a:lnSpc>
                <a:spcPts val="2300"/>
              </a:lnSpc>
              <a:spcAft>
                <a:spcPts val="800"/>
              </a:spcAft>
              <a:buSzPct val="100000"/>
              <a:buChar char="•"/>
            </a:pPr>
            <a:r>
              <a:rPr lang="en-US" sz="1700" dirty="0">
                <a:solidFill>
                  <a:srgbClr val="2C3548"/>
                </a:solidFill>
                <a:latin typeface="Calibri" pitchFamily="34" charset="0"/>
                <a:ea typeface="Calibri" pitchFamily="34" charset="-122"/>
                <a:cs typeface="Calibri" pitchFamily="34" charset="-120"/>
              </a:rPr>
              <a:t>Ejemplos que puede contextualizar sin rehacer</a:t>
            </a:r>
            <a:endParaRPr lang="en-US" sz="1700" dirty="0"/>
          </a:p>
          <a:p>
            <a:pPr marL="342900" indent="-342900">
              <a:lnSpc>
                <a:spcPts val="2300"/>
              </a:lnSpc>
              <a:spcAft>
                <a:spcPts val="800"/>
              </a:spcAft>
              <a:buSzPct val="100000"/>
              <a:buChar char="•"/>
            </a:pPr>
            <a:r>
              <a:rPr lang="en-US" sz="1700" dirty="0">
                <a:solidFill>
                  <a:srgbClr val="2C3548"/>
                </a:solidFill>
                <a:latin typeface="Calibri" pitchFamily="34" charset="0"/>
                <a:ea typeface="Calibri" pitchFamily="34" charset="-122"/>
                <a:cs typeface="Calibri" pitchFamily="34" charset="-120"/>
              </a:rPr>
              <a:t>Formato listo para pegar en su plantilla</a:t>
            </a:r>
            <a:endParaRPr lang="en-US" sz="1700" dirty="0"/>
          </a:p>
          <a:p>
            <a:pPr marL="342900" indent="-342900">
              <a:lnSpc>
                <a:spcPts val="2300"/>
              </a:lnSpc>
              <a:spcAft>
                <a:spcPts val="800"/>
              </a:spcAft>
              <a:buSzPct val="100000"/>
              <a:buChar char="•"/>
            </a:pPr>
            <a:r>
              <a:rPr lang="en-US" sz="1700" dirty="0">
                <a:solidFill>
                  <a:srgbClr val="2C3548"/>
                </a:solidFill>
                <a:latin typeface="Calibri" pitchFamily="34" charset="0"/>
                <a:ea typeface="Calibri" pitchFamily="34" charset="-122"/>
                <a:cs typeface="Calibri" pitchFamily="34" charset="-120"/>
              </a:rPr>
              <a:t>Cinco minutos de ajuste fino</a:t>
            </a:r>
            <a:endParaRPr lang="en-US" sz="1700" dirty="0"/>
          </a:p>
        </p:txBody>
      </p:sp>
      <p:sp>
        <p:nvSpPr>
          <p:cNvPr id="16" name="Text 14"/>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7" name="Text 15"/>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14</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EJEMPLOS RC-TTF · 1 DE 7</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Matemáticas</a:t>
            </a:r>
            <a:endParaRPr lang="en-US" sz="3000" dirty="0"/>
          </a:p>
        </p:txBody>
      </p:sp>
      <p:sp>
        <p:nvSpPr>
          <p:cNvPr id="4" name="Shape 2"/>
          <p:cNvSpPr/>
          <p:nvPr/>
        </p:nvSpPr>
        <p:spPr>
          <a:xfrm>
            <a:off x="566928" y="1426464"/>
            <a:ext cx="11057839" cy="3840480"/>
          </a:xfrm>
          <a:prstGeom prst="roundRect">
            <a:avLst>
              <a:gd name="adj" fmla="val 2143"/>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59536" y="1627632"/>
            <a:ext cx="2148840" cy="347472"/>
          </a:xfrm>
          <a:prstGeom prst="roundRect">
            <a:avLst>
              <a:gd name="adj" fmla="val 50000"/>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59536" y="1627632"/>
            <a:ext cx="2148840" cy="347472"/>
          </a:xfrm>
          <a:prstGeom prst="rect">
            <a:avLst/>
          </a:prstGeom>
          <a:noFill/>
          <a:ln/>
        </p:spPr>
        <p:txBody>
          <a:bodyPr wrap="square" lIns="0" tIns="0" rIns="0" bIns="0" rtlCol="0" anchor="ctr"/>
          <a:lstStyle/>
          <a:p>
            <a:pPr marL="0" indent="0" algn="ctr">
              <a:buNone/>
            </a:pPr>
            <a:r>
              <a:rPr lang="en-US" sz="1600" b="1" kern="0" spc="40" dirty="0">
                <a:solidFill>
                  <a:srgbClr val="FFFFFF"/>
                </a:solidFill>
                <a:latin typeface="Calibri" pitchFamily="34" charset="0"/>
                <a:ea typeface="Calibri" pitchFamily="34" charset="-122"/>
                <a:cs typeface="Calibri" pitchFamily="34" charset="-120"/>
              </a:rPr>
              <a:t>6.º a 8.º GRADO</a:t>
            </a:r>
            <a:endParaRPr lang="en-US" sz="1600" dirty="0"/>
          </a:p>
        </p:txBody>
      </p:sp>
      <p:sp>
        <p:nvSpPr>
          <p:cNvPr id="7" name="Text 5"/>
          <p:cNvSpPr txBox="1"/>
          <p:nvPr/>
        </p:nvSpPr>
        <p:spPr>
          <a:xfrm>
            <a:off x="3172968" y="1627632"/>
            <a:ext cx="7772400" cy="347472"/>
          </a:xfrm>
          <a:prstGeom prst="rect">
            <a:avLst/>
          </a:prstGeom>
          <a:noFill/>
          <a:ln/>
        </p:spPr>
        <p:txBody>
          <a:bodyPr wrap="square" lIns="0" tIns="0" rIns="0" bIns="0" rtlCol="0" anchor="ctr"/>
          <a:lstStyle/>
          <a:p>
            <a:pPr marL="0" indent="0">
              <a:buNone/>
            </a:pPr>
            <a:r>
              <a:rPr lang="en-US" sz="1700" i="1" dirty="0">
                <a:solidFill>
                  <a:srgbClr val="5A6478"/>
                </a:solidFill>
                <a:latin typeface="Calibri" pitchFamily="34" charset="0"/>
                <a:ea typeface="Calibri" pitchFamily="34" charset="-122"/>
                <a:cs typeface="Calibri" pitchFamily="34" charset="-120"/>
              </a:rPr>
              <a:t>Razones y proporciones</a:t>
            </a:r>
            <a:endParaRPr lang="en-US" sz="1700" dirty="0"/>
          </a:p>
        </p:txBody>
      </p:sp>
      <p:sp>
        <p:nvSpPr>
          <p:cNvPr id="8" name="Text 6"/>
          <p:cNvSpPr txBox="1"/>
          <p:nvPr/>
        </p:nvSpPr>
        <p:spPr>
          <a:xfrm>
            <a:off x="859536" y="2084832"/>
            <a:ext cx="10469880" cy="2148840"/>
          </a:xfrm>
          <a:prstGeom prst="rect">
            <a:avLst/>
          </a:prstGeom>
          <a:noFill/>
          <a:ln/>
        </p:spPr>
        <p:txBody>
          <a:bodyPr wrap="square" lIns="0" tIns="0" rIns="0" bIns="0" rtlCol="0" anchor="t"/>
          <a:lstStyle/>
          <a:p>
            <a:pPr marL="0" indent="0">
              <a:lnSpc>
                <a:spcPts val="2600"/>
              </a:lnSpc>
              <a:buNone/>
            </a:pPr>
            <a:r>
              <a:rPr lang="en-US" sz="1800" dirty="0">
                <a:solidFill>
                  <a:srgbClr val="1B2A4A"/>
                </a:solidFill>
                <a:latin typeface="Calibri" pitchFamily="34" charset="0"/>
                <a:ea typeface="Calibri" pitchFamily="34" charset="-122"/>
                <a:cs typeface="Calibri" pitchFamily="34" charset="-120"/>
              </a:rPr>
              <a:t>Actúa como facilitador docente de matemáticas de escuela intermedia. </a:t>
            </a:r>
            <a:r>
              <a:rPr lang="en-US" sz="1800" dirty="0">
                <a:solidFill>
                  <a:srgbClr val="1F7A6E"/>
                </a:solidFill>
                <a:latin typeface="Calibri" pitchFamily="34" charset="0"/>
                <a:ea typeface="Calibri" pitchFamily="34" charset="-122"/>
                <a:cs typeface="Calibri" pitchFamily="34" charset="-120"/>
              </a:rPr>
              <a:t>Enseño a 26 estudiantes de 7.º grado en una escuela pública de Ponce; varios llegan con dificultad en operaciones con fracciones. </a:t>
            </a:r>
            <a:r>
              <a:rPr lang="en-US" sz="1800" dirty="0">
                <a:solidFill>
                  <a:srgbClr val="8A6D0F"/>
                </a:solidFill>
                <a:latin typeface="Calibri" pitchFamily="34" charset="0"/>
                <a:ea typeface="Calibri" pitchFamily="34" charset="-122"/>
                <a:cs typeface="Calibri" pitchFamily="34" charset="-120"/>
              </a:rPr>
              <a:t>Diseña una secuencia de tres actividades de 15 minutos que conecte razones y proporciones con recetas de cocina puertorriqueña. </a:t>
            </a:r>
            <a:r>
              <a:rPr lang="en-US" sz="1800" dirty="0">
                <a:solidFill>
                  <a:srgbClr val="6C3483"/>
                </a:solidFill>
                <a:latin typeface="Calibri" pitchFamily="34" charset="0"/>
                <a:ea typeface="Calibri" pitchFamily="34" charset="-122"/>
                <a:cs typeface="Calibri" pitchFamily="34" charset="-120"/>
              </a:rPr>
              <a:t>Usa lenguaje sencillo, sin vocabulario técnico innecesario. </a:t>
            </a:r>
            <a:r>
              <a:rPr lang="en-US" sz="1800" dirty="0">
                <a:solidFill>
                  <a:srgbClr val="A0392B"/>
                </a:solidFill>
                <a:latin typeface="Calibri" pitchFamily="34" charset="0"/>
                <a:ea typeface="Calibri" pitchFamily="34" charset="-122"/>
                <a:cs typeface="Calibri" pitchFamily="34" charset="-120"/>
              </a:rPr>
              <a:t>Entrégalo en una tabla con columnas: objetivo, actividad, materiales, tiempo y pregunta de cierre.</a:t>
            </a:r>
            <a:endParaRPr lang="en-US" sz="1800" dirty="0"/>
          </a:p>
        </p:txBody>
      </p:sp>
      <p:sp>
        <p:nvSpPr>
          <p:cNvPr id="9" name="Text 7"/>
          <p:cNvSpPr txBox="1"/>
          <p:nvPr/>
        </p:nvSpPr>
        <p:spPr>
          <a:xfrm>
            <a:off x="859536" y="4315968"/>
            <a:ext cx="4846320" cy="256032"/>
          </a:xfrm>
          <a:prstGeom prst="rect">
            <a:avLst/>
          </a:prstGeom>
          <a:noFill/>
          <a:ln/>
        </p:spPr>
        <p:txBody>
          <a:bodyPr wrap="square" lIns="0" tIns="0" rIns="0" bIns="0" rtlCol="0" anchor="ctr"/>
          <a:lstStyle/>
          <a:p>
            <a:pPr marL="0" indent="0">
              <a:buNone/>
            </a:pPr>
            <a:r>
              <a:rPr lang="en-US" sz="1600" b="1" kern="0" spc="120" dirty="0">
                <a:solidFill>
                  <a:srgbClr val="2A9D8F"/>
                </a:solidFill>
                <a:latin typeface="Calibri" pitchFamily="34" charset="0"/>
                <a:ea typeface="Calibri" pitchFamily="34" charset="-122"/>
                <a:cs typeface="Calibri" pitchFamily="34" charset="-120"/>
              </a:rPr>
              <a:t>QUÉ LOGRA</a:t>
            </a:r>
            <a:endParaRPr lang="en-US" sz="1600" dirty="0"/>
          </a:p>
        </p:txBody>
      </p:sp>
      <p:sp>
        <p:nvSpPr>
          <p:cNvPr id="10" name="Text 8"/>
          <p:cNvSpPr txBox="1"/>
          <p:nvPr/>
        </p:nvSpPr>
        <p:spPr>
          <a:xfrm>
            <a:off x="859536" y="4590288"/>
            <a:ext cx="10469880" cy="621792"/>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Obtiene material listo para usar, anclado a un contexto que sus estudiantes reconocen, en vez de ejemplos genéricos que tendría que reescribir.</a:t>
            </a:r>
            <a:endParaRPr lang="en-US" sz="1700" dirty="0"/>
          </a:p>
        </p:txBody>
      </p:sp>
      <p:sp>
        <p:nvSpPr>
          <p:cNvPr id="11" name="Shape 9"/>
          <p:cNvSpPr/>
          <p:nvPr/>
        </p:nvSpPr>
        <p:spPr>
          <a:xfrm>
            <a:off x="566928" y="5541264"/>
            <a:ext cx="219456" cy="219456"/>
          </a:xfrm>
          <a:prstGeom prst="ellipse">
            <a:avLst/>
          </a:prstGeom>
          <a:solidFill>
            <a:srgbClr val="1B2A4A"/>
          </a:solidFill>
          <a:ln w="12700">
            <a:solidFill>
              <a:srgbClr val="1B2A4A"/>
            </a:solidFill>
            <a:prstDash val="solid"/>
          </a:ln>
        </p:spPr>
        <p:txBody>
          <a:bodyPr/>
          <a:lstStyle/>
          <a:p>
            <a:endParaRPr lang="en-PR"/>
          </a:p>
        </p:txBody>
      </p:sp>
      <p:sp>
        <p:nvSpPr>
          <p:cNvPr id="12" name="Text 10"/>
          <p:cNvSpPr txBox="1"/>
          <p:nvPr/>
        </p:nvSpPr>
        <p:spPr>
          <a:xfrm>
            <a:off x="877824" y="5486400"/>
            <a:ext cx="1600200" cy="329184"/>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Rol</a:t>
            </a:r>
            <a:endParaRPr lang="en-US" sz="1600" dirty="0"/>
          </a:p>
        </p:txBody>
      </p:sp>
      <p:sp>
        <p:nvSpPr>
          <p:cNvPr id="13" name="Shape 11"/>
          <p:cNvSpPr/>
          <p:nvPr/>
        </p:nvSpPr>
        <p:spPr>
          <a:xfrm>
            <a:off x="2578608" y="5541264"/>
            <a:ext cx="219456" cy="219456"/>
          </a:xfrm>
          <a:prstGeom prst="ellipse">
            <a:avLst/>
          </a:prstGeom>
          <a:solidFill>
            <a:srgbClr val="1F7A6E"/>
          </a:solidFill>
          <a:ln w="12700">
            <a:solidFill>
              <a:srgbClr val="1F7A6E"/>
            </a:solidFill>
            <a:prstDash val="solid"/>
          </a:ln>
        </p:spPr>
        <p:txBody>
          <a:bodyPr/>
          <a:lstStyle/>
          <a:p>
            <a:endParaRPr lang="en-PR"/>
          </a:p>
        </p:txBody>
      </p:sp>
      <p:sp>
        <p:nvSpPr>
          <p:cNvPr id="14" name="Text 12"/>
          <p:cNvSpPr txBox="1"/>
          <p:nvPr/>
        </p:nvSpPr>
        <p:spPr>
          <a:xfrm>
            <a:off x="2889504" y="5486400"/>
            <a:ext cx="1600200" cy="329184"/>
          </a:xfrm>
          <a:prstGeom prst="rect">
            <a:avLst/>
          </a:prstGeom>
          <a:noFill/>
          <a:ln/>
        </p:spPr>
        <p:txBody>
          <a:bodyPr wrap="square" lIns="0" tIns="0" rIns="0" bIns="0" rtlCol="0" anchor="ctr"/>
          <a:lstStyle/>
          <a:p>
            <a:pPr marL="0" indent="0">
              <a:buNone/>
            </a:pPr>
            <a:r>
              <a:rPr lang="en-US" sz="1600" b="1" dirty="0">
                <a:solidFill>
                  <a:srgbClr val="1F7A6E"/>
                </a:solidFill>
                <a:latin typeface="Calibri" pitchFamily="34" charset="0"/>
                <a:ea typeface="Calibri" pitchFamily="34" charset="-122"/>
                <a:cs typeface="Calibri" pitchFamily="34" charset="-120"/>
              </a:rPr>
              <a:t>Contexto</a:t>
            </a:r>
            <a:endParaRPr lang="en-US" sz="1600" dirty="0"/>
          </a:p>
        </p:txBody>
      </p:sp>
      <p:sp>
        <p:nvSpPr>
          <p:cNvPr id="15" name="Shape 13"/>
          <p:cNvSpPr/>
          <p:nvPr/>
        </p:nvSpPr>
        <p:spPr>
          <a:xfrm>
            <a:off x="4590288" y="5541264"/>
            <a:ext cx="219456" cy="219456"/>
          </a:xfrm>
          <a:prstGeom prst="ellipse">
            <a:avLst/>
          </a:prstGeom>
          <a:solidFill>
            <a:srgbClr val="8A6D0F"/>
          </a:solidFill>
          <a:ln w="12700">
            <a:solidFill>
              <a:srgbClr val="8A6D0F"/>
            </a:solidFill>
            <a:prstDash val="solid"/>
          </a:ln>
        </p:spPr>
        <p:txBody>
          <a:bodyPr/>
          <a:lstStyle/>
          <a:p>
            <a:endParaRPr lang="en-PR"/>
          </a:p>
        </p:txBody>
      </p:sp>
      <p:sp>
        <p:nvSpPr>
          <p:cNvPr id="16" name="Text 14"/>
          <p:cNvSpPr txBox="1"/>
          <p:nvPr/>
        </p:nvSpPr>
        <p:spPr>
          <a:xfrm>
            <a:off x="4901184" y="5486400"/>
            <a:ext cx="1600200" cy="329184"/>
          </a:xfrm>
          <a:prstGeom prst="rect">
            <a:avLst/>
          </a:prstGeom>
          <a:noFill/>
          <a:ln/>
        </p:spPr>
        <p:txBody>
          <a:bodyPr wrap="square" lIns="0" tIns="0" rIns="0" bIns="0" rtlCol="0" anchor="ctr"/>
          <a:lstStyle/>
          <a:p>
            <a:pPr marL="0" indent="0">
              <a:buNone/>
            </a:pPr>
            <a:r>
              <a:rPr lang="en-US" sz="1600" b="1" dirty="0">
                <a:solidFill>
                  <a:srgbClr val="8A6D0F"/>
                </a:solidFill>
                <a:latin typeface="Calibri" pitchFamily="34" charset="0"/>
                <a:ea typeface="Calibri" pitchFamily="34" charset="-122"/>
                <a:cs typeface="Calibri" pitchFamily="34" charset="-120"/>
              </a:rPr>
              <a:t>Tarea</a:t>
            </a:r>
            <a:endParaRPr lang="en-US" sz="1600" dirty="0"/>
          </a:p>
        </p:txBody>
      </p:sp>
      <p:sp>
        <p:nvSpPr>
          <p:cNvPr id="17" name="Shape 15"/>
          <p:cNvSpPr/>
          <p:nvPr/>
        </p:nvSpPr>
        <p:spPr>
          <a:xfrm>
            <a:off x="6601968" y="5541264"/>
            <a:ext cx="219456" cy="219456"/>
          </a:xfrm>
          <a:prstGeom prst="ellipse">
            <a:avLst/>
          </a:prstGeom>
          <a:solidFill>
            <a:srgbClr val="6C3483"/>
          </a:solidFill>
          <a:ln w="12700">
            <a:solidFill>
              <a:srgbClr val="6C3483"/>
            </a:solidFill>
            <a:prstDash val="solid"/>
          </a:ln>
        </p:spPr>
        <p:txBody>
          <a:bodyPr/>
          <a:lstStyle/>
          <a:p>
            <a:endParaRPr lang="en-PR"/>
          </a:p>
        </p:txBody>
      </p:sp>
      <p:sp>
        <p:nvSpPr>
          <p:cNvPr id="18" name="Text 16"/>
          <p:cNvSpPr txBox="1"/>
          <p:nvPr/>
        </p:nvSpPr>
        <p:spPr>
          <a:xfrm>
            <a:off x="6912864" y="5486400"/>
            <a:ext cx="1600200" cy="329184"/>
          </a:xfrm>
          <a:prstGeom prst="rect">
            <a:avLst/>
          </a:prstGeom>
          <a:noFill/>
          <a:ln/>
        </p:spPr>
        <p:txBody>
          <a:bodyPr wrap="square" lIns="0" tIns="0" rIns="0" bIns="0" rtlCol="0" anchor="ctr"/>
          <a:lstStyle/>
          <a:p>
            <a:pPr marL="0" indent="0">
              <a:buNone/>
            </a:pPr>
            <a:r>
              <a:rPr lang="en-US" sz="1600" b="1" dirty="0">
                <a:solidFill>
                  <a:srgbClr val="6C3483"/>
                </a:solidFill>
                <a:latin typeface="Calibri" pitchFamily="34" charset="0"/>
                <a:ea typeface="Calibri" pitchFamily="34" charset="-122"/>
                <a:cs typeface="Calibri" pitchFamily="34" charset="-120"/>
              </a:rPr>
              <a:t>Tono</a:t>
            </a:r>
            <a:endParaRPr lang="en-US" sz="1600" dirty="0"/>
          </a:p>
        </p:txBody>
      </p:sp>
      <p:sp>
        <p:nvSpPr>
          <p:cNvPr id="19" name="Shape 17"/>
          <p:cNvSpPr/>
          <p:nvPr/>
        </p:nvSpPr>
        <p:spPr>
          <a:xfrm>
            <a:off x="8613648" y="5541264"/>
            <a:ext cx="219456" cy="219456"/>
          </a:xfrm>
          <a:prstGeom prst="ellipse">
            <a:avLst/>
          </a:prstGeom>
          <a:solidFill>
            <a:srgbClr val="A0392B"/>
          </a:solidFill>
          <a:ln w="12700">
            <a:solidFill>
              <a:srgbClr val="A0392B"/>
            </a:solidFill>
            <a:prstDash val="solid"/>
          </a:ln>
        </p:spPr>
        <p:txBody>
          <a:bodyPr/>
          <a:lstStyle/>
          <a:p>
            <a:endParaRPr lang="en-PR"/>
          </a:p>
        </p:txBody>
      </p:sp>
      <p:sp>
        <p:nvSpPr>
          <p:cNvPr id="20" name="Text 18"/>
          <p:cNvSpPr txBox="1"/>
          <p:nvPr/>
        </p:nvSpPr>
        <p:spPr>
          <a:xfrm>
            <a:off x="8924544" y="5486400"/>
            <a:ext cx="1600200" cy="329184"/>
          </a:xfrm>
          <a:prstGeom prst="rect">
            <a:avLst/>
          </a:prstGeom>
          <a:noFill/>
          <a:ln/>
        </p:spPr>
        <p:txBody>
          <a:bodyPr wrap="square" lIns="0" tIns="0" rIns="0" bIns="0" rtlCol="0" anchor="ctr"/>
          <a:lstStyle/>
          <a:p>
            <a:pPr marL="0" indent="0">
              <a:buNone/>
            </a:pPr>
            <a:r>
              <a:rPr lang="en-US" sz="1600" b="1" dirty="0">
                <a:solidFill>
                  <a:srgbClr val="A0392B"/>
                </a:solidFill>
                <a:latin typeface="Calibri" pitchFamily="34" charset="0"/>
                <a:ea typeface="Calibri" pitchFamily="34" charset="-122"/>
                <a:cs typeface="Calibri" pitchFamily="34" charset="-120"/>
              </a:rPr>
              <a:t>Formato</a:t>
            </a:r>
            <a:endParaRPr lang="en-US" sz="1600" dirty="0"/>
          </a:p>
        </p:txBody>
      </p:sp>
      <p:sp>
        <p:nvSpPr>
          <p:cNvPr id="21" name="Text 19"/>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2" name="Text 20"/>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15</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EJEMPLOS RC-TTF · 1 DE 7</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Matemáticas (cont.)</a:t>
            </a:r>
            <a:endParaRPr lang="en-US" sz="3000" dirty="0"/>
          </a:p>
        </p:txBody>
      </p:sp>
      <p:sp>
        <p:nvSpPr>
          <p:cNvPr id="4" name="Shape 2"/>
          <p:cNvSpPr/>
          <p:nvPr/>
        </p:nvSpPr>
        <p:spPr>
          <a:xfrm>
            <a:off x="566928" y="1426464"/>
            <a:ext cx="11057839" cy="3840480"/>
          </a:xfrm>
          <a:prstGeom prst="roundRect">
            <a:avLst>
              <a:gd name="adj" fmla="val 2143"/>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59536" y="1627632"/>
            <a:ext cx="2148840" cy="347472"/>
          </a:xfrm>
          <a:prstGeom prst="roundRect">
            <a:avLst>
              <a:gd name="adj" fmla="val 50000"/>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59536" y="1627632"/>
            <a:ext cx="2148840" cy="347472"/>
          </a:xfrm>
          <a:prstGeom prst="rect">
            <a:avLst/>
          </a:prstGeom>
          <a:noFill/>
          <a:ln/>
        </p:spPr>
        <p:txBody>
          <a:bodyPr wrap="square" lIns="0" tIns="0" rIns="0" bIns="0" rtlCol="0" anchor="ctr"/>
          <a:lstStyle/>
          <a:p>
            <a:pPr marL="0" indent="0" algn="ctr">
              <a:buNone/>
            </a:pPr>
            <a:r>
              <a:rPr lang="en-US" sz="1600" b="1" kern="0" spc="40" dirty="0">
                <a:solidFill>
                  <a:srgbClr val="FFFFFF"/>
                </a:solidFill>
                <a:latin typeface="Calibri" pitchFamily="34" charset="0"/>
                <a:ea typeface="Calibri" pitchFamily="34" charset="-122"/>
                <a:cs typeface="Calibri" pitchFamily="34" charset="-120"/>
              </a:rPr>
              <a:t>9.º a 12.º GRADO</a:t>
            </a:r>
            <a:endParaRPr lang="en-US" sz="1600" dirty="0"/>
          </a:p>
        </p:txBody>
      </p:sp>
      <p:sp>
        <p:nvSpPr>
          <p:cNvPr id="7" name="Text 5"/>
          <p:cNvSpPr txBox="1"/>
          <p:nvPr/>
        </p:nvSpPr>
        <p:spPr>
          <a:xfrm>
            <a:off x="3172968" y="1627632"/>
            <a:ext cx="7772400" cy="347472"/>
          </a:xfrm>
          <a:prstGeom prst="rect">
            <a:avLst/>
          </a:prstGeom>
          <a:noFill/>
          <a:ln/>
        </p:spPr>
        <p:txBody>
          <a:bodyPr wrap="square" lIns="0" tIns="0" rIns="0" bIns="0" rtlCol="0" anchor="ctr"/>
          <a:lstStyle/>
          <a:p>
            <a:pPr marL="0" indent="0">
              <a:buNone/>
            </a:pPr>
            <a:r>
              <a:rPr lang="en-US" sz="1700" i="1" dirty="0">
                <a:solidFill>
                  <a:srgbClr val="5A6478"/>
                </a:solidFill>
                <a:latin typeface="Calibri" pitchFamily="34" charset="0"/>
                <a:ea typeface="Calibri" pitchFamily="34" charset="-122"/>
                <a:cs typeface="Calibri" pitchFamily="34" charset="-120"/>
              </a:rPr>
              <a:t>Función cuadrática en contexto</a:t>
            </a:r>
            <a:endParaRPr lang="en-US" sz="1700" dirty="0"/>
          </a:p>
        </p:txBody>
      </p:sp>
      <p:sp>
        <p:nvSpPr>
          <p:cNvPr id="8" name="Text 6"/>
          <p:cNvSpPr txBox="1"/>
          <p:nvPr/>
        </p:nvSpPr>
        <p:spPr>
          <a:xfrm>
            <a:off x="859536" y="2084832"/>
            <a:ext cx="10469880" cy="2148840"/>
          </a:xfrm>
          <a:prstGeom prst="rect">
            <a:avLst/>
          </a:prstGeom>
          <a:noFill/>
          <a:ln/>
        </p:spPr>
        <p:txBody>
          <a:bodyPr wrap="square" lIns="0" tIns="0" rIns="0" bIns="0" rtlCol="0" anchor="t"/>
          <a:lstStyle/>
          <a:p>
            <a:pPr marL="0" indent="0">
              <a:lnSpc>
                <a:spcPts val="2600"/>
              </a:lnSpc>
              <a:buNone/>
            </a:pPr>
            <a:r>
              <a:rPr lang="en-US" sz="1800" dirty="0">
                <a:solidFill>
                  <a:srgbClr val="1B2A4A"/>
                </a:solidFill>
                <a:latin typeface="Calibri" pitchFamily="34" charset="0"/>
                <a:ea typeface="Calibri" pitchFamily="34" charset="-122"/>
                <a:cs typeface="Calibri" pitchFamily="34" charset="-120"/>
              </a:rPr>
              <a:t>Actúa como maestro de Álgebra II con experiencia en avalúo formativo. </a:t>
            </a:r>
            <a:r>
              <a:rPr lang="en-US" sz="1800" dirty="0">
                <a:solidFill>
                  <a:srgbClr val="1F7A6E"/>
                </a:solidFill>
                <a:latin typeface="Calibri" pitchFamily="34" charset="0"/>
                <a:ea typeface="Calibri" pitchFamily="34" charset="-122"/>
                <a:cs typeface="Calibri" pitchFamily="34" charset="-120"/>
              </a:rPr>
              <a:t>Mi grupo de 11.º grado domina la factorización, pero falla al interpretar el vértice de una parábola en un problema real. </a:t>
            </a:r>
            <a:r>
              <a:rPr lang="en-US" sz="1800" dirty="0">
                <a:solidFill>
                  <a:srgbClr val="8A6D0F"/>
                </a:solidFill>
                <a:latin typeface="Calibri" pitchFamily="34" charset="0"/>
                <a:ea typeface="Calibri" pitchFamily="34" charset="-122"/>
                <a:cs typeface="Calibri" pitchFamily="34" charset="-120"/>
              </a:rPr>
              <a:t>Redacta cinco problemas de aplicación con función cuadrática usando datos de Puerto Rico: lluvia mensual, precios de gasolina o asistencia a un evento. </a:t>
            </a:r>
            <a:r>
              <a:rPr lang="en-US" sz="1800" dirty="0">
                <a:solidFill>
                  <a:srgbClr val="6C3483"/>
                </a:solidFill>
                <a:latin typeface="Calibri" pitchFamily="34" charset="0"/>
                <a:ea typeface="Calibri" pitchFamily="34" charset="-122"/>
                <a:cs typeface="Calibri" pitchFamily="34" charset="-120"/>
              </a:rPr>
              <a:t>Con tono de reto intelectual, no de examen. </a:t>
            </a:r>
            <a:r>
              <a:rPr lang="en-US" sz="1800" dirty="0">
                <a:solidFill>
                  <a:srgbClr val="A0392B"/>
                </a:solidFill>
                <a:latin typeface="Calibri" pitchFamily="34" charset="0"/>
                <a:ea typeface="Calibri" pitchFamily="34" charset="-122"/>
                <a:cs typeface="Calibri" pitchFamily="34" charset="-120"/>
              </a:rPr>
              <a:t>Presenta cada problema, luego la solución paso a paso y el error conceptual más probable.</a:t>
            </a:r>
            <a:endParaRPr lang="en-US" sz="1800" dirty="0"/>
          </a:p>
        </p:txBody>
      </p:sp>
      <p:sp>
        <p:nvSpPr>
          <p:cNvPr id="9" name="Text 7"/>
          <p:cNvSpPr txBox="1"/>
          <p:nvPr/>
        </p:nvSpPr>
        <p:spPr>
          <a:xfrm>
            <a:off x="859536" y="4315968"/>
            <a:ext cx="4846320" cy="256032"/>
          </a:xfrm>
          <a:prstGeom prst="rect">
            <a:avLst/>
          </a:prstGeom>
          <a:noFill/>
          <a:ln/>
        </p:spPr>
        <p:txBody>
          <a:bodyPr wrap="square" lIns="0" tIns="0" rIns="0" bIns="0" rtlCol="0" anchor="ctr"/>
          <a:lstStyle/>
          <a:p>
            <a:pPr marL="0" indent="0">
              <a:buNone/>
            </a:pPr>
            <a:r>
              <a:rPr lang="en-US" sz="1600" b="1" kern="0" spc="120" dirty="0">
                <a:solidFill>
                  <a:srgbClr val="2A9D8F"/>
                </a:solidFill>
                <a:latin typeface="Calibri" pitchFamily="34" charset="0"/>
                <a:ea typeface="Calibri" pitchFamily="34" charset="-122"/>
                <a:cs typeface="Calibri" pitchFamily="34" charset="-120"/>
              </a:rPr>
              <a:t>QUÉ LOGRA</a:t>
            </a:r>
            <a:endParaRPr lang="en-US" sz="1600" dirty="0"/>
          </a:p>
        </p:txBody>
      </p:sp>
      <p:sp>
        <p:nvSpPr>
          <p:cNvPr id="10" name="Text 8"/>
          <p:cNvSpPr txBox="1"/>
          <p:nvPr/>
        </p:nvSpPr>
        <p:spPr>
          <a:xfrm>
            <a:off x="859536" y="4590288"/>
            <a:ext cx="10469880" cy="621792"/>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El componente de error probable convierte la respuesta en herramienta de anticipación docente, no solo en una hoja de ejercicios.</a:t>
            </a:r>
            <a:endParaRPr lang="en-US" sz="1700" dirty="0"/>
          </a:p>
        </p:txBody>
      </p:sp>
      <p:sp>
        <p:nvSpPr>
          <p:cNvPr id="11" name="Shape 9"/>
          <p:cNvSpPr/>
          <p:nvPr/>
        </p:nvSpPr>
        <p:spPr>
          <a:xfrm>
            <a:off x="566928" y="5541264"/>
            <a:ext cx="219456" cy="219456"/>
          </a:xfrm>
          <a:prstGeom prst="ellipse">
            <a:avLst/>
          </a:prstGeom>
          <a:solidFill>
            <a:srgbClr val="1B2A4A"/>
          </a:solidFill>
          <a:ln w="12700">
            <a:solidFill>
              <a:srgbClr val="1B2A4A"/>
            </a:solidFill>
            <a:prstDash val="solid"/>
          </a:ln>
        </p:spPr>
        <p:txBody>
          <a:bodyPr/>
          <a:lstStyle/>
          <a:p>
            <a:endParaRPr lang="en-PR"/>
          </a:p>
        </p:txBody>
      </p:sp>
      <p:sp>
        <p:nvSpPr>
          <p:cNvPr id="12" name="Text 10"/>
          <p:cNvSpPr txBox="1"/>
          <p:nvPr/>
        </p:nvSpPr>
        <p:spPr>
          <a:xfrm>
            <a:off x="877824" y="5486400"/>
            <a:ext cx="1600200" cy="329184"/>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Rol</a:t>
            </a:r>
            <a:endParaRPr lang="en-US" sz="1600" dirty="0"/>
          </a:p>
        </p:txBody>
      </p:sp>
      <p:sp>
        <p:nvSpPr>
          <p:cNvPr id="13" name="Shape 11"/>
          <p:cNvSpPr/>
          <p:nvPr/>
        </p:nvSpPr>
        <p:spPr>
          <a:xfrm>
            <a:off x="2578608" y="5541264"/>
            <a:ext cx="219456" cy="219456"/>
          </a:xfrm>
          <a:prstGeom prst="ellipse">
            <a:avLst/>
          </a:prstGeom>
          <a:solidFill>
            <a:srgbClr val="1F7A6E"/>
          </a:solidFill>
          <a:ln w="12700">
            <a:solidFill>
              <a:srgbClr val="1F7A6E"/>
            </a:solidFill>
            <a:prstDash val="solid"/>
          </a:ln>
        </p:spPr>
        <p:txBody>
          <a:bodyPr/>
          <a:lstStyle/>
          <a:p>
            <a:endParaRPr lang="en-PR"/>
          </a:p>
        </p:txBody>
      </p:sp>
      <p:sp>
        <p:nvSpPr>
          <p:cNvPr id="14" name="Text 12"/>
          <p:cNvSpPr txBox="1"/>
          <p:nvPr/>
        </p:nvSpPr>
        <p:spPr>
          <a:xfrm>
            <a:off x="2889504" y="5486400"/>
            <a:ext cx="1600200" cy="329184"/>
          </a:xfrm>
          <a:prstGeom prst="rect">
            <a:avLst/>
          </a:prstGeom>
          <a:noFill/>
          <a:ln/>
        </p:spPr>
        <p:txBody>
          <a:bodyPr wrap="square" lIns="0" tIns="0" rIns="0" bIns="0" rtlCol="0" anchor="ctr"/>
          <a:lstStyle/>
          <a:p>
            <a:pPr marL="0" indent="0">
              <a:buNone/>
            </a:pPr>
            <a:r>
              <a:rPr lang="en-US" sz="1600" b="1" dirty="0">
                <a:solidFill>
                  <a:srgbClr val="1F7A6E"/>
                </a:solidFill>
                <a:latin typeface="Calibri" pitchFamily="34" charset="0"/>
                <a:ea typeface="Calibri" pitchFamily="34" charset="-122"/>
                <a:cs typeface="Calibri" pitchFamily="34" charset="-120"/>
              </a:rPr>
              <a:t>Contexto</a:t>
            </a:r>
            <a:endParaRPr lang="en-US" sz="1600" dirty="0"/>
          </a:p>
        </p:txBody>
      </p:sp>
      <p:sp>
        <p:nvSpPr>
          <p:cNvPr id="15" name="Shape 13"/>
          <p:cNvSpPr/>
          <p:nvPr/>
        </p:nvSpPr>
        <p:spPr>
          <a:xfrm>
            <a:off x="4590288" y="5541264"/>
            <a:ext cx="219456" cy="219456"/>
          </a:xfrm>
          <a:prstGeom prst="ellipse">
            <a:avLst/>
          </a:prstGeom>
          <a:solidFill>
            <a:srgbClr val="8A6D0F"/>
          </a:solidFill>
          <a:ln w="12700">
            <a:solidFill>
              <a:srgbClr val="8A6D0F"/>
            </a:solidFill>
            <a:prstDash val="solid"/>
          </a:ln>
        </p:spPr>
        <p:txBody>
          <a:bodyPr/>
          <a:lstStyle/>
          <a:p>
            <a:endParaRPr lang="en-PR"/>
          </a:p>
        </p:txBody>
      </p:sp>
      <p:sp>
        <p:nvSpPr>
          <p:cNvPr id="16" name="Text 14"/>
          <p:cNvSpPr txBox="1"/>
          <p:nvPr/>
        </p:nvSpPr>
        <p:spPr>
          <a:xfrm>
            <a:off x="4901184" y="5486400"/>
            <a:ext cx="1600200" cy="329184"/>
          </a:xfrm>
          <a:prstGeom prst="rect">
            <a:avLst/>
          </a:prstGeom>
          <a:noFill/>
          <a:ln/>
        </p:spPr>
        <p:txBody>
          <a:bodyPr wrap="square" lIns="0" tIns="0" rIns="0" bIns="0" rtlCol="0" anchor="ctr"/>
          <a:lstStyle/>
          <a:p>
            <a:pPr marL="0" indent="0">
              <a:buNone/>
            </a:pPr>
            <a:r>
              <a:rPr lang="en-US" sz="1600" b="1" dirty="0">
                <a:solidFill>
                  <a:srgbClr val="8A6D0F"/>
                </a:solidFill>
                <a:latin typeface="Calibri" pitchFamily="34" charset="0"/>
                <a:ea typeface="Calibri" pitchFamily="34" charset="-122"/>
                <a:cs typeface="Calibri" pitchFamily="34" charset="-120"/>
              </a:rPr>
              <a:t>Tarea</a:t>
            </a:r>
            <a:endParaRPr lang="en-US" sz="1600" dirty="0"/>
          </a:p>
        </p:txBody>
      </p:sp>
      <p:sp>
        <p:nvSpPr>
          <p:cNvPr id="17" name="Shape 15"/>
          <p:cNvSpPr/>
          <p:nvPr/>
        </p:nvSpPr>
        <p:spPr>
          <a:xfrm>
            <a:off x="6601968" y="5541264"/>
            <a:ext cx="219456" cy="219456"/>
          </a:xfrm>
          <a:prstGeom prst="ellipse">
            <a:avLst/>
          </a:prstGeom>
          <a:solidFill>
            <a:srgbClr val="6C3483"/>
          </a:solidFill>
          <a:ln w="12700">
            <a:solidFill>
              <a:srgbClr val="6C3483"/>
            </a:solidFill>
            <a:prstDash val="solid"/>
          </a:ln>
        </p:spPr>
        <p:txBody>
          <a:bodyPr/>
          <a:lstStyle/>
          <a:p>
            <a:endParaRPr lang="en-PR"/>
          </a:p>
        </p:txBody>
      </p:sp>
      <p:sp>
        <p:nvSpPr>
          <p:cNvPr id="18" name="Text 16"/>
          <p:cNvSpPr txBox="1"/>
          <p:nvPr/>
        </p:nvSpPr>
        <p:spPr>
          <a:xfrm>
            <a:off x="6912864" y="5486400"/>
            <a:ext cx="1600200" cy="329184"/>
          </a:xfrm>
          <a:prstGeom prst="rect">
            <a:avLst/>
          </a:prstGeom>
          <a:noFill/>
          <a:ln/>
        </p:spPr>
        <p:txBody>
          <a:bodyPr wrap="square" lIns="0" tIns="0" rIns="0" bIns="0" rtlCol="0" anchor="ctr"/>
          <a:lstStyle/>
          <a:p>
            <a:pPr marL="0" indent="0">
              <a:buNone/>
            </a:pPr>
            <a:r>
              <a:rPr lang="en-US" sz="1600" b="1" dirty="0">
                <a:solidFill>
                  <a:srgbClr val="6C3483"/>
                </a:solidFill>
                <a:latin typeface="Calibri" pitchFamily="34" charset="0"/>
                <a:ea typeface="Calibri" pitchFamily="34" charset="-122"/>
                <a:cs typeface="Calibri" pitchFamily="34" charset="-120"/>
              </a:rPr>
              <a:t>Tono</a:t>
            </a:r>
            <a:endParaRPr lang="en-US" sz="1600" dirty="0"/>
          </a:p>
        </p:txBody>
      </p:sp>
      <p:sp>
        <p:nvSpPr>
          <p:cNvPr id="19" name="Shape 17"/>
          <p:cNvSpPr/>
          <p:nvPr/>
        </p:nvSpPr>
        <p:spPr>
          <a:xfrm>
            <a:off x="8613648" y="5541264"/>
            <a:ext cx="219456" cy="219456"/>
          </a:xfrm>
          <a:prstGeom prst="ellipse">
            <a:avLst/>
          </a:prstGeom>
          <a:solidFill>
            <a:srgbClr val="A0392B"/>
          </a:solidFill>
          <a:ln w="12700">
            <a:solidFill>
              <a:srgbClr val="A0392B"/>
            </a:solidFill>
            <a:prstDash val="solid"/>
          </a:ln>
        </p:spPr>
        <p:txBody>
          <a:bodyPr/>
          <a:lstStyle/>
          <a:p>
            <a:endParaRPr lang="en-PR"/>
          </a:p>
        </p:txBody>
      </p:sp>
      <p:sp>
        <p:nvSpPr>
          <p:cNvPr id="20" name="Text 18"/>
          <p:cNvSpPr txBox="1"/>
          <p:nvPr/>
        </p:nvSpPr>
        <p:spPr>
          <a:xfrm>
            <a:off x="8924544" y="5486400"/>
            <a:ext cx="1600200" cy="329184"/>
          </a:xfrm>
          <a:prstGeom prst="rect">
            <a:avLst/>
          </a:prstGeom>
          <a:noFill/>
          <a:ln/>
        </p:spPr>
        <p:txBody>
          <a:bodyPr wrap="square" lIns="0" tIns="0" rIns="0" bIns="0" rtlCol="0" anchor="ctr"/>
          <a:lstStyle/>
          <a:p>
            <a:pPr marL="0" indent="0">
              <a:buNone/>
            </a:pPr>
            <a:r>
              <a:rPr lang="en-US" sz="1600" b="1" dirty="0">
                <a:solidFill>
                  <a:srgbClr val="A0392B"/>
                </a:solidFill>
                <a:latin typeface="Calibri" pitchFamily="34" charset="0"/>
                <a:ea typeface="Calibri" pitchFamily="34" charset="-122"/>
                <a:cs typeface="Calibri" pitchFamily="34" charset="-120"/>
              </a:rPr>
              <a:t>Formato</a:t>
            </a:r>
            <a:endParaRPr lang="en-US" sz="1600" dirty="0"/>
          </a:p>
        </p:txBody>
      </p:sp>
      <p:sp>
        <p:nvSpPr>
          <p:cNvPr id="21" name="Text 19"/>
          <p:cNvSpPr txBox="1"/>
          <p:nvPr/>
        </p:nvSpPr>
        <p:spPr>
          <a:xfrm>
            <a:off x="566928" y="5925312"/>
            <a:ext cx="11057839" cy="310896"/>
          </a:xfrm>
          <a:prstGeom prst="rect">
            <a:avLst/>
          </a:prstGeom>
          <a:noFill/>
          <a:ln/>
        </p:spPr>
        <p:txBody>
          <a:bodyPr wrap="square" lIns="0" tIns="0" rIns="0" bIns="0" rtlCol="0" anchor="ctr"/>
          <a:lstStyle/>
          <a:p>
            <a:pPr marL="0" indent="0" algn="r">
              <a:buNone/>
            </a:pPr>
            <a:r>
              <a:rPr lang="en-US" sz="1600" i="1" dirty="0">
                <a:solidFill>
                  <a:srgbClr val="5A6478"/>
                </a:solidFill>
                <a:latin typeface="Calibri" pitchFamily="34" charset="0"/>
                <a:ea typeface="Calibri" pitchFamily="34" charset="-122"/>
                <a:cs typeface="Calibri" pitchFamily="34" charset="-120"/>
              </a:rPr>
              <a:t>Verifique siempre los cálculos con Wolfram Alpha o GeoGebra.</a:t>
            </a:r>
            <a:endParaRPr lang="en-US" sz="1600" dirty="0"/>
          </a:p>
        </p:txBody>
      </p:sp>
      <p:sp>
        <p:nvSpPr>
          <p:cNvPr id="22" name="Text 20"/>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3" name="Text 21"/>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16</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EJEMPLOS RC-TTF · 2 DE 7</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Ciencias</a:t>
            </a:r>
            <a:endParaRPr lang="en-US" sz="3000" dirty="0"/>
          </a:p>
        </p:txBody>
      </p:sp>
      <p:sp>
        <p:nvSpPr>
          <p:cNvPr id="4" name="Shape 2"/>
          <p:cNvSpPr/>
          <p:nvPr/>
        </p:nvSpPr>
        <p:spPr>
          <a:xfrm>
            <a:off x="566928" y="1426464"/>
            <a:ext cx="11057839" cy="3840480"/>
          </a:xfrm>
          <a:prstGeom prst="roundRect">
            <a:avLst>
              <a:gd name="adj" fmla="val 2143"/>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59536" y="1627632"/>
            <a:ext cx="2148840" cy="347472"/>
          </a:xfrm>
          <a:prstGeom prst="roundRect">
            <a:avLst>
              <a:gd name="adj" fmla="val 50000"/>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59536" y="1627632"/>
            <a:ext cx="2148840" cy="347472"/>
          </a:xfrm>
          <a:prstGeom prst="rect">
            <a:avLst/>
          </a:prstGeom>
          <a:noFill/>
          <a:ln/>
        </p:spPr>
        <p:txBody>
          <a:bodyPr wrap="square" lIns="0" tIns="0" rIns="0" bIns="0" rtlCol="0" anchor="ctr"/>
          <a:lstStyle/>
          <a:p>
            <a:pPr marL="0" indent="0" algn="ctr">
              <a:buNone/>
            </a:pPr>
            <a:r>
              <a:rPr lang="en-US" sz="1600" b="1" kern="0" spc="40" dirty="0">
                <a:solidFill>
                  <a:srgbClr val="FFFFFF"/>
                </a:solidFill>
                <a:latin typeface="Calibri" pitchFamily="34" charset="0"/>
                <a:ea typeface="Calibri" pitchFamily="34" charset="-122"/>
                <a:cs typeface="Calibri" pitchFamily="34" charset="-120"/>
              </a:rPr>
              <a:t>6.º a 8.º GRADO</a:t>
            </a:r>
            <a:endParaRPr lang="en-US" sz="1600" dirty="0"/>
          </a:p>
        </p:txBody>
      </p:sp>
      <p:sp>
        <p:nvSpPr>
          <p:cNvPr id="7" name="Text 5"/>
          <p:cNvSpPr txBox="1"/>
          <p:nvPr/>
        </p:nvSpPr>
        <p:spPr>
          <a:xfrm>
            <a:off x="3172968" y="1627632"/>
            <a:ext cx="7772400" cy="347472"/>
          </a:xfrm>
          <a:prstGeom prst="rect">
            <a:avLst/>
          </a:prstGeom>
          <a:noFill/>
          <a:ln/>
        </p:spPr>
        <p:txBody>
          <a:bodyPr wrap="square" lIns="0" tIns="0" rIns="0" bIns="0" rtlCol="0" anchor="ctr"/>
          <a:lstStyle/>
          <a:p>
            <a:pPr marL="0" indent="0">
              <a:buNone/>
            </a:pPr>
            <a:r>
              <a:rPr lang="en-US" sz="1700" i="1" dirty="0">
                <a:solidFill>
                  <a:srgbClr val="5A6478"/>
                </a:solidFill>
                <a:latin typeface="Calibri" pitchFamily="34" charset="0"/>
                <a:ea typeface="Calibri" pitchFamily="34" charset="-122"/>
                <a:cs typeface="Calibri" pitchFamily="34" charset="-120"/>
              </a:rPr>
              <a:t>Erosión costera</a:t>
            </a:r>
            <a:endParaRPr lang="en-US" sz="1700" dirty="0"/>
          </a:p>
        </p:txBody>
      </p:sp>
      <p:sp>
        <p:nvSpPr>
          <p:cNvPr id="8" name="Text 6"/>
          <p:cNvSpPr txBox="1"/>
          <p:nvPr/>
        </p:nvSpPr>
        <p:spPr>
          <a:xfrm>
            <a:off x="859536" y="2084832"/>
            <a:ext cx="10469880" cy="2148840"/>
          </a:xfrm>
          <a:prstGeom prst="rect">
            <a:avLst/>
          </a:prstGeom>
          <a:noFill/>
          <a:ln/>
        </p:spPr>
        <p:txBody>
          <a:bodyPr wrap="square" lIns="0" tIns="0" rIns="0" bIns="0" rtlCol="0" anchor="t"/>
          <a:lstStyle/>
          <a:p>
            <a:pPr marL="0" indent="0">
              <a:lnSpc>
                <a:spcPts val="2600"/>
              </a:lnSpc>
              <a:buNone/>
            </a:pPr>
            <a:r>
              <a:rPr lang="en-US" sz="1800" dirty="0">
                <a:solidFill>
                  <a:srgbClr val="1B2A4A"/>
                </a:solidFill>
                <a:latin typeface="Calibri" pitchFamily="34" charset="0"/>
                <a:ea typeface="Calibri" pitchFamily="34" charset="-122"/>
                <a:cs typeface="Calibri" pitchFamily="34" charset="-120"/>
              </a:rPr>
              <a:t>Actúa como maestro de Ciencias Terrestres de escuela intermedia. </a:t>
            </a:r>
            <a:r>
              <a:rPr lang="en-US" sz="1800" dirty="0">
                <a:solidFill>
                  <a:srgbClr val="1F7A6E"/>
                </a:solidFill>
                <a:latin typeface="Calibri" pitchFamily="34" charset="0"/>
                <a:ea typeface="Calibri" pitchFamily="34" charset="-122"/>
                <a:cs typeface="Calibri" pitchFamily="34" charset="-120"/>
              </a:rPr>
              <a:t>Doy clase a 8.º grado en la costa sur de Puerto Rico, donde los estudiantes ven la erosión costera todos los días. </a:t>
            </a:r>
            <a:r>
              <a:rPr lang="en-US" sz="1800" dirty="0">
                <a:solidFill>
                  <a:srgbClr val="8A6D0F"/>
                </a:solidFill>
                <a:latin typeface="Calibri" pitchFamily="34" charset="0"/>
                <a:ea typeface="Calibri" pitchFamily="34" charset="-122"/>
                <a:cs typeface="Calibri" pitchFamily="34" charset="-120"/>
              </a:rPr>
              <a:t>Diseña una investigación guiada de dos períodos sobre erosión, con hipótesis, variables y un modelo físico construible con materiales de bajo costo. </a:t>
            </a:r>
            <a:r>
              <a:rPr lang="en-US" sz="1800" dirty="0">
                <a:solidFill>
                  <a:srgbClr val="6C3483"/>
                </a:solidFill>
                <a:latin typeface="Calibri" pitchFamily="34" charset="0"/>
                <a:ea typeface="Calibri" pitchFamily="34" charset="-122"/>
                <a:cs typeface="Calibri" pitchFamily="34" charset="-120"/>
              </a:rPr>
              <a:t>Con lenguaje cercano y preguntas que inviten a la curiosidad. </a:t>
            </a:r>
            <a:r>
              <a:rPr lang="en-US" sz="1800" dirty="0">
                <a:solidFill>
                  <a:srgbClr val="A0392B"/>
                </a:solidFill>
                <a:latin typeface="Calibri" pitchFamily="34" charset="0"/>
                <a:ea typeface="Calibri" pitchFamily="34" charset="-122"/>
                <a:cs typeface="Calibri" pitchFamily="34" charset="-120"/>
              </a:rPr>
              <a:t>Guía del estudiante en una página, más una hoja aparte de respuestas para el maestro.</a:t>
            </a:r>
            <a:endParaRPr lang="en-US" sz="1800" dirty="0"/>
          </a:p>
        </p:txBody>
      </p:sp>
      <p:sp>
        <p:nvSpPr>
          <p:cNvPr id="9" name="Text 7"/>
          <p:cNvSpPr txBox="1"/>
          <p:nvPr/>
        </p:nvSpPr>
        <p:spPr>
          <a:xfrm>
            <a:off x="859536" y="4315968"/>
            <a:ext cx="4846320" cy="256032"/>
          </a:xfrm>
          <a:prstGeom prst="rect">
            <a:avLst/>
          </a:prstGeom>
          <a:noFill/>
          <a:ln/>
        </p:spPr>
        <p:txBody>
          <a:bodyPr wrap="square" lIns="0" tIns="0" rIns="0" bIns="0" rtlCol="0" anchor="ctr"/>
          <a:lstStyle/>
          <a:p>
            <a:pPr marL="0" indent="0">
              <a:buNone/>
            </a:pPr>
            <a:r>
              <a:rPr lang="en-US" sz="1600" b="1" kern="0" spc="120" dirty="0">
                <a:solidFill>
                  <a:srgbClr val="2A9D8F"/>
                </a:solidFill>
                <a:latin typeface="Calibri" pitchFamily="34" charset="0"/>
                <a:ea typeface="Calibri" pitchFamily="34" charset="-122"/>
                <a:cs typeface="Calibri" pitchFamily="34" charset="-120"/>
              </a:rPr>
              <a:t>QUÉ LOGRA</a:t>
            </a:r>
            <a:endParaRPr lang="en-US" sz="1600" dirty="0"/>
          </a:p>
        </p:txBody>
      </p:sp>
      <p:sp>
        <p:nvSpPr>
          <p:cNvPr id="10" name="Text 8"/>
          <p:cNvSpPr txBox="1"/>
          <p:nvPr/>
        </p:nvSpPr>
        <p:spPr>
          <a:xfrm>
            <a:off x="859536" y="4590288"/>
            <a:ext cx="10469880" cy="621792"/>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Convierte un fenómeno que los estudiantes ya observan en objeto de indagación formal, con separación clara entre material del alumno y del docente.</a:t>
            </a:r>
            <a:endParaRPr lang="en-US" sz="1700" dirty="0"/>
          </a:p>
        </p:txBody>
      </p:sp>
      <p:sp>
        <p:nvSpPr>
          <p:cNvPr id="11" name="Shape 9"/>
          <p:cNvSpPr/>
          <p:nvPr/>
        </p:nvSpPr>
        <p:spPr>
          <a:xfrm>
            <a:off x="566928" y="5541264"/>
            <a:ext cx="219456" cy="219456"/>
          </a:xfrm>
          <a:prstGeom prst="ellipse">
            <a:avLst/>
          </a:prstGeom>
          <a:solidFill>
            <a:srgbClr val="1B2A4A"/>
          </a:solidFill>
          <a:ln w="12700">
            <a:solidFill>
              <a:srgbClr val="1B2A4A"/>
            </a:solidFill>
            <a:prstDash val="solid"/>
          </a:ln>
        </p:spPr>
        <p:txBody>
          <a:bodyPr/>
          <a:lstStyle/>
          <a:p>
            <a:endParaRPr lang="en-PR"/>
          </a:p>
        </p:txBody>
      </p:sp>
      <p:sp>
        <p:nvSpPr>
          <p:cNvPr id="12" name="Text 10"/>
          <p:cNvSpPr txBox="1"/>
          <p:nvPr/>
        </p:nvSpPr>
        <p:spPr>
          <a:xfrm>
            <a:off x="877824" y="5486400"/>
            <a:ext cx="1600200" cy="329184"/>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Rol</a:t>
            </a:r>
            <a:endParaRPr lang="en-US" sz="1600" dirty="0"/>
          </a:p>
        </p:txBody>
      </p:sp>
      <p:sp>
        <p:nvSpPr>
          <p:cNvPr id="13" name="Shape 11"/>
          <p:cNvSpPr/>
          <p:nvPr/>
        </p:nvSpPr>
        <p:spPr>
          <a:xfrm>
            <a:off x="2578608" y="5541264"/>
            <a:ext cx="219456" cy="219456"/>
          </a:xfrm>
          <a:prstGeom prst="ellipse">
            <a:avLst/>
          </a:prstGeom>
          <a:solidFill>
            <a:srgbClr val="1F7A6E"/>
          </a:solidFill>
          <a:ln w="12700">
            <a:solidFill>
              <a:srgbClr val="1F7A6E"/>
            </a:solidFill>
            <a:prstDash val="solid"/>
          </a:ln>
        </p:spPr>
        <p:txBody>
          <a:bodyPr/>
          <a:lstStyle/>
          <a:p>
            <a:endParaRPr lang="en-PR"/>
          </a:p>
        </p:txBody>
      </p:sp>
      <p:sp>
        <p:nvSpPr>
          <p:cNvPr id="14" name="Text 12"/>
          <p:cNvSpPr txBox="1"/>
          <p:nvPr/>
        </p:nvSpPr>
        <p:spPr>
          <a:xfrm>
            <a:off x="2889504" y="5486400"/>
            <a:ext cx="1600200" cy="329184"/>
          </a:xfrm>
          <a:prstGeom prst="rect">
            <a:avLst/>
          </a:prstGeom>
          <a:noFill/>
          <a:ln/>
        </p:spPr>
        <p:txBody>
          <a:bodyPr wrap="square" lIns="0" tIns="0" rIns="0" bIns="0" rtlCol="0" anchor="ctr"/>
          <a:lstStyle/>
          <a:p>
            <a:pPr marL="0" indent="0">
              <a:buNone/>
            </a:pPr>
            <a:r>
              <a:rPr lang="en-US" sz="1600" b="1" dirty="0">
                <a:solidFill>
                  <a:srgbClr val="1F7A6E"/>
                </a:solidFill>
                <a:latin typeface="Calibri" pitchFamily="34" charset="0"/>
                <a:ea typeface="Calibri" pitchFamily="34" charset="-122"/>
                <a:cs typeface="Calibri" pitchFamily="34" charset="-120"/>
              </a:rPr>
              <a:t>Contexto</a:t>
            </a:r>
            <a:endParaRPr lang="en-US" sz="1600" dirty="0"/>
          </a:p>
        </p:txBody>
      </p:sp>
      <p:sp>
        <p:nvSpPr>
          <p:cNvPr id="15" name="Shape 13"/>
          <p:cNvSpPr/>
          <p:nvPr/>
        </p:nvSpPr>
        <p:spPr>
          <a:xfrm>
            <a:off x="4590288" y="5541264"/>
            <a:ext cx="219456" cy="219456"/>
          </a:xfrm>
          <a:prstGeom prst="ellipse">
            <a:avLst/>
          </a:prstGeom>
          <a:solidFill>
            <a:srgbClr val="8A6D0F"/>
          </a:solidFill>
          <a:ln w="12700">
            <a:solidFill>
              <a:srgbClr val="8A6D0F"/>
            </a:solidFill>
            <a:prstDash val="solid"/>
          </a:ln>
        </p:spPr>
        <p:txBody>
          <a:bodyPr/>
          <a:lstStyle/>
          <a:p>
            <a:endParaRPr lang="en-PR"/>
          </a:p>
        </p:txBody>
      </p:sp>
      <p:sp>
        <p:nvSpPr>
          <p:cNvPr id="16" name="Text 14"/>
          <p:cNvSpPr txBox="1"/>
          <p:nvPr/>
        </p:nvSpPr>
        <p:spPr>
          <a:xfrm>
            <a:off x="4901184" y="5486400"/>
            <a:ext cx="1600200" cy="329184"/>
          </a:xfrm>
          <a:prstGeom prst="rect">
            <a:avLst/>
          </a:prstGeom>
          <a:noFill/>
          <a:ln/>
        </p:spPr>
        <p:txBody>
          <a:bodyPr wrap="square" lIns="0" tIns="0" rIns="0" bIns="0" rtlCol="0" anchor="ctr"/>
          <a:lstStyle/>
          <a:p>
            <a:pPr marL="0" indent="0">
              <a:buNone/>
            </a:pPr>
            <a:r>
              <a:rPr lang="en-US" sz="1600" b="1" dirty="0">
                <a:solidFill>
                  <a:srgbClr val="8A6D0F"/>
                </a:solidFill>
                <a:latin typeface="Calibri" pitchFamily="34" charset="0"/>
                <a:ea typeface="Calibri" pitchFamily="34" charset="-122"/>
                <a:cs typeface="Calibri" pitchFamily="34" charset="-120"/>
              </a:rPr>
              <a:t>Tarea</a:t>
            </a:r>
            <a:endParaRPr lang="en-US" sz="1600" dirty="0"/>
          </a:p>
        </p:txBody>
      </p:sp>
      <p:sp>
        <p:nvSpPr>
          <p:cNvPr id="17" name="Shape 15"/>
          <p:cNvSpPr/>
          <p:nvPr/>
        </p:nvSpPr>
        <p:spPr>
          <a:xfrm>
            <a:off x="6601968" y="5541264"/>
            <a:ext cx="219456" cy="219456"/>
          </a:xfrm>
          <a:prstGeom prst="ellipse">
            <a:avLst/>
          </a:prstGeom>
          <a:solidFill>
            <a:srgbClr val="6C3483"/>
          </a:solidFill>
          <a:ln w="12700">
            <a:solidFill>
              <a:srgbClr val="6C3483"/>
            </a:solidFill>
            <a:prstDash val="solid"/>
          </a:ln>
        </p:spPr>
        <p:txBody>
          <a:bodyPr/>
          <a:lstStyle/>
          <a:p>
            <a:endParaRPr lang="en-PR"/>
          </a:p>
        </p:txBody>
      </p:sp>
      <p:sp>
        <p:nvSpPr>
          <p:cNvPr id="18" name="Text 16"/>
          <p:cNvSpPr txBox="1"/>
          <p:nvPr/>
        </p:nvSpPr>
        <p:spPr>
          <a:xfrm>
            <a:off x="6912864" y="5486400"/>
            <a:ext cx="1600200" cy="329184"/>
          </a:xfrm>
          <a:prstGeom prst="rect">
            <a:avLst/>
          </a:prstGeom>
          <a:noFill/>
          <a:ln/>
        </p:spPr>
        <p:txBody>
          <a:bodyPr wrap="square" lIns="0" tIns="0" rIns="0" bIns="0" rtlCol="0" anchor="ctr"/>
          <a:lstStyle/>
          <a:p>
            <a:pPr marL="0" indent="0">
              <a:buNone/>
            </a:pPr>
            <a:r>
              <a:rPr lang="en-US" sz="1600" b="1" dirty="0">
                <a:solidFill>
                  <a:srgbClr val="6C3483"/>
                </a:solidFill>
                <a:latin typeface="Calibri" pitchFamily="34" charset="0"/>
                <a:ea typeface="Calibri" pitchFamily="34" charset="-122"/>
                <a:cs typeface="Calibri" pitchFamily="34" charset="-120"/>
              </a:rPr>
              <a:t>Tono</a:t>
            </a:r>
            <a:endParaRPr lang="en-US" sz="1600" dirty="0"/>
          </a:p>
        </p:txBody>
      </p:sp>
      <p:sp>
        <p:nvSpPr>
          <p:cNvPr id="19" name="Shape 17"/>
          <p:cNvSpPr/>
          <p:nvPr/>
        </p:nvSpPr>
        <p:spPr>
          <a:xfrm>
            <a:off x="8613648" y="5541264"/>
            <a:ext cx="219456" cy="219456"/>
          </a:xfrm>
          <a:prstGeom prst="ellipse">
            <a:avLst/>
          </a:prstGeom>
          <a:solidFill>
            <a:srgbClr val="A0392B"/>
          </a:solidFill>
          <a:ln w="12700">
            <a:solidFill>
              <a:srgbClr val="A0392B"/>
            </a:solidFill>
            <a:prstDash val="solid"/>
          </a:ln>
        </p:spPr>
        <p:txBody>
          <a:bodyPr/>
          <a:lstStyle/>
          <a:p>
            <a:endParaRPr lang="en-PR"/>
          </a:p>
        </p:txBody>
      </p:sp>
      <p:sp>
        <p:nvSpPr>
          <p:cNvPr id="20" name="Text 18"/>
          <p:cNvSpPr txBox="1"/>
          <p:nvPr/>
        </p:nvSpPr>
        <p:spPr>
          <a:xfrm>
            <a:off x="8924544" y="5486400"/>
            <a:ext cx="1600200" cy="329184"/>
          </a:xfrm>
          <a:prstGeom prst="rect">
            <a:avLst/>
          </a:prstGeom>
          <a:noFill/>
          <a:ln/>
        </p:spPr>
        <p:txBody>
          <a:bodyPr wrap="square" lIns="0" tIns="0" rIns="0" bIns="0" rtlCol="0" anchor="ctr"/>
          <a:lstStyle/>
          <a:p>
            <a:pPr marL="0" indent="0">
              <a:buNone/>
            </a:pPr>
            <a:r>
              <a:rPr lang="en-US" sz="1600" b="1" dirty="0">
                <a:solidFill>
                  <a:srgbClr val="A0392B"/>
                </a:solidFill>
                <a:latin typeface="Calibri" pitchFamily="34" charset="0"/>
                <a:ea typeface="Calibri" pitchFamily="34" charset="-122"/>
                <a:cs typeface="Calibri" pitchFamily="34" charset="-120"/>
              </a:rPr>
              <a:t>Formato</a:t>
            </a:r>
            <a:endParaRPr lang="en-US" sz="1600" dirty="0"/>
          </a:p>
        </p:txBody>
      </p:sp>
      <p:sp>
        <p:nvSpPr>
          <p:cNvPr id="21" name="Text 19"/>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2" name="Text 20"/>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17</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EJEMPLOS RC-TTF · 2 DE 7</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Ciencias (cont.)</a:t>
            </a:r>
            <a:endParaRPr lang="en-US" sz="3000" dirty="0"/>
          </a:p>
        </p:txBody>
      </p:sp>
      <p:sp>
        <p:nvSpPr>
          <p:cNvPr id="4" name="Shape 2"/>
          <p:cNvSpPr/>
          <p:nvPr/>
        </p:nvSpPr>
        <p:spPr>
          <a:xfrm>
            <a:off x="566928" y="1426464"/>
            <a:ext cx="11057839" cy="3840480"/>
          </a:xfrm>
          <a:prstGeom prst="roundRect">
            <a:avLst>
              <a:gd name="adj" fmla="val 2143"/>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59536" y="1627632"/>
            <a:ext cx="2148840" cy="347472"/>
          </a:xfrm>
          <a:prstGeom prst="roundRect">
            <a:avLst>
              <a:gd name="adj" fmla="val 50000"/>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59536" y="1627632"/>
            <a:ext cx="2148840" cy="347472"/>
          </a:xfrm>
          <a:prstGeom prst="rect">
            <a:avLst/>
          </a:prstGeom>
          <a:noFill/>
          <a:ln/>
        </p:spPr>
        <p:txBody>
          <a:bodyPr wrap="square" lIns="0" tIns="0" rIns="0" bIns="0" rtlCol="0" anchor="ctr"/>
          <a:lstStyle/>
          <a:p>
            <a:pPr marL="0" indent="0" algn="ctr">
              <a:buNone/>
            </a:pPr>
            <a:r>
              <a:rPr lang="en-US" sz="1600" b="1" kern="0" spc="40" dirty="0">
                <a:solidFill>
                  <a:srgbClr val="FFFFFF"/>
                </a:solidFill>
                <a:latin typeface="Calibri" pitchFamily="34" charset="0"/>
                <a:ea typeface="Calibri" pitchFamily="34" charset="-122"/>
                <a:cs typeface="Calibri" pitchFamily="34" charset="-120"/>
              </a:rPr>
              <a:t>9.º a 12.º GRADO</a:t>
            </a:r>
            <a:endParaRPr lang="en-US" sz="1600" dirty="0"/>
          </a:p>
        </p:txBody>
      </p:sp>
      <p:sp>
        <p:nvSpPr>
          <p:cNvPr id="7" name="Text 5"/>
          <p:cNvSpPr txBox="1"/>
          <p:nvPr/>
        </p:nvSpPr>
        <p:spPr>
          <a:xfrm>
            <a:off x="3172968" y="1627632"/>
            <a:ext cx="7772400" cy="347472"/>
          </a:xfrm>
          <a:prstGeom prst="rect">
            <a:avLst/>
          </a:prstGeom>
          <a:noFill/>
          <a:ln/>
        </p:spPr>
        <p:txBody>
          <a:bodyPr wrap="square" lIns="0" tIns="0" rIns="0" bIns="0" rtlCol="0" anchor="ctr"/>
          <a:lstStyle/>
          <a:p>
            <a:pPr marL="0" indent="0">
              <a:buNone/>
            </a:pPr>
            <a:r>
              <a:rPr lang="en-US" sz="1700" i="1" dirty="0">
                <a:solidFill>
                  <a:srgbClr val="5A6478"/>
                </a:solidFill>
                <a:latin typeface="Calibri" pitchFamily="34" charset="0"/>
                <a:ea typeface="Calibri" pitchFamily="34" charset="-122"/>
                <a:cs typeface="Calibri" pitchFamily="34" charset="-120"/>
              </a:rPr>
              <a:t>Mitosis y meiosis</a:t>
            </a:r>
            <a:endParaRPr lang="en-US" sz="1700" dirty="0"/>
          </a:p>
        </p:txBody>
      </p:sp>
      <p:sp>
        <p:nvSpPr>
          <p:cNvPr id="8" name="Text 6"/>
          <p:cNvSpPr txBox="1"/>
          <p:nvPr/>
        </p:nvSpPr>
        <p:spPr>
          <a:xfrm>
            <a:off x="859536" y="2084832"/>
            <a:ext cx="10469880" cy="2148840"/>
          </a:xfrm>
          <a:prstGeom prst="rect">
            <a:avLst/>
          </a:prstGeom>
          <a:noFill/>
          <a:ln/>
        </p:spPr>
        <p:txBody>
          <a:bodyPr wrap="square" lIns="0" tIns="0" rIns="0" bIns="0" rtlCol="0" anchor="t"/>
          <a:lstStyle/>
          <a:p>
            <a:pPr marL="0" indent="0">
              <a:lnSpc>
                <a:spcPts val="2600"/>
              </a:lnSpc>
              <a:buNone/>
            </a:pPr>
            <a:r>
              <a:rPr lang="en-US" sz="1800" dirty="0">
                <a:solidFill>
                  <a:srgbClr val="1B2A4A"/>
                </a:solidFill>
                <a:latin typeface="Calibri" pitchFamily="34" charset="0"/>
                <a:ea typeface="Calibri" pitchFamily="34" charset="-122"/>
                <a:cs typeface="Calibri" pitchFamily="34" charset="-120"/>
              </a:rPr>
              <a:t>Actúa como maestro de Biología de escuela superior alineado a los estándares del DEPR. </a:t>
            </a:r>
            <a:r>
              <a:rPr lang="en-US" sz="1800" dirty="0">
                <a:solidFill>
                  <a:srgbClr val="1F7A6E"/>
                </a:solidFill>
                <a:latin typeface="Calibri" pitchFamily="34" charset="0"/>
                <a:ea typeface="Calibri" pitchFamily="34" charset="-122"/>
                <a:cs typeface="Calibri" pitchFamily="34" charset="-120"/>
              </a:rPr>
              <a:t>Mis estudiantes de 10.º grado confunden mitosis con meiosis año tras año, incluso después de estudiar el diagrama. </a:t>
            </a:r>
            <a:r>
              <a:rPr lang="en-US" sz="1800" dirty="0">
                <a:solidFill>
                  <a:srgbClr val="8A6D0F"/>
                </a:solidFill>
                <a:latin typeface="Calibri" pitchFamily="34" charset="0"/>
                <a:ea typeface="Calibri" pitchFamily="34" charset="-122"/>
                <a:cs typeface="Calibri" pitchFamily="34" charset="-120"/>
              </a:rPr>
              <a:t>Crea un organizador comparativo y tres preguntas de discrepancia que obliguen a distinguir ambos procesos, usando el mosquito Aedes aegypti como ejemplo local. </a:t>
            </a:r>
            <a:r>
              <a:rPr lang="en-US" sz="1800" dirty="0">
                <a:solidFill>
                  <a:srgbClr val="6C3483"/>
                </a:solidFill>
                <a:latin typeface="Calibri" pitchFamily="34" charset="0"/>
                <a:ea typeface="Calibri" pitchFamily="34" charset="-122"/>
                <a:cs typeface="Calibri" pitchFamily="34" charset="-120"/>
              </a:rPr>
              <a:t>Tono directo y preciso. </a:t>
            </a:r>
            <a:r>
              <a:rPr lang="en-US" sz="1800" dirty="0">
                <a:solidFill>
                  <a:srgbClr val="A0392B"/>
                </a:solidFill>
                <a:latin typeface="Calibri" pitchFamily="34" charset="0"/>
                <a:ea typeface="Calibri" pitchFamily="34" charset="-122"/>
                <a:cs typeface="Calibri" pitchFamily="34" charset="-120"/>
              </a:rPr>
              <a:t>Tabla comparativa, seguida de las preguntas con la respuesta esperada.</a:t>
            </a:r>
            <a:endParaRPr lang="en-US" sz="1800" dirty="0"/>
          </a:p>
        </p:txBody>
      </p:sp>
      <p:sp>
        <p:nvSpPr>
          <p:cNvPr id="9" name="Text 7"/>
          <p:cNvSpPr txBox="1"/>
          <p:nvPr/>
        </p:nvSpPr>
        <p:spPr>
          <a:xfrm>
            <a:off x="859536" y="4315968"/>
            <a:ext cx="4846320" cy="256032"/>
          </a:xfrm>
          <a:prstGeom prst="rect">
            <a:avLst/>
          </a:prstGeom>
          <a:noFill/>
          <a:ln/>
        </p:spPr>
        <p:txBody>
          <a:bodyPr wrap="square" lIns="0" tIns="0" rIns="0" bIns="0" rtlCol="0" anchor="ctr"/>
          <a:lstStyle/>
          <a:p>
            <a:pPr marL="0" indent="0">
              <a:buNone/>
            </a:pPr>
            <a:r>
              <a:rPr lang="en-US" sz="1600" b="1" kern="0" spc="120" dirty="0">
                <a:solidFill>
                  <a:srgbClr val="2A9D8F"/>
                </a:solidFill>
                <a:latin typeface="Calibri" pitchFamily="34" charset="0"/>
                <a:ea typeface="Calibri" pitchFamily="34" charset="-122"/>
                <a:cs typeface="Calibri" pitchFamily="34" charset="-120"/>
              </a:rPr>
              <a:t>QUÉ LOGRA</a:t>
            </a:r>
            <a:endParaRPr lang="en-US" sz="1600" dirty="0"/>
          </a:p>
        </p:txBody>
      </p:sp>
      <p:sp>
        <p:nvSpPr>
          <p:cNvPr id="10" name="Text 8"/>
          <p:cNvSpPr txBox="1"/>
          <p:nvPr/>
        </p:nvSpPr>
        <p:spPr>
          <a:xfrm>
            <a:off x="859536" y="4590288"/>
            <a:ext cx="10469880" cy="621792"/>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Nombrar la confusión específica en el contexto orienta la respuesta hacia la discriminación conceptual, no hacia otro resumen del tema.</a:t>
            </a:r>
            <a:endParaRPr lang="en-US" sz="1700" dirty="0"/>
          </a:p>
        </p:txBody>
      </p:sp>
      <p:sp>
        <p:nvSpPr>
          <p:cNvPr id="11" name="Shape 9"/>
          <p:cNvSpPr/>
          <p:nvPr/>
        </p:nvSpPr>
        <p:spPr>
          <a:xfrm>
            <a:off x="566928" y="5541264"/>
            <a:ext cx="219456" cy="219456"/>
          </a:xfrm>
          <a:prstGeom prst="ellipse">
            <a:avLst/>
          </a:prstGeom>
          <a:solidFill>
            <a:srgbClr val="1B2A4A"/>
          </a:solidFill>
          <a:ln w="12700">
            <a:solidFill>
              <a:srgbClr val="1B2A4A"/>
            </a:solidFill>
            <a:prstDash val="solid"/>
          </a:ln>
        </p:spPr>
        <p:txBody>
          <a:bodyPr/>
          <a:lstStyle/>
          <a:p>
            <a:endParaRPr lang="en-PR"/>
          </a:p>
        </p:txBody>
      </p:sp>
      <p:sp>
        <p:nvSpPr>
          <p:cNvPr id="12" name="Text 10"/>
          <p:cNvSpPr txBox="1"/>
          <p:nvPr/>
        </p:nvSpPr>
        <p:spPr>
          <a:xfrm>
            <a:off x="877824" y="5486400"/>
            <a:ext cx="1600200" cy="329184"/>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Rol</a:t>
            </a:r>
            <a:endParaRPr lang="en-US" sz="1600" dirty="0"/>
          </a:p>
        </p:txBody>
      </p:sp>
      <p:sp>
        <p:nvSpPr>
          <p:cNvPr id="13" name="Shape 11"/>
          <p:cNvSpPr/>
          <p:nvPr/>
        </p:nvSpPr>
        <p:spPr>
          <a:xfrm>
            <a:off x="2578608" y="5541264"/>
            <a:ext cx="219456" cy="219456"/>
          </a:xfrm>
          <a:prstGeom prst="ellipse">
            <a:avLst/>
          </a:prstGeom>
          <a:solidFill>
            <a:srgbClr val="1F7A6E"/>
          </a:solidFill>
          <a:ln w="12700">
            <a:solidFill>
              <a:srgbClr val="1F7A6E"/>
            </a:solidFill>
            <a:prstDash val="solid"/>
          </a:ln>
        </p:spPr>
        <p:txBody>
          <a:bodyPr/>
          <a:lstStyle/>
          <a:p>
            <a:endParaRPr lang="en-PR"/>
          </a:p>
        </p:txBody>
      </p:sp>
      <p:sp>
        <p:nvSpPr>
          <p:cNvPr id="14" name="Text 12"/>
          <p:cNvSpPr txBox="1"/>
          <p:nvPr/>
        </p:nvSpPr>
        <p:spPr>
          <a:xfrm>
            <a:off x="2889504" y="5486400"/>
            <a:ext cx="1600200" cy="329184"/>
          </a:xfrm>
          <a:prstGeom prst="rect">
            <a:avLst/>
          </a:prstGeom>
          <a:noFill/>
          <a:ln/>
        </p:spPr>
        <p:txBody>
          <a:bodyPr wrap="square" lIns="0" tIns="0" rIns="0" bIns="0" rtlCol="0" anchor="ctr"/>
          <a:lstStyle/>
          <a:p>
            <a:pPr marL="0" indent="0">
              <a:buNone/>
            </a:pPr>
            <a:r>
              <a:rPr lang="en-US" sz="1600" b="1" dirty="0">
                <a:solidFill>
                  <a:srgbClr val="1F7A6E"/>
                </a:solidFill>
                <a:latin typeface="Calibri" pitchFamily="34" charset="0"/>
                <a:ea typeface="Calibri" pitchFamily="34" charset="-122"/>
                <a:cs typeface="Calibri" pitchFamily="34" charset="-120"/>
              </a:rPr>
              <a:t>Contexto</a:t>
            </a:r>
            <a:endParaRPr lang="en-US" sz="1600" dirty="0"/>
          </a:p>
        </p:txBody>
      </p:sp>
      <p:sp>
        <p:nvSpPr>
          <p:cNvPr id="15" name="Shape 13"/>
          <p:cNvSpPr/>
          <p:nvPr/>
        </p:nvSpPr>
        <p:spPr>
          <a:xfrm>
            <a:off x="4590288" y="5541264"/>
            <a:ext cx="219456" cy="219456"/>
          </a:xfrm>
          <a:prstGeom prst="ellipse">
            <a:avLst/>
          </a:prstGeom>
          <a:solidFill>
            <a:srgbClr val="8A6D0F"/>
          </a:solidFill>
          <a:ln w="12700">
            <a:solidFill>
              <a:srgbClr val="8A6D0F"/>
            </a:solidFill>
            <a:prstDash val="solid"/>
          </a:ln>
        </p:spPr>
        <p:txBody>
          <a:bodyPr/>
          <a:lstStyle/>
          <a:p>
            <a:endParaRPr lang="en-PR"/>
          </a:p>
        </p:txBody>
      </p:sp>
      <p:sp>
        <p:nvSpPr>
          <p:cNvPr id="16" name="Text 14"/>
          <p:cNvSpPr txBox="1"/>
          <p:nvPr/>
        </p:nvSpPr>
        <p:spPr>
          <a:xfrm>
            <a:off x="4901184" y="5486400"/>
            <a:ext cx="1600200" cy="329184"/>
          </a:xfrm>
          <a:prstGeom prst="rect">
            <a:avLst/>
          </a:prstGeom>
          <a:noFill/>
          <a:ln/>
        </p:spPr>
        <p:txBody>
          <a:bodyPr wrap="square" lIns="0" tIns="0" rIns="0" bIns="0" rtlCol="0" anchor="ctr"/>
          <a:lstStyle/>
          <a:p>
            <a:pPr marL="0" indent="0">
              <a:buNone/>
            </a:pPr>
            <a:r>
              <a:rPr lang="en-US" sz="1600" b="1" dirty="0">
                <a:solidFill>
                  <a:srgbClr val="8A6D0F"/>
                </a:solidFill>
                <a:latin typeface="Calibri" pitchFamily="34" charset="0"/>
                <a:ea typeface="Calibri" pitchFamily="34" charset="-122"/>
                <a:cs typeface="Calibri" pitchFamily="34" charset="-120"/>
              </a:rPr>
              <a:t>Tarea</a:t>
            </a:r>
            <a:endParaRPr lang="en-US" sz="1600" dirty="0"/>
          </a:p>
        </p:txBody>
      </p:sp>
      <p:sp>
        <p:nvSpPr>
          <p:cNvPr id="17" name="Shape 15"/>
          <p:cNvSpPr/>
          <p:nvPr/>
        </p:nvSpPr>
        <p:spPr>
          <a:xfrm>
            <a:off x="6601968" y="5541264"/>
            <a:ext cx="219456" cy="219456"/>
          </a:xfrm>
          <a:prstGeom prst="ellipse">
            <a:avLst/>
          </a:prstGeom>
          <a:solidFill>
            <a:srgbClr val="6C3483"/>
          </a:solidFill>
          <a:ln w="12700">
            <a:solidFill>
              <a:srgbClr val="6C3483"/>
            </a:solidFill>
            <a:prstDash val="solid"/>
          </a:ln>
        </p:spPr>
        <p:txBody>
          <a:bodyPr/>
          <a:lstStyle/>
          <a:p>
            <a:endParaRPr lang="en-PR"/>
          </a:p>
        </p:txBody>
      </p:sp>
      <p:sp>
        <p:nvSpPr>
          <p:cNvPr id="18" name="Text 16"/>
          <p:cNvSpPr txBox="1"/>
          <p:nvPr/>
        </p:nvSpPr>
        <p:spPr>
          <a:xfrm>
            <a:off x="6912864" y="5486400"/>
            <a:ext cx="1600200" cy="329184"/>
          </a:xfrm>
          <a:prstGeom prst="rect">
            <a:avLst/>
          </a:prstGeom>
          <a:noFill/>
          <a:ln/>
        </p:spPr>
        <p:txBody>
          <a:bodyPr wrap="square" lIns="0" tIns="0" rIns="0" bIns="0" rtlCol="0" anchor="ctr"/>
          <a:lstStyle/>
          <a:p>
            <a:pPr marL="0" indent="0">
              <a:buNone/>
            </a:pPr>
            <a:r>
              <a:rPr lang="en-US" sz="1600" b="1" dirty="0">
                <a:solidFill>
                  <a:srgbClr val="6C3483"/>
                </a:solidFill>
                <a:latin typeface="Calibri" pitchFamily="34" charset="0"/>
                <a:ea typeface="Calibri" pitchFamily="34" charset="-122"/>
                <a:cs typeface="Calibri" pitchFamily="34" charset="-120"/>
              </a:rPr>
              <a:t>Tono</a:t>
            </a:r>
            <a:endParaRPr lang="en-US" sz="1600" dirty="0"/>
          </a:p>
        </p:txBody>
      </p:sp>
      <p:sp>
        <p:nvSpPr>
          <p:cNvPr id="19" name="Shape 17"/>
          <p:cNvSpPr/>
          <p:nvPr/>
        </p:nvSpPr>
        <p:spPr>
          <a:xfrm>
            <a:off x="8613648" y="5541264"/>
            <a:ext cx="219456" cy="219456"/>
          </a:xfrm>
          <a:prstGeom prst="ellipse">
            <a:avLst/>
          </a:prstGeom>
          <a:solidFill>
            <a:srgbClr val="A0392B"/>
          </a:solidFill>
          <a:ln w="12700">
            <a:solidFill>
              <a:srgbClr val="A0392B"/>
            </a:solidFill>
            <a:prstDash val="solid"/>
          </a:ln>
        </p:spPr>
        <p:txBody>
          <a:bodyPr/>
          <a:lstStyle/>
          <a:p>
            <a:endParaRPr lang="en-PR"/>
          </a:p>
        </p:txBody>
      </p:sp>
      <p:sp>
        <p:nvSpPr>
          <p:cNvPr id="20" name="Text 18"/>
          <p:cNvSpPr txBox="1"/>
          <p:nvPr/>
        </p:nvSpPr>
        <p:spPr>
          <a:xfrm>
            <a:off x="8924544" y="5486400"/>
            <a:ext cx="1600200" cy="329184"/>
          </a:xfrm>
          <a:prstGeom prst="rect">
            <a:avLst/>
          </a:prstGeom>
          <a:noFill/>
          <a:ln/>
        </p:spPr>
        <p:txBody>
          <a:bodyPr wrap="square" lIns="0" tIns="0" rIns="0" bIns="0" rtlCol="0" anchor="ctr"/>
          <a:lstStyle/>
          <a:p>
            <a:pPr marL="0" indent="0">
              <a:buNone/>
            </a:pPr>
            <a:r>
              <a:rPr lang="en-US" sz="1600" b="1" dirty="0">
                <a:solidFill>
                  <a:srgbClr val="A0392B"/>
                </a:solidFill>
                <a:latin typeface="Calibri" pitchFamily="34" charset="0"/>
                <a:ea typeface="Calibri" pitchFamily="34" charset="-122"/>
                <a:cs typeface="Calibri" pitchFamily="34" charset="-120"/>
              </a:rPr>
              <a:t>Formato</a:t>
            </a:r>
            <a:endParaRPr lang="en-US" sz="1600" dirty="0"/>
          </a:p>
        </p:txBody>
      </p:sp>
      <p:sp>
        <p:nvSpPr>
          <p:cNvPr id="21" name="Text 19"/>
          <p:cNvSpPr txBox="1"/>
          <p:nvPr/>
        </p:nvSpPr>
        <p:spPr>
          <a:xfrm>
            <a:off x="566928" y="5925312"/>
            <a:ext cx="11057839" cy="310896"/>
          </a:xfrm>
          <a:prstGeom prst="rect">
            <a:avLst/>
          </a:prstGeom>
          <a:noFill/>
          <a:ln/>
        </p:spPr>
        <p:txBody>
          <a:bodyPr wrap="square" lIns="0" tIns="0" rIns="0" bIns="0" rtlCol="0" anchor="ctr"/>
          <a:lstStyle/>
          <a:p>
            <a:pPr marL="0" indent="0" algn="r">
              <a:buNone/>
            </a:pPr>
            <a:r>
              <a:rPr lang="en-US" sz="1600" i="1" dirty="0">
                <a:solidFill>
                  <a:srgbClr val="5A6478"/>
                </a:solidFill>
                <a:latin typeface="Calibri" pitchFamily="34" charset="0"/>
                <a:ea typeface="Calibri" pitchFamily="34" charset="-122"/>
                <a:cs typeface="Calibri" pitchFamily="34" charset="-120"/>
              </a:rPr>
              <a:t>Contraste todo dato biológico con una fuente primaria.</a:t>
            </a:r>
            <a:endParaRPr lang="en-US" sz="1600" dirty="0"/>
          </a:p>
        </p:txBody>
      </p:sp>
      <p:sp>
        <p:nvSpPr>
          <p:cNvPr id="22" name="Text 20"/>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3" name="Text 21"/>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18</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EJEMPLOS RC-TTF · 3 DE 7</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Inglés</a:t>
            </a:r>
            <a:endParaRPr lang="en-US" sz="3000" dirty="0"/>
          </a:p>
        </p:txBody>
      </p:sp>
      <p:sp>
        <p:nvSpPr>
          <p:cNvPr id="4" name="Shape 2"/>
          <p:cNvSpPr/>
          <p:nvPr/>
        </p:nvSpPr>
        <p:spPr>
          <a:xfrm>
            <a:off x="566928" y="1426464"/>
            <a:ext cx="11057839" cy="3840480"/>
          </a:xfrm>
          <a:prstGeom prst="roundRect">
            <a:avLst>
              <a:gd name="adj" fmla="val 2143"/>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59536" y="1627632"/>
            <a:ext cx="2148840" cy="347472"/>
          </a:xfrm>
          <a:prstGeom prst="roundRect">
            <a:avLst>
              <a:gd name="adj" fmla="val 50000"/>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59536" y="1627632"/>
            <a:ext cx="2148840" cy="347472"/>
          </a:xfrm>
          <a:prstGeom prst="rect">
            <a:avLst/>
          </a:prstGeom>
          <a:noFill/>
          <a:ln/>
        </p:spPr>
        <p:txBody>
          <a:bodyPr wrap="square" lIns="0" tIns="0" rIns="0" bIns="0" rtlCol="0" anchor="ctr"/>
          <a:lstStyle/>
          <a:p>
            <a:pPr marL="0" indent="0" algn="ctr">
              <a:buNone/>
            </a:pPr>
            <a:r>
              <a:rPr lang="en-US" sz="1600" b="1" kern="0" spc="40" dirty="0">
                <a:solidFill>
                  <a:srgbClr val="FFFFFF"/>
                </a:solidFill>
                <a:latin typeface="Calibri" pitchFamily="34" charset="0"/>
                <a:ea typeface="Calibri" pitchFamily="34" charset="-122"/>
                <a:cs typeface="Calibri" pitchFamily="34" charset="-120"/>
              </a:rPr>
              <a:t>6.º a 8.º GRADO</a:t>
            </a:r>
            <a:endParaRPr lang="en-US" sz="1600" dirty="0"/>
          </a:p>
        </p:txBody>
      </p:sp>
      <p:sp>
        <p:nvSpPr>
          <p:cNvPr id="7" name="Text 5"/>
          <p:cNvSpPr txBox="1"/>
          <p:nvPr/>
        </p:nvSpPr>
        <p:spPr>
          <a:xfrm>
            <a:off x="3172968" y="1627632"/>
            <a:ext cx="7772400" cy="347472"/>
          </a:xfrm>
          <a:prstGeom prst="rect">
            <a:avLst/>
          </a:prstGeom>
          <a:noFill/>
          <a:ln/>
        </p:spPr>
        <p:txBody>
          <a:bodyPr wrap="square" lIns="0" tIns="0" rIns="0" bIns="0" rtlCol="0" anchor="ctr"/>
          <a:lstStyle/>
          <a:p>
            <a:pPr marL="0" indent="0">
              <a:buNone/>
            </a:pPr>
            <a:r>
              <a:rPr lang="en-US" sz="1700" i="1" dirty="0">
                <a:solidFill>
                  <a:srgbClr val="5A6478"/>
                </a:solidFill>
                <a:latin typeface="Calibri" pitchFamily="34" charset="0"/>
                <a:ea typeface="Calibri" pitchFamily="34" charset="-122"/>
                <a:cs typeface="Calibri" pitchFamily="34" charset="-120"/>
              </a:rPr>
              <a:t>Producción oral con baja ansiedad</a:t>
            </a:r>
            <a:endParaRPr lang="en-US" sz="1700" dirty="0"/>
          </a:p>
        </p:txBody>
      </p:sp>
      <p:sp>
        <p:nvSpPr>
          <p:cNvPr id="8" name="Text 6"/>
          <p:cNvSpPr txBox="1"/>
          <p:nvPr/>
        </p:nvSpPr>
        <p:spPr>
          <a:xfrm>
            <a:off x="859536" y="2084832"/>
            <a:ext cx="10469880" cy="2148840"/>
          </a:xfrm>
          <a:prstGeom prst="rect">
            <a:avLst/>
          </a:prstGeom>
          <a:noFill/>
          <a:ln/>
        </p:spPr>
        <p:txBody>
          <a:bodyPr wrap="square" lIns="0" tIns="0" rIns="0" bIns="0" rtlCol="0" anchor="t"/>
          <a:lstStyle/>
          <a:p>
            <a:pPr marL="0" indent="0">
              <a:lnSpc>
                <a:spcPts val="2600"/>
              </a:lnSpc>
              <a:buNone/>
            </a:pPr>
            <a:r>
              <a:rPr lang="en-US" sz="1800" dirty="0">
                <a:solidFill>
                  <a:srgbClr val="1B2A4A"/>
                </a:solidFill>
                <a:latin typeface="Calibri" pitchFamily="34" charset="0"/>
                <a:ea typeface="Calibri" pitchFamily="34" charset="-122"/>
                <a:cs typeface="Calibri" pitchFamily="34" charset="-120"/>
              </a:rPr>
              <a:t>Act as a middle school ESL teacher working with Spanish-dominant students. </a:t>
            </a:r>
            <a:r>
              <a:rPr lang="en-US" sz="1800" dirty="0">
                <a:solidFill>
                  <a:srgbClr val="1F7A6E"/>
                </a:solidFill>
                <a:latin typeface="Calibri" pitchFamily="34" charset="0"/>
                <a:ea typeface="Calibri" pitchFamily="34" charset="-122"/>
                <a:cs typeface="Calibri" pitchFamily="34" charset="-120"/>
              </a:rPr>
              <a:t>My 6th graders in Ponce can read simple English but freeze when they have to speak in front of others. </a:t>
            </a:r>
            <a:r>
              <a:rPr lang="en-US" sz="1800" dirty="0">
                <a:solidFill>
                  <a:srgbClr val="8A6D0F"/>
                </a:solidFill>
                <a:latin typeface="Calibri" pitchFamily="34" charset="0"/>
                <a:ea typeface="Calibri" pitchFamily="34" charset="-122"/>
                <a:cs typeface="Calibri" pitchFamily="34" charset="-120"/>
              </a:rPr>
              <a:t>Design five low-anxiety speaking routines of three minutes each, built around their everyday life in Puerto Rico. </a:t>
            </a:r>
            <a:r>
              <a:rPr lang="en-US" sz="1800" dirty="0">
                <a:solidFill>
                  <a:srgbClr val="6C3483"/>
                </a:solidFill>
                <a:latin typeface="Calibri" pitchFamily="34" charset="0"/>
                <a:ea typeface="Calibri" pitchFamily="34" charset="-122"/>
                <a:cs typeface="Calibri" pitchFamily="34" charset="-120"/>
              </a:rPr>
              <a:t>Use warm, encouraging language. </a:t>
            </a:r>
            <a:r>
              <a:rPr lang="en-US" sz="1800" dirty="0">
                <a:solidFill>
                  <a:srgbClr val="A0392B"/>
                </a:solidFill>
                <a:latin typeface="Calibri" pitchFamily="34" charset="0"/>
                <a:ea typeface="Calibri" pitchFamily="34" charset="-122"/>
                <a:cs typeface="Calibri" pitchFamily="34" charset="-120"/>
              </a:rPr>
              <a:t>Give me each routine with the teacher prompt, a sentence frame, and one follow-up question.</a:t>
            </a:r>
            <a:endParaRPr lang="en-US" sz="1800" dirty="0"/>
          </a:p>
        </p:txBody>
      </p:sp>
      <p:sp>
        <p:nvSpPr>
          <p:cNvPr id="9" name="Text 7"/>
          <p:cNvSpPr txBox="1"/>
          <p:nvPr/>
        </p:nvSpPr>
        <p:spPr>
          <a:xfrm>
            <a:off x="859536" y="4315968"/>
            <a:ext cx="4846320" cy="256032"/>
          </a:xfrm>
          <a:prstGeom prst="rect">
            <a:avLst/>
          </a:prstGeom>
          <a:noFill/>
          <a:ln/>
        </p:spPr>
        <p:txBody>
          <a:bodyPr wrap="square" lIns="0" tIns="0" rIns="0" bIns="0" rtlCol="0" anchor="ctr"/>
          <a:lstStyle/>
          <a:p>
            <a:pPr marL="0" indent="0">
              <a:buNone/>
            </a:pPr>
            <a:r>
              <a:rPr lang="en-US" sz="1600" b="1" kern="0" spc="120" dirty="0">
                <a:solidFill>
                  <a:srgbClr val="2A9D8F"/>
                </a:solidFill>
                <a:latin typeface="Calibri" pitchFamily="34" charset="0"/>
                <a:ea typeface="Calibri" pitchFamily="34" charset="-122"/>
                <a:cs typeface="Calibri" pitchFamily="34" charset="-120"/>
              </a:rPr>
              <a:t>QUÉ LOGRA</a:t>
            </a:r>
            <a:endParaRPr lang="en-US" sz="1600" dirty="0"/>
          </a:p>
        </p:txBody>
      </p:sp>
      <p:sp>
        <p:nvSpPr>
          <p:cNvPr id="10" name="Text 8"/>
          <p:cNvSpPr txBox="1"/>
          <p:nvPr/>
        </p:nvSpPr>
        <p:spPr>
          <a:xfrm>
            <a:off x="859536" y="4590288"/>
            <a:ext cx="10469880" cy="621792"/>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El marco de oración (sentence frame) baja la carga cognitiva; pedirlo explícitamente en el formato garantiza que aparezca.</a:t>
            </a:r>
            <a:endParaRPr lang="en-US" sz="1700" dirty="0"/>
          </a:p>
        </p:txBody>
      </p:sp>
      <p:sp>
        <p:nvSpPr>
          <p:cNvPr id="11" name="Shape 9"/>
          <p:cNvSpPr/>
          <p:nvPr/>
        </p:nvSpPr>
        <p:spPr>
          <a:xfrm>
            <a:off x="566928" y="5541264"/>
            <a:ext cx="219456" cy="219456"/>
          </a:xfrm>
          <a:prstGeom prst="ellipse">
            <a:avLst/>
          </a:prstGeom>
          <a:solidFill>
            <a:srgbClr val="1B2A4A"/>
          </a:solidFill>
          <a:ln w="12700">
            <a:solidFill>
              <a:srgbClr val="1B2A4A"/>
            </a:solidFill>
            <a:prstDash val="solid"/>
          </a:ln>
        </p:spPr>
        <p:txBody>
          <a:bodyPr/>
          <a:lstStyle/>
          <a:p>
            <a:endParaRPr lang="en-PR"/>
          </a:p>
        </p:txBody>
      </p:sp>
      <p:sp>
        <p:nvSpPr>
          <p:cNvPr id="12" name="Text 10"/>
          <p:cNvSpPr txBox="1"/>
          <p:nvPr/>
        </p:nvSpPr>
        <p:spPr>
          <a:xfrm>
            <a:off x="877824" y="5486400"/>
            <a:ext cx="1600200" cy="329184"/>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Rol</a:t>
            </a:r>
            <a:endParaRPr lang="en-US" sz="1600" dirty="0"/>
          </a:p>
        </p:txBody>
      </p:sp>
      <p:sp>
        <p:nvSpPr>
          <p:cNvPr id="13" name="Shape 11"/>
          <p:cNvSpPr/>
          <p:nvPr/>
        </p:nvSpPr>
        <p:spPr>
          <a:xfrm>
            <a:off x="2578608" y="5541264"/>
            <a:ext cx="219456" cy="219456"/>
          </a:xfrm>
          <a:prstGeom prst="ellipse">
            <a:avLst/>
          </a:prstGeom>
          <a:solidFill>
            <a:srgbClr val="1F7A6E"/>
          </a:solidFill>
          <a:ln w="12700">
            <a:solidFill>
              <a:srgbClr val="1F7A6E"/>
            </a:solidFill>
            <a:prstDash val="solid"/>
          </a:ln>
        </p:spPr>
        <p:txBody>
          <a:bodyPr/>
          <a:lstStyle/>
          <a:p>
            <a:endParaRPr lang="en-PR"/>
          </a:p>
        </p:txBody>
      </p:sp>
      <p:sp>
        <p:nvSpPr>
          <p:cNvPr id="14" name="Text 12"/>
          <p:cNvSpPr txBox="1"/>
          <p:nvPr/>
        </p:nvSpPr>
        <p:spPr>
          <a:xfrm>
            <a:off x="2889504" y="5486400"/>
            <a:ext cx="1600200" cy="329184"/>
          </a:xfrm>
          <a:prstGeom prst="rect">
            <a:avLst/>
          </a:prstGeom>
          <a:noFill/>
          <a:ln/>
        </p:spPr>
        <p:txBody>
          <a:bodyPr wrap="square" lIns="0" tIns="0" rIns="0" bIns="0" rtlCol="0" anchor="ctr"/>
          <a:lstStyle/>
          <a:p>
            <a:pPr marL="0" indent="0">
              <a:buNone/>
            </a:pPr>
            <a:r>
              <a:rPr lang="en-US" sz="1600" b="1" dirty="0">
                <a:solidFill>
                  <a:srgbClr val="1F7A6E"/>
                </a:solidFill>
                <a:latin typeface="Calibri" pitchFamily="34" charset="0"/>
                <a:ea typeface="Calibri" pitchFamily="34" charset="-122"/>
                <a:cs typeface="Calibri" pitchFamily="34" charset="-120"/>
              </a:rPr>
              <a:t>Contexto</a:t>
            </a:r>
            <a:endParaRPr lang="en-US" sz="1600" dirty="0"/>
          </a:p>
        </p:txBody>
      </p:sp>
      <p:sp>
        <p:nvSpPr>
          <p:cNvPr id="15" name="Shape 13"/>
          <p:cNvSpPr/>
          <p:nvPr/>
        </p:nvSpPr>
        <p:spPr>
          <a:xfrm>
            <a:off x="4590288" y="5541264"/>
            <a:ext cx="219456" cy="219456"/>
          </a:xfrm>
          <a:prstGeom prst="ellipse">
            <a:avLst/>
          </a:prstGeom>
          <a:solidFill>
            <a:srgbClr val="8A6D0F"/>
          </a:solidFill>
          <a:ln w="12700">
            <a:solidFill>
              <a:srgbClr val="8A6D0F"/>
            </a:solidFill>
            <a:prstDash val="solid"/>
          </a:ln>
        </p:spPr>
        <p:txBody>
          <a:bodyPr/>
          <a:lstStyle/>
          <a:p>
            <a:endParaRPr lang="en-PR"/>
          </a:p>
        </p:txBody>
      </p:sp>
      <p:sp>
        <p:nvSpPr>
          <p:cNvPr id="16" name="Text 14"/>
          <p:cNvSpPr txBox="1"/>
          <p:nvPr/>
        </p:nvSpPr>
        <p:spPr>
          <a:xfrm>
            <a:off x="4901184" y="5486400"/>
            <a:ext cx="1600200" cy="329184"/>
          </a:xfrm>
          <a:prstGeom prst="rect">
            <a:avLst/>
          </a:prstGeom>
          <a:noFill/>
          <a:ln/>
        </p:spPr>
        <p:txBody>
          <a:bodyPr wrap="square" lIns="0" tIns="0" rIns="0" bIns="0" rtlCol="0" anchor="ctr"/>
          <a:lstStyle/>
          <a:p>
            <a:pPr marL="0" indent="0">
              <a:buNone/>
            </a:pPr>
            <a:r>
              <a:rPr lang="en-US" sz="1600" b="1" dirty="0">
                <a:solidFill>
                  <a:srgbClr val="8A6D0F"/>
                </a:solidFill>
                <a:latin typeface="Calibri" pitchFamily="34" charset="0"/>
                <a:ea typeface="Calibri" pitchFamily="34" charset="-122"/>
                <a:cs typeface="Calibri" pitchFamily="34" charset="-120"/>
              </a:rPr>
              <a:t>Tarea</a:t>
            </a:r>
            <a:endParaRPr lang="en-US" sz="1600" dirty="0"/>
          </a:p>
        </p:txBody>
      </p:sp>
      <p:sp>
        <p:nvSpPr>
          <p:cNvPr id="17" name="Shape 15"/>
          <p:cNvSpPr/>
          <p:nvPr/>
        </p:nvSpPr>
        <p:spPr>
          <a:xfrm>
            <a:off x="6601968" y="5541264"/>
            <a:ext cx="219456" cy="219456"/>
          </a:xfrm>
          <a:prstGeom prst="ellipse">
            <a:avLst/>
          </a:prstGeom>
          <a:solidFill>
            <a:srgbClr val="6C3483"/>
          </a:solidFill>
          <a:ln w="12700">
            <a:solidFill>
              <a:srgbClr val="6C3483"/>
            </a:solidFill>
            <a:prstDash val="solid"/>
          </a:ln>
        </p:spPr>
        <p:txBody>
          <a:bodyPr/>
          <a:lstStyle/>
          <a:p>
            <a:endParaRPr lang="en-PR"/>
          </a:p>
        </p:txBody>
      </p:sp>
      <p:sp>
        <p:nvSpPr>
          <p:cNvPr id="18" name="Text 16"/>
          <p:cNvSpPr txBox="1"/>
          <p:nvPr/>
        </p:nvSpPr>
        <p:spPr>
          <a:xfrm>
            <a:off x="6912864" y="5486400"/>
            <a:ext cx="1600200" cy="329184"/>
          </a:xfrm>
          <a:prstGeom prst="rect">
            <a:avLst/>
          </a:prstGeom>
          <a:noFill/>
          <a:ln/>
        </p:spPr>
        <p:txBody>
          <a:bodyPr wrap="square" lIns="0" tIns="0" rIns="0" bIns="0" rtlCol="0" anchor="ctr"/>
          <a:lstStyle/>
          <a:p>
            <a:pPr marL="0" indent="0">
              <a:buNone/>
            </a:pPr>
            <a:r>
              <a:rPr lang="en-US" sz="1600" b="1" dirty="0">
                <a:solidFill>
                  <a:srgbClr val="6C3483"/>
                </a:solidFill>
                <a:latin typeface="Calibri" pitchFamily="34" charset="0"/>
                <a:ea typeface="Calibri" pitchFamily="34" charset="-122"/>
                <a:cs typeface="Calibri" pitchFamily="34" charset="-120"/>
              </a:rPr>
              <a:t>Tono</a:t>
            </a:r>
            <a:endParaRPr lang="en-US" sz="1600" dirty="0"/>
          </a:p>
        </p:txBody>
      </p:sp>
      <p:sp>
        <p:nvSpPr>
          <p:cNvPr id="19" name="Shape 17"/>
          <p:cNvSpPr/>
          <p:nvPr/>
        </p:nvSpPr>
        <p:spPr>
          <a:xfrm>
            <a:off x="8613648" y="5541264"/>
            <a:ext cx="219456" cy="219456"/>
          </a:xfrm>
          <a:prstGeom prst="ellipse">
            <a:avLst/>
          </a:prstGeom>
          <a:solidFill>
            <a:srgbClr val="A0392B"/>
          </a:solidFill>
          <a:ln w="12700">
            <a:solidFill>
              <a:srgbClr val="A0392B"/>
            </a:solidFill>
            <a:prstDash val="solid"/>
          </a:ln>
        </p:spPr>
        <p:txBody>
          <a:bodyPr/>
          <a:lstStyle/>
          <a:p>
            <a:endParaRPr lang="en-PR"/>
          </a:p>
        </p:txBody>
      </p:sp>
      <p:sp>
        <p:nvSpPr>
          <p:cNvPr id="20" name="Text 18"/>
          <p:cNvSpPr txBox="1"/>
          <p:nvPr/>
        </p:nvSpPr>
        <p:spPr>
          <a:xfrm>
            <a:off x="8924544" y="5486400"/>
            <a:ext cx="1600200" cy="329184"/>
          </a:xfrm>
          <a:prstGeom prst="rect">
            <a:avLst/>
          </a:prstGeom>
          <a:noFill/>
          <a:ln/>
        </p:spPr>
        <p:txBody>
          <a:bodyPr wrap="square" lIns="0" tIns="0" rIns="0" bIns="0" rtlCol="0" anchor="ctr"/>
          <a:lstStyle/>
          <a:p>
            <a:pPr marL="0" indent="0">
              <a:buNone/>
            </a:pPr>
            <a:r>
              <a:rPr lang="en-US" sz="1600" b="1" dirty="0">
                <a:solidFill>
                  <a:srgbClr val="A0392B"/>
                </a:solidFill>
                <a:latin typeface="Calibri" pitchFamily="34" charset="0"/>
                <a:ea typeface="Calibri" pitchFamily="34" charset="-122"/>
                <a:cs typeface="Calibri" pitchFamily="34" charset="-120"/>
              </a:rPr>
              <a:t>Formato</a:t>
            </a:r>
            <a:endParaRPr lang="en-US" sz="1600" dirty="0"/>
          </a:p>
        </p:txBody>
      </p:sp>
      <p:sp>
        <p:nvSpPr>
          <p:cNvPr id="21" name="Text 19"/>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2" name="Text 20"/>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19</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EJEMPLOS RC-TTF · 3 DE 7</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Inglés (cont.)</a:t>
            </a:r>
            <a:endParaRPr lang="en-US" sz="3000" dirty="0"/>
          </a:p>
        </p:txBody>
      </p:sp>
      <p:sp>
        <p:nvSpPr>
          <p:cNvPr id="4" name="Shape 2"/>
          <p:cNvSpPr/>
          <p:nvPr/>
        </p:nvSpPr>
        <p:spPr>
          <a:xfrm>
            <a:off x="566928" y="1426464"/>
            <a:ext cx="11057839" cy="3840480"/>
          </a:xfrm>
          <a:prstGeom prst="roundRect">
            <a:avLst>
              <a:gd name="adj" fmla="val 2143"/>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59536" y="1627632"/>
            <a:ext cx="2148840" cy="347472"/>
          </a:xfrm>
          <a:prstGeom prst="roundRect">
            <a:avLst>
              <a:gd name="adj" fmla="val 50000"/>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59536" y="1627632"/>
            <a:ext cx="2148840" cy="347472"/>
          </a:xfrm>
          <a:prstGeom prst="rect">
            <a:avLst/>
          </a:prstGeom>
          <a:noFill/>
          <a:ln/>
        </p:spPr>
        <p:txBody>
          <a:bodyPr wrap="square" lIns="0" tIns="0" rIns="0" bIns="0" rtlCol="0" anchor="ctr"/>
          <a:lstStyle/>
          <a:p>
            <a:pPr marL="0" indent="0" algn="ctr">
              <a:buNone/>
            </a:pPr>
            <a:r>
              <a:rPr lang="en-US" sz="1600" b="1" kern="0" spc="40" dirty="0">
                <a:solidFill>
                  <a:srgbClr val="FFFFFF"/>
                </a:solidFill>
                <a:latin typeface="Calibri" pitchFamily="34" charset="0"/>
                <a:ea typeface="Calibri" pitchFamily="34" charset="-122"/>
                <a:cs typeface="Calibri" pitchFamily="34" charset="-120"/>
              </a:rPr>
              <a:t>9.º a 12.º GRADO</a:t>
            </a:r>
            <a:endParaRPr lang="en-US" sz="1600" dirty="0"/>
          </a:p>
        </p:txBody>
      </p:sp>
      <p:sp>
        <p:nvSpPr>
          <p:cNvPr id="7" name="Text 5"/>
          <p:cNvSpPr txBox="1"/>
          <p:nvPr/>
        </p:nvSpPr>
        <p:spPr>
          <a:xfrm>
            <a:off x="3172968" y="1627632"/>
            <a:ext cx="7772400" cy="347472"/>
          </a:xfrm>
          <a:prstGeom prst="rect">
            <a:avLst/>
          </a:prstGeom>
          <a:noFill/>
          <a:ln/>
        </p:spPr>
        <p:txBody>
          <a:bodyPr wrap="square" lIns="0" tIns="0" rIns="0" bIns="0" rtlCol="0" anchor="ctr"/>
          <a:lstStyle/>
          <a:p>
            <a:pPr marL="0" indent="0">
              <a:buNone/>
            </a:pPr>
            <a:r>
              <a:rPr lang="en-US" sz="1700" i="1" dirty="0">
                <a:solidFill>
                  <a:srgbClr val="5A6478"/>
                </a:solidFill>
                <a:latin typeface="Calibri" pitchFamily="34" charset="0"/>
                <a:ea typeface="Calibri" pitchFamily="34" charset="-122"/>
                <a:cs typeface="Calibri" pitchFamily="34" charset="-120"/>
              </a:rPr>
              <a:t>Lectura diferenciada e inferencia</a:t>
            </a:r>
            <a:endParaRPr lang="en-US" sz="1700" dirty="0"/>
          </a:p>
        </p:txBody>
      </p:sp>
      <p:sp>
        <p:nvSpPr>
          <p:cNvPr id="8" name="Text 6"/>
          <p:cNvSpPr txBox="1"/>
          <p:nvPr/>
        </p:nvSpPr>
        <p:spPr>
          <a:xfrm>
            <a:off x="859536" y="2084832"/>
            <a:ext cx="10469880" cy="2148840"/>
          </a:xfrm>
          <a:prstGeom prst="rect">
            <a:avLst/>
          </a:prstGeom>
          <a:noFill/>
          <a:ln/>
        </p:spPr>
        <p:txBody>
          <a:bodyPr wrap="square" lIns="0" tIns="0" rIns="0" bIns="0" rtlCol="0" anchor="t"/>
          <a:lstStyle/>
          <a:p>
            <a:pPr marL="0" indent="0">
              <a:lnSpc>
                <a:spcPts val="2600"/>
              </a:lnSpc>
              <a:buNone/>
            </a:pPr>
            <a:r>
              <a:rPr lang="en-US" sz="1800" dirty="0">
                <a:solidFill>
                  <a:srgbClr val="1B2A4A"/>
                </a:solidFill>
                <a:latin typeface="Calibri" pitchFamily="34" charset="0"/>
                <a:ea typeface="Calibri" pitchFamily="34" charset="-122"/>
                <a:cs typeface="Calibri" pitchFamily="34" charset="-120"/>
              </a:rPr>
              <a:t>Act as a high school English teacher preparing students for College Board reading. </a:t>
            </a:r>
            <a:r>
              <a:rPr lang="en-US" sz="1800" dirty="0">
                <a:solidFill>
                  <a:srgbClr val="1F7A6E"/>
                </a:solidFill>
                <a:latin typeface="Calibri" pitchFamily="34" charset="0"/>
                <a:ea typeface="Calibri" pitchFamily="34" charset="-122"/>
                <a:cs typeface="Calibri" pitchFamily="34" charset="-120"/>
              </a:rPr>
              <a:t>My 12th graders read at very different levels and lose motivation with unfamiliar academic texts. </a:t>
            </a:r>
            <a:r>
              <a:rPr lang="en-US" sz="1800" dirty="0">
                <a:solidFill>
                  <a:srgbClr val="8A6D0F"/>
                </a:solidFill>
                <a:latin typeface="Calibri" pitchFamily="34" charset="0"/>
                <a:ea typeface="Calibri" pitchFamily="34" charset="-122"/>
                <a:cs typeface="Calibri" pitchFamily="34" charset="-120"/>
              </a:rPr>
              <a:t>Adapt the passage I will paste into three reading levels and write four inference questions for each level. </a:t>
            </a:r>
            <a:r>
              <a:rPr lang="en-US" sz="1800" dirty="0">
                <a:solidFill>
                  <a:srgbClr val="6C3483"/>
                </a:solidFill>
                <a:latin typeface="Calibri" pitchFamily="34" charset="0"/>
                <a:ea typeface="Calibri" pitchFamily="34" charset="-122"/>
                <a:cs typeface="Calibri" pitchFamily="34" charset="-120"/>
              </a:rPr>
              <a:t>Keep an academic but accessible register. </a:t>
            </a:r>
            <a:r>
              <a:rPr lang="en-US" sz="1800" dirty="0">
                <a:solidFill>
                  <a:srgbClr val="A0392B"/>
                </a:solidFill>
                <a:latin typeface="Calibri" pitchFamily="34" charset="0"/>
                <a:ea typeface="Calibri" pitchFamily="34" charset="-122"/>
                <a:cs typeface="Calibri" pitchFamily="34" charset="-120"/>
              </a:rPr>
              <a:t>Return three labeled versions, followed by the question set and an answer key.</a:t>
            </a:r>
            <a:endParaRPr lang="en-US" sz="1800" dirty="0"/>
          </a:p>
        </p:txBody>
      </p:sp>
      <p:sp>
        <p:nvSpPr>
          <p:cNvPr id="9" name="Text 7"/>
          <p:cNvSpPr txBox="1"/>
          <p:nvPr/>
        </p:nvSpPr>
        <p:spPr>
          <a:xfrm>
            <a:off x="859536" y="4315968"/>
            <a:ext cx="4846320" cy="256032"/>
          </a:xfrm>
          <a:prstGeom prst="rect">
            <a:avLst/>
          </a:prstGeom>
          <a:noFill/>
          <a:ln/>
        </p:spPr>
        <p:txBody>
          <a:bodyPr wrap="square" lIns="0" tIns="0" rIns="0" bIns="0" rtlCol="0" anchor="ctr"/>
          <a:lstStyle/>
          <a:p>
            <a:pPr marL="0" indent="0">
              <a:buNone/>
            </a:pPr>
            <a:r>
              <a:rPr lang="en-US" sz="1600" b="1" kern="0" spc="120" dirty="0">
                <a:solidFill>
                  <a:srgbClr val="2A9D8F"/>
                </a:solidFill>
                <a:latin typeface="Calibri" pitchFamily="34" charset="0"/>
                <a:ea typeface="Calibri" pitchFamily="34" charset="-122"/>
                <a:cs typeface="Calibri" pitchFamily="34" charset="-120"/>
              </a:rPr>
              <a:t>QUÉ LOGRA</a:t>
            </a:r>
            <a:endParaRPr lang="en-US" sz="1600" dirty="0"/>
          </a:p>
        </p:txBody>
      </p:sp>
      <p:sp>
        <p:nvSpPr>
          <p:cNvPr id="10" name="Text 8"/>
          <p:cNvSpPr txBox="1"/>
          <p:nvPr/>
        </p:nvSpPr>
        <p:spPr>
          <a:xfrm>
            <a:off x="859536" y="4590288"/>
            <a:ext cx="10469880" cy="621792"/>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Un mismo texto en tres niveles permite diseño universal real: todos discuten el mismo contenido con distinto andamiaje.</a:t>
            </a:r>
            <a:endParaRPr lang="en-US" sz="1700" dirty="0"/>
          </a:p>
        </p:txBody>
      </p:sp>
      <p:sp>
        <p:nvSpPr>
          <p:cNvPr id="11" name="Shape 9"/>
          <p:cNvSpPr/>
          <p:nvPr/>
        </p:nvSpPr>
        <p:spPr>
          <a:xfrm>
            <a:off x="566928" y="5541264"/>
            <a:ext cx="219456" cy="219456"/>
          </a:xfrm>
          <a:prstGeom prst="ellipse">
            <a:avLst/>
          </a:prstGeom>
          <a:solidFill>
            <a:srgbClr val="1B2A4A"/>
          </a:solidFill>
          <a:ln w="12700">
            <a:solidFill>
              <a:srgbClr val="1B2A4A"/>
            </a:solidFill>
            <a:prstDash val="solid"/>
          </a:ln>
        </p:spPr>
        <p:txBody>
          <a:bodyPr/>
          <a:lstStyle/>
          <a:p>
            <a:endParaRPr lang="en-PR"/>
          </a:p>
        </p:txBody>
      </p:sp>
      <p:sp>
        <p:nvSpPr>
          <p:cNvPr id="12" name="Text 10"/>
          <p:cNvSpPr txBox="1"/>
          <p:nvPr/>
        </p:nvSpPr>
        <p:spPr>
          <a:xfrm>
            <a:off x="877824" y="5486400"/>
            <a:ext cx="1600200" cy="329184"/>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Rol</a:t>
            </a:r>
            <a:endParaRPr lang="en-US" sz="1600" dirty="0"/>
          </a:p>
        </p:txBody>
      </p:sp>
      <p:sp>
        <p:nvSpPr>
          <p:cNvPr id="13" name="Shape 11"/>
          <p:cNvSpPr/>
          <p:nvPr/>
        </p:nvSpPr>
        <p:spPr>
          <a:xfrm>
            <a:off x="2578608" y="5541264"/>
            <a:ext cx="219456" cy="219456"/>
          </a:xfrm>
          <a:prstGeom prst="ellipse">
            <a:avLst/>
          </a:prstGeom>
          <a:solidFill>
            <a:srgbClr val="1F7A6E"/>
          </a:solidFill>
          <a:ln w="12700">
            <a:solidFill>
              <a:srgbClr val="1F7A6E"/>
            </a:solidFill>
            <a:prstDash val="solid"/>
          </a:ln>
        </p:spPr>
        <p:txBody>
          <a:bodyPr/>
          <a:lstStyle/>
          <a:p>
            <a:endParaRPr lang="en-PR"/>
          </a:p>
        </p:txBody>
      </p:sp>
      <p:sp>
        <p:nvSpPr>
          <p:cNvPr id="14" name="Text 12"/>
          <p:cNvSpPr txBox="1"/>
          <p:nvPr/>
        </p:nvSpPr>
        <p:spPr>
          <a:xfrm>
            <a:off x="2889504" y="5486400"/>
            <a:ext cx="1600200" cy="329184"/>
          </a:xfrm>
          <a:prstGeom prst="rect">
            <a:avLst/>
          </a:prstGeom>
          <a:noFill/>
          <a:ln/>
        </p:spPr>
        <p:txBody>
          <a:bodyPr wrap="square" lIns="0" tIns="0" rIns="0" bIns="0" rtlCol="0" anchor="ctr"/>
          <a:lstStyle/>
          <a:p>
            <a:pPr marL="0" indent="0">
              <a:buNone/>
            </a:pPr>
            <a:r>
              <a:rPr lang="en-US" sz="1600" b="1" dirty="0">
                <a:solidFill>
                  <a:srgbClr val="1F7A6E"/>
                </a:solidFill>
                <a:latin typeface="Calibri" pitchFamily="34" charset="0"/>
                <a:ea typeface="Calibri" pitchFamily="34" charset="-122"/>
                <a:cs typeface="Calibri" pitchFamily="34" charset="-120"/>
              </a:rPr>
              <a:t>Contexto</a:t>
            </a:r>
            <a:endParaRPr lang="en-US" sz="1600" dirty="0"/>
          </a:p>
        </p:txBody>
      </p:sp>
      <p:sp>
        <p:nvSpPr>
          <p:cNvPr id="15" name="Shape 13"/>
          <p:cNvSpPr/>
          <p:nvPr/>
        </p:nvSpPr>
        <p:spPr>
          <a:xfrm>
            <a:off x="4590288" y="5541264"/>
            <a:ext cx="219456" cy="219456"/>
          </a:xfrm>
          <a:prstGeom prst="ellipse">
            <a:avLst/>
          </a:prstGeom>
          <a:solidFill>
            <a:srgbClr val="8A6D0F"/>
          </a:solidFill>
          <a:ln w="12700">
            <a:solidFill>
              <a:srgbClr val="8A6D0F"/>
            </a:solidFill>
            <a:prstDash val="solid"/>
          </a:ln>
        </p:spPr>
        <p:txBody>
          <a:bodyPr/>
          <a:lstStyle/>
          <a:p>
            <a:endParaRPr lang="en-PR"/>
          </a:p>
        </p:txBody>
      </p:sp>
      <p:sp>
        <p:nvSpPr>
          <p:cNvPr id="16" name="Text 14"/>
          <p:cNvSpPr txBox="1"/>
          <p:nvPr/>
        </p:nvSpPr>
        <p:spPr>
          <a:xfrm>
            <a:off x="4901184" y="5486400"/>
            <a:ext cx="1600200" cy="329184"/>
          </a:xfrm>
          <a:prstGeom prst="rect">
            <a:avLst/>
          </a:prstGeom>
          <a:noFill/>
          <a:ln/>
        </p:spPr>
        <p:txBody>
          <a:bodyPr wrap="square" lIns="0" tIns="0" rIns="0" bIns="0" rtlCol="0" anchor="ctr"/>
          <a:lstStyle/>
          <a:p>
            <a:pPr marL="0" indent="0">
              <a:buNone/>
            </a:pPr>
            <a:r>
              <a:rPr lang="en-US" sz="1600" b="1" dirty="0">
                <a:solidFill>
                  <a:srgbClr val="8A6D0F"/>
                </a:solidFill>
                <a:latin typeface="Calibri" pitchFamily="34" charset="0"/>
                <a:ea typeface="Calibri" pitchFamily="34" charset="-122"/>
                <a:cs typeface="Calibri" pitchFamily="34" charset="-120"/>
              </a:rPr>
              <a:t>Tarea</a:t>
            </a:r>
            <a:endParaRPr lang="en-US" sz="1600" dirty="0"/>
          </a:p>
        </p:txBody>
      </p:sp>
      <p:sp>
        <p:nvSpPr>
          <p:cNvPr id="17" name="Shape 15"/>
          <p:cNvSpPr/>
          <p:nvPr/>
        </p:nvSpPr>
        <p:spPr>
          <a:xfrm>
            <a:off x="6601968" y="5541264"/>
            <a:ext cx="219456" cy="219456"/>
          </a:xfrm>
          <a:prstGeom prst="ellipse">
            <a:avLst/>
          </a:prstGeom>
          <a:solidFill>
            <a:srgbClr val="6C3483"/>
          </a:solidFill>
          <a:ln w="12700">
            <a:solidFill>
              <a:srgbClr val="6C3483"/>
            </a:solidFill>
            <a:prstDash val="solid"/>
          </a:ln>
        </p:spPr>
        <p:txBody>
          <a:bodyPr/>
          <a:lstStyle/>
          <a:p>
            <a:endParaRPr lang="en-PR"/>
          </a:p>
        </p:txBody>
      </p:sp>
      <p:sp>
        <p:nvSpPr>
          <p:cNvPr id="18" name="Text 16"/>
          <p:cNvSpPr txBox="1"/>
          <p:nvPr/>
        </p:nvSpPr>
        <p:spPr>
          <a:xfrm>
            <a:off x="6912864" y="5486400"/>
            <a:ext cx="1600200" cy="329184"/>
          </a:xfrm>
          <a:prstGeom prst="rect">
            <a:avLst/>
          </a:prstGeom>
          <a:noFill/>
          <a:ln/>
        </p:spPr>
        <p:txBody>
          <a:bodyPr wrap="square" lIns="0" tIns="0" rIns="0" bIns="0" rtlCol="0" anchor="ctr"/>
          <a:lstStyle/>
          <a:p>
            <a:pPr marL="0" indent="0">
              <a:buNone/>
            </a:pPr>
            <a:r>
              <a:rPr lang="en-US" sz="1600" b="1" dirty="0">
                <a:solidFill>
                  <a:srgbClr val="6C3483"/>
                </a:solidFill>
                <a:latin typeface="Calibri" pitchFamily="34" charset="0"/>
                <a:ea typeface="Calibri" pitchFamily="34" charset="-122"/>
                <a:cs typeface="Calibri" pitchFamily="34" charset="-120"/>
              </a:rPr>
              <a:t>Tono</a:t>
            </a:r>
            <a:endParaRPr lang="en-US" sz="1600" dirty="0"/>
          </a:p>
        </p:txBody>
      </p:sp>
      <p:sp>
        <p:nvSpPr>
          <p:cNvPr id="19" name="Shape 17"/>
          <p:cNvSpPr/>
          <p:nvPr/>
        </p:nvSpPr>
        <p:spPr>
          <a:xfrm>
            <a:off x="8613648" y="5541264"/>
            <a:ext cx="219456" cy="219456"/>
          </a:xfrm>
          <a:prstGeom prst="ellipse">
            <a:avLst/>
          </a:prstGeom>
          <a:solidFill>
            <a:srgbClr val="A0392B"/>
          </a:solidFill>
          <a:ln w="12700">
            <a:solidFill>
              <a:srgbClr val="A0392B"/>
            </a:solidFill>
            <a:prstDash val="solid"/>
          </a:ln>
        </p:spPr>
        <p:txBody>
          <a:bodyPr/>
          <a:lstStyle/>
          <a:p>
            <a:endParaRPr lang="en-PR"/>
          </a:p>
        </p:txBody>
      </p:sp>
      <p:sp>
        <p:nvSpPr>
          <p:cNvPr id="20" name="Text 18"/>
          <p:cNvSpPr txBox="1"/>
          <p:nvPr/>
        </p:nvSpPr>
        <p:spPr>
          <a:xfrm>
            <a:off x="8924544" y="5486400"/>
            <a:ext cx="1600200" cy="329184"/>
          </a:xfrm>
          <a:prstGeom prst="rect">
            <a:avLst/>
          </a:prstGeom>
          <a:noFill/>
          <a:ln/>
        </p:spPr>
        <p:txBody>
          <a:bodyPr wrap="square" lIns="0" tIns="0" rIns="0" bIns="0" rtlCol="0" anchor="ctr"/>
          <a:lstStyle/>
          <a:p>
            <a:pPr marL="0" indent="0">
              <a:buNone/>
            </a:pPr>
            <a:r>
              <a:rPr lang="en-US" sz="1600" b="1" dirty="0">
                <a:solidFill>
                  <a:srgbClr val="A0392B"/>
                </a:solidFill>
                <a:latin typeface="Calibri" pitchFamily="34" charset="0"/>
                <a:ea typeface="Calibri" pitchFamily="34" charset="-122"/>
                <a:cs typeface="Calibri" pitchFamily="34" charset="-120"/>
              </a:rPr>
              <a:t>Formato</a:t>
            </a:r>
            <a:endParaRPr lang="en-US" sz="1600" dirty="0"/>
          </a:p>
        </p:txBody>
      </p:sp>
      <p:sp>
        <p:nvSpPr>
          <p:cNvPr id="21" name="Text 19"/>
          <p:cNvSpPr txBox="1"/>
          <p:nvPr/>
        </p:nvSpPr>
        <p:spPr>
          <a:xfrm>
            <a:off x="566928" y="5925312"/>
            <a:ext cx="11057839" cy="310896"/>
          </a:xfrm>
          <a:prstGeom prst="rect">
            <a:avLst/>
          </a:prstGeom>
          <a:noFill/>
          <a:ln/>
        </p:spPr>
        <p:txBody>
          <a:bodyPr wrap="square" lIns="0" tIns="0" rIns="0" bIns="0" rtlCol="0" anchor="ctr"/>
          <a:lstStyle/>
          <a:p>
            <a:pPr marL="0" indent="0" algn="r">
              <a:buNone/>
            </a:pPr>
            <a:r>
              <a:rPr lang="en-US" sz="1600" i="1" dirty="0">
                <a:solidFill>
                  <a:srgbClr val="5A6478"/>
                </a:solidFill>
                <a:latin typeface="Calibri" pitchFamily="34" charset="0"/>
                <a:ea typeface="Calibri" pitchFamily="34" charset="-122"/>
                <a:cs typeface="Calibri" pitchFamily="34" charset="-120"/>
              </a:rPr>
              <a:t>Redacte el prompt en inglés: la respuesta será más natural.</a:t>
            </a:r>
            <a:endParaRPr lang="en-US" sz="1600" dirty="0"/>
          </a:p>
        </p:txBody>
      </p:sp>
      <p:sp>
        <p:nvSpPr>
          <p:cNvPr id="22" name="Text 20"/>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3" name="Text 21"/>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20</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EJEMPLOS RC-TTF · 4 DE 7</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Español</a:t>
            </a:r>
            <a:endParaRPr lang="en-US" sz="3000" dirty="0"/>
          </a:p>
        </p:txBody>
      </p:sp>
      <p:sp>
        <p:nvSpPr>
          <p:cNvPr id="4" name="Shape 2"/>
          <p:cNvSpPr/>
          <p:nvPr/>
        </p:nvSpPr>
        <p:spPr>
          <a:xfrm>
            <a:off x="566928" y="1426464"/>
            <a:ext cx="11057839" cy="3840480"/>
          </a:xfrm>
          <a:prstGeom prst="roundRect">
            <a:avLst>
              <a:gd name="adj" fmla="val 2143"/>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59536" y="1627632"/>
            <a:ext cx="2148840" cy="347472"/>
          </a:xfrm>
          <a:prstGeom prst="roundRect">
            <a:avLst>
              <a:gd name="adj" fmla="val 50000"/>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59536" y="1627632"/>
            <a:ext cx="2148840" cy="347472"/>
          </a:xfrm>
          <a:prstGeom prst="rect">
            <a:avLst/>
          </a:prstGeom>
          <a:noFill/>
          <a:ln/>
        </p:spPr>
        <p:txBody>
          <a:bodyPr wrap="square" lIns="0" tIns="0" rIns="0" bIns="0" rtlCol="0" anchor="ctr"/>
          <a:lstStyle/>
          <a:p>
            <a:pPr marL="0" indent="0" algn="ctr">
              <a:buNone/>
            </a:pPr>
            <a:r>
              <a:rPr lang="en-US" sz="1600" b="1" kern="0" spc="40" dirty="0">
                <a:solidFill>
                  <a:srgbClr val="FFFFFF"/>
                </a:solidFill>
                <a:latin typeface="Calibri" pitchFamily="34" charset="0"/>
                <a:ea typeface="Calibri" pitchFamily="34" charset="-122"/>
                <a:cs typeface="Calibri" pitchFamily="34" charset="-120"/>
              </a:rPr>
              <a:t>6.º a 8.º GRADO</a:t>
            </a:r>
            <a:endParaRPr lang="en-US" sz="1600" dirty="0"/>
          </a:p>
        </p:txBody>
      </p:sp>
      <p:sp>
        <p:nvSpPr>
          <p:cNvPr id="7" name="Text 5"/>
          <p:cNvSpPr txBox="1"/>
          <p:nvPr/>
        </p:nvSpPr>
        <p:spPr>
          <a:xfrm>
            <a:off x="3172968" y="1627632"/>
            <a:ext cx="7772400" cy="347472"/>
          </a:xfrm>
          <a:prstGeom prst="rect">
            <a:avLst/>
          </a:prstGeom>
          <a:noFill/>
          <a:ln/>
        </p:spPr>
        <p:txBody>
          <a:bodyPr wrap="square" lIns="0" tIns="0" rIns="0" bIns="0" rtlCol="0" anchor="ctr"/>
          <a:lstStyle/>
          <a:p>
            <a:pPr marL="0" indent="0">
              <a:buNone/>
            </a:pPr>
            <a:r>
              <a:rPr lang="en-US" sz="1700" i="1" dirty="0">
                <a:solidFill>
                  <a:srgbClr val="5A6478"/>
                </a:solidFill>
                <a:latin typeface="Calibri" pitchFamily="34" charset="0"/>
                <a:ea typeface="Calibri" pitchFamily="34" charset="-122"/>
                <a:cs typeface="Calibri" pitchFamily="34" charset="-120"/>
              </a:rPr>
              <a:t>Estructura del párrafo</a:t>
            </a:r>
            <a:endParaRPr lang="en-US" sz="1700" dirty="0"/>
          </a:p>
        </p:txBody>
      </p:sp>
      <p:sp>
        <p:nvSpPr>
          <p:cNvPr id="8" name="Text 6"/>
          <p:cNvSpPr txBox="1"/>
          <p:nvPr/>
        </p:nvSpPr>
        <p:spPr>
          <a:xfrm>
            <a:off x="859536" y="2084832"/>
            <a:ext cx="10469880" cy="2148840"/>
          </a:xfrm>
          <a:prstGeom prst="rect">
            <a:avLst/>
          </a:prstGeom>
          <a:noFill/>
          <a:ln/>
        </p:spPr>
        <p:txBody>
          <a:bodyPr wrap="square" lIns="0" tIns="0" rIns="0" bIns="0" rtlCol="0" anchor="t"/>
          <a:lstStyle/>
          <a:p>
            <a:pPr marL="0" indent="0">
              <a:lnSpc>
                <a:spcPts val="2600"/>
              </a:lnSpc>
              <a:buNone/>
            </a:pPr>
            <a:r>
              <a:rPr lang="en-US" sz="1800" dirty="0">
                <a:solidFill>
                  <a:srgbClr val="1B2A4A"/>
                </a:solidFill>
                <a:latin typeface="Calibri" pitchFamily="34" charset="0"/>
                <a:ea typeface="Calibri" pitchFamily="34" charset="-122"/>
                <a:cs typeface="Calibri" pitchFamily="34" charset="-120"/>
              </a:rPr>
              <a:t>Actúa como maestro de Español de escuela intermedia. </a:t>
            </a:r>
            <a:r>
              <a:rPr lang="en-US" sz="1800" dirty="0">
                <a:solidFill>
                  <a:srgbClr val="1F7A6E"/>
                </a:solidFill>
                <a:latin typeface="Calibri" pitchFamily="34" charset="0"/>
                <a:ea typeface="Calibri" pitchFamily="34" charset="-122"/>
                <a:cs typeface="Calibri" pitchFamily="34" charset="-120"/>
              </a:rPr>
              <a:t>Mis estudiantes de 7.º grado escriben oraciones correctas, pero no logran organizarlas en un párrafo con idea central. </a:t>
            </a:r>
            <a:r>
              <a:rPr lang="en-US" sz="1800" dirty="0">
                <a:solidFill>
                  <a:srgbClr val="8A6D0F"/>
                </a:solidFill>
                <a:latin typeface="Calibri" pitchFamily="34" charset="0"/>
                <a:ea typeface="Calibri" pitchFamily="34" charset="-122"/>
                <a:cs typeface="Calibri" pitchFamily="34" charset="-120"/>
              </a:rPr>
              <a:t>Diseña cuatro mini-lecciones sobre estructura de párrafo usando como modelo un cuento de Abelardo Díaz Alfaro. </a:t>
            </a:r>
            <a:r>
              <a:rPr lang="en-US" sz="1800" dirty="0">
                <a:solidFill>
                  <a:srgbClr val="6C3483"/>
                </a:solidFill>
                <a:latin typeface="Calibri" pitchFamily="34" charset="0"/>
                <a:ea typeface="Calibri" pitchFamily="34" charset="-122"/>
                <a:cs typeface="Calibri" pitchFamily="34" charset="-120"/>
              </a:rPr>
              <a:t>Con tono cercano y ejemplos del habla puertorriqueña. </a:t>
            </a:r>
            <a:r>
              <a:rPr lang="en-US" sz="1800" dirty="0">
                <a:solidFill>
                  <a:srgbClr val="A0392B"/>
                </a:solidFill>
                <a:latin typeface="Calibri" pitchFamily="34" charset="0"/>
                <a:ea typeface="Calibri" pitchFamily="34" charset="-122"/>
                <a:cs typeface="Calibri" pitchFamily="34" charset="-120"/>
              </a:rPr>
              <a:t>Cada mini-lección en un bloque con objetivo, modelo, práctica guiada y práctica independiente.</a:t>
            </a:r>
            <a:endParaRPr lang="en-US" sz="1800" dirty="0"/>
          </a:p>
        </p:txBody>
      </p:sp>
      <p:sp>
        <p:nvSpPr>
          <p:cNvPr id="9" name="Text 7"/>
          <p:cNvSpPr txBox="1"/>
          <p:nvPr/>
        </p:nvSpPr>
        <p:spPr>
          <a:xfrm>
            <a:off x="859536" y="4315968"/>
            <a:ext cx="4846320" cy="256032"/>
          </a:xfrm>
          <a:prstGeom prst="rect">
            <a:avLst/>
          </a:prstGeom>
          <a:noFill/>
          <a:ln/>
        </p:spPr>
        <p:txBody>
          <a:bodyPr wrap="square" lIns="0" tIns="0" rIns="0" bIns="0" rtlCol="0" anchor="ctr"/>
          <a:lstStyle/>
          <a:p>
            <a:pPr marL="0" indent="0">
              <a:buNone/>
            </a:pPr>
            <a:r>
              <a:rPr lang="en-US" sz="1600" b="1" kern="0" spc="120" dirty="0">
                <a:solidFill>
                  <a:srgbClr val="2A9D8F"/>
                </a:solidFill>
                <a:latin typeface="Calibri" pitchFamily="34" charset="0"/>
                <a:ea typeface="Calibri" pitchFamily="34" charset="-122"/>
                <a:cs typeface="Calibri" pitchFamily="34" charset="-120"/>
              </a:rPr>
              <a:t>QUÉ LOGRA</a:t>
            </a:r>
            <a:endParaRPr lang="en-US" sz="1600" dirty="0"/>
          </a:p>
        </p:txBody>
      </p:sp>
      <p:sp>
        <p:nvSpPr>
          <p:cNvPr id="10" name="Text 8"/>
          <p:cNvSpPr txBox="1"/>
          <p:nvPr/>
        </p:nvSpPr>
        <p:spPr>
          <a:xfrm>
            <a:off x="859536" y="4590288"/>
            <a:ext cx="10469880" cy="621792"/>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Anclar la gramática a un autor del canon local enseña estructura y lectura literaria en el mismo movimiento.</a:t>
            </a:r>
            <a:endParaRPr lang="en-US" sz="1700" dirty="0"/>
          </a:p>
        </p:txBody>
      </p:sp>
      <p:sp>
        <p:nvSpPr>
          <p:cNvPr id="11" name="Shape 9"/>
          <p:cNvSpPr/>
          <p:nvPr/>
        </p:nvSpPr>
        <p:spPr>
          <a:xfrm>
            <a:off x="566928" y="5541264"/>
            <a:ext cx="219456" cy="219456"/>
          </a:xfrm>
          <a:prstGeom prst="ellipse">
            <a:avLst/>
          </a:prstGeom>
          <a:solidFill>
            <a:srgbClr val="1B2A4A"/>
          </a:solidFill>
          <a:ln w="12700">
            <a:solidFill>
              <a:srgbClr val="1B2A4A"/>
            </a:solidFill>
            <a:prstDash val="solid"/>
          </a:ln>
        </p:spPr>
        <p:txBody>
          <a:bodyPr/>
          <a:lstStyle/>
          <a:p>
            <a:endParaRPr lang="en-PR"/>
          </a:p>
        </p:txBody>
      </p:sp>
      <p:sp>
        <p:nvSpPr>
          <p:cNvPr id="12" name="Text 10"/>
          <p:cNvSpPr txBox="1"/>
          <p:nvPr/>
        </p:nvSpPr>
        <p:spPr>
          <a:xfrm>
            <a:off x="877824" y="5486400"/>
            <a:ext cx="1600200" cy="329184"/>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Rol</a:t>
            </a:r>
            <a:endParaRPr lang="en-US" sz="1600" dirty="0"/>
          </a:p>
        </p:txBody>
      </p:sp>
      <p:sp>
        <p:nvSpPr>
          <p:cNvPr id="13" name="Shape 11"/>
          <p:cNvSpPr/>
          <p:nvPr/>
        </p:nvSpPr>
        <p:spPr>
          <a:xfrm>
            <a:off x="2578608" y="5541264"/>
            <a:ext cx="219456" cy="219456"/>
          </a:xfrm>
          <a:prstGeom prst="ellipse">
            <a:avLst/>
          </a:prstGeom>
          <a:solidFill>
            <a:srgbClr val="1F7A6E"/>
          </a:solidFill>
          <a:ln w="12700">
            <a:solidFill>
              <a:srgbClr val="1F7A6E"/>
            </a:solidFill>
            <a:prstDash val="solid"/>
          </a:ln>
        </p:spPr>
        <p:txBody>
          <a:bodyPr/>
          <a:lstStyle/>
          <a:p>
            <a:endParaRPr lang="en-PR"/>
          </a:p>
        </p:txBody>
      </p:sp>
      <p:sp>
        <p:nvSpPr>
          <p:cNvPr id="14" name="Text 12"/>
          <p:cNvSpPr txBox="1"/>
          <p:nvPr/>
        </p:nvSpPr>
        <p:spPr>
          <a:xfrm>
            <a:off x="2889504" y="5486400"/>
            <a:ext cx="1600200" cy="329184"/>
          </a:xfrm>
          <a:prstGeom prst="rect">
            <a:avLst/>
          </a:prstGeom>
          <a:noFill/>
          <a:ln/>
        </p:spPr>
        <p:txBody>
          <a:bodyPr wrap="square" lIns="0" tIns="0" rIns="0" bIns="0" rtlCol="0" anchor="ctr"/>
          <a:lstStyle/>
          <a:p>
            <a:pPr marL="0" indent="0">
              <a:buNone/>
            </a:pPr>
            <a:r>
              <a:rPr lang="en-US" sz="1600" b="1" dirty="0">
                <a:solidFill>
                  <a:srgbClr val="1F7A6E"/>
                </a:solidFill>
                <a:latin typeface="Calibri" pitchFamily="34" charset="0"/>
                <a:ea typeface="Calibri" pitchFamily="34" charset="-122"/>
                <a:cs typeface="Calibri" pitchFamily="34" charset="-120"/>
              </a:rPr>
              <a:t>Contexto</a:t>
            </a:r>
            <a:endParaRPr lang="en-US" sz="1600" dirty="0"/>
          </a:p>
        </p:txBody>
      </p:sp>
      <p:sp>
        <p:nvSpPr>
          <p:cNvPr id="15" name="Shape 13"/>
          <p:cNvSpPr/>
          <p:nvPr/>
        </p:nvSpPr>
        <p:spPr>
          <a:xfrm>
            <a:off x="4590288" y="5541264"/>
            <a:ext cx="219456" cy="219456"/>
          </a:xfrm>
          <a:prstGeom prst="ellipse">
            <a:avLst/>
          </a:prstGeom>
          <a:solidFill>
            <a:srgbClr val="8A6D0F"/>
          </a:solidFill>
          <a:ln w="12700">
            <a:solidFill>
              <a:srgbClr val="8A6D0F"/>
            </a:solidFill>
            <a:prstDash val="solid"/>
          </a:ln>
        </p:spPr>
        <p:txBody>
          <a:bodyPr/>
          <a:lstStyle/>
          <a:p>
            <a:endParaRPr lang="en-PR"/>
          </a:p>
        </p:txBody>
      </p:sp>
      <p:sp>
        <p:nvSpPr>
          <p:cNvPr id="16" name="Text 14"/>
          <p:cNvSpPr txBox="1"/>
          <p:nvPr/>
        </p:nvSpPr>
        <p:spPr>
          <a:xfrm>
            <a:off x="4901184" y="5486400"/>
            <a:ext cx="1600200" cy="329184"/>
          </a:xfrm>
          <a:prstGeom prst="rect">
            <a:avLst/>
          </a:prstGeom>
          <a:noFill/>
          <a:ln/>
        </p:spPr>
        <p:txBody>
          <a:bodyPr wrap="square" lIns="0" tIns="0" rIns="0" bIns="0" rtlCol="0" anchor="ctr"/>
          <a:lstStyle/>
          <a:p>
            <a:pPr marL="0" indent="0">
              <a:buNone/>
            </a:pPr>
            <a:r>
              <a:rPr lang="en-US" sz="1600" b="1" dirty="0">
                <a:solidFill>
                  <a:srgbClr val="8A6D0F"/>
                </a:solidFill>
                <a:latin typeface="Calibri" pitchFamily="34" charset="0"/>
                <a:ea typeface="Calibri" pitchFamily="34" charset="-122"/>
                <a:cs typeface="Calibri" pitchFamily="34" charset="-120"/>
              </a:rPr>
              <a:t>Tarea</a:t>
            </a:r>
            <a:endParaRPr lang="en-US" sz="1600" dirty="0"/>
          </a:p>
        </p:txBody>
      </p:sp>
      <p:sp>
        <p:nvSpPr>
          <p:cNvPr id="17" name="Shape 15"/>
          <p:cNvSpPr/>
          <p:nvPr/>
        </p:nvSpPr>
        <p:spPr>
          <a:xfrm>
            <a:off x="6601968" y="5541264"/>
            <a:ext cx="219456" cy="219456"/>
          </a:xfrm>
          <a:prstGeom prst="ellipse">
            <a:avLst/>
          </a:prstGeom>
          <a:solidFill>
            <a:srgbClr val="6C3483"/>
          </a:solidFill>
          <a:ln w="12700">
            <a:solidFill>
              <a:srgbClr val="6C3483"/>
            </a:solidFill>
            <a:prstDash val="solid"/>
          </a:ln>
        </p:spPr>
        <p:txBody>
          <a:bodyPr/>
          <a:lstStyle/>
          <a:p>
            <a:endParaRPr lang="en-PR"/>
          </a:p>
        </p:txBody>
      </p:sp>
      <p:sp>
        <p:nvSpPr>
          <p:cNvPr id="18" name="Text 16"/>
          <p:cNvSpPr txBox="1"/>
          <p:nvPr/>
        </p:nvSpPr>
        <p:spPr>
          <a:xfrm>
            <a:off x="6912864" y="5486400"/>
            <a:ext cx="1600200" cy="329184"/>
          </a:xfrm>
          <a:prstGeom prst="rect">
            <a:avLst/>
          </a:prstGeom>
          <a:noFill/>
          <a:ln/>
        </p:spPr>
        <p:txBody>
          <a:bodyPr wrap="square" lIns="0" tIns="0" rIns="0" bIns="0" rtlCol="0" anchor="ctr"/>
          <a:lstStyle/>
          <a:p>
            <a:pPr marL="0" indent="0">
              <a:buNone/>
            </a:pPr>
            <a:r>
              <a:rPr lang="en-US" sz="1600" b="1" dirty="0">
                <a:solidFill>
                  <a:srgbClr val="6C3483"/>
                </a:solidFill>
                <a:latin typeface="Calibri" pitchFamily="34" charset="0"/>
                <a:ea typeface="Calibri" pitchFamily="34" charset="-122"/>
                <a:cs typeface="Calibri" pitchFamily="34" charset="-120"/>
              </a:rPr>
              <a:t>Tono</a:t>
            </a:r>
            <a:endParaRPr lang="en-US" sz="1600" dirty="0"/>
          </a:p>
        </p:txBody>
      </p:sp>
      <p:sp>
        <p:nvSpPr>
          <p:cNvPr id="19" name="Shape 17"/>
          <p:cNvSpPr/>
          <p:nvPr/>
        </p:nvSpPr>
        <p:spPr>
          <a:xfrm>
            <a:off x="8613648" y="5541264"/>
            <a:ext cx="219456" cy="219456"/>
          </a:xfrm>
          <a:prstGeom prst="ellipse">
            <a:avLst/>
          </a:prstGeom>
          <a:solidFill>
            <a:srgbClr val="A0392B"/>
          </a:solidFill>
          <a:ln w="12700">
            <a:solidFill>
              <a:srgbClr val="A0392B"/>
            </a:solidFill>
            <a:prstDash val="solid"/>
          </a:ln>
        </p:spPr>
        <p:txBody>
          <a:bodyPr/>
          <a:lstStyle/>
          <a:p>
            <a:endParaRPr lang="en-PR"/>
          </a:p>
        </p:txBody>
      </p:sp>
      <p:sp>
        <p:nvSpPr>
          <p:cNvPr id="20" name="Text 18"/>
          <p:cNvSpPr txBox="1"/>
          <p:nvPr/>
        </p:nvSpPr>
        <p:spPr>
          <a:xfrm>
            <a:off x="8924544" y="5486400"/>
            <a:ext cx="1600200" cy="329184"/>
          </a:xfrm>
          <a:prstGeom prst="rect">
            <a:avLst/>
          </a:prstGeom>
          <a:noFill/>
          <a:ln/>
        </p:spPr>
        <p:txBody>
          <a:bodyPr wrap="square" lIns="0" tIns="0" rIns="0" bIns="0" rtlCol="0" anchor="ctr"/>
          <a:lstStyle/>
          <a:p>
            <a:pPr marL="0" indent="0">
              <a:buNone/>
            </a:pPr>
            <a:r>
              <a:rPr lang="en-US" sz="1600" b="1" dirty="0">
                <a:solidFill>
                  <a:srgbClr val="A0392B"/>
                </a:solidFill>
                <a:latin typeface="Calibri" pitchFamily="34" charset="0"/>
                <a:ea typeface="Calibri" pitchFamily="34" charset="-122"/>
                <a:cs typeface="Calibri" pitchFamily="34" charset="-120"/>
              </a:rPr>
              <a:t>Formato</a:t>
            </a:r>
            <a:endParaRPr lang="en-US" sz="1600" dirty="0"/>
          </a:p>
        </p:txBody>
      </p:sp>
      <p:sp>
        <p:nvSpPr>
          <p:cNvPr id="21" name="Text 19"/>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2" name="Text 20"/>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21</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EJEMPLOS RC-TTF · 4 DE 7</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Español (cont.)</a:t>
            </a:r>
            <a:endParaRPr lang="en-US" sz="3000" dirty="0"/>
          </a:p>
        </p:txBody>
      </p:sp>
      <p:sp>
        <p:nvSpPr>
          <p:cNvPr id="4" name="Shape 2"/>
          <p:cNvSpPr/>
          <p:nvPr/>
        </p:nvSpPr>
        <p:spPr>
          <a:xfrm>
            <a:off x="566928" y="1426464"/>
            <a:ext cx="11057839" cy="3840480"/>
          </a:xfrm>
          <a:prstGeom prst="roundRect">
            <a:avLst>
              <a:gd name="adj" fmla="val 2143"/>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59536" y="1627632"/>
            <a:ext cx="2148840" cy="347472"/>
          </a:xfrm>
          <a:prstGeom prst="roundRect">
            <a:avLst>
              <a:gd name="adj" fmla="val 50000"/>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59536" y="1627632"/>
            <a:ext cx="2148840" cy="347472"/>
          </a:xfrm>
          <a:prstGeom prst="rect">
            <a:avLst/>
          </a:prstGeom>
          <a:noFill/>
          <a:ln/>
        </p:spPr>
        <p:txBody>
          <a:bodyPr wrap="square" lIns="0" tIns="0" rIns="0" bIns="0" rtlCol="0" anchor="ctr"/>
          <a:lstStyle/>
          <a:p>
            <a:pPr marL="0" indent="0" algn="ctr">
              <a:buNone/>
            </a:pPr>
            <a:r>
              <a:rPr lang="en-US" sz="1600" b="1" kern="0" spc="40" dirty="0">
                <a:solidFill>
                  <a:srgbClr val="FFFFFF"/>
                </a:solidFill>
                <a:latin typeface="Calibri" pitchFamily="34" charset="0"/>
                <a:ea typeface="Calibri" pitchFamily="34" charset="-122"/>
                <a:cs typeface="Calibri" pitchFamily="34" charset="-120"/>
              </a:rPr>
              <a:t>9.º a 12.º GRADO</a:t>
            </a:r>
            <a:endParaRPr lang="en-US" sz="1600" dirty="0"/>
          </a:p>
        </p:txBody>
      </p:sp>
      <p:sp>
        <p:nvSpPr>
          <p:cNvPr id="7" name="Text 5"/>
          <p:cNvSpPr txBox="1"/>
          <p:nvPr/>
        </p:nvSpPr>
        <p:spPr>
          <a:xfrm>
            <a:off x="3172968" y="1627632"/>
            <a:ext cx="7772400" cy="347472"/>
          </a:xfrm>
          <a:prstGeom prst="rect">
            <a:avLst/>
          </a:prstGeom>
          <a:noFill/>
          <a:ln/>
        </p:spPr>
        <p:txBody>
          <a:bodyPr wrap="square" lIns="0" tIns="0" rIns="0" bIns="0" rtlCol="0" anchor="ctr"/>
          <a:lstStyle/>
          <a:p>
            <a:pPr marL="0" indent="0">
              <a:buNone/>
            </a:pPr>
            <a:r>
              <a:rPr lang="en-US" sz="1700" i="1" dirty="0">
                <a:solidFill>
                  <a:srgbClr val="5A6478"/>
                </a:solidFill>
                <a:latin typeface="Calibri" pitchFamily="34" charset="0"/>
                <a:ea typeface="Calibri" pitchFamily="34" charset="-122"/>
                <a:cs typeface="Calibri" pitchFamily="34" charset="-120"/>
              </a:rPr>
              <a:t>Opinión frente a argumento</a:t>
            </a:r>
            <a:endParaRPr lang="en-US" sz="1700" dirty="0"/>
          </a:p>
        </p:txBody>
      </p:sp>
      <p:sp>
        <p:nvSpPr>
          <p:cNvPr id="8" name="Text 6"/>
          <p:cNvSpPr txBox="1"/>
          <p:nvPr/>
        </p:nvSpPr>
        <p:spPr>
          <a:xfrm>
            <a:off x="859536" y="2084832"/>
            <a:ext cx="10469880" cy="2148840"/>
          </a:xfrm>
          <a:prstGeom prst="rect">
            <a:avLst/>
          </a:prstGeom>
          <a:noFill/>
          <a:ln/>
        </p:spPr>
        <p:txBody>
          <a:bodyPr wrap="square" lIns="0" tIns="0" rIns="0" bIns="0" rtlCol="0" anchor="t"/>
          <a:lstStyle/>
          <a:p>
            <a:pPr marL="0" indent="0">
              <a:lnSpc>
                <a:spcPts val="2600"/>
              </a:lnSpc>
              <a:buNone/>
            </a:pPr>
            <a:r>
              <a:rPr lang="en-US" sz="1800" dirty="0">
                <a:solidFill>
                  <a:srgbClr val="1B2A4A"/>
                </a:solidFill>
                <a:latin typeface="Calibri" pitchFamily="34" charset="0"/>
                <a:ea typeface="Calibri" pitchFamily="34" charset="-122"/>
                <a:cs typeface="Calibri" pitchFamily="34" charset="-120"/>
              </a:rPr>
              <a:t>Actúa como maestro de Español de undécimo grado. </a:t>
            </a:r>
            <a:r>
              <a:rPr lang="en-US" sz="1800" dirty="0">
                <a:solidFill>
                  <a:srgbClr val="1F7A6E"/>
                </a:solidFill>
                <a:latin typeface="Calibri" pitchFamily="34" charset="0"/>
                <a:ea typeface="Calibri" pitchFamily="34" charset="-122"/>
                <a:cs typeface="Calibri" pitchFamily="34" charset="-120"/>
              </a:rPr>
              <a:t>Voy a trabajar el ensayo argumentativo y mis estudiantes tienden a confundir opinar con argumentar. </a:t>
            </a:r>
            <a:r>
              <a:rPr lang="en-US" sz="1800" dirty="0">
                <a:solidFill>
                  <a:srgbClr val="8A6D0F"/>
                </a:solidFill>
                <a:latin typeface="Calibri" pitchFamily="34" charset="0"/>
                <a:ea typeface="Calibri" pitchFamily="34" charset="-122"/>
                <a:cs typeface="Calibri" pitchFamily="34" charset="-120"/>
              </a:rPr>
              <a:t>Redacta tres pares de textos breves —uno de opinión y otro argumentativo— sobre un mismo tema de interés juvenil en Puerto Rico. </a:t>
            </a:r>
            <a:r>
              <a:rPr lang="en-US" sz="1800" dirty="0">
                <a:solidFill>
                  <a:srgbClr val="6C3483"/>
                </a:solidFill>
                <a:latin typeface="Calibri" pitchFamily="34" charset="0"/>
                <a:ea typeface="Calibri" pitchFamily="34" charset="-122"/>
                <a:cs typeface="Calibri" pitchFamily="34" charset="-120"/>
              </a:rPr>
              <a:t>Con un tono que respete su criterio y no los sermonee. </a:t>
            </a:r>
            <a:r>
              <a:rPr lang="en-US" sz="1800" dirty="0">
                <a:solidFill>
                  <a:srgbClr val="A0392B"/>
                </a:solidFill>
                <a:latin typeface="Calibri" pitchFamily="34" charset="0"/>
                <a:ea typeface="Calibri" pitchFamily="34" charset="-122"/>
                <a:cs typeface="Calibri" pitchFamily="34" charset="-120"/>
              </a:rPr>
              <a:t>Tres pares numerados, seguidos de una rúbrica de cuatro criterios.</a:t>
            </a:r>
            <a:endParaRPr lang="en-US" sz="1800" dirty="0"/>
          </a:p>
        </p:txBody>
      </p:sp>
      <p:sp>
        <p:nvSpPr>
          <p:cNvPr id="9" name="Text 7"/>
          <p:cNvSpPr txBox="1"/>
          <p:nvPr/>
        </p:nvSpPr>
        <p:spPr>
          <a:xfrm>
            <a:off x="859536" y="4315968"/>
            <a:ext cx="4846320" cy="256032"/>
          </a:xfrm>
          <a:prstGeom prst="rect">
            <a:avLst/>
          </a:prstGeom>
          <a:noFill/>
          <a:ln/>
        </p:spPr>
        <p:txBody>
          <a:bodyPr wrap="square" lIns="0" tIns="0" rIns="0" bIns="0" rtlCol="0" anchor="ctr"/>
          <a:lstStyle/>
          <a:p>
            <a:pPr marL="0" indent="0">
              <a:buNone/>
            </a:pPr>
            <a:r>
              <a:rPr lang="en-US" sz="1600" b="1" kern="0" spc="120" dirty="0">
                <a:solidFill>
                  <a:srgbClr val="2A9D8F"/>
                </a:solidFill>
                <a:latin typeface="Calibri" pitchFamily="34" charset="0"/>
                <a:ea typeface="Calibri" pitchFamily="34" charset="-122"/>
                <a:cs typeface="Calibri" pitchFamily="34" charset="-120"/>
              </a:rPr>
              <a:t>QUÉ LOGRA</a:t>
            </a:r>
            <a:endParaRPr lang="en-US" sz="1600" dirty="0"/>
          </a:p>
        </p:txBody>
      </p:sp>
      <p:sp>
        <p:nvSpPr>
          <p:cNvPr id="10" name="Text 8"/>
          <p:cNvSpPr txBox="1"/>
          <p:nvPr/>
        </p:nvSpPr>
        <p:spPr>
          <a:xfrm>
            <a:off x="859536" y="4590288"/>
            <a:ext cx="10469880" cy="621792"/>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El contraste pareado hace visible la diferencia que una definición abstracta no logra transmitir.</a:t>
            </a:r>
            <a:endParaRPr lang="en-US" sz="1700" dirty="0"/>
          </a:p>
        </p:txBody>
      </p:sp>
      <p:sp>
        <p:nvSpPr>
          <p:cNvPr id="11" name="Shape 9"/>
          <p:cNvSpPr/>
          <p:nvPr/>
        </p:nvSpPr>
        <p:spPr>
          <a:xfrm>
            <a:off x="566928" y="5541264"/>
            <a:ext cx="219456" cy="219456"/>
          </a:xfrm>
          <a:prstGeom prst="ellipse">
            <a:avLst/>
          </a:prstGeom>
          <a:solidFill>
            <a:srgbClr val="1B2A4A"/>
          </a:solidFill>
          <a:ln w="12700">
            <a:solidFill>
              <a:srgbClr val="1B2A4A"/>
            </a:solidFill>
            <a:prstDash val="solid"/>
          </a:ln>
        </p:spPr>
        <p:txBody>
          <a:bodyPr/>
          <a:lstStyle/>
          <a:p>
            <a:endParaRPr lang="en-PR"/>
          </a:p>
        </p:txBody>
      </p:sp>
      <p:sp>
        <p:nvSpPr>
          <p:cNvPr id="12" name="Text 10"/>
          <p:cNvSpPr txBox="1"/>
          <p:nvPr/>
        </p:nvSpPr>
        <p:spPr>
          <a:xfrm>
            <a:off x="877824" y="5486400"/>
            <a:ext cx="1600200" cy="329184"/>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Rol</a:t>
            </a:r>
            <a:endParaRPr lang="en-US" sz="1600" dirty="0"/>
          </a:p>
        </p:txBody>
      </p:sp>
      <p:sp>
        <p:nvSpPr>
          <p:cNvPr id="13" name="Shape 11"/>
          <p:cNvSpPr/>
          <p:nvPr/>
        </p:nvSpPr>
        <p:spPr>
          <a:xfrm>
            <a:off x="2578608" y="5541264"/>
            <a:ext cx="219456" cy="219456"/>
          </a:xfrm>
          <a:prstGeom prst="ellipse">
            <a:avLst/>
          </a:prstGeom>
          <a:solidFill>
            <a:srgbClr val="1F7A6E"/>
          </a:solidFill>
          <a:ln w="12700">
            <a:solidFill>
              <a:srgbClr val="1F7A6E"/>
            </a:solidFill>
            <a:prstDash val="solid"/>
          </a:ln>
        </p:spPr>
        <p:txBody>
          <a:bodyPr/>
          <a:lstStyle/>
          <a:p>
            <a:endParaRPr lang="en-PR"/>
          </a:p>
        </p:txBody>
      </p:sp>
      <p:sp>
        <p:nvSpPr>
          <p:cNvPr id="14" name="Text 12"/>
          <p:cNvSpPr txBox="1"/>
          <p:nvPr/>
        </p:nvSpPr>
        <p:spPr>
          <a:xfrm>
            <a:off x="2889504" y="5486400"/>
            <a:ext cx="1600200" cy="329184"/>
          </a:xfrm>
          <a:prstGeom prst="rect">
            <a:avLst/>
          </a:prstGeom>
          <a:noFill/>
          <a:ln/>
        </p:spPr>
        <p:txBody>
          <a:bodyPr wrap="square" lIns="0" tIns="0" rIns="0" bIns="0" rtlCol="0" anchor="ctr"/>
          <a:lstStyle/>
          <a:p>
            <a:pPr marL="0" indent="0">
              <a:buNone/>
            </a:pPr>
            <a:r>
              <a:rPr lang="en-US" sz="1600" b="1" dirty="0">
                <a:solidFill>
                  <a:srgbClr val="1F7A6E"/>
                </a:solidFill>
                <a:latin typeface="Calibri" pitchFamily="34" charset="0"/>
                <a:ea typeface="Calibri" pitchFamily="34" charset="-122"/>
                <a:cs typeface="Calibri" pitchFamily="34" charset="-120"/>
              </a:rPr>
              <a:t>Contexto</a:t>
            </a:r>
            <a:endParaRPr lang="en-US" sz="1600" dirty="0"/>
          </a:p>
        </p:txBody>
      </p:sp>
      <p:sp>
        <p:nvSpPr>
          <p:cNvPr id="15" name="Shape 13"/>
          <p:cNvSpPr/>
          <p:nvPr/>
        </p:nvSpPr>
        <p:spPr>
          <a:xfrm>
            <a:off x="4590288" y="5541264"/>
            <a:ext cx="219456" cy="219456"/>
          </a:xfrm>
          <a:prstGeom prst="ellipse">
            <a:avLst/>
          </a:prstGeom>
          <a:solidFill>
            <a:srgbClr val="8A6D0F"/>
          </a:solidFill>
          <a:ln w="12700">
            <a:solidFill>
              <a:srgbClr val="8A6D0F"/>
            </a:solidFill>
            <a:prstDash val="solid"/>
          </a:ln>
        </p:spPr>
        <p:txBody>
          <a:bodyPr/>
          <a:lstStyle/>
          <a:p>
            <a:endParaRPr lang="en-PR"/>
          </a:p>
        </p:txBody>
      </p:sp>
      <p:sp>
        <p:nvSpPr>
          <p:cNvPr id="16" name="Text 14"/>
          <p:cNvSpPr txBox="1"/>
          <p:nvPr/>
        </p:nvSpPr>
        <p:spPr>
          <a:xfrm>
            <a:off x="4901184" y="5486400"/>
            <a:ext cx="1600200" cy="329184"/>
          </a:xfrm>
          <a:prstGeom prst="rect">
            <a:avLst/>
          </a:prstGeom>
          <a:noFill/>
          <a:ln/>
        </p:spPr>
        <p:txBody>
          <a:bodyPr wrap="square" lIns="0" tIns="0" rIns="0" bIns="0" rtlCol="0" anchor="ctr"/>
          <a:lstStyle/>
          <a:p>
            <a:pPr marL="0" indent="0">
              <a:buNone/>
            </a:pPr>
            <a:r>
              <a:rPr lang="en-US" sz="1600" b="1" dirty="0">
                <a:solidFill>
                  <a:srgbClr val="8A6D0F"/>
                </a:solidFill>
                <a:latin typeface="Calibri" pitchFamily="34" charset="0"/>
                <a:ea typeface="Calibri" pitchFamily="34" charset="-122"/>
                <a:cs typeface="Calibri" pitchFamily="34" charset="-120"/>
              </a:rPr>
              <a:t>Tarea</a:t>
            </a:r>
            <a:endParaRPr lang="en-US" sz="1600" dirty="0"/>
          </a:p>
        </p:txBody>
      </p:sp>
      <p:sp>
        <p:nvSpPr>
          <p:cNvPr id="17" name="Shape 15"/>
          <p:cNvSpPr/>
          <p:nvPr/>
        </p:nvSpPr>
        <p:spPr>
          <a:xfrm>
            <a:off x="6601968" y="5541264"/>
            <a:ext cx="219456" cy="219456"/>
          </a:xfrm>
          <a:prstGeom prst="ellipse">
            <a:avLst/>
          </a:prstGeom>
          <a:solidFill>
            <a:srgbClr val="6C3483"/>
          </a:solidFill>
          <a:ln w="12700">
            <a:solidFill>
              <a:srgbClr val="6C3483"/>
            </a:solidFill>
            <a:prstDash val="solid"/>
          </a:ln>
        </p:spPr>
        <p:txBody>
          <a:bodyPr/>
          <a:lstStyle/>
          <a:p>
            <a:endParaRPr lang="en-PR"/>
          </a:p>
        </p:txBody>
      </p:sp>
      <p:sp>
        <p:nvSpPr>
          <p:cNvPr id="18" name="Text 16"/>
          <p:cNvSpPr txBox="1"/>
          <p:nvPr/>
        </p:nvSpPr>
        <p:spPr>
          <a:xfrm>
            <a:off x="6912864" y="5486400"/>
            <a:ext cx="1600200" cy="329184"/>
          </a:xfrm>
          <a:prstGeom prst="rect">
            <a:avLst/>
          </a:prstGeom>
          <a:noFill/>
          <a:ln/>
        </p:spPr>
        <p:txBody>
          <a:bodyPr wrap="square" lIns="0" tIns="0" rIns="0" bIns="0" rtlCol="0" anchor="ctr"/>
          <a:lstStyle/>
          <a:p>
            <a:pPr marL="0" indent="0">
              <a:buNone/>
            </a:pPr>
            <a:r>
              <a:rPr lang="en-US" sz="1600" b="1" dirty="0">
                <a:solidFill>
                  <a:srgbClr val="6C3483"/>
                </a:solidFill>
                <a:latin typeface="Calibri" pitchFamily="34" charset="0"/>
                <a:ea typeface="Calibri" pitchFamily="34" charset="-122"/>
                <a:cs typeface="Calibri" pitchFamily="34" charset="-120"/>
              </a:rPr>
              <a:t>Tono</a:t>
            </a:r>
            <a:endParaRPr lang="en-US" sz="1600" dirty="0"/>
          </a:p>
        </p:txBody>
      </p:sp>
      <p:sp>
        <p:nvSpPr>
          <p:cNvPr id="19" name="Shape 17"/>
          <p:cNvSpPr/>
          <p:nvPr/>
        </p:nvSpPr>
        <p:spPr>
          <a:xfrm>
            <a:off x="8613648" y="5541264"/>
            <a:ext cx="219456" cy="219456"/>
          </a:xfrm>
          <a:prstGeom prst="ellipse">
            <a:avLst/>
          </a:prstGeom>
          <a:solidFill>
            <a:srgbClr val="A0392B"/>
          </a:solidFill>
          <a:ln w="12700">
            <a:solidFill>
              <a:srgbClr val="A0392B"/>
            </a:solidFill>
            <a:prstDash val="solid"/>
          </a:ln>
        </p:spPr>
        <p:txBody>
          <a:bodyPr/>
          <a:lstStyle/>
          <a:p>
            <a:endParaRPr lang="en-PR"/>
          </a:p>
        </p:txBody>
      </p:sp>
      <p:sp>
        <p:nvSpPr>
          <p:cNvPr id="20" name="Text 18"/>
          <p:cNvSpPr txBox="1"/>
          <p:nvPr/>
        </p:nvSpPr>
        <p:spPr>
          <a:xfrm>
            <a:off x="8924544" y="5486400"/>
            <a:ext cx="1600200" cy="329184"/>
          </a:xfrm>
          <a:prstGeom prst="rect">
            <a:avLst/>
          </a:prstGeom>
          <a:noFill/>
          <a:ln/>
        </p:spPr>
        <p:txBody>
          <a:bodyPr wrap="square" lIns="0" tIns="0" rIns="0" bIns="0" rtlCol="0" anchor="ctr"/>
          <a:lstStyle/>
          <a:p>
            <a:pPr marL="0" indent="0">
              <a:buNone/>
            </a:pPr>
            <a:r>
              <a:rPr lang="en-US" sz="1600" b="1" dirty="0">
                <a:solidFill>
                  <a:srgbClr val="A0392B"/>
                </a:solidFill>
                <a:latin typeface="Calibri" pitchFamily="34" charset="0"/>
                <a:ea typeface="Calibri" pitchFamily="34" charset="-122"/>
                <a:cs typeface="Calibri" pitchFamily="34" charset="-120"/>
              </a:rPr>
              <a:t>Formato</a:t>
            </a:r>
            <a:endParaRPr lang="en-US" sz="1600" dirty="0"/>
          </a:p>
        </p:txBody>
      </p:sp>
      <p:sp>
        <p:nvSpPr>
          <p:cNvPr id="21" name="Text 19"/>
          <p:cNvSpPr txBox="1"/>
          <p:nvPr/>
        </p:nvSpPr>
        <p:spPr>
          <a:xfrm>
            <a:off x="566928" y="5925312"/>
            <a:ext cx="11057839" cy="310896"/>
          </a:xfrm>
          <a:prstGeom prst="rect">
            <a:avLst/>
          </a:prstGeom>
          <a:noFill/>
          <a:ln/>
        </p:spPr>
        <p:txBody>
          <a:bodyPr wrap="square" lIns="0" tIns="0" rIns="0" bIns="0" rtlCol="0" anchor="ctr"/>
          <a:lstStyle/>
          <a:p>
            <a:pPr marL="0" indent="0" algn="r">
              <a:buNone/>
            </a:pPr>
            <a:r>
              <a:rPr lang="en-US" sz="1600" i="1" dirty="0">
                <a:solidFill>
                  <a:srgbClr val="5A6478"/>
                </a:solidFill>
                <a:latin typeface="Calibri" pitchFamily="34" charset="0"/>
                <a:ea typeface="Calibri" pitchFamily="34" charset="-122"/>
                <a:cs typeface="Calibri" pitchFamily="34" charset="-120"/>
              </a:rPr>
              <a:t>Revise que los ejemplos no impongan una postura política.</a:t>
            </a:r>
            <a:endParaRPr lang="en-US" sz="1600" dirty="0"/>
          </a:p>
        </p:txBody>
      </p:sp>
      <p:sp>
        <p:nvSpPr>
          <p:cNvPr id="22" name="Text 20"/>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3" name="Text 21"/>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22</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EJEMPLOS RC-TTF · 5 DE 7</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Estudios Sociales</a:t>
            </a:r>
            <a:endParaRPr lang="en-US" sz="3000" dirty="0"/>
          </a:p>
        </p:txBody>
      </p:sp>
      <p:sp>
        <p:nvSpPr>
          <p:cNvPr id="4" name="Shape 2"/>
          <p:cNvSpPr/>
          <p:nvPr/>
        </p:nvSpPr>
        <p:spPr>
          <a:xfrm>
            <a:off x="566928" y="1426464"/>
            <a:ext cx="11057839" cy="3840480"/>
          </a:xfrm>
          <a:prstGeom prst="roundRect">
            <a:avLst>
              <a:gd name="adj" fmla="val 2143"/>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59536" y="1627632"/>
            <a:ext cx="2148840" cy="347472"/>
          </a:xfrm>
          <a:prstGeom prst="roundRect">
            <a:avLst>
              <a:gd name="adj" fmla="val 50000"/>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59536" y="1627632"/>
            <a:ext cx="2148840" cy="347472"/>
          </a:xfrm>
          <a:prstGeom prst="rect">
            <a:avLst/>
          </a:prstGeom>
          <a:noFill/>
          <a:ln/>
        </p:spPr>
        <p:txBody>
          <a:bodyPr wrap="square" lIns="0" tIns="0" rIns="0" bIns="0" rtlCol="0" anchor="ctr"/>
          <a:lstStyle/>
          <a:p>
            <a:pPr marL="0" indent="0" algn="ctr">
              <a:buNone/>
            </a:pPr>
            <a:r>
              <a:rPr lang="en-US" sz="1600" b="1" kern="0" spc="40" dirty="0">
                <a:solidFill>
                  <a:srgbClr val="FFFFFF"/>
                </a:solidFill>
                <a:latin typeface="Calibri" pitchFamily="34" charset="0"/>
                <a:ea typeface="Calibri" pitchFamily="34" charset="-122"/>
                <a:cs typeface="Calibri" pitchFamily="34" charset="-120"/>
              </a:rPr>
              <a:t>6.º a 8.º GRADO</a:t>
            </a:r>
            <a:endParaRPr lang="en-US" sz="1600" dirty="0"/>
          </a:p>
        </p:txBody>
      </p:sp>
      <p:sp>
        <p:nvSpPr>
          <p:cNvPr id="7" name="Text 5"/>
          <p:cNvSpPr txBox="1"/>
          <p:nvPr/>
        </p:nvSpPr>
        <p:spPr>
          <a:xfrm>
            <a:off x="3172968" y="1627632"/>
            <a:ext cx="7772400" cy="347472"/>
          </a:xfrm>
          <a:prstGeom prst="rect">
            <a:avLst/>
          </a:prstGeom>
          <a:noFill/>
          <a:ln/>
        </p:spPr>
        <p:txBody>
          <a:bodyPr wrap="square" lIns="0" tIns="0" rIns="0" bIns="0" rtlCol="0" anchor="ctr"/>
          <a:lstStyle/>
          <a:p>
            <a:pPr marL="0" indent="0">
              <a:buNone/>
            </a:pPr>
            <a:r>
              <a:rPr lang="en-US" sz="1700" i="1" dirty="0">
                <a:solidFill>
                  <a:srgbClr val="5A6478"/>
                </a:solidFill>
                <a:latin typeface="Calibri" pitchFamily="34" charset="0"/>
                <a:ea typeface="Calibri" pitchFamily="34" charset="-122"/>
                <a:cs typeface="Calibri" pitchFamily="34" charset="-120"/>
              </a:rPr>
              <a:t>Análisis de fuentes</a:t>
            </a:r>
            <a:endParaRPr lang="en-US" sz="1700" dirty="0"/>
          </a:p>
        </p:txBody>
      </p:sp>
      <p:sp>
        <p:nvSpPr>
          <p:cNvPr id="8" name="Text 6"/>
          <p:cNvSpPr txBox="1"/>
          <p:nvPr/>
        </p:nvSpPr>
        <p:spPr>
          <a:xfrm>
            <a:off x="859536" y="2084832"/>
            <a:ext cx="10469880" cy="2148840"/>
          </a:xfrm>
          <a:prstGeom prst="rect">
            <a:avLst/>
          </a:prstGeom>
          <a:noFill/>
          <a:ln/>
        </p:spPr>
        <p:txBody>
          <a:bodyPr wrap="square" lIns="0" tIns="0" rIns="0" bIns="0" rtlCol="0" anchor="t"/>
          <a:lstStyle/>
          <a:p>
            <a:pPr marL="0" indent="0">
              <a:lnSpc>
                <a:spcPts val="2600"/>
              </a:lnSpc>
              <a:buNone/>
            </a:pPr>
            <a:r>
              <a:rPr lang="en-US" sz="1800" dirty="0">
                <a:solidFill>
                  <a:srgbClr val="1B2A4A"/>
                </a:solidFill>
                <a:latin typeface="Calibri" pitchFamily="34" charset="0"/>
                <a:ea typeface="Calibri" pitchFamily="34" charset="-122"/>
                <a:cs typeface="Calibri" pitchFamily="34" charset="-120"/>
              </a:rPr>
              <a:t>Actúa como maestro de Estudios Sociales de escuela intermedia. </a:t>
            </a:r>
            <a:r>
              <a:rPr lang="en-US" sz="1800" dirty="0">
                <a:solidFill>
                  <a:srgbClr val="1F7A6E"/>
                </a:solidFill>
                <a:latin typeface="Calibri" pitchFamily="34" charset="0"/>
                <a:ea typeface="Calibri" pitchFamily="34" charset="-122"/>
                <a:cs typeface="Calibri" pitchFamily="34" charset="-120"/>
              </a:rPr>
              <a:t>Enseño historia de Puerto Rico a 8.º grado y mis estudiantes memorizan fechas sin comprender causas ni consecuencias. </a:t>
            </a:r>
            <a:r>
              <a:rPr lang="en-US" sz="1800" dirty="0">
                <a:solidFill>
                  <a:srgbClr val="8A6D0F"/>
                </a:solidFill>
                <a:latin typeface="Calibri" pitchFamily="34" charset="0"/>
                <a:ea typeface="Calibri" pitchFamily="34" charset="-122"/>
                <a:cs typeface="Calibri" pitchFamily="34" charset="-120"/>
              </a:rPr>
              <a:t>Diseña una actividad de análisis con tres documentos breves sobre la Ley Foraker, adaptados al nivel de lectura de 8.º grado. </a:t>
            </a:r>
            <a:r>
              <a:rPr lang="en-US" sz="1800" dirty="0">
                <a:solidFill>
                  <a:srgbClr val="6C3483"/>
                </a:solidFill>
                <a:latin typeface="Calibri" pitchFamily="34" charset="0"/>
                <a:ea typeface="Calibri" pitchFamily="34" charset="-122"/>
                <a:cs typeface="Calibri" pitchFamily="34" charset="-120"/>
              </a:rPr>
              <a:t>Lenguaje claro y presentación equilibrada de las posturas de la época. </a:t>
            </a:r>
            <a:r>
              <a:rPr lang="en-US" sz="1800" dirty="0">
                <a:solidFill>
                  <a:srgbClr val="A0392B"/>
                </a:solidFill>
                <a:latin typeface="Calibri" pitchFamily="34" charset="0"/>
                <a:ea typeface="Calibri" pitchFamily="34" charset="-122"/>
                <a:cs typeface="Calibri" pitchFamily="34" charset="-120"/>
              </a:rPr>
              <a:t>Los tres documentos, seguidos de cinco preguntas de análisis en dificultad creciente.</a:t>
            </a:r>
            <a:endParaRPr lang="en-US" sz="1800" dirty="0"/>
          </a:p>
        </p:txBody>
      </p:sp>
      <p:sp>
        <p:nvSpPr>
          <p:cNvPr id="9" name="Text 7"/>
          <p:cNvSpPr txBox="1"/>
          <p:nvPr/>
        </p:nvSpPr>
        <p:spPr>
          <a:xfrm>
            <a:off x="859536" y="4315968"/>
            <a:ext cx="4846320" cy="256032"/>
          </a:xfrm>
          <a:prstGeom prst="rect">
            <a:avLst/>
          </a:prstGeom>
          <a:noFill/>
          <a:ln/>
        </p:spPr>
        <p:txBody>
          <a:bodyPr wrap="square" lIns="0" tIns="0" rIns="0" bIns="0" rtlCol="0" anchor="ctr"/>
          <a:lstStyle/>
          <a:p>
            <a:pPr marL="0" indent="0">
              <a:buNone/>
            </a:pPr>
            <a:r>
              <a:rPr lang="en-US" sz="1600" b="1" kern="0" spc="120" dirty="0">
                <a:solidFill>
                  <a:srgbClr val="2A9D8F"/>
                </a:solidFill>
                <a:latin typeface="Calibri" pitchFamily="34" charset="0"/>
                <a:ea typeface="Calibri" pitchFamily="34" charset="-122"/>
                <a:cs typeface="Calibri" pitchFamily="34" charset="-120"/>
              </a:rPr>
              <a:t>QUÉ LOGRA</a:t>
            </a:r>
            <a:endParaRPr lang="en-US" sz="1600" dirty="0"/>
          </a:p>
        </p:txBody>
      </p:sp>
      <p:sp>
        <p:nvSpPr>
          <p:cNvPr id="10" name="Text 8"/>
          <p:cNvSpPr txBox="1"/>
          <p:nvPr/>
        </p:nvSpPr>
        <p:spPr>
          <a:xfrm>
            <a:off x="859536" y="4590288"/>
            <a:ext cx="10469880" cy="621792"/>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Trabajar con fuentes desplaza la clase de la memorización hacia la interpretación histórica, que es la destreza evaluada.</a:t>
            </a:r>
            <a:endParaRPr lang="en-US" sz="1700" dirty="0"/>
          </a:p>
        </p:txBody>
      </p:sp>
      <p:sp>
        <p:nvSpPr>
          <p:cNvPr id="11" name="Shape 9"/>
          <p:cNvSpPr/>
          <p:nvPr/>
        </p:nvSpPr>
        <p:spPr>
          <a:xfrm>
            <a:off x="566928" y="5541264"/>
            <a:ext cx="219456" cy="219456"/>
          </a:xfrm>
          <a:prstGeom prst="ellipse">
            <a:avLst/>
          </a:prstGeom>
          <a:solidFill>
            <a:srgbClr val="1B2A4A"/>
          </a:solidFill>
          <a:ln w="12700">
            <a:solidFill>
              <a:srgbClr val="1B2A4A"/>
            </a:solidFill>
            <a:prstDash val="solid"/>
          </a:ln>
        </p:spPr>
        <p:txBody>
          <a:bodyPr/>
          <a:lstStyle/>
          <a:p>
            <a:endParaRPr lang="en-PR"/>
          </a:p>
        </p:txBody>
      </p:sp>
      <p:sp>
        <p:nvSpPr>
          <p:cNvPr id="12" name="Text 10"/>
          <p:cNvSpPr txBox="1"/>
          <p:nvPr/>
        </p:nvSpPr>
        <p:spPr>
          <a:xfrm>
            <a:off x="877824" y="5486400"/>
            <a:ext cx="1600200" cy="329184"/>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Rol</a:t>
            </a:r>
            <a:endParaRPr lang="en-US" sz="1600" dirty="0"/>
          </a:p>
        </p:txBody>
      </p:sp>
      <p:sp>
        <p:nvSpPr>
          <p:cNvPr id="13" name="Shape 11"/>
          <p:cNvSpPr/>
          <p:nvPr/>
        </p:nvSpPr>
        <p:spPr>
          <a:xfrm>
            <a:off x="2578608" y="5541264"/>
            <a:ext cx="219456" cy="219456"/>
          </a:xfrm>
          <a:prstGeom prst="ellipse">
            <a:avLst/>
          </a:prstGeom>
          <a:solidFill>
            <a:srgbClr val="1F7A6E"/>
          </a:solidFill>
          <a:ln w="12700">
            <a:solidFill>
              <a:srgbClr val="1F7A6E"/>
            </a:solidFill>
            <a:prstDash val="solid"/>
          </a:ln>
        </p:spPr>
        <p:txBody>
          <a:bodyPr/>
          <a:lstStyle/>
          <a:p>
            <a:endParaRPr lang="en-PR"/>
          </a:p>
        </p:txBody>
      </p:sp>
      <p:sp>
        <p:nvSpPr>
          <p:cNvPr id="14" name="Text 12"/>
          <p:cNvSpPr txBox="1"/>
          <p:nvPr/>
        </p:nvSpPr>
        <p:spPr>
          <a:xfrm>
            <a:off x="2889504" y="5486400"/>
            <a:ext cx="1600200" cy="329184"/>
          </a:xfrm>
          <a:prstGeom prst="rect">
            <a:avLst/>
          </a:prstGeom>
          <a:noFill/>
          <a:ln/>
        </p:spPr>
        <p:txBody>
          <a:bodyPr wrap="square" lIns="0" tIns="0" rIns="0" bIns="0" rtlCol="0" anchor="ctr"/>
          <a:lstStyle/>
          <a:p>
            <a:pPr marL="0" indent="0">
              <a:buNone/>
            </a:pPr>
            <a:r>
              <a:rPr lang="en-US" sz="1600" b="1" dirty="0">
                <a:solidFill>
                  <a:srgbClr val="1F7A6E"/>
                </a:solidFill>
                <a:latin typeface="Calibri" pitchFamily="34" charset="0"/>
                <a:ea typeface="Calibri" pitchFamily="34" charset="-122"/>
                <a:cs typeface="Calibri" pitchFamily="34" charset="-120"/>
              </a:rPr>
              <a:t>Contexto</a:t>
            </a:r>
            <a:endParaRPr lang="en-US" sz="1600" dirty="0"/>
          </a:p>
        </p:txBody>
      </p:sp>
      <p:sp>
        <p:nvSpPr>
          <p:cNvPr id="15" name="Shape 13"/>
          <p:cNvSpPr/>
          <p:nvPr/>
        </p:nvSpPr>
        <p:spPr>
          <a:xfrm>
            <a:off x="4590288" y="5541264"/>
            <a:ext cx="219456" cy="219456"/>
          </a:xfrm>
          <a:prstGeom prst="ellipse">
            <a:avLst/>
          </a:prstGeom>
          <a:solidFill>
            <a:srgbClr val="8A6D0F"/>
          </a:solidFill>
          <a:ln w="12700">
            <a:solidFill>
              <a:srgbClr val="8A6D0F"/>
            </a:solidFill>
            <a:prstDash val="solid"/>
          </a:ln>
        </p:spPr>
        <p:txBody>
          <a:bodyPr/>
          <a:lstStyle/>
          <a:p>
            <a:endParaRPr lang="en-PR"/>
          </a:p>
        </p:txBody>
      </p:sp>
      <p:sp>
        <p:nvSpPr>
          <p:cNvPr id="16" name="Text 14"/>
          <p:cNvSpPr txBox="1"/>
          <p:nvPr/>
        </p:nvSpPr>
        <p:spPr>
          <a:xfrm>
            <a:off x="4901184" y="5486400"/>
            <a:ext cx="1600200" cy="329184"/>
          </a:xfrm>
          <a:prstGeom prst="rect">
            <a:avLst/>
          </a:prstGeom>
          <a:noFill/>
          <a:ln/>
        </p:spPr>
        <p:txBody>
          <a:bodyPr wrap="square" lIns="0" tIns="0" rIns="0" bIns="0" rtlCol="0" anchor="ctr"/>
          <a:lstStyle/>
          <a:p>
            <a:pPr marL="0" indent="0">
              <a:buNone/>
            </a:pPr>
            <a:r>
              <a:rPr lang="en-US" sz="1600" b="1" dirty="0">
                <a:solidFill>
                  <a:srgbClr val="8A6D0F"/>
                </a:solidFill>
                <a:latin typeface="Calibri" pitchFamily="34" charset="0"/>
                <a:ea typeface="Calibri" pitchFamily="34" charset="-122"/>
                <a:cs typeface="Calibri" pitchFamily="34" charset="-120"/>
              </a:rPr>
              <a:t>Tarea</a:t>
            </a:r>
            <a:endParaRPr lang="en-US" sz="1600" dirty="0"/>
          </a:p>
        </p:txBody>
      </p:sp>
      <p:sp>
        <p:nvSpPr>
          <p:cNvPr id="17" name="Shape 15"/>
          <p:cNvSpPr/>
          <p:nvPr/>
        </p:nvSpPr>
        <p:spPr>
          <a:xfrm>
            <a:off x="6601968" y="5541264"/>
            <a:ext cx="219456" cy="219456"/>
          </a:xfrm>
          <a:prstGeom prst="ellipse">
            <a:avLst/>
          </a:prstGeom>
          <a:solidFill>
            <a:srgbClr val="6C3483"/>
          </a:solidFill>
          <a:ln w="12700">
            <a:solidFill>
              <a:srgbClr val="6C3483"/>
            </a:solidFill>
            <a:prstDash val="solid"/>
          </a:ln>
        </p:spPr>
        <p:txBody>
          <a:bodyPr/>
          <a:lstStyle/>
          <a:p>
            <a:endParaRPr lang="en-PR"/>
          </a:p>
        </p:txBody>
      </p:sp>
      <p:sp>
        <p:nvSpPr>
          <p:cNvPr id="18" name="Text 16"/>
          <p:cNvSpPr txBox="1"/>
          <p:nvPr/>
        </p:nvSpPr>
        <p:spPr>
          <a:xfrm>
            <a:off x="6912864" y="5486400"/>
            <a:ext cx="1600200" cy="329184"/>
          </a:xfrm>
          <a:prstGeom prst="rect">
            <a:avLst/>
          </a:prstGeom>
          <a:noFill/>
          <a:ln/>
        </p:spPr>
        <p:txBody>
          <a:bodyPr wrap="square" lIns="0" tIns="0" rIns="0" bIns="0" rtlCol="0" anchor="ctr"/>
          <a:lstStyle/>
          <a:p>
            <a:pPr marL="0" indent="0">
              <a:buNone/>
            </a:pPr>
            <a:r>
              <a:rPr lang="en-US" sz="1600" b="1" dirty="0">
                <a:solidFill>
                  <a:srgbClr val="6C3483"/>
                </a:solidFill>
                <a:latin typeface="Calibri" pitchFamily="34" charset="0"/>
                <a:ea typeface="Calibri" pitchFamily="34" charset="-122"/>
                <a:cs typeface="Calibri" pitchFamily="34" charset="-120"/>
              </a:rPr>
              <a:t>Tono</a:t>
            </a:r>
            <a:endParaRPr lang="en-US" sz="1600" dirty="0"/>
          </a:p>
        </p:txBody>
      </p:sp>
      <p:sp>
        <p:nvSpPr>
          <p:cNvPr id="19" name="Shape 17"/>
          <p:cNvSpPr/>
          <p:nvPr/>
        </p:nvSpPr>
        <p:spPr>
          <a:xfrm>
            <a:off x="8613648" y="5541264"/>
            <a:ext cx="219456" cy="219456"/>
          </a:xfrm>
          <a:prstGeom prst="ellipse">
            <a:avLst/>
          </a:prstGeom>
          <a:solidFill>
            <a:srgbClr val="A0392B"/>
          </a:solidFill>
          <a:ln w="12700">
            <a:solidFill>
              <a:srgbClr val="A0392B"/>
            </a:solidFill>
            <a:prstDash val="solid"/>
          </a:ln>
        </p:spPr>
        <p:txBody>
          <a:bodyPr/>
          <a:lstStyle/>
          <a:p>
            <a:endParaRPr lang="en-PR"/>
          </a:p>
        </p:txBody>
      </p:sp>
      <p:sp>
        <p:nvSpPr>
          <p:cNvPr id="20" name="Text 18"/>
          <p:cNvSpPr txBox="1"/>
          <p:nvPr/>
        </p:nvSpPr>
        <p:spPr>
          <a:xfrm>
            <a:off x="8924544" y="5486400"/>
            <a:ext cx="1600200" cy="329184"/>
          </a:xfrm>
          <a:prstGeom prst="rect">
            <a:avLst/>
          </a:prstGeom>
          <a:noFill/>
          <a:ln/>
        </p:spPr>
        <p:txBody>
          <a:bodyPr wrap="square" lIns="0" tIns="0" rIns="0" bIns="0" rtlCol="0" anchor="ctr"/>
          <a:lstStyle/>
          <a:p>
            <a:pPr marL="0" indent="0">
              <a:buNone/>
            </a:pPr>
            <a:r>
              <a:rPr lang="en-US" sz="1600" b="1" dirty="0">
                <a:solidFill>
                  <a:srgbClr val="A0392B"/>
                </a:solidFill>
                <a:latin typeface="Calibri" pitchFamily="34" charset="0"/>
                <a:ea typeface="Calibri" pitchFamily="34" charset="-122"/>
                <a:cs typeface="Calibri" pitchFamily="34" charset="-120"/>
              </a:rPr>
              <a:t>Formato</a:t>
            </a:r>
            <a:endParaRPr lang="en-US" sz="1600" dirty="0"/>
          </a:p>
        </p:txBody>
      </p:sp>
      <p:sp>
        <p:nvSpPr>
          <p:cNvPr id="21" name="Text 19"/>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2" name="Text 20"/>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23</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EJEMPLOS RC-TTF · 5 DE 7</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Estudios Sociales (cont.)</a:t>
            </a:r>
            <a:endParaRPr lang="en-US" sz="3000" dirty="0"/>
          </a:p>
        </p:txBody>
      </p:sp>
      <p:sp>
        <p:nvSpPr>
          <p:cNvPr id="4" name="Shape 2"/>
          <p:cNvSpPr/>
          <p:nvPr/>
        </p:nvSpPr>
        <p:spPr>
          <a:xfrm>
            <a:off x="566928" y="1426464"/>
            <a:ext cx="11057839" cy="3840480"/>
          </a:xfrm>
          <a:prstGeom prst="roundRect">
            <a:avLst>
              <a:gd name="adj" fmla="val 2143"/>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59536" y="1627632"/>
            <a:ext cx="2148840" cy="347472"/>
          </a:xfrm>
          <a:prstGeom prst="roundRect">
            <a:avLst>
              <a:gd name="adj" fmla="val 50000"/>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59536" y="1627632"/>
            <a:ext cx="2148840" cy="347472"/>
          </a:xfrm>
          <a:prstGeom prst="rect">
            <a:avLst/>
          </a:prstGeom>
          <a:noFill/>
          <a:ln/>
        </p:spPr>
        <p:txBody>
          <a:bodyPr wrap="square" lIns="0" tIns="0" rIns="0" bIns="0" rtlCol="0" anchor="ctr"/>
          <a:lstStyle/>
          <a:p>
            <a:pPr marL="0" indent="0" algn="ctr">
              <a:buNone/>
            </a:pPr>
            <a:r>
              <a:rPr lang="en-US" sz="1600" b="1" kern="0" spc="40" dirty="0">
                <a:solidFill>
                  <a:srgbClr val="FFFFFF"/>
                </a:solidFill>
                <a:latin typeface="Calibri" pitchFamily="34" charset="0"/>
                <a:ea typeface="Calibri" pitchFamily="34" charset="-122"/>
                <a:cs typeface="Calibri" pitchFamily="34" charset="-120"/>
              </a:rPr>
              <a:t>9.º a 12.º GRADO</a:t>
            </a:r>
            <a:endParaRPr lang="en-US" sz="1600" dirty="0"/>
          </a:p>
        </p:txBody>
      </p:sp>
      <p:sp>
        <p:nvSpPr>
          <p:cNvPr id="7" name="Text 5"/>
          <p:cNvSpPr txBox="1"/>
          <p:nvPr/>
        </p:nvSpPr>
        <p:spPr>
          <a:xfrm>
            <a:off x="3172968" y="1627632"/>
            <a:ext cx="7772400" cy="347472"/>
          </a:xfrm>
          <a:prstGeom prst="rect">
            <a:avLst/>
          </a:prstGeom>
          <a:noFill/>
          <a:ln/>
        </p:spPr>
        <p:txBody>
          <a:bodyPr wrap="square" lIns="0" tIns="0" rIns="0" bIns="0" rtlCol="0" anchor="ctr"/>
          <a:lstStyle/>
          <a:p>
            <a:pPr marL="0" indent="0">
              <a:buNone/>
            </a:pPr>
            <a:r>
              <a:rPr lang="en-US" sz="1700" i="1" dirty="0">
                <a:solidFill>
                  <a:srgbClr val="5A6478"/>
                </a:solidFill>
                <a:latin typeface="Calibri" pitchFamily="34" charset="0"/>
                <a:ea typeface="Calibri" pitchFamily="34" charset="-122"/>
                <a:cs typeface="Calibri" pitchFamily="34" charset="-120"/>
              </a:rPr>
              <a:t>Debate estructurado</a:t>
            </a:r>
            <a:endParaRPr lang="en-US" sz="1700" dirty="0"/>
          </a:p>
        </p:txBody>
      </p:sp>
      <p:sp>
        <p:nvSpPr>
          <p:cNvPr id="8" name="Text 6"/>
          <p:cNvSpPr txBox="1"/>
          <p:nvPr/>
        </p:nvSpPr>
        <p:spPr>
          <a:xfrm>
            <a:off x="859536" y="2084832"/>
            <a:ext cx="10469880" cy="2148840"/>
          </a:xfrm>
          <a:prstGeom prst="rect">
            <a:avLst/>
          </a:prstGeom>
          <a:noFill/>
          <a:ln/>
        </p:spPr>
        <p:txBody>
          <a:bodyPr wrap="square" lIns="0" tIns="0" rIns="0" bIns="0" rtlCol="0" anchor="t"/>
          <a:lstStyle/>
          <a:p>
            <a:pPr marL="0" indent="0">
              <a:lnSpc>
                <a:spcPts val="2600"/>
              </a:lnSpc>
              <a:buNone/>
            </a:pPr>
            <a:r>
              <a:rPr lang="en-US" sz="1800" dirty="0">
                <a:solidFill>
                  <a:srgbClr val="1B2A4A"/>
                </a:solidFill>
                <a:latin typeface="Calibri" pitchFamily="34" charset="0"/>
                <a:ea typeface="Calibri" pitchFamily="34" charset="-122"/>
                <a:cs typeface="Calibri" pitchFamily="34" charset="-120"/>
              </a:rPr>
              <a:t>Actúa como maestro de Historia de escuela superior. </a:t>
            </a:r>
            <a:r>
              <a:rPr lang="en-US" sz="1800" dirty="0">
                <a:solidFill>
                  <a:srgbClr val="1F7A6E"/>
                </a:solidFill>
                <a:latin typeface="Calibri" pitchFamily="34" charset="0"/>
                <a:ea typeface="Calibri" pitchFamily="34" charset="-122"/>
                <a:cs typeface="Calibri" pitchFamily="34" charset="-120"/>
              </a:rPr>
              <a:t>Mi grupo de 10.º grado debe comprender la migración puertorriqueña del siglo XX desde varias perspectivas. </a:t>
            </a:r>
            <a:r>
              <a:rPr lang="en-US" sz="1800" dirty="0">
                <a:solidFill>
                  <a:srgbClr val="8A6D0F"/>
                </a:solidFill>
                <a:latin typeface="Calibri" pitchFamily="34" charset="0"/>
                <a:ea typeface="Calibri" pitchFamily="34" charset="-122"/>
                <a:cs typeface="Calibri" pitchFamily="34" charset="-120"/>
              </a:rPr>
              <a:t>Crea un debate estructurado con cuatro roles históricos, cada uno con su contexto, sus intereses y dos datos verificables. </a:t>
            </a:r>
            <a:r>
              <a:rPr lang="en-US" sz="1800" dirty="0">
                <a:solidFill>
                  <a:srgbClr val="6C3483"/>
                </a:solidFill>
                <a:latin typeface="Calibri" pitchFamily="34" charset="0"/>
                <a:ea typeface="Calibri" pitchFamily="34" charset="-122"/>
                <a:cs typeface="Calibri" pitchFamily="34" charset="-120"/>
              </a:rPr>
              <a:t>Tono neutral: cada rol debe resultar defendible. </a:t>
            </a:r>
            <a:r>
              <a:rPr lang="en-US" sz="1800" dirty="0">
                <a:solidFill>
                  <a:srgbClr val="A0392B"/>
                </a:solidFill>
                <a:latin typeface="Calibri" pitchFamily="34" charset="0"/>
                <a:ea typeface="Calibri" pitchFamily="34" charset="-122"/>
                <a:cs typeface="Calibri" pitchFamily="34" charset="-120"/>
              </a:rPr>
              <a:t>Una tarjeta de rol por página, más las reglas del debate y una rúbrica de participación.</a:t>
            </a:r>
            <a:endParaRPr lang="en-US" sz="1800" dirty="0"/>
          </a:p>
        </p:txBody>
      </p:sp>
      <p:sp>
        <p:nvSpPr>
          <p:cNvPr id="9" name="Text 7"/>
          <p:cNvSpPr txBox="1"/>
          <p:nvPr/>
        </p:nvSpPr>
        <p:spPr>
          <a:xfrm>
            <a:off x="859536" y="4315968"/>
            <a:ext cx="4846320" cy="256032"/>
          </a:xfrm>
          <a:prstGeom prst="rect">
            <a:avLst/>
          </a:prstGeom>
          <a:noFill/>
          <a:ln/>
        </p:spPr>
        <p:txBody>
          <a:bodyPr wrap="square" lIns="0" tIns="0" rIns="0" bIns="0" rtlCol="0" anchor="ctr"/>
          <a:lstStyle/>
          <a:p>
            <a:pPr marL="0" indent="0">
              <a:buNone/>
            </a:pPr>
            <a:r>
              <a:rPr lang="en-US" sz="1600" b="1" kern="0" spc="120" dirty="0">
                <a:solidFill>
                  <a:srgbClr val="2A9D8F"/>
                </a:solidFill>
                <a:latin typeface="Calibri" pitchFamily="34" charset="0"/>
                <a:ea typeface="Calibri" pitchFamily="34" charset="-122"/>
                <a:cs typeface="Calibri" pitchFamily="34" charset="-120"/>
              </a:rPr>
              <a:t>QUÉ LOGRA</a:t>
            </a:r>
            <a:endParaRPr lang="en-US" sz="1600" dirty="0"/>
          </a:p>
        </p:txBody>
      </p:sp>
      <p:sp>
        <p:nvSpPr>
          <p:cNvPr id="10" name="Text 8"/>
          <p:cNvSpPr txBox="1"/>
          <p:nvPr/>
        </p:nvSpPr>
        <p:spPr>
          <a:xfrm>
            <a:off x="859536" y="4590288"/>
            <a:ext cx="10469880" cy="621792"/>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Pedir explícitamente neutralidad y datos verificables reduce el riesgo de que el modelo caricaturice alguna postura.</a:t>
            </a:r>
            <a:endParaRPr lang="en-US" sz="1700" dirty="0"/>
          </a:p>
        </p:txBody>
      </p:sp>
      <p:sp>
        <p:nvSpPr>
          <p:cNvPr id="11" name="Shape 9"/>
          <p:cNvSpPr/>
          <p:nvPr/>
        </p:nvSpPr>
        <p:spPr>
          <a:xfrm>
            <a:off x="566928" y="5541264"/>
            <a:ext cx="219456" cy="219456"/>
          </a:xfrm>
          <a:prstGeom prst="ellipse">
            <a:avLst/>
          </a:prstGeom>
          <a:solidFill>
            <a:srgbClr val="1B2A4A"/>
          </a:solidFill>
          <a:ln w="12700">
            <a:solidFill>
              <a:srgbClr val="1B2A4A"/>
            </a:solidFill>
            <a:prstDash val="solid"/>
          </a:ln>
        </p:spPr>
        <p:txBody>
          <a:bodyPr/>
          <a:lstStyle/>
          <a:p>
            <a:endParaRPr lang="en-PR"/>
          </a:p>
        </p:txBody>
      </p:sp>
      <p:sp>
        <p:nvSpPr>
          <p:cNvPr id="12" name="Text 10"/>
          <p:cNvSpPr txBox="1"/>
          <p:nvPr/>
        </p:nvSpPr>
        <p:spPr>
          <a:xfrm>
            <a:off x="877824" y="5486400"/>
            <a:ext cx="1600200" cy="329184"/>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Rol</a:t>
            </a:r>
            <a:endParaRPr lang="en-US" sz="1600" dirty="0"/>
          </a:p>
        </p:txBody>
      </p:sp>
      <p:sp>
        <p:nvSpPr>
          <p:cNvPr id="13" name="Shape 11"/>
          <p:cNvSpPr/>
          <p:nvPr/>
        </p:nvSpPr>
        <p:spPr>
          <a:xfrm>
            <a:off x="2578608" y="5541264"/>
            <a:ext cx="219456" cy="219456"/>
          </a:xfrm>
          <a:prstGeom prst="ellipse">
            <a:avLst/>
          </a:prstGeom>
          <a:solidFill>
            <a:srgbClr val="1F7A6E"/>
          </a:solidFill>
          <a:ln w="12700">
            <a:solidFill>
              <a:srgbClr val="1F7A6E"/>
            </a:solidFill>
            <a:prstDash val="solid"/>
          </a:ln>
        </p:spPr>
        <p:txBody>
          <a:bodyPr/>
          <a:lstStyle/>
          <a:p>
            <a:endParaRPr lang="en-PR"/>
          </a:p>
        </p:txBody>
      </p:sp>
      <p:sp>
        <p:nvSpPr>
          <p:cNvPr id="14" name="Text 12"/>
          <p:cNvSpPr txBox="1"/>
          <p:nvPr/>
        </p:nvSpPr>
        <p:spPr>
          <a:xfrm>
            <a:off x="2889504" y="5486400"/>
            <a:ext cx="1600200" cy="329184"/>
          </a:xfrm>
          <a:prstGeom prst="rect">
            <a:avLst/>
          </a:prstGeom>
          <a:noFill/>
          <a:ln/>
        </p:spPr>
        <p:txBody>
          <a:bodyPr wrap="square" lIns="0" tIns="0" rIns="0" bIns="0" rtlCol="0" anchor="ctr"/>
          <a:lstStyle/>
          <a:p>
            <a:pPr marL="0" indent="0">
              <a:buNone/>
            </a:pPr>
            <a:r>
              <a:rPr lang="en-US" sz="1600" b="1" dirty="0">
                <a:solidFill>
                  <a:srgbClr val="1F7A6E"/>
                </a:solidFill>
                <a:latin typeface="Calibri" pitchFamily="34" charset="0"/>
                <a:ea typeface="Calibri" pitchFamily="34" charset="-122"/>
                <a:cs typeface="Calibri" pitchFamily="34" charset="-120"/>
              </a:rPr>
              <a:t>Contexto</a:t>
            </a:r>
            <a:endParaRPr lang="en-US" sz="1600" dirty="0"/>
          </a:p>
        </p:txBody>
      </p:sp>
      <p:sp>
        <p:nvSpPr>
          <p:cNvPr id="15" name="Shape 13"/>
          <p:cNvSpPr/>
          <p:nvPr/>
        </p:nvSpPr>
        <p:spPr>
          <a:xfrm>
            <a:off x="4590288" y="5541264"/>
            <a:ext cx="219456" cy="219456"/>
          </a:xfrm>
          <a:prstGeom prst="ellipse">
            <a:avLst/>
          </a:prstGeom>
          <a:solidFill>
            <a:srgbClr val="8A6D0F"/>
          </a:solidFill>
          <a:ln w="12700">
            <a:solidFill>
              <a:srgbClr val="8A6D0F"/>
            </a:solidFill>
            <a:prstDash val="solid"/>
          </a:ln>
        </p:spPr>
        <p:txBody>
          <a:bodyPr/>
          <a:lstStyle/>
          <a:p>
            <a:endParaRPr lang="en-PR"/>
          </a:p>
        </p:txBody>
      </p:sp>
      <p:sp>
        <p:nvSpPr>
          <p:cNvPr id="16" name="Text 14"/>
          <p:cNvSpPr txBox="1"/>
          <p:nvPr/>
        </p:nvSpPr>
        <p:spPr>
          <a:xfrm>
            <a:off x="4901184" y="5486400"/>
            <a:ext cx="1600200" cy="329184"/>
          </a:xfrm>
          <a:prstGeom prst="rect">
            <a:avLst/>
          </a:prstGeom>
          <a:noFill/>
          <a:ln/>
        </p:spPr>
        <p:txBody>
          <a:bodyPr wrap="square" lIns="0" tIns="0" rIns="0" bIns="0" rtlCol="0" anchor="ctr"/>
          <a:lstStyle/>
          <a:p>
            <a:pPr marL="0" indent="0">
              <a:buNone/>
            </a:pPr>
            <a:r>
              <a:rPr lang="en-US" sz="1600" b="1" dirty="0">
                <a:solidFill>
                  <a:srgbClr val="8A6D0F"/>
                </a:solidFill>
                <a:latin typeface="Calibri" pitchFamily="34" charset="0"/>
                <a:ea typeface="Calibri" pitchFamily="34" charset="-122"/>
                <a:cs typeface="Calibri" pitchFamily="34" charset="-120"/>
              </a:rPr>
              <a:t>Tarea</a:t>
            </a:r>
            <a:endParaRPr lang="en-US" sz="1600" dirty="0"/>
          </a:p>
        </p:txBody>
      </p:sp>
      <p:sp>
        <p:nvSpPr>
          <p:cNvPr id="17" name="Shape 15"/>
          <p:cNvSpPr/>
          <p:nvPr/>
        </p:nvSpPr>
        <p:spPr>
          <a:xfrm>
            <a:off x="6601968" y="5541264"/>
            <a:ext cx="219456" cy="219456"/>
          </a:xfrm>
          <a:prstGeom prst="ellipse">
            <a:avLst/>
          </a:prstGeom>
          <a:solidFill>
            <a:srgbClr val="6C3483"/>
          </a:solidFill>
          <a:ln w="12700">
            <a:solidFill>
              <a:srgbClr val="6C3483"/>
            </a:solidFill>
            <a:prstDash val="solid"/>
          </a:ln>
        </p:spPr>
        <p:txBody>
          <a:bodyPr/>
          <a:lstStyle/>
          <a:p>
            <a:endParaRPr lang="en-PR"/>
          </a:p>
        </p:txBody>
      </p:sp>
      <p:sp>
        <p:nvSpPr>
          <p:cNvPr id="18" name="Text 16"/>
          <p:cNvSpPr txBox="1"/>
          <p:nvPr/>
        </p:nvSpPr>
        <p:spPr>
          <a:xfrm>
            <a:off x="6912864" y="5486400"/>
            <a:ext cx="1600200" cy="329184"/>
          </a:xfrm>
          <a:prstGeom prst="rect">
            <a:avLst/>
          </a:prstGeom>
          <a:noFill/>
          <a:ln/>
        </p:spPr>
        <p:txBody>
          <a:bodyPr wrap="square" lIns="0" tIns="0" rIns="0" bIns="0" rtlCol="0" anchor="ctr"/>
          <a:lstStyle/>
          <a:p>
            <a:pPr marL="0" indent="0">
              <a:buNone/>
            </a:pPr>
            <a:r>
              <a:rPr lang="en-US" sz="1600" b="1" dirty="0">
                <a:solidFill>
                  <a:srgbClr val="6C3483"/>
                </a:solidFill>
                <a:latin typeface="Calibri" pitchFamily="34" charset="0"/>
                <a:ea typeface="Calibri" pitchFamily="34" charset="-122"/>
                <a:cs typeface="Calibri" pitchFamily="34" charset="-120"/>
              </a:rPr>
              <a:t>Tono</a:t>
            </a:r>
            <a:endParaRPr lang="en-US" sz="1600" dirty="0"/>
          </a:p>
        </p:txBody>
      </p:sp>
      <p:sp>
        <p:nvSpPr>
          <p:cNvPr id="19" name="Shape 17"/>
          <p:cNvSpPr/>
          <p:nvPr/>
        </p:nvSpPr>
        <p:spPr>
          <a:xfrm>
            <a:off x="8613648" y="5541264"/>
            <a:ext cx="219456" cy="219456"/>
          </a:xfrm>
          <a:prstGeom prst="ellipse">
            <a:avLst/>
          </a:prstGeom>
          <a:solidFill>
            <a:srgbClr val="A0392B"/>
          </a:solidFill>
          <a:ln w="12700">
            <a:solidFill>
              <a:srgbClr val="A0392B"/>
            </a:solidFill>
            <a:prstDash val="solid"/>
          </a:ln>
        </p:spPr>
        <p:txBody>
          <a:bodyPr/>
          <a:lstStyle/>
          <a:p>
            <a:endParaRPr lang="en-PR"/>
          </a:p>
        </p:txBody>
      </p:sp>
      <p:sp>
        <p:nvSpPr>
          <p:cNvPr id="20" name="Text 18"/>
          <p:cNvSpPr txBox="1"/>
          <p:nvPr/>
        </p:nvSpPr>
        <p:spPr>
          <a:xfrm>
            <a:off x="8924544" y="5486400"/>
            <a:ext cx="1600200" cy="329184"/>
          </a:xfrm>
          <a:prstGeom prst="rect">
            <a:avLst/>
          </a:prstGeom>
          <a:noFill/>
          <a:ln/>
        </p:spPr>
        <p:txBody>
          <a:bodyPr wrap="square" lIns="0" tIns="0" rIns="0" bIns="0" rtlCol="0" anchor="ctr"/>
          <a:lstStyle/>
          <a:p>
            <a:pPr marL="0" indent="0">
              <a:buNone/>
            </a:pPr>
            <a:r>
              <a:rPr lang="en-US" sz="1600" b="1" dirty="0">
                <a:solidFill>
                  <a:srgbClr val="A0392B"/>
                </a:solidFill>
                <a:latin typeface="Calibri" pitchFamily="34" charset="0"/>
                <a:ea typeface="Calibri" pitchFamily="34" charset="-122"/>
                <a:cs typeface="Calibri" pitchFamily="34" charset="-120"/>
              </a:rPr>
              <a:t>Formato</a:t>
            </a:r>
            <a:endParaRPr lang="en-US" sz="1600" dirty="0"/>
          </a:p>
        </p:txBody>
      </p:sp>
      <p:sp>
        <p:nvSpPr>
          <p:cNvPr id="21" name="Text 19"/>
          <p:cNvSpPr txBox="1"/>
          <p:nvPr/>
        </p:nvSpPr>
        <p:spPr>
          <a:xfrm>
            <a:off x="566928" y="5925312"/>
            <a:ext cx="11057839" cy="310896"/>
          </a:xfrm>
          <a:prstGeom prst="rect">
            <a:avLst/>
          </a:prstGeom>
          <a:noFill/>
          <a:ln/>
        </p:spPr>
        <p:txBody>
          <a:bodyPr wrap="square" lIns="0" tIns="0" rIns="0" bIns="0" rtlCol="0" anchor="ctr"/>
          <a:lstStyle/>
          <a:p>
            <a:pPr marL="0" indent="0" algn="r">
              <a:buNone/>
            </a:pPr>
            <a:r>
              <a:rPr lang="en-US" sz="1600" i="1" dirty="0">
                <a:solidFill>
                  <a:srgbClr val="5A6478"/>
                </a:solidFill>
                <a:latin typeface="Calibri" pitchFamily="34" charset="0"/>
                <a:ea typeface="Calibri" pitchFamily="34" charset="-122"/>
                <a:cs typeface="Calibri" pitchFamily="34" charset="-120"/>
              </a:rPr>
              <a:t>Verifique cada dato histórico antes de repartir las tarjetas.</a:t>
            </a:r>
            <a:endParaRPr lang="en-US" sz="1600" dirty="0"/>
          </a:p>
        </p:txBody>
      </p:sp>
      <p:sp>
        <p:nvSpPr>
          <p:cNvPr id="22" name="Text 20"/>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3" name="Text 21"/>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24</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EJEMPLOS RC-TTF · 6 DE 7</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Educación Física</a:t>
            </a:r>
            <a:endParaRPr lang="en-US" sz="3000" dirty="0"/>
          </a:p>
        </p:txBody>
      </p:sp>
      <p:sp>
        <p:nvSpPr>
          <p:cNvPr id="4" name="Shape 2"/>
          <p:cNvSpPr/>
          <p:nvPr/>
        </p:nvSpPr>
        <p:spPr>
          <a:xfrm>
            <a:off x="566928" y="1426464"/>
            <a:ext cx="11057839" cy="3840480"/>
          </a:xfrm>
          <a:prstGeom prst="roundRect">
            <a:avLst>
              <a:gd name="adj" fmla="val 2143"/>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59536" y="1627632"/>
            <a:ext cx="2148840" cy="347472"/>
          </a:xfrm>
          <a:prstGeom prst="roundRect">
            <a:avLst>
              <a:gd name="adj" fmla="val 50000"/>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59536" y="1627632"/>
            <a:ext cx="2148840" cy="347472"/>
          </a:xfrm>
          <a:prstGeom prst="rect">
            <a:avLst/>
          </a:prstGeom>
          <a:noFill/>
          <a:ln/>
        </p:spPr>
        <p:txBody>
          <a:bodyPr wrap="square" lIns="0" tIns="0" rIns="0" bIns="0" rtlCol="0" anchor="ctr"/>
          <a:lstStyle/>
          <a:p>
            <a:pPr marL="0" indent="0" algn="ctr">
              <a:buNone/>
            </a:pPr>
            <a:r>
              <a:rPr lang="en-US" sz="1600" b="1" kern="0" spc="40" dirty="0">
                <a:solidFill>
                  <a:srgbClr val="FFFFFF"/>
                </a:solidFill>
                <a:latin typeface="Calibri" pitchFamily="34" charset="0"/>
                <a:ea typeface="Calibri" pitchFamily="34" charset="-122"/>
                <a:cs typeface="Calibri" pitchFamily="34" charset="-120"/>
              </a:rPr>
              <a:t>6.º a 8.º GRADO</a:t>
            </a:r>
            <a:endParaRPr lang="en-US" sz="1600" dirty="0"/>
          </a:p>
        </p:txBody>
      </p:sp>
      <p:sp>
        <p:nvSpPr>
          <p:cNvPr id="7" name="Text 5"/>
          <p:cNvSpPr txBox="1"/>
          <p:nvPr/>
        </p:nvSpPr>
        <p:spPr>
          <a:xfrm>
            <a:off x="3172968" y="1627632"/>
            <a:ext cx="7772400" cy="347472"/>
          </a:xfrm>
          <a:prstGeom prst="rect">
            <a:avLst/>
          </a:prstGeom>
          <a:noFill/>
          <a:ln/>
        </p:spPr>
        <p:txBody>
          <a:bodyPr wrap="square" lIns="0" tIns="0" rIns="0" bIns="0" rtlCol="0" anchor="ctr"/>
          <a:lstStyle/>
          <a:p>
            <a:pPr marL="0" indent="0">
              <a:buNone/>
            </a:pPr>
            <a:r>
              <a:rPr lang="en-US" sz="1700" i="1" dirty="0">
                <a:solidFill>
                  <a:srgbClr val="5A6478"/>
                </a:solidFill>
                <a:latin typeface="Calibri" pitchFamily="34" charset="0"/>
                <a:ea typeface="Calibri" pitchFamily="34" charset="-122"/>
                <a:cs typeface="Calibri" pitchFamily="34" charset="-120"/>
              </a:rPr>
              <a:t>Capacidad aeróbica diferenciada</a:t>
            </a:r>
            <a:endParaRPr lang="en-US" sz="1700" dirty="0"/>
          </a:p>
        </p:txBody>
      </p:sp>
      <p:sp>
        <p:nvSpPr>
          <p:cNvPr id="8" name="Text 6"/>
          <p:cNvSpPr txBox="1"/>
          <p:nvPr/>
        </p:nvSpPr>
        <p:spPr>
          <a:xfrm>
            <a:off x="859536" y="2084832"/>
            <a:ext cx="10469880" cy="2148840"/>
          </a:xfrm>
          <a:prstGeom prst="rect">
            <a:avLst/>
          </a:prstGeom>
          <a:noFill/>
          <a:ln/>
        </p:spPr>
        <p:txBody>
          <a:bodyPr wrap="square" lIns="0" tIns="0" rIns="0" bIns="0" rtlCol="0" anchor="t"/>
          <a:lstStyle/>
          <a:p>
            <a:pPr marL="0" indent="0">
              <a:lnSpc>
                <a:spcPts val="2600"/>
              </a:lnSpc>
              <a:buNone/>
            </a:pPr>
            <a:r>
              <a:rPr lang="en-US" sz="1800" dirty="0">
                <a:solidFill>
                  <a:srgbClr val="1B2A4A"/>
                </a:solidFill>
                <a:latin typeface="Calibri" pitchFamily="34" charset="0"/>
                <a:ea typeface="Calibri" pitchFamily="34" charset="-122"/>
                <a:cs typeface="Calibri" pitchFamily="34" charset="-120"/>
              </a:rPr>
              <a:t>Actúa como maestro de Educación Física de escuela intermedia. </a:t>
            </a:r>
            <a:r>
              <a:rPr lang="en-US" sz="1800" dirty="0">
                <a:solidFill>
                  <a:srgbClr val="1F7A6E"/>
                </a:solidFill>
                <a:latin typeface="Calibri" pitchFamily="34" charset="0"/>
                <a:ea typeface="Calibri" pitchFamily="34" charset="-122"/>
                <a:cs typeface="Calibri" pitchFamily="34" charset="-120"/>
              </a:rPr>
              <a:t>Tengo 32 estudiantes de 6.º grado, una cancha al sol y niveles de condición física muy distintos dentro del mismo grupo. </a:t>
            </a:r>
            <a:r>
              <a:rPr lang="en-US" sz="1800" dirty="0">
                <a:solidFill>
                  <a:srgbClr val="8A6D0F"/>
                </a:solidFill>
                <a:latin typeface="Calibri" pitchFamily="34" charset="0"/>
                <a:ea typeface="Calibri" pitchFamily="34" charset="-122"/>
                <a:cs typeface="Calibri" pitchFamily="34" charset="-120"/>
              </a:rPr>
              <a:t>Diseña una unidad de tres clases sobre capacidad aeróbica con tres niveles de intensidad para una misma actividad. </a:t>
            </a:r>
            <a:r>
              <a:rPr lang="en-US" sz="1800" dirty="0">
                <a:solidFill>
                  <a:srgbClr val="6C3483"/>
                </a:solidFill>
                <a:latin typeface="Calibri" pitchFamily="34" charset="0"/>
                <a:ea typeface="Calibri" pitchFamily="34" charset="-122"/>
                <a:cs typeface="Calibri" pitchFamily="34" charset="-120"/>
              </a:rPr>
              <a:t>Tono motivador, sin comparar a los estudiantes entre sí. </a:t>
            </a:r>
            <a:r>
              <a:rPr lang="en-US" sz="1800" dirty="0">
                <a:solidFill>
                  <a:srgbClr val="A0392B"/>
                </a:solidFill>
                <a:latin typeface="Calibri" pitchFamily="34" charset="0"/>
                <a:ea typeface="Calibri" pitchFamily="34" charset="-122"/>
                <a:cs typeface="Calibri" pitchFamily="34" charset="-120"/>
              </a:rPr>
              <a:t>Una tabla por clase con calentamiento, actividad principal, adaptaciones por nivel y cierre reflexivo.</a:t>
            </a:r>
            <a:endParaRPr lang="en-US" sz="1800" dirty="0"/>
          </a:p>
        </p:txBody>
      </p:sp>
      <p:sp>
        <p:nvSpPr>
          <p:cNvPr id="9" name="Text 7"/>
          <p:cNvSpPr txBox="1"/>
          <p:nvPr/>
        </p:nvSpPr>
        <p:spPr>
          <a:xfrm>
            <a:off x="859536" y="4315968"/>
            <a:ext cx="4846320" cy="256032"/>
          </a:xfrm>
          <a:prstGeom prst="rect">
            <a:avLst/>
          </a:prstGeom>
          <a:noFill/>
          <a:ln/>
        </p:spPr>
        <p:txBody>
          <a:bodyPr wrap="square" lIns="0" tIns="0" rIns="0" bIns="0" rtlCol="0" anchor="ctr"/>
          <a:lstStyle/>
          <a:p>
            <a:pPr marL="0" indent="0">
              <a:buNone/>
            </a:pPr>
            <a:r>
              <a:rPr lang="en-US" sz="1600" b="1" kern="0" spc="120" dirty="0">
                <a:solidFill>
                  <a:srgbClr val="2A9D8F"/>
                </a:solidFill>
                <a:latin typeface="Calibri" pitchFamily="34" charset="0"/>
                <a:ea typeface="Calibri" pitchFamily="34" charset="-122"/>
                <a:cs typeface="Calibri" pitchFamily="34" charset="-120"/>
              </a:rPr>
              <a:t>QUÉ LOGRA</a:t>
            </a:r>
            <a:endParaRPr lang="en-US" sz="1600" dirty="0"/>
          </a:p>
        </p:txBody>
      </p:sp>
      <p:sp>
        <p:nvSpPr>
          <p:cNvPr id="10" name="Text 8"/>
          <p:cNvSpPr txBox="1"/>
          <p:nvPr/>
        </p:nvSpPr>
        <p:spPr>
          <a:xfrm>
            <a:off x="859536" y="4590288"/>
            <a:ext cx="10469880" cy="621792"/>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Tres intensidades para una sola actividad mantiene al grupo junto y evita que la diferenciación se vuelva exclusión.</a:t>
            </a:r>
            <a:endParaRPr lang="en-US" sz="1700" dirty="0"/>
          </a:p>
        </p:txBody>
      </p:sp>
      <p:sp>
        <p:nvSpPr>
          <p:cNvPr id="11" name="Shape 9"/>
          <p:cNvSpPr/>
          <p:nvPr/>
        </p:nvSpPr>
        <p:spPr>
          <a:xfrm>
            <a:off x="566928" y="5541264"/>
            <a:ext cx="219456" cy="219456"/>
          </a:xfrm>
          <a:prstGeom prst="ellipse">
            <a:avLst/>
          </a:prstGeom>
          <a:solidFill>
            <a:srgbClr val="1B2A4A"/>
          </a:solidFill>
          <a:ln w="12700">
            <a:solidFill>
              <a:srgbClr val="1B2A4A"/>
            </a:solidFill>
            <a:prstDash val="solid"/>
          </a:ln>
        </p:spPr>
        <p:txBody>
          <a:bodyPr/>
          <a:lstStyle/>
          <a:p>
            <a:endParaRPr lang="en-PR"/>
          </a:p>
        </p:txBody>
      </p:sp>
      <p:sp>
        <p:nvSpPr>
          <p:cNvPr id="12" name="Text 10"/>
          <p:cNvSpPr txBox="1"/>
          <p:nvPr/>
        </p:nvSpPr>
        <p:spPr>
          <a:xfrm>
            <a:off x="877824" y="5486400"/>
            <a:ext cx="1600200" cy="329184"/>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Rol</a:t>
            </a:r>
            <a:endParaRPr lang="en-US" sz="1600" dirty="0"/>
          </a:p>
        </p:txBody>
      </p:sp>
      <p:sp>
        <p:nvSpPr>
          <p:cNvPr id="13" name="Shape 11"/>
          <p:cNvSpPr/>
          <p:nvPr/>
        </p:nvSpPr>
        <p:spPr>
          <a:xfrm>
            <a:off x="2578608" y="5541264"/>
            <a:ext cx="219456" cy="219456"/>
          </a:xfrm>
          <a:prstGeom prst="ellipse">
            <a:avLst/>
          </a:prstGeom>
          <a:solidFill>
            <a:srgbClr val="1F7A6E"/>
          </a:solidFill>
          <a:ln w="12700">
            <a:solidFill>
              <a:srgbClr val="1F7A6E"/>
            </a:solidFill>
            <a:prstDash val="solid"/>
          </a:ln>
        </p:spPr>
        <p:txBody>
          <a:bodyPr/>
          <a:lstStyle/>
          <a:p>
            <a:endParaRPr lang="en-PR"/>
          </a:p>
        </p:txBody>
      </p:sp>
      <p:sp>
        <p:nvSpPr>
          <p:cNvPr id="14" name="Text 12"/>
          <p:cNvSpPr txBox="1"/>
          <p:nvPr/>
        </p:nvSpPr>
        <p:spPr>
          <a:xfrm>
            <a:off x="2889504" y="5486400"/>
            <a:ext cx="1600200" cy="329184"/>
          </a:xfrm>
          <a:prstGeom prst="rect">
            <a:avLst/>
          </a:prstGeom>
          <a:noFill/>
          <a:ln/>
        </p:spPr>
        <p:txBody>
          <a:bodyPr wrap="square" lIns="0" tIns="0" rIns="0" bIns="0" rtlCol="0" anchor="ctr"/>
          <a:lstStyle/>
          <a:p>
            <a:pPr marL="0" indent="0">
              <a:buNone/>
            </a:pPr>
            <a:r>
              <a:rPr lang="en-US" sz="1600" b="1" dirty="0">
                <a:solidFill>
                  <a:srgbClr val="1F7A6E"/>
                </a:solidFill>
                <a:latin typeface="Calibri" pitchFamily="34" charset="0"/>
                <a:ea typeface="Calibri" pitchFamily="34" charset="-122"/>
                <a:cs typeface="Calibri" pitchFamily="34" charset="-120"/>
              </a:rPr>
              <a:t>Contexto</a:t>
            </a:r>
            <a:endParaRPr lang="en-US" sz="1600" dirty="0"/>
          </a:p>
        </p:txBody>
      </p:sp>
      <p:sp>
        <p:nvSpPr>
          <p:cNvPr id="15" name="Shape 13"/>
          <p:cNvSpPr/>
          <p:nvPr/>
        </p:nvSpPr>
        <p:spPr>
          <a:xfrm>
            <a:off x="4590288" y="5541264"/>
            <a:ext cx="219456" cy="219456"/>
          </a:xfrm>
          <a:prstGeom prst="ellipse">
            <a:avLst/>
          </a:prstGeom>
          <a:solidFill>
            <a:srgbClr val="8A6D0F"/>
          </a:solidFill>
          <a:ln w="12700">
            <a:solidFill>
              <a:srgbClr val="8A6D0F"/>
            </a:solidFill>
            <a:prstDash val="solid"/>
          </a:ln>
        </p:spPr>
        <p:txBody>
          <a:bodyPr/>
          <a:lstStyle/>
          <a:p>
            <a:endParaRPr lang="en-PR"/>
          </a:p>
        </p:txBody>
      </p:sp>
      <p:sp>
        <p:nvSpPr>
          <p:cNvPr id="16" name="Text 14"/>
          <p:cNvSpPr txBox="1"/>
          <p:nvPr/>
        </p:nvSpPr>
        <p:spPr>
          <a:xfrm>
            <a:off x="4901184" y="5486400"/>
            <a:ext cx="1600200" cy="329184"/>
          </a:xfrm>
          <a:prstGeom prst="rect">
            <a:avLst/>
          </a:prstGeom>
          <a:noFill/>
          <a:ln/>
        </p:spPr>
        <p:txBody>
          <a:bodyPr wrap="square" lIns="0" tIns="0" rIns="0" bIns="0" rtlCol="0" anchor="ctr"/>
          <a:lstStyle/>
          <a:p>
            <a:pPr marL="0" indent="0">
              <a:buNone/>
            </a:pPr>
            <a:r>
              <a:rPr lang="en-US" sz="1600" b="1" dirty="0">
                <a:solidFill>
                  <a:srgbClr val="8A6D0F"/>
                </a:solidFill>
                <a:latin typeface="Calibri" pitchFamily="34" charset="0"/>
                <a:ea typeface="Calibri" pitchFamily="34" charset="-122"/>
                <a:cs typeface="Calibri" pitchFamily="34" charset="-120"/>
              </a:rPr>
              <a:t>Tarea</a:t>
            </a:r>
            <a:endParaRPr lang="en-US" sz="1600" dirty="0"/>
          </a:p>
        </p:txBody>
      </p:sp>
      <p:sp>
        <p:nvSpPr>
          <p:cNvPr id="17" name="Shape 15"/>
          <p:cNvSpPr/>
          <p:nvPr/>
        </p:nvSpPr>
        <p:spPr>
          <a:xfrm>
            <a:off x="6601968" y="5541264"/>
            <a:ext cx="219456" cy="219456"/>
          </a:xfrm>
          <a:prstGeom prst="ellipse">
            <a:avLst/>
          </a:prstGeom>
          <a:solidFill>
            <a:srgbClr val="6C3483"/>
          </a:solidFill>
          <a:ln w="12700">
            <a:solidFill>
              <a:srgbClr val="6C3483"/>
            </a:solidFill>
            <a:prstDash val="solid"/>
          </a:ln>
        </p:spPr>
        <p:txBody>
          <a:bodyPr/>
          <a:lstStyle/>
          <a:p>
            <a:endParaRPr lang="en-PR"/>
          </a:p>
        </p:txBody>
      </p:sp>
      <p:sp>
        <p:nvSpPr>
          <p:cNvPr id="18" name="Text 16"/>
          <p:cNvSpPr txBox="1"/>
          <p:nvPr/>
        </p:nvSpPr>
        <p:spPr>
          <a:xfrm>
            <a:off x="6912864" y="5486400"/>
            <a:ext cx="1600200" cy="329184"/>
          </a:xfrm>
          <a:prstGeom prst="rect">
            <a:avLst/>
          </a:prstGeom>
          <a:noFill/>
          <a:ln/>
        </p:spPr>
        <p:txBody>
          <a:bodyPr wrap="square" lIns="0" tIns="0" rIns="0" bIns="0" rtlCol="0" anchor="ctr"/>
          <a:lstStyle/>
          <a:p>
            <a:pPr marL="0" indent="0">
              <a:buNone/>
            </a:pPr>
            <a:r>
              <a:rPr lang="en-US" sz="1600" b="1" dirty="0">
                <a:solidFill>
                  <a:srgbClr val="6C3483"/>
                </a:solidFill>
                <a:latin typeface="Calibri" pitchFamily="34" charset="0"/>
                <a:ea typeface="Calibri" pitchFamily="34" charset="-122"/>
                <a:cs typeface="Calibri" pitchFamily="34" charset="-120"/>
              </a:rPr>
              <a:t>Tono</a:t>
            </a:r>
            <a:endParaRPr lang="en-US" sz="1600" dirty="0"/>
          </a:p>
        </p:txBody>
      </p:sp>
      <p:sp>
        <p:nvSpPr>
          <p:cNvPr id="19" name="Shape 17"/>
          <p:cNvSpPr/>
          <p:nvPr/>
        </p:nvSpPr>
        <p:spPr>
          <a:xfrm>
            <a:off x="8613648" y="5541264"/>
            <a:ext cx="219456" cy="219456"/>
          </a:xfrm>
          <a:prstGeom prst="ellipse">
            <a:avLst/>
          </a:prstGeom>
          <a:solidFill>
            <a:srgbClr val="A0392B"/>
          </a:solidFill>
          <a:ln w="12700">
            <a:solidFill>
              <a:srgbClr val="A0392B"/>
            </a:solidFill>
            <a:prstDash val="solid"/>
          </a:ln>
        </p:spPr>
        <p:txBody>
          <a:bodyPr/>
          <a:lstStyle/>
          <a:p>
            <a:endParaRPr lang="en-PR"/>
          </a:p>
        </p:txBody>
      </p:sp>
      <p:sp>
        <p:nvSpPr>
          <p:cNvPr id="20" name="Text 18"/>
          <p:cNvSpPr txBox="1"/>
          <p:nvPr/>
        </p:nvSpPr>
        <p:spPr>
          <a:xfrm>
            <a:off x="8924544" y="5486400"/>
            <a:ext cx="1600200" cy="329184"/>
          </a:xfrm>
          <a:prstGeom prst="rect">
            <a:avLst/>
          </a:prstGeom>
          <a:noFill/>
          <a:ln/>
        </p:spPr>
        <p:txBody>
          <a:bodyPr wrap="square" lIns="0" tIns="0" rIns="0" bIns="0" rtlCol="0" anchor="ctr"/>
          <a:lstStyle/>
          <a:p>
            <a:pPr marL="0" indent="0">
              <a:buNone/>
            </a:pPr>
            <a:r>
              <a:rPr lang="en-US" sz="1600" b="1" dirty="0">
                <a:solidFill>
                  <a:srgbClr val="A0392B"/>
                </a:solidFill>
                <a:latin typeface="Calibri" pitchFamily="34" charset="0"/>
                <a:ea typeface="Calibri" pitchFamily="34" charset="-122"/>
                <a:cs typeface="Calibri" pitchFamily="34" charset="-120"/>
              </a:rPr>
              <a:t>Formato</a:t>
            </a:r>
            <a:endParaRPr lang="en-US" sz="1600" dirty="0"/>
          </a:p>
        </p:txBody>
      </p:sp>
      <p:sp>
        <p:nvSpPr>
          <p:cNvPr id="21" name="Text 19"/>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2" name="Text 20"/>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25</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EJEMPLOS RC-TTF · 6 DE 7</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Educación Física (cont.)</a:t>
            </a:r>
            <a:endParaRPr lang="en-US" sz="3000" dirty="0"/>
          </a:p>
        </p:txBody>
      </p:sp>
      <p:sp>
        <p:nvSpPr>
          <p:cNvPr id="4" name="Shape 2"/>
          <p:cNvSpPr/>
          <p:nvPr/>
        </p:nvSpPr>
        <p:spPr>
          <a:xfrm>
            <a:off x="566928" y="1426464"/>
            <a:ext cx="11057839" cy="3840480"/>
          </a:xfrm>
          <a:prstGeom prst="roundRect">
            <a:avLst>
              <a:gd name="adj" fmla="val 2143"/>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59536" y="1627632"/>
            <a:ext cx="2148840" cy="347472"/>
          </a:xfrm>
          <a:prstGeom prst="roundRect">
            <a:avLst>
              <a:gd name="adj" fmla="val 50000"/>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59536" y="1627632"/>
            <a:ext cx="2148840" cy="347472"/>
          </a:xfrm>
          <a:prstGeom prst="rect">
            <a:avLst/>
          </a:prstGeom>
          <a:noFill/>
          <a:ln/>
        </p:spPr>
        <p:txBody>
          <a:bodyPr wrap="square" lIns="0" tIns="0" rIns="0" bIns="0" rtlCol="0" anchor="ctr"/>
          <a:lstStyle/>
          <a:p>
            <a:pPr marL="0" indent="0" algn="ctr">
              <a:buNone/>
            </a:pPr>
            <a:r>
              <a:rPr lang="en-US" sz="1600" b="1" kern="0" spc="40" dirty="0">
                <a:solidFill>
                  <a:srgbClr val="FFFFFF"/>
                </a:solidFill>
                <a:latin typeface="Calibri" pitchFamily="34" charset="0"/>
                <a:ea typeface="Calibri" pitchFamily="34" charset="-122"/>
                <a:cs typeface="Calibri" pitchFamily="34" charset="-120"/>
              </a:rPr>
              <a:t>9.º a 12.º GRADO</a:t>
            </a:r>
            <a:endParaRPr lang="en-US" sz="1600" dirty="0"/>
          </a:p>
        </p:txBody>
      </p:sp>
      <p:sp>
        <p:nvSpPr>
          <p:cNvPr id="7" name="Text 5"/>
          <p:cNvSpPr txBox="1"/>
          <p:nvPr/>
        </p:nvSpPr>
        <p:spPr>
          <a:xfrm>
            <a:off x="3172968" y="1627632"/>
            <a:ext cx="7772400" cy="347472"/>
          </a:xfrm>
          <a:prstGeom prst="rect">
            <a:avLst/>
          </a:prstGeom>
          <a:noFill/>
          <a:ln/>
        </p:spPr>
        <p:txBody>
          <a:bodyPr wrap="square" lIns="0" tIns="0" rIns="0" bIns="0" rtlCol="0" anchor="ctr"/>
          <a:lstStyle/>
          <a:p>
            <a:pPr marL="0" indent="0">
              <a:buNone/>
            </a:pPr>
            <a:r>
              <a:rPr lang="en-US" sz="1700" i="1" dirty="0">
                <a:solidFill>
                  <a:srgbClr val="5A6478"/>
                </a:solidFill>
                <a:latin typeface="Calibri" pitchFamily="34" charset="0"/>
                <a:ea typeface="Calibri" pitchFamily="34" charset="-122"/>
                <a:cs typeface="Calibri" pitchFamily="34" charset="-120"/>
              </a:rPr>
              <a:t>Plan personal de acondicionamiento</a:t>
            </a:r>
            <a:endParaRPr lang="en-US" sz="1700" dirty="0"/>
          </a:p>
        </p:txBody>
      </p:sp>
      <p:sp>
        <p:nvSpPr>
          <p:cNvPr id="8" name="Text 6"/>
          <p:cNvSpPr txBox="1"/>
          <p:nvPr/>
        </p:nvSpPr>
        <p:spPr>
          <a:xfrm>
            <a:off x="859536" y="2084832"/>
            <a:ext cx="10469880" cy="2148840"/>
          </a:xfrm>
          <a:prstGeom prst="rect">
            <a:avLst/>
          </a:prstGeom>
          <a:noFill/>
          <a:ln/>
        </p:spPr>
        <p:txBody>
          <a:bodyPr wrap="square" lIns="0" tIns="0" rIns="0" bIns="0" rtlCol="0" anchor="t"/>
          <a:lstStyle/>
          <a:p>
            <a:pPr marL="0" indent="0">
              <a:lnSpc>
                <a:spcPts val="2600"/>
              </a:lnSpc>
              <a:buNone/>
            </a:pPr>
            <a:r>
              <a:rPr lang="en-US" sz="1800" dirty="0">
                <a:solidFill>
                  <a:srgbClr val="1B2A4A"/>
                </a:solidFill>
                <a:latin typeface="Calibri" pitchFamily="34" charset="0"/>
                <a:ea typeface="Calibri" pitchFamily="34" charset="-122"/>
                <a:cs typeface="Calibri" pitchFamily="34" charset="-120"/>
              </a:rPr>
              <a:t>Actúa como maestro de Educación Física de escuela superior con formación en salud. </a:t>
            </a:r>
            <a:r>
              <a:rPr lang="en-US" sz="1800" dirty="0">
                <a:solidFill>
                  <a:srgbClr val="1F7A6E"/>
                </a:solidFill>
                <a:latin typeface="Calibri" pitchFamily="34" charset="0"/>
                <a:ea typeface="Calibri" pitchFamily="34" charset="-122"/>
                <a:cs typeface="Calibri" pitchFamily="34" charset="-120"/>
              </a:rPr>
              <a:t>Mis estudiantes de 9.º grado deben diseñar su propio plan de acondicionamiento y no saben por dónde empezar. </a:t>
            </a:r>
            <a:r>
              <a:rPr lang="en-US" sz="1800" dirty="0">
                <a:solidFill>
                  <a:srgbClr val="8A6D0F"/>
                </a:solidFill>
                <a:latin typeface="Calibri" pitchFamily="34" charset="0"/>
                <a:ea typeface="Calibri" pitchFamily="34" charset="-122"/>
                <a:cs typeface="Calibri" pitchFamily="34" charset="-120"/>
              </a:rPr>
              <a:t>Crea una plantilla de plan personal de ocho semanas con metas medibles y un registro de progreso. </a:t>
            </a:r>
            <a:r>
              <a:rPr lang="en-US" sz="1800" dirty="0">
                <a:solidFill>
                  <a:srgbClr val="6C3483"/>
                </a:solidFill>
                <a:latin typeface="Calibri" pitchFamily="34" charset="0"/>
                <a:ea typeface="Calibri" pitchFamily="34" charset="-122"/>
                <a:cs typeface="Calibri" pitchFamily="34" charset="-120"/>
              </a:rPr>
              <a:t>Tono respetuoso con la diversidad corporal; enfoque en función y bienestar, nunca en peso ni apariencia. </a:t>
            </a:r>
            <a:r>
              <a:rPr lang="en-US" sz="1800" dirty="0">
                <a:solidFill>
                  <a:srgbClr val="A0392B"/>
                </a:solidFill>
                <a:latin typeface="Calibri" pitchFamily="34" charset="0"/>
                <a:ea typeface="Calibri" pitchFamily="34" charset="-122"/>
                <a:cs typeface="Calibri" pitchFamily="34" charset="-120"/>
              </a:rPr>
              <a:t>Plantilla imprimible, más un ejemplo completo ya llenado.</a:t>
            </a:r>
            <a:endParaRPr lang="en-US" sz="1800" dirty="0"/>
          </a:p>
        </p:txBody>
      </p:sp>
      <p:sp>
        <p:nvSpPr>
          <p:cNvPr id="9" name="Text 7"/>
          <p:cNvSpPr txBox="1"/>
          <p:nvPr/>
        </p:nvSpPr>
        <p:spPr>
          <a:xfrm>
            <a:off x="859536" y="4315968"/>
            <a:ext cx="4846320" cy="256032"/>
          </a:xfrm>
          <a:prstGeom prst="rect">
            <a:avLst/>
          </a:prstGeom>
          <a:noFill/>
          <a:ln/>
        </p:spPr>
        <p:txBody>
          <a:bodyPr wrap="square" lIns="0" tIns="0" rIns="0" bIns="0" rtlCol="0" anchor="ctr"/>
          <a:lstStyle/>
          <a:p>
            <a:pPr marL="0" indent="0">
              <a:buNone/>
            </a:pPr>
            <a:r>
              <a:rPr lang="en-US" sz="1600" b="1" kern="0" spc="120" dirty="0">
                <a:solidFill>
                  <a:srgbClr val="2A9D8F"/>
                </a:solidFill>
                <a:latin typeface="Calibri" pitchFamily="34" charset="0"/>
                <a:ea typeface="Calibri" pitchFamily="34" charset="-122"/>
                <a:cs typeface="Calibri" pitchFamily="34" charset="-120"/>
              </a:rPr>
              <a:t>QUÉ LOGRA</a:t>
            </a:r>
            <a:endParaRPr lang="en-US" sz="1600" dirty="0"/>
          </a:p>
        </p:txBody>
      </p:sp>
      <p:sp>
        <p:nvSpPr>
          <p:cNvPr id="10" name="Text 8"/>
          <p:cNvSpPr txBox="1"/>
          <p:nvPr/>
        </p:nvSpPr>
        <p:spPr>
          <a:xfrm>
            <a:off x="859536" y="4590288"/>
            <a:ext cx="10469880" cy="621792"/>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El tono es aquí una decisión ética: sin esa instrucción, el modelo tiende a producir material centrado en el peso.</a:t>
            </a:r>
            <a:endParaRPr lang="en-US" sz="1700" dirty="0"/>
          </a:p>
        </p:txBody>
      </p:sp>
      <p:sp>
        <p:nvSpPr>
          <p:cNvPr id="11" name="Shape 9"/>
          <p:cNvSpPr/>
          <p:nvPr/>
        </p:nvSpPr>
        <p:spPr>
          <a:xfrm>
            <a:off x="566928" y="5541264"/>
            <a:ext cx="219456" cy="219456"/>
          </a:xfrm>
          <a:prstGeom prst="ellipse">
            <a:avLst/>
          </a:prstGeom>
          <a:solidFill>
            <a:srgbClr val="1B2A4A"/>
          </a:solidFill>
          <a:ln w="12700">
            <a:solidFill>
              <a:srgbClr val="1B2A4A"/>
            </a:solidFill>
            <a:prstDash val="solid"/>
          </a:ln>
        </p:spPr>
        <p:txBody>
          <a:bodyPr/>
          <a:lstStyle/>
          <a:p>
            <a:endParaRPr lang="en-PR"/>
          </a:p>
        </p:txBody>
      </p:sp>
      <p:sp>
        <p:nvSpPr>
          <p:cNvPr id="12" name="Text 10"/>
          <p:cNvSpPr txBox="1"/>
          <p:nvPr/>
        </p:nvSpPr>
        <p:spPr>
          <a:xfrm>
            <a:off x="877824" y="5486400"/>
            <a:ext cx="1600200" cy="329184"/>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Rol</a:t>
            </a:r>
            <a:endParaRPr lang="en-US" sz="1600" dirty="0"/>
          </a:p>
        </p:txBody>
      </p:sp>
      <p:sp>
        <p:nvSpPr>
          <p:cNvPr id="13" name="Shape 11"/>
          <p:cNvSpPr/>
          <p:nvPr/>
        </p:nvSpPr>
        <p:spPr>
          <a:xfrm>
            <a:off x="2578608" y="5541264"/>
            <a:ext cx="219456" cy="219456"/>
          </a:xfrm>
          <a:prstGeom prst="ellipse">
            <a:avLst/>
          </a:prstGeom>
          <a:solidFill>
            <a:srgbClr val="1F7A6E"/>
          </a:solidFill>
          <a:ln w="12700">
            <a:solidFill>
              <a:srgbClr val="1F7A6E"/>
            </a:solidFill>
            <a:prstDash val="solid"/>
          </a:ln>
        </p:spPr>
        <p:txBody>
          <a:bodyPr/>
          <a:lstStyle/>
          <a:p>
            <a:endParaRPr lang="en-PR"/>
          </a:p>
        </p:txBody>
      </p:sp>
      <p:sp>
        <p:nvSpPr>
          <p:cNvPr id="14" name="Text 12"/>
          <p:cNvSpPr txBox="1"/>
          <p:nvPr/>
        </p:nvSpPr>
        <p:spPr>
          <a:xfrm>
            <a:off x="2889504" y="5486400"/>
            <a:ext cx="1600200" cy="329184"/>
          </a:xfrm>
          <a:prstGeom prst="rect">
            <a:avLst/>
          </a:prstGeom>
          <a:noFill/>
          <a:ln/>
        </p:spPr>
        <p:txBody>
          <a:bodyPr wrap="square" lIns="0" tIns="0" rIns="0" bIns="0" rtlCol="0" anchor="ctr"/>
          <a:lstStyle/>
          <a:p>
            <a:pPr marL="0" indent="0">
              <a:buNone/>
            </a:pPr>
            <a:r>
              <a:rPr lang="en-US" sz="1600" b="1" dirty="0">
                <a:solidFill>
                  <a:srgbClr val="1F7A6E"/>
                </a:solidFill>
                <a:latin typeface="Calibri" pitchFamily="34" charset="0"/>
                <a:ea typeface="Calibri" pitchFamily="34" charset="-122"/>
                <a:cs typeface="Calibri" pitchFamily="34" charset="-120"/>
              </a:rPr>
              <a:t>Contexto</a:t>
            </a:r>
            <a:endParaRPr lang="en-US" sz="1600" dirty="0"/>
          </a:p>
        </p:txBody>
      </p:sp>
      <p:sp>
        <p:nvSpPr>
          <p:cNvPr id="15" name="Shape 13"/>
          <p:cNvSpPr/>
          <p:nvPr/>
        </p:nvSpPr>
        <p:spPr>
          <a:xfrm>
            <a:off x="4590288" y="5541264"/>
            <a:ext cx="219456" cy="219456"/>
          </a:xfrm>
          <a:prstGeom prst="ellipse">
            <a:avLst/>
          </a:prstGeom>
          <a:solidFill>
            <a:srgbClr val="8A6D0F"/>
          </a:solidFill>
          <a:ln w="12700">
            <a:solidFill>
              <a:srgbClr val="8A6D0F"/>
            </a:solidFill>
            <a:prstDash val="solid"/>
          </a:ln>
        </p:spPr>
        <p:txBody>
          <a:bodyPr/>
          <a:lstStyle/>
          <a:p>
            <a:endParaRPr lang="en-PR"/>
          </a:p>
        </p:txBody>
      </p:sp>
      <p:sp>
        <p:nvSpPr>
          <p:cNvPr id="16" name="Text 14"/>
          <p:cNvSpPr txBox="1"/>
          <p:nvPr/>
        </p:nvSpPr>
        <p:spPr>
          <a:xfrm>
            <a:off x="4901184" y="5486400"/>
            <a:ext cx="1600200" cy="329184"/>
          </a:xfrm>
          <a:prstGeom prst="rect">
            <a:avLst/>
          </a:prstGeom>
          <a:noFill/>
          <a:ln/>
        </p:spPr>
        <p:txBody>
          <a:bodyPr wrap="square" lIns="0" tIns="0" rIns="0" bIns="0" rtlCol="0" anchor="ctr"/>
          <a:lstStyle/>
          <a:p>
            <a:pPr marL="0" indent="0">
              <a:buNone/>
            </a:pPr>
            <a:r>
              <a:rPr lang="en-US" sz="1600" b="1" dirty="0">
                <a:solidFill>
                  <a:srgbClr val="8A6D0F"/>
                </a:solidFill>
                <a:latin typeface="Calibri" pitchFamily="34" charset="0"/>
                <a:ea typeface="Calibri" pitchFamily="34" charset="-122"/>
                <a:cs typeface="Calibri" pitchFamily="34" charset="-120"/>
              </a:rPr>
              <a:t>Tarea</a:t>
            </a:r>
            <a:endParaRPr lang="en-US" sz="1600" dirty="0"/>
          </a:p>
        </p:txBody>
      </p:sp>
      <p:sp>
        <p:nvSpPr>
          <p:cNvPr id="17" name="Shape 15"/>
          <p:cNvSpPr/>
          <p:nvPr/>
        </p:nvSpPr>
        <p:spPr>
          <a:xfrm>
            <a:off x="6601968" y="5541264"/>
            <a:ext cx="219456" cy="219456"/>
          </a:xfrm>
          <a:prstGeom prst="ellipse">
            <a:avLst/>
          </a:prstGeom>
          <a:solidFill>
            <a:srgbClr val="6C3483"/>
          </a:solidFill>
          <a:ln w="12700">
            <a:solidFill>
              <a:srgbClr val="6C3483"/>
            </a:solidFill>
            <a:prstDash val="solid"/>
          </a:ln>
        </p:spPr>
        <p:txBody>
          <a:bodyPr/>
          <a:lstStyle/>
          <a:p>
            <a:endParaRPr lang="en-PR"/>
          </a:p>
        </p:txBody>
      </p:sp>
      <p:sp>
        <p:nvSpPr>
          <p:cNvPr id="18" name="Text 16"/>
          <p:cNvSpPr txBox="1"/>
          <p:nvPr/>
        </p:nvSpPr>
        <p:spPr>
          <a:xfrm>
            <a:off x="6912864" y="5486400"/>
            <a:ext cx="1600200" cy="329184"/>
          </a:xfrm>
          <a:prstGeom prst="rect">
            <a:avLst/>
          </a:prstGeom>
          <a:noFill/>
          <a:ln/>
        </p:spPr>
        <p:txBody>
          <a:bodyPr wrap="square" lIns="0" tIns="0" rIns="0" bIns="0" rtlCol="0" anchor="ctr"/>
          <a:lstStyle/>
          <a:p>
            <a:pPr marL="0" indent="0">
              <a:buNone/>
            </a:pPr>
            <a:r>
              <a:rPr lang="en-US" sz="1600" b="1" dirty="0">
                <a:solidFill>
                  <a:srgbClr val="6C3483"/>
                </a:solidFill>
                <a:latin typeface="Calibri" pitchFamily="34" charset="0"/>
                <a:ea typeface="Calibri" pitchFamily="34" charset="-122"/>
                <a:cs typeface="Calibri" pitchFamily="34" charset="-120"/>
              </a:rPr>
              <a:t>Tono</a:t>
            </a:r>
            <a:endParaRPr lang="en-US" sz="1600" dirty="0"/>
          </a:p>
        </p:txBody>
      </p:sp>
      <p:sp>
        <p:nvSpPr>
          <p:cNvPr id="19" name="Shape 17"/>
          <p:cNvSpPr/>
          <p:nvPr/>
        </p:nvSpPr>
        <p:spPr>
          <a:xfrm>
            <a:off x="8613648" y="5541264"/>
            <a:ext cx="219456" cy="219456"/>
          </a:xfrm>
          <a:prstGeom prst="ellipse">
            <a:avLst/>
          </a:prstGeom>
          <a:solidFill>
            <a:srgbClr val="A0392B"/>
          </a:solidFill>
          <a:ln w="12700">
            <a:solidFill>
              <a:srgbClr val="A0392B"/>
            </a:solidFill>
            <a:prstDash val="solid"/>
          </a:ln>
        </p:spPr>
        <p:txBody>
          <a:bodyPr/>
          <a:lstStyle/>
          <a:p>
            <a:endParaRPr lang="en-PR"/>
          </a:p>
        </p:txBody>
      </p:sp>
      <p:sp>
        <p:nvSpPr>
          <p:cNvPr id="20" name="Text 18"/>
          <p:cNvSpPr txBox="1"/>
          <p:nvPr/>
        </p:nvSpPr>
        <p:spPr>
          <a:xfrm>
            <a:off x="8924544" y="5486400"/>
            <a:ext cx="1600200" cy="329184"/>
          </a:xfrm>
          <a:prstGeom prst="rect">
            <a:avLst/>
          </a:prstGeom>
          <a:noFill/>
          <a:ln/>
        </p:spPr>
        <p:txBody>
          <a:bodyPr wrap="square" lIns="0" tIns="0" rIns="0" bIns="0" rtlCol="0" anchor="ctr"/>
          <a:lstStyle/>
          <a:p>
            <a:pPr marL="0" indent="0">
              <a:buNone/>
            </a:pPr>
            <a:r>
              <a:rPr lang="en-US" sz="1600" b="1" dirty="0">
                <a:solidFill>
                  <a:srgbClr val="A0392B"/>
                </a:solidFill>
                <a:latin typeface="Calibri" pitchFamily="34" charset="0"/>
                <a:ea typeface="Calibri" pitchFamily="34" charset="-122"/>
                <a:cs typeface="Calibri" pitchFamily="34" charset="-120"/>
              </a:rPr>
              <a:t>Formato</a:t>
            </a:r>
            <a:endParaRPr lang="en-US" sz="1600" dirty="0"/>
          </a:p>
        </p:txBody>
      </p:sp>
      <p:sp>
        <p:nvSpPr>
          <p:cNvPr id="21" name="Text 19"/>
          <p:cNvSpPr txBox="1"/>
          <p:nvPr/>
        </p:nvSpPr>
        <p:spPr>
          <a:xfrm>
            <a:off x="566928" y="5925312"/>
            <a:ext cx="11057839" cy="310896"/>
          </a:xfrm>
          <a:prstGeom prst="rect">
            <a:avLst/>
          </a:prstGeom>
          <a:noFill/>
          <a:ln/>
        </p:spPr>
        <p:txBody>
          <a:bodyPr wrap="square" lIns="0" tIns="0" rIns="0" bIns="0" rtlCol="0" anchor="ctr"/>
          <a:lstStyle/>
          <a:p>
            <a:pPr marL="0" indent="0" algn="r">
              <a:buNone/>
            </a:pPr>
            <a:r>
              <a:rPr lang="en-US" sz="1600" i="1" dirty="0">
                <a:solidFill>
                  <a:srgbClr val="5A6478"/>
                </a:solidFill>
                <a:latin typeface="Calibri" pitchFamily="34" charset="0"/>
                <a:ea typeface="Calibri" pitchFamily="34" charset="-122"/>
                <a:cs typeface="Calibri" pitchFamily="34" charset="-120"/>
              </a:rPr>
              <a:t>Consulte al personal de salud escolar ante cualquier restricción médica.</a:t>
            </a:r>
            <a:endParaRPr lang="en-US" sz="1600" dirty="0"/>
          </a:p>
        </p:txBody>
      </p:sp>
      <p:sp>
        <p:nvSpPr>
          <p:cNvPr id="22" name="Text 20"/>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3" name="Text 21"/>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26</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EJEMPLOS RC-TTF · 7 DE 7</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Teatro</a:t>
            </a:r>
            <a:endParaRPr lang="en-US" sz="3000" dirty="0"/>
          </a:p>
        </p:txBody>
      </p:sp>
      <p:sp>
        <p:nvSpPr>
          <p:cNvPr id="4" name="Shape 2"/>
          <p:cNvSpPr/>
          <p:nvPr/>
        </p:nvSpPr>
        <p:spPr>
          <a:xfrm>
            <a:off x="566928" y="1426464"/>
            <a:ext cx="11057839" cy="3840480"/>
          </a:xfrm>
          <a:prstGeom prst="roundRect">
            <a:avLst>
              <a:gd name="adj" fmla="val 2143"/>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59536" y="1627632"/>
            <a:ext cx="2148840" cy="347472"/>
          </a:xfrm>
          <a:prstGeom prst="roundRect">
            <a:avLst>
              <a:gd name="adj" fmla="val 50000"/>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59536" y="1627632"/>
            <a:ext cx="2148840" cy="347472"/>
          </a:xfrm>
          <a:prstGeom prst="rect">
            <a:avLst/>
          </a:prstGeom>
          <a:noFill/>
          <a:ln/>
        </p:spPr>
        <p:txBody>
          <a:bodyPr wrap="square" lIns="0" tIns="0" rIns="0" bIns="0" rtlCol="0" anchor="ctr"/>
          <a:lstStyle/>
          <a:p>
            <a:pPr marL="0" indent="0" algn="ctr">
              <a:buNone/>
            </a:pPr>
            <a:r>
              <a:rPr lang="en-US" sz="1600" b="1" kern="0" spc="40" dirty="0">
                <a:solidFill>
                  <a:srgbClr val="FFFFFF"/>
                </a:solidFill>
                <a:latin typeface="Calibri" pitchFamily="34" charset="0"/>
                <a:ea typeface="Calibri" pitchFamily="34" charset="-122"/>
                <a:cs typeface="Calibri" pitchFamily="34" charset="-120"/>
              </a:rPr>
              <a:t>6.º a 8.º GRADO</a:t>
            </a:r>
            <a:endParaRPr lang="en-US" sz="1600" dirty="0"/>
          </a:p>
        </p:txBody>
      </p:sp>
      <p:sp>
        <p:nvSpPr>
          <p:cNvPr id="7" name="Text 5"/>
          <p:cNvSpPr txBox="1"/>
          <p:nvPr/>
        </p:nvSpPr>
        <p:spPr>
          <a:xfrm>
            <a:off x="3172968" y="1627632"/>
            <a:ext cx="7772400" cy="347472"/>
          </a:xfrm>
          <a:prstGeom prst="rect">
            <a:avLst/>
          </a:prstGeom>
          <a:noFill/>
          <a:ln/>
        </p:spPr>
        <p:txBody>
          <a:bodyPr wrap="square" lIns="0" tIns="0" rIns="0" bIns="0" rtlCol="0" anchor="ctr"/>
          <a:lstStyle/>
          <a:p>
            <a:pPr marL="0" indent="0">
              <a:buNone/>
            </a:pPr>
            <a:r>
              <a:rPr lang="en-US" sz="1700" i="1" dirty="0">
                <a:solidFill>
                  <a:srgbClr val="5A6478"/>
                </a:solidFill>
                <a:latin typeface="Calibri" pitchFamily="34" charset="0"/>
                <a:ea typeface="Calibri" pitchFamily="34" charset="-122"/>
                <a:cs typeface="Calibri" pitchFamily="34" charset="-120"/>
              </a:rPr>
              <a:t>Vencer el pánico escénico</a:t>
            </a:r>
            <a:endParaRPr lang="en-US" sz="1700" dirty="0"/>
          </a:p>
        </p:txBody>
      </p:sp>
      <p:sp>
        <p:nvSpPr>
          <p:cNvPr id="8" name="Text 6"/>
          <p:cNvSpPr txBox="1"/>
          <p:nvPr/>
        </p:nvSpPr>
        <p:spPr>
          <a:xfrm>
            <a:off x="859536" y="2084832"/>
            <a:ext cx="10469880" cy="2148840"/>
          </a:xfrm>
          <a:prstGeom prst="rect">
            <a:avLst/>
          </a:prstGeom>
          <a:noFill/>
          <a:ln/>
        </p:spPr>
        <p:txBody>
          <a:bodyPr wrap="square" lIns="0" tIns="0" rIns="0" bIns="0" rtlCol="0" anchor="t"/>
          <a:lstStyle/>
          <a:p>
            <a:pPr marL="0" indent="0">
              <a:lnSpc>
                <a:spcPts val="2600"/>
              </a:lnSpc>
              <a:buNone/>
            </a:pPr>
            <a:r>
              <a:rPr lang="en-US" sz="1800" dirty="0">
                <a:solidFill>
                  <a:srgbClr val="1B2A4A"/>
                </a:solidFill>
                <a:latin typeface="Calibri" pitchFamily="34" charset="0"/>
                <a:ea typeface="Calibri" pitchFamily="34" charset="-122"/>
                <a:cs typeface="Calibri" pitchFamily="34" charset="-120"/>
              </a:rPr>
              <a:t>Actúa como maestro de Teatro de escuela intermedia. </a:t>
            </a:r>
            <a:r>
              <a:rPr lang="en-US" sz="1800" dirty="0">
                <a:solidFill>
                  <a:srgbClr val="1F7A6E"/>
                </a:solidFill>
                <a:latin typeface="Calibri" pitchFamily="34" charset="0"/>
                <a:ea typeface="Calibri" pitchFamily="34" charset="-122"/>
                <a:cs typeface="Calibri" pitchFamily="34" charset="-120"/>
              </a:rPr>
              <a:t>Mis estudiantes de 7.º grado sienten pánico escénico y evitan improvisar frente al grupo completo. </a:t>
            </a:r>
            <a:r>
              <a:rPr lang="en-US" sz="1800" dirty="0">
                <a:solidFill>
                  <a:srgbClr val="8A6D0F"/>
                </a:solidFill>
                <a:latin typeface="Calibri" pitchFamily="34" charset="0"/>
                <a:ea typeface="Calibri" pitchFamily="34" charset="-122"/>
                <a:cs typeface="Calibri" pitchFamily="34" charset="-120"/>
              </a:rPr>
              <a:t>Diseña una progresión de seis ejercicios que avance del trabajo en parejas al trabajo frente a toda la clase. </a:t>
            </a:r>
            <a:r>
              <a:rPr lang="en-US" sz="1800" dirty="0">
                <a:solidFill>
                  <a:srgbClr val="6C3483"/>
                </a:solidFill>
                <a:latin typeface="Calibri" pitchFamily="34" charset="0"/>
                <a:ea typeface="Calibri" pitchFamily="34" charset="-122"/>
                <a:cs typeface="Calibri" pitchFamily="34" charset="-120"/>
              </a:rPr>
              <a:t>Tono lúdico y sin presión de evaluación. </a:t>
            </a:r>
            <a:r>
              <a:rPr lang="en-US" sz="1800" dirty="0">
                <a:solidFill>
                  <a:srgbClr val="A0392B"/>
                </a:solidFill>
                <a:latin typeface="Calibri" pitchFamily="34" charset="0"/>
                <a:ea typeface="Calibri" pitchFamily="34" charset="-122"/>
                <a:cs typeface="Calibri" pitchFamily="34" charset="-120"/>
              </a:rPr>
              <a:t>Cada ejercicio con objetivo, duración, instrucciones y la señal de que el grupo está listo para el siguiente.</a:t>
            </a:r>
            <a:endParaRPr lang="en-US" sz="1800" dirty="0"/>
          </a:p>
        </p:txBody>
      </p:sp>
      <p:sp>
        <p:nvSpPr>
          <p:cNvPr id="9" name="Text 7"/>
          <p:cNvSpPr txBox="1"/>
          <p:nvPr/>
        </p:nvSpPr>
        <p:spPr>
          <a:xfrm>
            <a:off x="859536" y="4315968"/>
            <a:ext cx="4846320" cy="256032"/>
          </a:xfrm>
          <a:prstGeom prst="rect">
            <a:avLst/>
          </a:prstGeom>
          <a:noFill/>
          <a:ln/>
        </p:spPr>
        <p:txBody>
          <a:bodyPr wrap="square" lIns="0" tIns="0" rIns="0" bIns="0" rtlCol="0" anchor="ctr"/>
          <a:lstStyle/>
          <a:p>
            <a:pPr marL="0" indent="0">
              <a:buNone/>
            </a:pPr>
            <a:r>
              <a:rPr lang="en-US" sz="1600" b="1" kern="0" spc="120" dirty="0">
                <a:solidFill>
                  <a:srgbClr val="2A9D8F"/>
                </a:solidFill>
                <a:latin typeface="Calibri" pitchFamily="34" charset="0"/>
                <a:ea typeface="Calibri" pitchFamily="34" charset="-122"/>
                <a:cs typeface="Calibri" pitchFamily="34" charset="-120"/>
              </a:rPr>
              <a:t>QUÉ LOGRA</a:t>
            </a:r>
            <a:endParaRPr lang="en-US" sz="1600" dirty="0"/>
          </a:p>
        </p:txBody>
      </p:sp>
      <p:sp>
        <p:nvSpPr>
          <p:cNvPr id="10" name="Text 8"/>
          <p:cNvSpPr txBox="1"/>
          <p:nvPr/>
        </p:nvSpPr>
        <p:spPr>
          <a:xfrm>
            <a:off x="859536" y="4590288"/>
            <a:ext cx="10469880" cy="621792"/>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Pedir una progresión —y no una lista— obliga al modelo a graduar la exposición, que es justamente el problema pedagógico.</a:t>
            </a:r>
            <a:endParaRPr lang="en-US" sz="1700" dirty="0"/>
          </a:p>
        </p:txBody>
      </p:sp>
      <p:sp>
        <p:nvSpPr>
          <p:cNvPr id="11" name="Shape 9"/>
          <p:cNvSpPr/>
          <p:nvPr/>
        </p:nvSpPr>
        <p:spPr>
          <a:xfrm>
            <a:off x="566928" y="5541264"/>
            <a:ext cx="219456" cy="219456"/>
          </a:xfrm>
          <a:prstGeom prst="ellipse">
            <a:avLst/>
          </a:prstGeom>
          <a:solidFill>
            <a:srgbClr val="1B2A4A"/>
          </a:solidFill>
          <a:ln w="12700">
            <a:solidFill>
              <a:srgbClr val="1B2A4A"/>
            </a:solidFill>
            <a:prstDash val="solid"/>
          </a:ln>
        </p:spPr>
        <p:txBody>
          <a:bodyPr/>
          <a:lstStyle/>
          <a:p>
            <a:endParaRPr lang="en-PR"/>
          </a:p>
        </p:txBody>
      </p:sp>
      <p:sp>
        <p:nvSpPr>
          <p:cNvPr id="12" name="Text 10"/>
          <p:cNvSpPr txBox="1"/>
          <p:nvPr/>
        </p:nvSpPr>
        <p:spPr>
          <a:xfrm>
            <a:off x="877824" y="5486400"/>
            <a:ext cx="1600200" cy="329184"/>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Rol</a:t>
            </a:r>
            <a:endParaRPr lang="en-US" sz="1600" dirty="0"/>
          </a:p>
        </p:txBody>
      </p:sp>
      <p:sp>
        <p:nvSpPr>
          <p:cNvPr id="13" name="Shape 11"/>
          <p:cNvSpPr/>
          <p:nvPr/>
        </p:nvSpPr>
        <p:spPr>
          <a:xfrm>
            <a:off x="2578608" y="5541264"/>
            <a:ext cx="219456" cy="219456"/>
          </a:xfrm>
          <a:prstGeom prst="ellipse">
            <a:avLst/>
          </a:prstGeom>
          <a:solidFill>
            <a:srgbClr val="1F7A6E"/>
          </a:solidFill>
          <a:ln w="12700">
            <a:solidFill>
              <a:srgbClr val="1F7A6E"/>
            </a:solidFill>
            <a:prstDash val="solid"/>
          </a:ln>
        </p:spPr>
        <p:txBody>
          <a:bodyPr/>
          <a:lstStyle/>
          <a:p>
            <a:endParaRPr lang="en-PR"/>
          </a:p>
        </p:txBody>
      </p:sp>
      <p:sp>
        <p:nvSpPr>
          <p:cNvPr id="14" name="Text 12"/>
          <p:cNvSpPr txBox="1"/>
          <p:nvPr/>
        </p:nvSpPr>
        <p:spPr>
          <a:xfrm>
            <a:off x="2889504" y="5486400"/>
            <a:ext cx="1600200" cy="329184"/>
          </a:xfrm>
          <a:prstGeom prst="rect">
            <a:avLst/>
          </a:prstGeom>
          <a:noFill/>
          <a:ln/>
        </p:spPr>
        <p:txBody>
          <a:bodyPr wrap="square" lIns="0" tIns="0" rIns="0" bIns="0" rtlCol="0" anchor="ctr"/>
          <a:lstStyle/>
          <a:p>
            <a:pPr marL="0" indent="0">
              <a:buNone/>
            </a:pPr>
            <a:r>
              <a:rPr lang="en-US" sz="1600" b="1" dirty="0">
                <a:solidFill>
                  <a:srgbClr val="1F7A6E"/>
                </a:solidFill>
                <a:latin typeface="Calibri" pitchFamily="34" charset="0"/>
                <a:ea typeface="Calibri" pitchFamily="34" charset="-122"/>
                <a:cs typeface="Calibri" pitchFamily="34" charset="-120"/>
              </a:rPr>
              <a:t>Contexto</a:t>
            </a:r>
            <a:endParaRPr lang="en-US" sz="1600" dirty="0"/>
          </a:p>
        </p:txBody>
      </p:sp>
      <p:sp>
        <p:nvSpPr>
          <p:cNvPr id="15" name="Shape 13"/>
          <p:cNvSpPr/>
          <p:nvPr/>
        </p:nvSpPr>
        <p:spPr>
          <a:xfrm>
            <a:off x="4590288" y="5541264"/>
            <a:ext cx="219456" cy="219456"/>
          </a:xfrm>
          <a:prstGeom prst="ellipse">
            <a:avLst/>
          </a:prstGeom>
          <a:solidFill>
            <a:srgbClr val="8A6D0F"/>
          </a:solidFill>
          <a:ln w="12700">
            <a:solidFill>
              <a:srgbClr val="8A6D0F"/>
            </a:solidFill>
            <a:prstDash val="solid"/>
          </a:ln>
        </p:spPr>
        <p:txBody>
          <a:bodyPr/>
          <a:lstStyle/>
          <a:p>
            <a:endParaRPr lang="en-PR"/>
          </a:p>
        </p:txBody>
      </p:sp>
      <p:sp>
        <p:nvSpPr>
          <p:cNvPr id="16" name="Text 14"/>
          <p:cNvSpPr txBox="1"/>
          <p:nvPr/>
        </p:nvSpPr>
        <p:spPr>
          <a:xfrm>
            <a:off x="4901184" y="5486400"/>
            <a:ext cx="1600200" cy="329184"/>
          </a:xfrm>
          <a:prstGeom prst="rect">
            <a:avLst/>
          </a:prstGeom>
          <a:noFill/>
          <a:ln/>
        </p:spPr>
        <p:txBody>
          <a:bodyPr wrap="square" lIns="0" tIns="0" rIns="0" bIns="0" rtlCol="0" anchor="ctr"/>
          <a:lstStyle/>
          <a:p>
            <a:pPr marL="0" indent="0">
              <a:buNone/>
            </a:pPr>
            <a:r>
              <a:rPr lang="en-US" sz="1600" b="1" dirty="0">
                <a:solidFill>
                  <a:srgbClr val="8A6D0F"/>
                </a:solidFill>
                <a:latin typeface="Calibri" pitchFamily="34" charset="0"/>
                <a:ea typeface="Calibri" pitchFamily="34" charset="-122"/>
                <a:cs typeface="Calibri" pitchFamily="34" charset="-120"/>
              </a:rPr>
              <a:t>Tarea</a:t>
            </a:r>
            <a:endParaRPr lang="en-US" sz="1600" dirty="0"/>
          </a:p>
        </p:txBody>
      </p:sp>
      <p:sp>
        <p:nvSpPr>
          <p:cNvPr id="17" name="Shape 15"/>
          <p:cNvSpPr/>
          <p:nvPr/>
        </p:nvSpPr>
        <p:spPr>
          <a:xfrm>
            <a:off x="6601968" y="5541264"/>
            <a:ext cx="219456" cy="219456"/>
          </a:xfrm>
          <a:prstGeom prst="ellipse">
            <a:avLst/>
          </a:prstGeom>
          <a:solidFill>
            <a:srgbClr val="6C3483"/>
          </a:solidFill>
          <a:ln w="12700">
            <a:solidFill>
              <a:srgbClr val="6C3483"/>
            </a:solidFill>
            <a:prstDash val="solid"/>
          </a:ln>
        </p:spPr>
        <p:txBody>
          <a:bodyPr/>
          <a:lstStyle/>
          <a:p>
            <a:endParaRPr lang="en-PR"/>
          </a:p>
        </p:txBody>
      </p:sp>
      <p:sp>
        <p:nvSpPr>
          <p:cNvPr id="18" name="Text 16"/>
          <p:cNvSpPr txBox="1"/>
          <p:nvPr/>
        </p:nvSpPr>
        <p:spPr>
          <a:xfrm>
            <a:off x="6912864" y="5486400"/>
            <a:ext cx="1600200" cy="329184"/>
          </a:xfrm>
          <a:prstGeom prst="rect">
            <a:avLst/>
          </a:prstGeom>
          <a:noFill/>
          <a:ln/>
        </p:spPr>
        <p:txBody>
          <a:bodyPr wrap="square" lIns="0" tIns="0" rIns="0" bIns="0" rtlCol="0" anchor="ctr"/>
          <a:lstStyle/>
          <a:p>
            <a:pPr marL="0" indent="0">
              <a:buNone/>
            </a:pPr>
            <a:r>
              <a:rPr lang="en-US" sz="1600" b="1" dirty="0">
                <a:solidFill>
                  <a:srgbClr val="6C3483"/>
                </a:solidFill>
                <a:latin typeface="Calibri" pitchFamily="34" charset="0"/>
                <a:ea typeface="Calibri" pitchFamily="34" charset="-122"/>
                <a:cs typeface="Calibri" pitchFamily="34" charset="-120"/>
              </a:rPr>
              <a:t>Tono</a:t>
            </a:r>
            <a:endParaRPr lang="en-US" sz="1600" dirty="0"/>
          </a:p>
        </p:txBody>
      </p:sp>
      <p:sp>
        <p:nvSpPr>
          <p:cNvPr id="19" name="Shape 17"/>
          <p:cNvSpPr/>
          <p:nvPr/>
        </p:nvSpPr>
        <p:spPr>
          <a:xfrm>
            <a:off x="8613648" y="5541264"/>
            <a:ext cx="219456" cy="219456"/>
          </a:xfrm>
          <a:prstGeom prst="ellipse">
            <a:avLst/>
          </a:prstGeom>
          <a:solidFill>
            <a:srgbClr val="A0392B"/>
          </a:solidFill>
          <a:ln w="12700">
            <a:solidFill>
              <a:srgbClr val="A0392B"/>
            </a:solidFill>
            <a:prstDash val="solid"/>
          </a:ln>
        </p:spPr>
        <p:txBody>
          <a:bodyPr/>
          <a:lstStyle/>
          <a:p>
            <a:endParaRPr lang="en-PR"/>
          </a:p>
        </p:txBody>
      </p:sp>
      <p:sp>
        <p:nvSpPr>
          <p:cNvPr id="20" name="Text 18"/>
          <p:cNvSpPr txBox="1"/>
          <p:nvPr/>
        </p:nvSpPr>
        <p:spPr>
          <a:xfrm>
            <a:off x="8924544" y="5486400"/>
            <a:ext cx="1600200" cy="329184"/>
          </a:xfrm>
          <a:prstGeom prst="rect">
            <a:avLst/>
          </a:prstGeom>
          <a:noFill/>
          <a:ln/>
        </p:spPr>
        <p:txBody>
          <a:bodyPr wrap="square" lIns="0" tIns="0" rIns="0" bIns="0" rtlCol="0" anchor="ctr"/>
          <a:lstStyle/>
          <a:p>
            <a:pPr marL="0" indent="0">
              <a:buNone/>
            </a:pPr>
            <a:r>
              <a:rPr lang="en-US" sz="1600" b="1" dirty="0">
                <a:solidFill>
                  <a:srgbClr val="A0392B"/>
                </a:solidFill>
                <a:latin typeface="Calibri" pitchFamily="34" charset="0"/>
                <a:ea typeface="Calibri" pitchFamily="34" charset="-122"/>
                <a:cs typeface="Calibri" pitchFamily="34" charset="-120"/>
              </a:rPr>
              <a:t>Formato</a:t>
            </a:r>
            <a:endParaRPr lang="en-US" sz="1600" dirty="0"/>
          </a:p>
        </p:txBody>
      </p:sp>
      <p:sp>
        <p:nvSpPr>
          <p:cNvPr id="21" name="Text 19"/>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2" name="Text 20"/>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27</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EJEMPLOS RC-TTF · 7 DE 7</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Teatro (cont.)</a:t>
            </a:r>
            <a:endParaRPr lang="en-US" sz="3000" dirty="0"/>
          </a:p>
        </p:txBody>
      </p:sp>
      <p:sp>
        <p:nvSpPr>
          <p:cNvPr id="4" name="Shape 2"/>
          <p:cNvSpPr/>
          <p:nvPr/>
        </p:nvSpPr>
        <p:spPr>
          <a:xfrm>
            <a:off x="566928" y="1426464"/>
            <a:ext cx="11057839" cy="3840480"/>
          </a:xfrm>
          <a:prstGeom prst="roundRect">
            <a:avLst>
              <a:gd name="adj" fmla="val 2143"/>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59536" y="1627632"/>
            <a:ext cx="2148840" cy="347472"/>
          </a:xfrm>
          <a:prstGeom prst="roundRect">
            <a:avLst>
              <a:gd name="adj" fmla="val 50000"/>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59536" y="1627632"/>
            <a:ext cx="2148840" cy="347472"/>
          </a:xfrm>
          <a:prstGeom prst="rect">
            <a:avLst/>
          </a:prstGeom>
          <a:noFill/>
          <a:ln/>
        </p:spPr>
        <p:txBody>
          <a:bodyPr wrap="square" lIns="0" tIns="0" rIns="0" bIns="0" rtlCol="0" anchor="ctr"/>
          <a:lstStyle/>
          <a:p>
            <a:pPr marL="0" indent="0" algn="ctr">
              <a:buNone/>
            </a:pPr>
            <a:r>
              <a:rPr lang="en-US" sz="1600" b="1" kern="0" spc="40" dirty="0">
                <a:solidFill>
                  <a:srgbClr val="FFFFFF"/>
                </a:solidFill>
                <a:latin typeface="Calibri" pitchFamily="34" charset="0"/>
                <a:ea typeface="Calibri" pitchFamily="34" charset="-122"/>
                <a:cs typeface="Calibri" pitchFamily="34" charset="-120"/>
              </a:rPr>
              <a:t>9.º a 12.º GRADO</a:t>
            </a:r>
            <a:endParaRPr lang="en-US" sz="1600" dirty="0"/>
          </a:p>
        </p:txBody>
      </p:sp>
      <p:sp>
        <p:nvSpPr>
          <p:cNvPr id="7" name="Text 5"/>
          <p:cNvSpPr txBox="1"/>
          <p:nvPr/>
        </p:nvSpPr>
        <p:spPr>
          <a:xfrm>
            <a:off x="3172968" y="1627632"/>
            <a:ext cx="7772400" cy="347472"/>
          </a:xfrm>
          <a:prstGeom prst="rect">
            <a:avLst/>
          </a:prstGeom>
          <a:noFill/>
          <a:ln/>
        </p:spPr>
        <p:txBody>
          <a:bodyPr wrap="square" lIns="0" tIns="0" rIns="0" bIns="0" rtlCol="0" anchor="ctr"/>
          <a:lstStyle/>
          <a:p>
            <a:pPr marL="0" indent="0">
              <a:buNone/>
            </a:pPr>
            <a:r>
              <a:rPr lang="en-US" sz="1700" i="1" dirty="0">
                <a:solidFill>
                  <a:srgbClr val="5A6478"/>
                </a:solidFill>
                <a:latin typeface="Calibri" pitchFamily="34" charset="0"/>
                <a:ea typeface="Calibri" pitchFamily="34" charset="-122"/>
                <a:cs typeface="Calibri" pitchFamily="34" charset="-120"/>
              </a:rPr>
              <a:t>Conceptos de montaje</a:t>
            </a:r>
            <a:endParaRPr lang="en-US" sz="1700" dirty="0"/>
          </a:p>
        </p:txBody>
      </p:sp>
      <p:sp>
        <p:nvSpPr>
          <p:cNvPr id="8" name="Text 6"/>
          <p:cNvSpPr txBox="1"/>
          <p:nvPr/>
        </p:nvSpPr>
        <p:spPr>
          <a:xfrm>
            <a:off x="859536" y="2084832"/>
            <a:ext cx="10469880" cy="2148840"/>
          </a:xfrm>
          <a:prstGeom prst="rect">
            <a:avLst/>
          </a:prstGeom>
          <a:noFill/>
          <a:ln/>
        </p:spPr>
        <p:txBody>
          <a:bodyPr wrap="square" lIns="0" tIns="0" rIns="0" bIns="0" rtlCol="0" anchor="t"/>
          <a:lstStyle/>
          <a:p>
            <a:pPr marL="0" indent="0">
              <a:lnSpc>
                <a:spcPts val="2600"/>
              </a:lnSpc>
              <a:buNone/>
            </a:pPr>
            <a:r>
              <a:rPr lang="en-US" sz="1800" dirty="0">
                <a:solidFill>
                  <a:srgbClr val="1B2A4A"/>
                </a:solidFill>
                <a:latin typeface="Calibri" pitchFamily="34" charset="0"/>
                <a:ea typeface="Calibri" pitchFamily="34" charset="-122"/>
                <a:cs typeface="Calibri" pitchFamily="34" charset="-120"/>
              </a:rPr>
              <a:t>Actúa como director teatral y maestro de escuela superior. </a:t>
            </a:r>
            <a:r>
              <a:rPr lang="en-US" sz="1800" dirty="0">
                <a:solidFill>
                  <a:srgbClr val="1F7A6E"/>
                </a:solidFill>
                <a:latin typeface="Calibri" pitchFamily="34" charset="0"/>
                <a:ea typeface="Calibri" pitchFamily="34" charset="-122"/>
                <a:cs typeface="Calibri" pitchFamily="34" charset="-120"/>
              </a:rPr>
              <a:t>Voy a montar una escena breve con 12.º grado y quiero explorar el tema de la identidad puertorriqueña. </a:t>
            </a:r>
            <a:r>
              <a:rPr lang="en-US" sz="1800" dirty="0">
                <a:solidFill>
                  <a:srgbClr val="8A6D0F"/>
                </a:solidFill>
                <a:latin typeface="Calibri" pitchFamily="34" charset="0"/>
                <a:ea typeface="Calibri" pitchFamily="34" charset="-122"/>
                <a:cs typeface="Calibri" pitchFamily="34" charset="-120"/>
              </a:rPr>
              <a:t>Propón tres conceptos de montaje para una escena de René Marqués, cada uno con una decisión escénica distinta. </a:t>
            </a:r>
            <a:r>
              <a:rPr lang="en-US" sz="1800" dirty="0">
                <a:solidFill>
                  <a:srgbClr val="6C3483"/>
                </a:solidFill>
                <a:latin typeface="Calibri" pitchFamily="34" charset="0"/>
                <a:ea typeface="Calibri" pitchFamily="34" charset="-122"/>
                <a:cs typeface="Calibri" pitchFamily="34" charset="-120"/>
              </a:rPr>
              <a:t>Con tono de colaboración creativa, no de instrucción. </a:t>
            </a:r>
            <a:r>
              <a:rPr lang="en-US" sz="1800" dirty="0">
                <a:solidFill>
                  <a:srgbClr val="A0392B"/>
                </a:solidFill>
                <a:latin typeface="Calibri" pitchFamily="34" charset="0"/>
                <a:ea typeface="Calibri" pitchFamily="34" charset="-122"/>
                <a:cs typeface="Calibri" pitchFamily="34" charset="-120"/>
              </a:rPr>
              <a:t>Los tres conceptos comparados en una tabla con propuesta, justificación dramatúrgica y reto de producción.</a:t>
            </a:r>
            <a:endParaRPr lang="en-US" sz="1800" dirty="0"/>
          </a:p>
        </p:txBody>
      </p:sp>
      <p:sp>
        <p:nvSpPr>
          <p:cNvPr id="9" name="Text 7"/>
          <p:cNvSpPr txBox="1"/>
          <p:nvPr/>
        </p:nvSpPr>
        <p:spPr>
          <a:xfrm>
            <a:off x="859536" y="4315968"/>
            <a:ext cx="4846320" cy="256032"/>
          </a:xfrm>
          <a:prstGeom prst="rect">
            <a:avLst/>
          </a:prstGeom>
          <a:noFill/>
          <a:ln/>
        </p:spPr>
        <p:txBody>
          <a:bodyPr wrap="square" lIns="0" tIns="0" rIns="0" bIns="0" rtlCol="0" anchor="ctr"/>
          <a:lstStyle/>
          <a:p>
            <a:pPr marL="0" indent="0">
              <a:buNone/>
            </a:pPr>
            <a:r>
              <a:rPr lang="en-US" sz="1600" b="1" kern="0" spc="120" dirty="0">
                <a:solidFill>
                  <a:srgbClr val="2A9D8F"/>
                </a:solidFill>
                <a:latin typeface="Calibri" pitchFamily="34" charset="0"/>
                <a:ea typeface="Calibri" pitchFamily="34" charset="-122"/>
                <a:cs typeface="Calibri" pitchFamily="34" charset="-120"/>
              </a:rPr>
              <a:t>QUÉ LOGRA</a:t>
            </a:r>
            <a:endParaRPr lang="en-US" sz="1600" dirty="0"/>
          </a:p>
        </p:txBody>
      </p:sp>
      <p:sp>
        <p:nvSpPr>
          <p:cNvPr id="10" name="Text 8"/>
          <p:cNvSpPr txBox="1"/>
          <p:nvPr/>
        </p:nvSpPr>
        <p:spPr>
          <a:xfrm>
            <a:off x="859536" y="4590288"/>
            <a:ext cx="10469880" cy="621792"/>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Tres alternativas contrastadas convierten a la IA en interlocutor de diseño, no en autor de la decisión artística.</a:t>
            </a:r>
            <a:endParaRPr lang="en-US" sz="1700" dirty="0"/>
          </a:p>
        </p:txBody>
      </p:sp>
      <p:sp>
        <p:nvSpPr>
          <p:cNvPr id="11" name="Shape 9"/>
          <p:cNvSpPr/>
          <p:nvPr/>
        </p:nvSpPr>
        <p:spPr>
          <a:xfrm>
            <a:off x="566928" y="5541264"/>
            <a:ext cx="219456" cy="219456"/>
          </a:xfrm>
          <a:prstGeom prst="ellipse">
            <a:avLst/>
          </a:prstGeom>
          <a:solidFill>
            <a:srgbClr val="1B2A4A"/>
          </a:solidFill>
          <a:ln w="12700">
            <a:solidFill>
              <a:srgbClr val="1B2A4A"/>
            </a:solidFill>
            <a:prstDash val="solid"/>
          </a:ln>
        </p:spPr>
        <p:txBody>
          <a:bodyPr/>
          <a:lstStyle/>
          <a:p>
            <a:endParaRPr lang="en-PR"/>
          </a:p>
        </p:txBody>
      </p:sp>
      <p:sp>
        <p:nvSpPr>
          <p:cNvPr id="12" name="Text 10"/>
          <p:cNvSpPr txBox="1"/>
          <p:nvPr/>
        </p:nvSpPr>
        <p:spPr>
          <a:xfrm>
            <a:off x="877824" y="5486400"/>
            <a:ext cx="1600200" cy="329184"/>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Rol</a:t>
            </a:r>
            <a:endParaRPr lang="en-US" sz="1600" dirty="0"/>
          </a:p>
        </p:txBody>
      </p:sp>
      <p:sp>
        <p:nvSpPr>
          <p:cNvPr id="13" name="Shape 11"/>
          <p:cNvSpPr/>
          <p:nvPr/>
        </p:nvSpPr>
        <p:spPr>
          <a:xfrm>
            <a:off x="2578608" y="5541264"/>
            <a:ext cx="219456" cy="219456"/>
          </a:xfrm>
          <a:prstGeom prst="ellipse">
            <a:avLst/>
          </a:prstGeom>
          <a:solidFill>
            <a:srgbClr val="1F7A6E"/>
          </a:solidFill>
          <a:ln w="12700">
            <a:solidFill>
              <a:srgbClr val="1F7A6E"/>
            </a:solidFill>
            <a:prstDash val="solid"/>
          </a:ln>
        </p:spPr>
        <p:txBody>
          <a:bodyPr/>
          <a:lstStyle/>
          <a:p>
            <a:endParaRPr lang="en-PR"/>
          </a:p>
        </p:txBody>
      </p:sp>
      <p:sp>
        <p:nvSpPr>
          <p:cNvPr id="14" name="Text 12"/>
          <p:cNvSpPr txBox="1"/>
          <p:nvPr/>
        </p:nvSpPr>
        <p:spPr>
          <a:xfrm>
            <a:off x="2889504" y="5486400"/>
            <a:ext cx="1600200" cy="329184"/>
          </a:xfrm>
          <a:prstGeom prst="rect">
            <a:avLst/>
          </a:prstGeom>
          <a:noFill/>
          <a:ln/>
        </p:spPr>
        <p:txBody>
          <a:bodyPr wrap="square" lIns="0" tIns="0" rIns="0" bIns="0" rtlCol="0" anchor="ctr"/>
          <a:lstStyle/>
          <a:p>
            <a:pPr marL="0" indent="0">
              <a:buNone/>
            </a:pPr>
            <a:r>
              <a:rPr lang="en-US" sz="1600" b="1" dirty="0">
                <a:solidFill>
                  <a:srgbClr val="1F7A6E"/>
                </a:solidFill>
                <a:latin typeface="Calibri" pitchFamily="34" charset="0"/>
                <a:ea typeface="Calibri" pitchFamily="34" charset="-122"/>
                <a:cs typeface="Calibri" pitchFamily="34" charset="-120"/>
              </a:rPr>
              <a:t>Contexto</a:t>
            </a:r>
            <a:endParaRPr lang="en-US" sz="1600" dirty="0"/>
          </a:p>
        </p:txBody>
      </p:sp>
      <p:sp>
        <p:nvSpPr>
          <p:cNvPr id="15" name="Shape 13"/>
          <p:cNvSpPr/>
          <p:nvPr/>
        </p:nvSpPr>
        <p:spPr>
          <a:xfrm>
            <a:off x="4590288" y="5541264"/>
            <a:ext cx="219456" cy="219456"/>
          </a:xfrm>
          <a:prstGeom prst="ellipse">
            <a:avLst/>
          </a:prstGeom>
          <a:solidFill>
            <a:srgbClr val="8A6D0F"/>
          </a:solidFill>
          <a:ln w="12700">
            <a:solidFill>
              <a:srgbClr val="8A6D0F"/>
            </a:solidFill>
            <a:prstDash val="solid"/>
          </a:ln>
        </p:spPr>
        <p:txBody>
          <a:bodyPr/>
          <a:lstStyle/>
          <a:p>
            <a:endParaRPr lang="en-PR"/>
          </a:p>
        </p:txBody>
      </p:sp>
      <p:sp>
        <p:nvSpPr>
          <p:cNvPr id="16" name="Text 14"/>
          <p:cNvSpPr txBox="1"/>
          <p:nvPr/>
        </p:nvSpPr>
        <p:spPr>
          <a:xfrm>
            <a:off x="4901184" y="5486400"/>
            <a:ext cx="1600200" cy="329184"/>
          </a:xfrm>
          <a:prstGeom prst="rect">
            <a:avLst/>
          </a:prstGeom>
          <a:noFill/>
          <a:ln/>
        </p:spPr>
        <p:txBody>
          <a:bodyPr wrap="square" lIns="0" tIns="0" rIns="0" bIns="0" rtlCol="0" anchor="ctr"/>
          <a:lstStyle/>
          <a:p>
            <a:pPr marL="0" indent="0">
              <a:buNone/>
            </a:pPr>
            <a:r>
              <a:rPr lang="en-US" sz="1600" b="1" dirty="0">
                <a:solidFill>
                  <a:srgbClr val="8A6D0F"/>
                </a:solidFill>
                <a:latin typeface="Calibri" pitchFamily="34" charset="0"/>
                <a:ea typeface="Calibri" pitchFamily="34" charset="-122"/>
                <a:cs typeface="Calibri" pitchFamily="34" charset="-120"/>
              </a:rPr>
              <a:t>Tarea</a:t>
            </a:r>
            <a:endParaRPr lang="en-US" sz="1600" dirty="0"/>
          </a:p>
        </p:txBody>
      </p:sp>
      <p:sp>
        <p:nvSpPr>
          <p:cNvPr id="17" name="Shape 15"/>
          <p:cNvSpPr/>
          <p:nvPr/>
        </p:nvSpPr>
        <p:spPr>
          <a:xfrm>
            <a:off x="6601968" y="5541264"/>
            <a:ext cx="219456" cy="219456"/>
          </a:xfrm>
          <a:prstGeom prst="ellipse">
            <a:avLst/>
          </a:prstGeom>
          <a:solidFill>
            <a:srgbClr val="6C3483"/>
          </a:solidFill>
          <a:ln w="12700">
            <a:solidFill>
              <a:srgbClr val="6C3483"/>
            </a:solidFill>
            <a:prstDash val="solid"/>
          </a:ln>
        </p:spPr>
        <p:txBody>
          <a:bodyPr/>
          <a:lstStyle/>
          <a:p>
            <a:endParaRPr lang="en-PR"/>
          </a:p>
        </p:txBody>
      </p:sp>
      <p:sp>
        <p:nvSpPr>
          <p:cNvPr id="18" name="Text 16"/>
          <p:cNvSpPr txBox="1"/>
          <p:nvPr/>
        </p:nvSpPr>
        <p:spPr>
          <a:xfrm>
            <a:off x="6912864" y="5486400"/>
            <a:ext cx="1600200" cy="329184"/>
          </a:xfrm>
          <a:prstGeom prst="rect">
            <a:avLst/>
          </a:prstGeom>
          <a:noFill/>
          <a:ln/>
        </p:spPr>
        <p:txBody>
          <a:bodyPr wrap="square" lIns="0" tIns="0" rIns="0" bIns="0" rtlCol="0" anchor="ctr"/>
          <a:lstStyle/>
          <a:p>
            <a:pPr marL="0" indent="0">
              <a:buNone/>
            </a:pPr>
            <a:r>
              <a:rPr lang="en-US" sz="1600" b="1" dirty="0">
                <a:solidFill>
                  <a:srgbClr val="6C3483"/>
                </a:solidFill>
                <a:latin typeface="Calibri" pitchFamily="34" charset="0"/>
                <a:ea typeface="Calibri" pitchFamily="34" charset="-122"/>
                <a:cs typeface="Calibri" pitchFamily="34" charset="-120"/>
              </a:rPr>
              <a:t>Tono</a:t>
            </a:r>
            <a:endParaRPr lang="en-US" sz="1600" dirty="0"/>
          </a:p>
        </p:txBody>
      </p:sp>
      <p:sp>
        <p:nvSpPr>
          <p:cNvPr id="19" name="Shape 17"/>
          <p:cNvSpPr/>
          <p:nvPr/>
        </p:nvSpPr>
        <p:spPr>
          <a:xfrm>
            <a:off x="8613648" y="5541264"/>
            <a:ext cx="219456" cy="219456"/>
          </a:xfrm>
          <a:prstGeom prst="ellipse">
            <a:avLst/>
          </a:prstGeom>
          <a:solidFill>
            <a:srgbClr val="A0392B"/>
          </a:solidFill>
          <a:ln w="12700">
            <a:solidFill>
              <a:srgbClr val="A0392B"/>
            </a:solidFill>
            <a:prstDash val="solid"/>
          </a:ln>
        </p:spPr>
        <p:txBody>
          <a:bodyPr/>
          <a:lstStyle/>
          <a:p>
            <a:endParaRPr lang="en-PR"/>
          </a:p>
        </p:txBody>
      </p:sp>
      <p:sp>
        <p:nvSpPr>
          <p:cNvPr id="20" name="Text 18"/>
          <p:cNvSpPr txBox="1"/>
          <p:nvPr/>
        </p:nvSpPr>
        <p:spPr>
          <a:xfrm>
            <a:off x="8924544" y="5486400"/>
            <a:ext cx="1600200" cy="329184"/>
          </a:xfrm>
          <a:prstGeom prst="rect">
            <a:avLst/>
          </a:prstGeom>
          <a:noFill/>
          <a:ln/>
        </p:spPr>
        <p:txBody>
          <a:bodyPr wrap="square" lIns="0" tIns="0" rIns="0" bIns="0" rtlCol="0" anchor="ctr"/>
          <a:lstStyle/>
          <a:p>
            <a:pPr marL="0" indent="0">
              <a:buNone/>
            </a:pPr>
            <a:r>
              <a:rPr lang="en-US" sz="1600" b="1" dirty="0">
                <a:solidFill>
                  <a:srgbClr val="A0392B"/>
                </a:solidFill>
                <a:latin typeface="Calibri" pitchFamily="34" charset="0"/>
                <a:ea typeface="Calibri" pitchFamily="34" charset="-122"/>
                <a:cs typeface="Calibri" pitchFamily="34" charset="-120"/>
              </a:rPr>
              <a:t>Formato</a:t>
            </a:r>
            <a:endParaRPr lang="en-US" sz="1600" dirty="0"/>
          </a:p>
        </p:txBody>
      </p:sp>
      <p:sp>
        <p:nvSpPr>
          <p:cNvPr id="21" name="Text 19"/>
          <p:cNvSpPr txBox="1"/>
          <p:nvPr/>
        </p:nvSpPr>
        <p:spPr>
          <a:xfrm>
            <a:off x="566928" y="5925312"/>
            <a:ext cx="11057839" cy="310896"/>
          </a:xfrm>
          <a:prstGeom prst="rect">
            <a:avLst/>
          </a:prstGeom>
          <a:noFill/>
          <a:ln/>
        </p:spPr>
        <p:txBody>
          <a:bodyPr wrap="square" lIns="0" tIns="0" rIns="0" bIns="0" rtlCol="0" anchor="ctr"/>
          <a:lstStyle/>
          <a:p>
            <a:pPr marL="0" indent="0" algn="r">
              <a:buNone/>
            </a:pPr>
            <a:r>
              <a:rPr lang="en-US" sz="1600" i="1" dirty="0">
                <a:solidFill>
                  <a:srgbClr val="5A6478"/>
                </a:solidFill>
                <a:latin typeface="Calibri" pitchFamily="34" charset="0"/>
                <a:ea typeface="Calibri" pitchFamily="34" charset="-122"/>
                <a:cs typeface="Calibri" pitchFamily="34" charset="-120"/>
              </a:rPr>
              <a:t>La decisión artística final es suya y del grupo.</a:t>
            </a:r>
            <a:endParaRPr lang="en-US" sz="1600" dirty="0"/>
          </a:p>
        </p:txBody>
      </p:sp>
      <p:sp>
        <p:nvSpPr>
          <p:cNvPr id="22" name="Text 20"/>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3" name="Text 21"/>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28</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INGENIERÍA DE PROMPTS · SÍNTESIS</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Cinco hábitos que multiplican el resultado</a:t>
            </a:r>
            <a:endParaRPr lang="en-US" sz="3000" dirty="0"/>
          </a:p>
        </p:txBody>
      </p:sp>
      <p:sp>
        <p:nvSpPr>
          <p:cNvPr id="4" name="Shape 2"/>
          <p:cNvSpPr/>
          <p:nvPr/>
        </p:nvSpPr>
        <p:spPr>
          <a:xfrm>
            <a:off x="566928" y="1591056"/>
            <a:ext cx="11057839" cy="1298448"/>
          </a:xfrm>
          <a:prstGeom prst="roundRect">
            <a:avLst>
              <a:gd name="adj" fmla="val 6338"/>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786384" y="1792224"/>
            <a:ext cx="566928" cy="566928"/>
          </a:xfrm>
          <a:prstGeom prst="ellipse">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79222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1536192" y="1737360"/>
            <a:ext cx="9869119"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Escriba el contexto real, no el ideal</a:t>
            </a:r>
            <a:endParaRPr lang="en-US" sz="2000" dirty="0"/>
          </a:p>
        </p:txBody>
      </p:sp>
      <p:sp>
        <p:nvSpPr>
          <p:cNvPr id="8" name="Text 6"/>
          <p:cNvSpPr txBox="1"/>
          <p:nvPr/>
        </p:nvSpPr>
        <p:spPr>
          <a:xfrm>
            <a:off x="1536192" y="2139696"/>
            <a:ext cx="9869119" cy="621792"/>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Treinta y dos estudiantes, cuarenta minutos, sin acceso a internet. El modelo trabaja con lo que usted le diga.</a:t>
            </a:r>
            <a:endParaRPr lang="en-US" sz="1800" dirty="0"/>
          </a:p>
        </p:txBody>
      </p:sp>
      <p:sp>
        <p:nvSpPr>
          <p:cNvPr id="9" name="Shape 7"/>
          <p:cNvSpPr/>
          <p:nvPr/>
        </p:nvSpPr>
        <p:spPr>
          <a:xfrm>
            <a:off x="566928" y="3035808"/>
            <a:ext cx="11057839" cy="1298448"/>
          </a:xfrm>
          <a:prstGeom prst="roundRect">
            <a:avLst>
              <a:gd name="adj" fmla="val 6338"/>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10" name="Shape 8"/>
          <p:cNvSpPr/>
          <p:nvPr/>
        </p:nvSpPr>
        <p:spPr>
          <a:xfrm>
            <a:off x="786384" y="3236976"/>
            <a:ext cx="566928" cy="566928"/>
          </a:xfrm>
          <a:prstGeom prst="ellipse">
            <a:avLst/>
          </a:prstGeom>
          <a:solidFill>
            <a:srgbClr val="2A9D8F"/>
          </a:solidFill>
          <a:ln w="12700">
            <a:solidFill>
              <a:srgbClr val="2A9D8F"/>
            </a:solidFill>
            <a:prstDash val="solid"/>
          </a:ln>
        </p:spPr>
        <p:txBody>
          <a:bodyPr/>
          <a:lstStyle/>
          <a:p>
            <a:endParaRPr lang="en-PR"/>
          </a:p>
        </p:txBody>
      </p:sp>
      <p:sp>
        <p:nvSpPr>
          <p:cNvPr id="11" name="Text 9"/>
          <p:cNvSpPr txBox="1"/>
          <p:nvPr/>
        </p:nvSpPr>
        <p:spPr>
          <a:xfrm>
            <a:off x="786384" y="323697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txBox="1"/>
          <p:nvPr/>
        </p:nvSpPr>
        <p:spPr>
          <a:xfrm>
            <a:off x="1536192" y="3182112"/>
            <a:ext cx="9869119"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Pida el formato exacto que va a usar</a:t>
            </a:r>
            <a:endParaRPr lang="en-US" sz="2000" dirty="0"/>
          </a:p>
        </p:txBody>
      </p:sp>
      <p:sp>
        <p:nvSpPr>
          <p:cNvPr id="13" name="Text 11"/>
          <p:cNvSpPr txBox="1"/>
          <p:nvPr/>
        </p:nvSpPr>
        <p:spPr>
          <a:xfrm>
            <a:off x="1536192" y="3584448"/>
            <a:ext cx="9869119" cy="621792"/>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Tabla, rúbrica, guía de una página. Si no lo especifica, recibirá prosa que tendrá que reformatear.</a:t>
            </a:r>
            <a:endParaRPr lang="en-US" sz="1800" dirty="0"/>
          </a:p>
        </p:txBody>
      </p:sp>
      <p:sp>
        <p:nvSpPr>
          <p:cNvPr id="14" name="Shape 12"/>
          <p:cNvSpPr/>
          <p:nvPr/>
        </p:nvSpPr>
        <p:spPr>
          <a:xfrm>
            <a:off x="566928" y="4480560"/>
            <a:ext cx="11057839" cy="1298448"/>
          </a:xfrm>
          <a:prstGeom prst="roundRect">
            <a:avLst>
              <a:gd name="adj" fmla="val 6338"/>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5" name="Shape 13"/>
          <p:cNvSpPr/>
          <p:nvPr/>
        </p:nvSpPr>
        <p:spPr>
          <a:xfrm>
            <a:off x="786384" y="4681728"/>
            <a:ext cx="566928" cy="566928"/>
          </a:xfrm>
          <a:prstGeom prst="ellipse">
            <a:avLst/>
          </a:prstGeom>
          <a:solidFill>
            <a:srgbClr val="1B2A4A"/>
          </a:solidFill>
          <a:ln w="12700">
            <a:solidFill>
              <a:srgbClr val="1B2A4A"/>
            </a:solidFill>
            <a:prstDash val="solid"/>
          </a:ln>
        </p:spPr>
        <p:txBody>
          <a:bodyPr/>
          <a:lstStyle/>
          <a:p>
            <a:endParaRPr lang="en-PR"/>
          </a:p>
        </p:txBody>
      </p:sp>
      <p:sp>
        <p:nvSpPr>
          <p:cNvPr id="16" name="Text 14"/>
          <p:cNvSpPr txBox="1"/>
          <p:nvPr/>
        </p:nvSpPr>
        <p:spPr>
          <a:xfrm>
            <a:off x="786384" y="468172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txBox="1"/>
          <p:nvPr/>
        </p:nvSpPr>
        <p:spPr>
          <a:xfrm>
            <a:off x="1536192" y="4626864"/>
            <a:ext cx="9869119"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Itere: el primer resultado es un borrador</a:t>
            </a:r>
            <a:endParaRPr lang="en-US" sz="2000" dirty="0"/>
          </a:p>
        </p:txBody>
      </p:sp>
      <p:sp>
        <p:nvSpPr>
          <p:cNvPr id="18" name="Text 16"/>
          <p:cNvSpPr txBox="1"/>
          <p:nvPr/>
        </p:nvSpPr>
        <p:spPr>
          <a:xfrm>
            <a:off x="1536192" y="5029200"/>
            <a:ext cx="9869119" cy="621792"/>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“Más corto”, “más concreto”, “añade un ejemplo de Ponce”. Tres ajustes suelen bastar.</a:t>
            </a:r>
            <a:endParaRPr lang="en-US" sz="1800" dirty="0"/>
          </a:p>
        </p:txBody>
      </p:sp>
      <p:sp>
        <p:nvSpPr>
          <p:cNvPr id="19" name="Text 17"/>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0" name="Text 18"/>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29</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INGENIERÍA DE PROMPTS · SÍNTESIS</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Cinco hábitos que multiplican el resultado (cont.)</a:t>
            </a:r>
            <a:endParaRPr lang="en-US" sz="3000" dirty="0"/>
          </a:p>
        </p:txBody>
      </p:sp>
      <p:sp>
        <p:nvSpPr>
          <p:cNvPr id="4" name="Shape 2"/>
          <p:cNvSpPr/>
          <p:nvPr/>
        </p:nvSpPr>
        <p:spPr>
          <a:xfrm>
            <a:off x="566928" y="1591056"/>
            <a:ext cx="11057839" cy="1298448"/>
          </a:xfrm>
          <a:prstGeom prst="roundRect">
            <a:avLst>
              <a:gd name="adj" fmla="val 6338"/>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786384" y="1792224"/>
            <a:ext cx="566928" cy="566928"/>
          </a:xfrm>
          <a:prstGeom prst="ellipse">
            <a:avLst/>
          </a:prstGeom>
          <a:solidFill>
            <a:srgbClr val="2A9D8F"/>
          </a:solidFill>
          <a:ln w="12700">
            <a:solidFill>
              <a:srgbClr val="2A9D8F"/>
            </a:solidFill>
            <a:prstDash val="solid"/>
          </a:ln>
        </p:spPr>
        <p:txBody>
          <a:bodyPr/>
          <a:lstStyle/>
          <a:p>
            <a:endParaRPr lang="en-PR"/>
          </a:p>
        </p:txBody>
      </p:sp>
      <p:sp>
        <p:nvSpPr>
          <p:cNvPr id="6" name="Text 4"/>
          <p:cNvSpPr txBox="1"/>
          <p:nvPr/>
        </p:nvSpPr>
        <p:spPr>
          <a:xfrm>
            <a:off x="786384" y="179222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7" name="Text 5"/>
          <p:cNvSpPr txBox="1"/>
          <p:nvPr/>
        </p:nvSpPr>
        <p:spPr>
          <a:xfrm>
            <a:off x="1536192" y="1737360"/>
            <a:ext cx="9869119"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Nombre el error que quiere atacar</a:t>
            </a:r>
            <a:endParaRPr lang="en-US" sz="2000" dirty="0"/>
          </a:p>
        </p:txBody>
      </p:sp>
      <p:sp>
        <p:nvSpPr>
          <p:cNvPr id="8" name="Text 6"/>
          <p:cNvSpPr txBox="1"/>
          <p:nvPr/>
        </p:nvSpPr>
        <p:spPr>
          <a:xfrm>
            <a:off x="1536192" y="2139696"/>
            <a:ext cx="9869119" cy="621792"/>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“Confunden mitosis con meiosis” produce material útil; “explica la mitosis” produce otro resumen.</a:t>
            </a:r>
            <a:endParaRPr lang="en-US" sz="1800" dirty="0"/>
          </a:p>
        </p:txBody>
      </p:sp>
      <p:sp>
        <p:nvSpPr>
          <p:cNvPr id="9" name="Shape 7"/>
          <p:cNvSpPr/>
          <p:nvPr/>
        </p:nvSpPr>
        <p:spPr>
          <a:xfrm>
            <a:off x="566928" y="3035808"/>
            <a:ext cx="11057839" cy="1298448"/>
          </a:xfrm>
          <a:prstGeom prst="roundRect">
            <a:avLst>
              <a:gd name="adj" fmla="val 6338"/>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0" name="Shape 8"/>
          <p:cNvSpPr/>
          <p:nvPr/>
        </p:nvSpPr>
        <p:spPr>
          <a:xfrm>
            <a:off x="786384" y="3236976"/>
            <a:ext cx="566928" cy="566928"/>
          </a:xfrm>
          <a:prstGeom prst="ellipse">
            <a:avLst/>
          </a:prstGeom>
          <a:solidFill>
            <a:srgbClr val="1B2A4A"/>
          </a:solidFill>
          <a:ln w="12700">
            <a:solidFill>
              <a:srgbClr val="1B2A4A"/>
            </a:solidFill>
            <a:prstDash val="solid"/>
          </a:ln>
        </p:spPr>
        <p:txBody>
          <a:bodyPr/>
          <a:lstStyle/>
          <a:p>
            <a:endParaRPr lang="en-PR"/>
          </a:p>
        </p:txBody>
      </p:sp>
      <p:sp>
        <p:nvSpPr>
          <p:cNvPr id="11" name="Text 9"/>
          <p:cNvSpPr txBox="1"/>
          <p:nvPr/>
        </p:nvSpPr>
        <p:spPr>
          <a:xfrm>
            <a:off x="786384" y="323697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12" name="Text 10"/>
          <p:cNvSpPr txBox="1"/>
          <p:nvPr/>
        </p:nvSpPr>
        <p:spPr>
          <a:xfrm>
            <a:off x="1536192" y="3182112"/>
            <a:ext cx="9869119"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Guarde sus mejores prompts</a:t>
            </a:r>
            <a:endParaRPr lang="en-US" sz="2000" dirty="0"/>
          </a:p>
        </p:txBody>
      </p:sp>
      <p:sp>
        <p:nvSpPr>
          <p:cNvPr id="13" name="Text 11"/>
          <p:cNvSpPr txBox="1"/>
          <p:nvPr/>
        </p:nvSpPr>
        <p:spPr>
          <a:xfrm>
            <a:off x="1536192" y="3584448"/>
            <a:ext cx="9869119" cy="621792"/>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Un archivo con veinte instrucciones probadas vale más que veinte herramientas nuevas.</a:t>
            </a:r>
            <a:endParaRPr lang="en-US" sz="1800" dirty="0"/>
          </a:p>
        </p:txBody>
      </p:sp>
      <p:sp>
        <p:nvSpPr>
          <p:cNvPr id="14" name="Text 12"/>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5" name="Text 13"/>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30</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2103120"/>
            <a:ext cx="1463040" cy="1463040"/>
          </a:xfrm>
          <a:prstGeom prst="ellipse">
            <a:avLst/>
          </a:prstGeom>
          <a:solidFill>
            <a:srgbClr val="C9A227"/>
          </a:solidFill>
          <a:ln w="12700">
            <a:solidFill>
              <a:srgbClr val="C9A227"/>
            </a:solidFill>
            <a:prstDash val="solid"/>
          </a:ln>
        </p:spPr>
        <p:txBody>
          <a:bodyPr/>
          <a:lstStyle/>
          <a:p>
            <a:endParaRPr lang="en-PR"/>
          </a:p>
        </p:txBody>
      </p:sp>
      <p:sp>
        <p:nvSpPr>
          <p:cNvPr id="3" name="Text 1"/>
          <p:cNvSpPr txBox="1"/>
          <p:nvPr/>
        </p:nvSpPr>
        <p:spPr>
          <a:xfrm>
            <a:off x="566928" y="2103120"/>
            <a:ext cx="1463040" cy="1463040"/>
          </a:xfrm>
          <a:prstGeom prst="rect">
            <a:avLst/>
          </a:prstGeom>
          <a:noFill/>
          <a:ln/>
        </p:spPr>
        <p:txBody>
          <a:bodyPr wrap="square" lIns="0" tIns="0" rIns="0" bIns="0" rtlCol="0" anchor="ctr"/>
          <a:lstStyle/>
          <a:p>
            <a:pPr marL="0" indent="0" algn="ctr">
              <a:buNone/>
            </a:pPr>
            <a:r>
              <a:rPr lang="en-US" sz="5600" b="1" dirty="0">
                <a:solidFill>
                  <a:srgbClr val="1B2A4A"/>
                </a:solidFill>
                <a:latin typeface="Cambria" pitchFamily="34" charset="0"/>
                <a:ea typeface="Cambria" pitchFamily="34" charset="-122"/>
                <a:cs typeface="Cambria" pitchFamily="34" charset="-120"/>
              </a:rPr>
              <a:t>4</a:t>
            </a:r>
            <a:endParaRPr lang="en-US" sz="5600" dirty="0"/>
          </a:p>
        </p:txBody>
      </p:sp>
      <p:sp>
        <p:nvSpPr>
          <p:cNvPr id="4" name="Text 2"/>
          <p:cNvSpPr txBox="1"/>
          <p:nvPr/>
        </p:nvSpPr>
        <p:spPr>
          <a:xfrm>
            <a:off x="2377440" y="2029968"/>
            <a:ext cx="9052560" cy="96012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El ecosistema 2026</a:t>
            </a:r>
            <a:endParaRPr lang="en-US" sz="4200" dirty="0"/>
          </a:p>
        </p:txBody>
      </p:sp>
      <p:sp>
        <p:nvSpPr>
          <p:cNvPr id="5" name="Text 3"/>
          <p:cNvSpPr txBox="1"/>
          <p:nvPr/>
        </p:nvSpPr>
        <p:spPr>
          <a:xfrm>
            <a:off x="2377440" y="3035808"/>
            <a:ext cx="9052560" cy="822960"/>
          </a:xfrm>
          <a:prstGeom prst="rect">
            <a:avLst/>
          </a:prstGeom>
          <a:noFill/>
          <a:ln/>
        </p:spPr>
        <p:txBody>
          <a:bodyPr wrap="square" lIns="0" tIns="0" rIns="0" bIns="0" rtlCol="0" anchor="t"/>
          <a:lstStyle/>
          <a:p>
            <a:pPr marL="0" indent="0">
              <a:lnSpc>
                <a:spcPts val="2700"/>
              </a:lnSpc>
              <a:buNone/>
            </a:pPr>
            <a:r>
              <a:rPr lang="en-US" sz="2000" dirty="0">
                <a:solidFill>
                  <a:srgbClr val="DDE3EC"/>
                </a:solidFill>
                <a:latin typeface="Calibri" pitchFamily="34" charset="0"/>
                <a:ea typeface="Calibri" pitchFamily="34" charset="-122"/>
                <a:cs typeface="Calibri" pitchFamily="34" charset="-120"/>
              </a:rPr>
              <a:t>Asistentes de propósito general y herramientas diseñadas específicamente para el trabajo docente</a:t>
            </a:r>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0F6424-C30D-8799-1382-DE5DB5F355CF}"/>
              </a:ext>
            </a:extLst>
          </p:cNvPr>
          <p:cNvSpPr>
            <a:spLocks noGrp="1"/>
          </p:cNvSpPr>
          <p:nvPr>
            <p:ph type="title"/>
          </p:nvPr>
        </p:nvSpPr>
        <p:spPr>
          <a:xfrm>
            <a:off x="640080" y="4777739"/>
            <a:ext cx="3418990" cy="1412119"/>
          </a:xfrm>
        </p:spPr>
        <p:txBody>
          <a:bodyPr>
            <a:normAutofit/>
          </a:bodyPr>
          <a:lstStyle/>
          <a:p>
            <a:pPr>
              <a:lnSpc>
                <a:spcPct val="90000"/>
              </a:lnSpc>
            </a:pPr>
            <a:r>
              <a:rPr lang="en-US" sz="4800"/>
              <a:t>Dispositorio de IA</a:t>
            </a:r>
          </a:p>
        </p:txBody>
      </p:sp>
      <p:pic>
        <p:nvPicPr>
          <p:cNvPr id="5" name="Picture 4">
            <a:extLst>
              <a:ext uri="{FF2B5EF4-FFF2-40B4-BE49-F238E27FC236}">
                <a16:creationId xmlns:a16="http://schemas.microsoft.com/office/drawing/2014/main" id="{56C25578-10CC-F081-4E20-C5B6311ECED0}"/>
              </a:ext>
            </a:extLst>
          </p:cNvPr>
          <p:cNvPicPr>
            <a:picLocks noChangeAspect="1"/>
          </p:cNvPicPr>
          <p:nvPr/>
        </p:nvPicPr>
        <p:blipFill>
          <a:blip r:embed="rId2"/>
          <a:srcRect t="20450"/>
          <a:stretch>
            <a:fillRect/>
          </a:stretch>
        </p:blipFill>
        <p:spPr>
          <a:xfrm>
            <a:off x="20" y="10"/>
            <a:ext cx="12191980" cy="455842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12" name="sketch line">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61305" y="5468206"/>
            <a:ext cx="1371600" cy="18288"/>
          </a:xfrm>
          <a:custGeom>
            <a:avLst/>
            <a:gdLst>
              <a:gd name="csX0" fmla="*/ 0 w 1371600"/>
              <a:gd name="csY0" fmla="*/ 0 h 18288"/>
              <a:gd name="csX1" fmla="*/ 685800 w 1371600"/>
              <a:gd name="csY1" fmla="*/ 0 h 18288"/>
              <a:gd name="csX2" fmla="*/ 1371600 w 1371600"/>
              <a:gd name="csY2" fmla="*/ 0 h 18288"/>
              <a:gd name="csX3" fmla="*/ 1371600 w 1371600"/>
              <a:gd name="csY3" fmla="*/ 18288 h 18288"/>
              <a:gd name="csX4" fmla="*/ 713232 w 1371600"/>
              <a:gd name="csY4" fmla="*/ 18288 h 18288"/>
              <a:gd name="csX5" fmla="*/ 0 w 1371600"/>
              <a:gd name="csY5" fmla="*/ 18288 h 18288"/>
              <a:gd name="csX6" fmla="*/ 0 w 1371600"/>
              <a:gd name="csY6" fmla="*/ 0 h 182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71600" h="18288" fill="none" extrusionOk="0">
                <a:moveTo>
                  <a:pt x="0" y="0"/>
                </a:moveTo>
                <a:cubicBezTo>
                  <a:pt x="247303" y="31625"/>
                  <a:pt x="422310" y="-25629"/>
                  <a:pt x="685800" y="0"/>
                </a:cubicBezTo>
                <a:cubicBezTo>
                  <a:pt x="949290" y="25629"/>
                  <a:pt x="1192357" y="6696"/>
                  <a:pt x="1371600" y="0"/>
                </a:cubicBezTo>
                <a:cubicBezTo>
                  <a:pt x="1371355" y="6649"/>
                  <a:pt x="1371915" y="11310"/>
                  <a:pt x="1371600" y="18288"/>
                </a:cubicBezTo>
                <a:cubicBezTo>
                  <a:pt x="1107995" y="26464"/>
                  <a:pt x="1033361" y="32942"/>
                  <a:pt x="713232" y="18288"/>
                </a:cubicBezTo>
                <a:cubicBezTo>
                  <a:pt x="393103" y="3634"/>
                  <a:pt x="289343" y="43221"/>
                  <a:pt x="0" y="18288"/>
                </a:cubicBezTo>
                <a:cubicBezTo>
                  <a:pt x="-459" y="11562"/>
                  <a:pt x="-31" y="5093"/>
                  <a:pt x="0" y="0"/>
                </a:cubicBezTo>
                <a:close/>
              </a:path>
              <a:path w="1371600" h="18288" stroke="0" extrusionOk="0">
                <a:moveTo>
                  <a:pt x="0" y="0"/>
                </a:moveTo>
                <a:cubicBezTo>
                  <a:pt x="170249" y="-24099"/>
                  <a:pt x="504634" y="14338"/>
                  <a:pt x="644652" y="0"/>
                </a:cubicBezTo>
                <a:cubicBezTo>
                  <a:pt x="784670" y="-14338"/>
                  <a:pt x="1087773" y="8679"/>
                  <a:pt x="1371600" y="0"/>
                </a:cubicBezTo>
                <a:cubicBezTo>
                  <a:pt x="1372456" y="3662"/>
                  <a:pt x="1371030" y="13946"/>
                  <a:pt x="1371600" y="18288"/>
                </a:cubicBezTo>
                <a:cubicBezTo>
                  <a:pt x="1176823" y="-1409"/>
                  <a:pt x="900830" y="9989"/>
                  <a:pt x="713232" y="18288"/>
                </a:cubicBezTo>
                <a:cubicBezTo>
                  <a:pt x="525634" y="26587"/>
                  <a:pt x="282837" y="5724"/>
                  <a:pt x="0" y="18288"/>
                </a:cubicBezTo>
                <a:cubicBezTo>
                  <a:pt x="367" y="13143"/>
                  <a:pt x="-823" y="584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61569767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27BF1AC-0EED-33E4-91D8-1F351D9006CE}"/>
              </a:ext>
            </a:extLst>
          </p:cNvPr>
          <p:cNvSpPr>
            <a:spLocks noGrp="1"/>
          </p:cNvSpPr>
          <p:nvPr>
            <p:ph idx="1"/>
          </p:nvPr>
        </p:nvSpPr>
        <p:spPr>
          <a:xfrm>
            <a:off x="4654294" y="4777739"/>
            <a:ext cx="6897626" cy="1399223"/>
          </a:xfrm>
        </p:spPr>
        <p:txBody>
          <a:bodyPr anchor="ctr">
            <a:normAutofit/>
          </a:bodyPr>
          <a:lstStyle/>
          <a:p>
            <a:r>
              <a:rPr lang="en-US" sz="2200">
                <a:hlinkClick r:id="rId3"/>
              </a:rPr>
              <a:t>https://www.toolify.ai/es</a:t>
            </a:r>
            <a:endParaRPr lang="en-US" sz="2200"/>
          </a:p>
          <a:p>
            <a:endParaRPr lang="en-US" sz="2200"/>
          </a:p>
        </p:txBody>
      </p:sp>
    </p:spTree>
    <p:extLst>
      <p:ext uri="{BB962C8B-B14F-4D97-AF65-F5344CB8AC3E}">
        <p14:creationId xmlns:p14="http://schemas.microsoft.com/office/powerpoint/2010/main" val="36095234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PANORAMA A SEPTIEMBRE DE 2026</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Los asistentes de propósito general</a:t>
            </a:r>
            <a:endParaRPr lang="en-US" sz="3000" dirty="0"/>
          </a:p>
        </p:txBody>
      </p:sp>
      <p:sp>
        <p:nvSpPr>
          <p:cNvPr id="4" name="Text 2"/>
          <p:cNvSpPr txBox="1"/>
          <p:nvPr/>
        </p:nvSpPr>
        <p:spPr>
          <a:xfrm>
            <a:off x="1078992" y="1481328"/>
            <a:ext cx="2103120" cy="347472"/>
          </a:xfrm>
          <a:prstGeom prst="rect">
            <a:avLst/>
          </a:prstGeom>
          <a:noFill/>
          <a:ln/>
        </p:spPr>
        <p:txBody>
          <a:bodyPr wrap="square" lIns="0" tIns="0" rIns="0" bIns="0" rtlCol="0" anchor="ctr"/>
          <a:lstStyle/>
          <a:p>
            <a:pPr marL="0" indent="0">
              <a:buNone/>
            </a:pPr>
            <a:r>
              <a:rPr lang="en-US" sz="1600" b="1" kern="0" spc="80" dirty="0">
                <a:solidFill>
                  <a:srgbClr val="5A6478"/>
                </a:solidFill>
                <a:latin typeface="Calibri" pitchFamily="34" charset="0"/>
                <a:ea typeface="Calibri" pitchFamily="34" charset="-122"/>
                <a:cs typeface="Calibri" pitchFamily="34" charset="-120"/>
              </a:rPr>
              <a:t>Herramienta</a:t>
            </a:r>
            <a:endParaRPr lang="en-US" sz="1600" dirty="0"/>
          </a:p>
        </p:txBody>
      </p:sp>
      <p:sp>
        <p:nvSpPr>
          <p:cNvPr id="5" name="Text 3"/>
          <p:cNvSpPr txBox="1"/>
          <p:nvPr/>
        </p:nvSpPr>
        <p:spPr>
          <a:xfrm>
            <a:off x="3291840" y="1481328"/>
            <a:ext cx="1600200" cy="347472"/>
          </a:xfrm>
          <a:prstGeom prst="rect">
            <a:avLst/>
          </a:prstGeom>
          <a:noFill/>
          <a:ln/>
        </p:spPr>
        <p:txBody>
          <a:bodyPr wrap="square" lIns="0" tIns="0" rIns="0" bIns="0" rtlCol="0" anchor="ctr"/>
          <a:lstStyle/>
          <a:p>
            <a:pPr marL="0" indent="0">
              <a:buNone/>
            </a:pPr>
            <a:r>
              <a:rPr lang="en-US" sz="1600" b="1" kern="0" spc="80" dirty="0">
                <a:solidFill>
                  <a:srgbClr val="5A6478"/>
                </a:solidFill>
                <a:latin typeface="Calibri" pitchFamily="34" charset="0"/>
                <a:ea typeface="Calibri" pitchFamily="34" charset="-122"/>
                <a:cs typeface="Calibri" pitchFamily="34" charset="-120"/>
              </a:rPr>
              <a:t>Empresa</a:t>
            </a:r>
            <a:endParaRPr lang="en-US" sz="1600" dirty="0"/>
          </a:p>
        </p:txBody>
      </p:sp>
      <p:sp>
        <p:nvSpPr>
          <p:cNvPr id="6" name="Text 4"/>
          <p:cNvSpPr txBox="1"/>
          <p:nvPr/>
        </p:nvSpPr>
        <p:spPr>
          <a:xfrm>
            <a:off x="4974336" y="1481328"/>
            <a:ext cx="2240280" cy="347472"/>
          </a:xfrm>
          <a:prstGeom prst="rect">
            <a:avLst/>
          </a:prstGeom>
          <a:noFill/>
          <a:ln/>
        </p:spPr>
        <p:txBody>
          <a:bodyPr wrap="square" lIns="0" tIns="0" rIns="0" bIns="0" rtlCol="0" anchor="ctr"/>
          <a:lstStyle/>
          <a:p>
            <a:pPr marL="0" indent="0">
              <a:buNone/>
            </a:pPr>
            <a:r>
              <a:rPr lang="en-US" sz="1600" b="1" kern="0" spc="80" dirty="0">
                <a:solidFill>
                  <a:srgbClr val="5A6478"/>
                </a:solidFill>
                <a:latin typeface="Calibri" pitchFamily="34" charset="0"/>
                <a:ea typeface="Calibri" pitchFamily="34" charset="-122"/>
                <a:cs typeface="Calibri" pitchFamily="34" charset="-120"/>
              </a:rPr>
              <a:t>Modelo vigente</a:t>
            </a:r>
            <a:endParaRPr lang="en-US" sz="1600" dirty="0"/>
          </a:p>
        </p:txBody>
      </p:sp>
      <p:sp>
        <p:nvSpPr>
          <p:cNvPr id="7" name="Text 5"/>
          <p:cNvSpPr txBox="1"/>
          <p:nvPr/>
        </p:nvSpPr>
        <p:spPr>
          <a:xfrm>
            <a:off x="7351776" y="1481328"/>
            <a:ext cx="4160520" cy="347472"/>
          </a:xfrm>
          <a:prstGeom prst="rect">
            <a:avLst/>
          </a:prstGeom>
          <a:noFill/>
          <a:ln/>
        </p:spPr>
        <p:txBody>
          <a:bodyPr wrap="square" lIns="0" tIns="0" rIns="0" bIns="0" rtlCol="0" anchor="ctr"/>
          <a:lstStyle/>
          <a:p>
            <a:pPr marL="0" indent="0">
              <a:buNone/>
            </a:pPr>
            <a:r>
              <a:rPr lang="en-US" sz="1600" b="1" kern="0" spc="80" dirty="0">
                <a:solidFill>
                  <a:srgbClr val="5A6478"/>
                </a:solidFill>
                <a:latin typeface="Calibri" pitchFamily="34" charset="0"/>
                <a:ea typeface="Calibri" pitchFamily="34" charset="-122"/>
                <a:cs typeface="Calibri" pitchFamily="34" charset="-120"/>
              </a:rPr>
              <a:t>Qué aporta al docente</a:t>
            </a:r>
            <a:endParaRPr lang="en-US" sz="1600" dirty="0"/>
          </a:p>
        </p:txBody>
      </p:sp>
      <p:sp>
        <p:nvSpPr>
          <p:cNvPr id="8" name="Shape 6"/>
          <p:cNvSpPr/>
          <p:nvPr/>
        </p:nvSpPr>
        <p:spPr>
          <a:xfrm>
            <a:off x="566928" y="1938528"/>
            <a:ext cx="11057839" cy="813816"/>
          </a:xfrm>
          <a:prstGeom prst="roundRect">
            <a:avLst>
              <a:gd name="adj" fmla="val 10112"/>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9" name="Shape 7"/>
          <p:cNvSpPr/>
          <p:nvPr/>
        </p:nvSpPr>
        <p:spPr>
          <a:xfrm>
            <a:off x="786384" y="2240280"/>
            <a:ext cx="219456" cy="219456"/>
          </a:xfrm>
          <a:prstGeom prst="ellipse">
            <a:avLst/>
          </a:prstGeom>
          <a:solidFill>
            <a:srgbClr val="1B2A4A"/>
          </a:solidFill>
          <a:ln w="12700">
            <a:solidFill>
              <a:srgbClr val="1B2A4A"/>
            </a:solidFill>
            <a:prstDash val="solid"/>
          </a:ln>
        </p:spPr>
        <p:txBody>
          <a:bodyPr/>
          <a:lstStyle/>
          <a:p>
            <a:endParaRPr lang="en-PR"/>
          </a:p>
        </p:txBody>
      </p:sp>
      <p:sp>
        <p:nvSpPr>
          <p:cNvPr id="10" name="Text 8"/>
          <p:cNvSpPr txBox="1"/>
          <p:nvPr/>
        </p:nvSpPr>
        <p:spPr>
          <a:xfrm>
            <a:off x="1078992" y="1938528"/>
            <a:ext cx="2103120" cy="813816"/>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ChatGPT</a:t>
            </a:r>
            <a:endParaRPr lang="en-US" sz="1900" dirty="0"/>
          </a:p>
        </p:txBody>
      </p:sp>
      <p:sp>
        <p:nvSpPr>
          <p:cNvPr id="11" name="Text 9"/>
          <p:cNvSpPr txBox="1"/>
          <p:nvPr/>
        </p:nvSpPr>
        <p:spPr>
          <a:xfrm>
            <a:off x="3291840" y="1938528"/>
            <a:ext cx="1600200" cy="813816"/>
          </a:xfrm>
          <a:prstGeom prst="rect">
            <a:avLst/>
          </a:prstGeom>
          <a:noFill/>
          <a:ln/>
        </p:spPr>
        <p:txBody>
          <a:bodyPr wrap="square" lIns="0" tIns="0" rIns="0" bIns="0" rtlCol="0" anchor="ctr"/>
          <a:lstStyle/>
          <a:p>
            <a:pPr marL="0" indent="0">
              <a:buNone/>
            </a:pPr>
            <a:r>
              <a:rPr lang="en-US" sz="1600" dirty="0">
                <a:solidFill>
                  <a:srgbClr val="2C3548"/>
                </a:solidFill>
                <a:latin typeface="Calibri" pitchFamily="34" charset="0"/>
                <a:ea typeface="Calibri" pitchFamily="34" charset="-122"/>
                <a:cs typeface="Calibri" pitchFamily="34" charset="-120"/>
              </a:rPr>
              <a:t>OpenAI</a:t>
            </a:r>
            <a:endParaRPr lang="en-US" sz="1600" dirty="0"/>
          </a:p>
        </p:txBody>
      </p:sp>
      <p:sp>
        <p:nvSpPr>
          <p:cNvPr id="12" name="Text 10"/>
          <p:cNvSpPr txBox="1"/>
          <p:nvPr/>
        </p:nvSpPr>
        <p:spPr>
          <a:xfrm>
            <a:off x="4974336" y="1938528"/>
            <a:ext cx="2240280" cy="813816"/>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GPT-5.6</a:t>
            </a:r>
            <a:endParaRPr lang="en-US" sz="1600" dirty="0"/>
          </a:p>
        </p:txBody>
      </p:sp>
      <p:sp>
        <p:nvSpPr>
          <p:cNvPr id="13" name="Text 11"/>
          <p:cNvSpPr txBox="1"/>
          <p:nvPr/>
        </p:nvSpPr>
        <p:spPr>
          <a:xfrm>
            <a:off x="7351776" y="1938528"/>
            <a:ext cx="4160520" cy="813816"/>
          </a:xfrm>
          <a:prstGeom prst="rect">
            <a:avLst/>
          </a:prstGeom>
          <a:noFill/>
          <a:ln/>
        </p:spPr>
        <p:txBody>
          <a:bodyPr wrap="square" lIns="0" tIns="0" rIns="0" bIns="0" rtlCol="0" anchor="ctr"/>
          <a:lstStyle/>
          <a:p>
            <a:pPr marL="0" indent="0">
              <a:lnSpc>
                <a:spcPts val="2000"/>
              </a:lnSpc>
              <a:buNone/>
            </a:pPr>
            <a:r>
              <a:rPr lang="en-US" sz="1600" dirty="0">
                <a:solidFill>
                  <a:srgbClr val="2C3548"/>
                </a:solidFill>
                <a:latin typeface="Calibri" pitchFamily="34" charset="0"/>
                <a:ea typeface="Calibri" pitchFamily="34" charset="-122"/>
                <a:cs typeface="Calibri" pitchFamily="34" charset="-120"/>
              </a:rPr>
              <a:t>El más difundido. Ecosistema amplio de GPTs personalizados y modo de voz.</a:t>
            </a:r>
            <a:endParaRPr lang="en-US" sz="1600" dirty="0"/>
          </a:p>
        </p:txBody>
      </p:sp>
      <p:sp>
        <p:nvSpPr>
          <p:cNvPr id="14" name="Shape 12"/>
          <p:cNvSpPr/>
          <p:nvPr/>
        </p:nvSpPr>
        <p:spPr>
          <a:xfrm>
            <a:off x="566928" y="2843784"/>
            <a:ext cx="11057839" cy="813816"/>
          </a:xfrm>
          <a:prstGeom prst="roundRect">
            <a:avLst>
              <a:gd name="adj" fmla="val 10112"/>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15" name="Shape 13"/>
          <p:cNvSpPr/>
          <p:nvPr/>
        </p:nvSpPr>
        <p:spPr>
          <a:xfrm>
            <a:off x="786384" y="3145536"/>
            <a:ext cx="219456" cy="219456"/>
          </a:xfrm>
          <a:prstGeom prst="ellipse">
            <a:avLst/>
          </a:prstGeom>
          <a:solidFill>
            <a:srgbClr val="2A9D8F"/>
          </a:solidFill>
          <a:ln w="12700">
            <a:solidFill>
              <a:srgbClr val="2A9D8F"/>
            </a:solidFill>
            <a:prstDash val="solid"/>
          </a:ln>
        </p:spPr>
        <p:txBody>
          <a:bodyPr/>
          <a:lstStyle/>
          <a:p>
            <a:endParaRPr lang="en-PR"/>
          </a:p>
        </p:txBody>
      </p:sp>
      <p:sp>
        <p:nvSpPr>
          <p:cNvPr id="16" name="Text 14"/>
          <p:cNvSpPr txBox="1"/>
          <p:nvPr/>
        </p:nvSpPr>
        <p:spPr>
          <a:xfrm>
            <a:off x="1078992" y="2843784"/>
            <a:ext cx="2103120" cy="813816"/>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Claude</a:t>
            </a:r>
            <a:endParaRPr lang="en-US" sz="1900" dirty="0"/>
          </a:p>
        </p:txBody>
      </p:sp>
      <p:sp>
        <p:nvSpPr>
          <p:cNvPr id="17" name="Text 15"/>
          <p:cNvSpPr txBox="1"/>
          <p:nvPr/>
        </p:nvSpPr>
        <p:spPr>
          <a:xfrm>
            <a:off x="3291840" y="2843784"/>
            <a:ext cx="1600200" cy="813816"/>
          </a:xfrm>
          <a:prstGeom prst="rect">
            <a:avLst/>
          </a:prstGeom>
          <a:noFill/>
          <a:ln/>
        </p:spPr>
        <p:txBody>
          <a:bodyPr wrap="square" lIns="0" tIns="0" rIns="0" bIns="0" rtlCol="0" anchor="ctr"/>
          <a:lstStyle/>
          <a:p>
            <a:pPr marL="0" indent="0">
              <a:buNone/>
            </a:pPr>
            <a:r>
              <a:rPr lang="en-US" sz="1600" dirty="0">
                <a:solidFill>
                  <a:srgbClr val="2C3548"/>
                </a:solidFill>
                <a:latin typeface="Calibri" pitchFamily="34" charset="0"/>
                <a:ea typeface="Calibri" pitchFamily="34" charset="-122"/>
                <a:cs typeface="Calibri" pitchFamily="34" charset="-120"/>
              </a:rPr>
              <a:t>Anthropic</a:t>
            </a:r>
            <a:endParaRPr lang="en-US" sz="1600" dirty="0"/>
          </a:p>
        </p:txBody>
      </p:sp>
      <p:sp>
        <p:nvSpPr>
          <p:cNvPr id="18" name="Text 16"/>
          <p:cNvSpPr txBox="1"/>
          <p:nvPr/>
        </p:nvSpPr>
        <p:spPr>
          <a:xfrm>
            <a:off x="4974336" y="2843784"/>
            <a:ext cx="2240280" cy="813816"/>
          </a:xfrm>
          <a:prstGeom prst="rect">
            <a:avLst/>
          </a:prstGeom>
          <a:noFill/>
          <a:ln/>
        </p:spPr>
        <p:txBody>
          <a:bodyPr wrap="square" lIns="0" tIns="0" rIns="0" bIns="0" rtlCol="0" anchor="ctr"/>
          <a:lstStyle/>
          <a:p>
            <a:pPr marL="0" indent="0">
              <a:buNone/>
            </a:pPr>
            <a:r>
              <a:rPr lang="en-US" sz="1600" b="1" dirty="0">
                <a:solidFill>
                  <a:srgbClr val="2A9D8F"/>
                </a:solidFill>
                <a:latin typeface="Calibri" pitchFamily="34" charset="0"/>
                <a:ea typeface="Calibri" pitchFamily="34" charset="-122"/>
                <a:cs typeface="Calibri" pitchFamily="34" charset="-120"/>
              </a:rPr>
              <a:t>Opus 5 / Sonnet 5</a:t>
            </a:r>
            <a:endParaRPr lang="en-US" sz="1600" dirty="0"/>
          </a:p>
        </p:txBody>
      </p:sp>
      <p:sp>
        <p:nvSpPr>
          <p:cNvPr id="19" name="Text 17"/>
          <p:cNvSpPr txBox="1"/>
          <p:nvPr/>
        </p:nvSpPr>
        <p:spPr>
          <a:xfrm>
            <a:off x="7351776" y="2843784"/>
            <a:ext cx="4160520" cy="813816"/>
          </a:xfrm>
          <a:prstGeom prst="rect">
            <a:avLst/>
          </a:prstGeom>
          <a:noFill/>
          <a:ln/>
        </p:spPr>
        <p:txBody>
          <a:bodyPr wrap="square" lIns="0" tIns="0" rIns="0" bIns="0" rtlCol="0" anchor="ctr"/>
          <a:lstStyle/>
          <a:p>
            <a:pPr marL="0" indent="0">
              <a:lnSpc>
                <a:spcPts val="2000"/>
              </a:lnSpc>
              <a:buNone/>
            </a:pPr>
            <a:r>
              <a:rPr lang="en-US" sz="1600" dirty="0">
                <a:solidFill>
                  <a:srgbClr val="2C3548"/>
                </a:solidFill>
                <a:latin typeface="Calibri" pitchFamily="34" charset="0"/>
                <a:ea typeface="Calibri" pitchFamily="34" charset="-122"/>
                <a:cs typeface="Calibri" pitchFamily="34" charset="-120"/>
              </a:rPr>
              <a:t>Textos largos y análisis de documentos extensos. Muy usado en trabajo académico.</a:t>
            </a:r>
            <a:endParaRPr lang="en-US" sz="1600" dirty="0"/>
          </a:p>
        </p:txBody>
      </p:sp>
      <p:sp>
        <p:nvSpPr>
          <p:cNvPr id="20" name="Shape 18"/>
          <p:cNvSpPr/>
          <p:nvPr/>
        </p:nvSpPr>
        <p:spPr>
          <a:xfrm>
            <a:off x="566928" y="3749040"/>
            <a:ext cx="11057839" cy="813816"/>
          </a:xfrm>
          <a:prstGeom prst="roundRect">
            <a:avLst>
              <a:gd name="adj" fmla="val 10112"/>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21" name="Shape 19"/>
          <p:cNvSpPr/>
          <p:nvPr/>
        </p:nvSpPr>
        <p:spPr>
          <a:xfrm>
            <a:off x="786384" y="4050792"/>
            <a:ext cx="219456" cy="219456"/>
          </a:xfrm>
          <a:prstGeom prst="ellipse">
            <a:avLst/>
          </a:prstGeom>
          <a:solidFill>
            <a:srgbClr val="C9A227"/>
          </a:solidFill>
          <a:ln w="12700">
            <a:solidFill>
              <a:srgbClr val="C9A227"/>
            </a:solidFill>
            <a:prstDash val="solid"/>
          </a:ln>
        </p:spPr>
        <p:txBody>
          <a:bodyPr/>
          <a:lstStyle/>
          <a:p>
            <a:endParaRPr lang="en-PR"/>
          </a:p>
        </p:txBody>
      </p:sp>
      <p:sp>
        <p:nvSpPr>
          <p:cNvPr id="22" name="Text 20"/>
          <p:cNvSpPr txBox="1"/>
          <p:nvPr/>
        </p:nvSpPr>
        <p:spPr>
          <a:xfrm>
            <a:off x="1078992" y="3749040"/>
            <a:ext cx="2103120" cy="813816"/>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Gemini</a:t>
            </a:r>
            <a:endParaRPr lang="en-US" sz="1900" dirty="0"/>
          </a:p>
        </p:txBody>
      </p:sp>
      <p:sp>
        <p:nvSpPr>
          <p:cNvPr id="23" name="Text 21"/>
          <p:cNvSpPr txBox="1"/>
          <p:nvPr/>
        </p:nvSpPr>
        <p:spPr>
          <a:xfrm>
            <a:off x="3291840" y="3749040"/>
            <a:ext cx="1600200" cy="813816"/>
          </a:xfrm>
          <a:prstGeom prst="rect">
            <a:avLst/>
          </a:prstGeom>
          <a:noFill/>
          <a:ln/>
        </p:spPr>
        <p:txBody>
          <a:bodyPr wrap="square" lIns="0" tIns="0" rIns="0" bIns="0" rtlCol="0" anchor="ctr"/>
          <a:lstStyle/>
          <a:p>
            <a:pPr marL="0" indent="0">
              <a:buNone/>
            </a:pPr>
            <a:r>
              <a:rPr lang="en-US" sz="1600" dirty="0">
                <a:solidFill>
                  <a:srgbClr val="2C3548"/>
                </a:solidFill>
                <a:latin typeface="Calibri" pitchFamily="34" charset="0"/>
                <a:ea typeface="Calibri" pitchFamily="34" charset="-122"/>
                <a:cs typeface="Calibri" pitchFamily="34" charset="-120"/>
              </a:rPr>
              <a:t>Google</a:t>
            </a:r>
            <a:endParaRPr lang="en-US" sz="1600" dirty="0"/>
          </a:p>
        </p:txBody>
      </p:sp>
      <p:sp>
        <p:nvSpPr>
          <p:cNvPr id="24" name="Text 22"/>
          <p:cNvSpPr txBox="1"/>
          <p:nvPr/>
        </p:nvSpPr>
        <p:spPr>
          <a:xfrm>
            <a:off x="4974336" y="3749040"/>
            <a:ext cx="2240280" cy="813816"/>
          </a:xfrm>
          <a:prstGeom prst="rect">
            <a:avLst/>
          </a:prstGeom>
          <a:noFill/>
          <a:ln/>
        </p:spPr>
        <p:txBody>
          <a:bodyPr wrap="square" lIns="0" tIns="0" rIns="0" bIns="0" rtlCol="0" anchor="ctr"/>
          <a:lstStyle/>
          <a:p>
            <a:pPr marL="0" indent="0">
              <a:buNone/>
            </a:pPr>
            <a:r>
              <a:rPr lang="en-US" sz="1600" b="1" dirty="0">
                <a:solidFill>
                  <a:srgbClr val="C9A227"/>
                </a:solidFill>
                <a:latin typeface="Calibri" pitchFamily="34" charset="0"/>
                <a:ea typeface="Calibri" pitchFamily="34" charset="-122"/>
                <a:cs typeface="Calibri" pitchFamily="34" charset="-120"/>
              </a:rPr>
              <a:t>Gemini 3</a:t>
            </a:r>
            <a:endParaRPr lang="en-US" sz="1600" dirty="0"/>
          </a:p>
        </p:txBody>
      </p:sp>
      <p:sp>
        <p:nvSpPr>
          <p:cNvPr id="25" name="Text 23"/>
          <p:cNvSpPr txBox="1"/>
          <p:nvPr/>
        </p:nvSpPr>
        <p:spPr>
          <a:xfrm>
            <a:off x="7351776" y="3749040"/>
            <a:ext cx="4160520" cy="813816"/>
          </a:xfrm>
          <a:prstGeom prst="rect">
            <a:avLst/>
          </a:prstGeom>
          <a:noFill/>
          <a:ln/>
        </p:spPr>
        <p:txBody>
          <a:bodyPr wrap="square" lIns="0" tIns="0" rIns="0" bIns="0" rtlCol="0" anchor="ctr"/>
          <a:lstStyle/>
          <a:p>
            <a:pPr marL="0" indent="0">
              <a:lnSpc>
                <a:spcPts val="2000"/>
              </a:lnSpc>
              <a:buNone/>
            </a:pPr>
            <a:r>
              <a:rPr lang="en-US" sz="1600" dirty="0">
                <a:solidFill>
                  <a:srgbClr val="2C3548"/>
                </a:solidFill>
                <a:latin typeface="Calibri" pitchFamily="34" charset="0"/>
                <a:ea typeface="Calibri" pitchFamily="34" charset="-122"/>
                <a:cs typeface="Calibri" pitchFamily="34" charset="-120"/>
              </a:rPr>
              <a:t>Integrado a Workspace, Drive y Gemini Notebook (antes NotebookLM).</a:t>
            </a:r>
            <a:endParaRPr lang="en-US" sz="1600" dirty="0"/>
          </a:p>
        </p:txBody>
      </p:sp>
      <p:sp>
        <p:nvSpPr>
          <p:cNvPr id="26" name="Shape 24"/>
          <p:cNvSpPr/>
          <p:nvPr/>
        </p:nvSpPr>
        <p:spPr>
          <a:xfrm>
            <a:off x="566928" y="4654296"/>
            <a:ext cx="11057839" cy="813816"/>
          </a:xfrm>
          <a:prstGeom prst="roundRect">
            <a:avLst>
              <a:gd name="adj" fmla="val 10112"/>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27" name="Shape 25"/>
          <p:cNvSpPr/>
          <p:nvPr/>
        </p:nvSpPr>
        <p:spPr>
          <a:xfrm>
            <a:off x="786384" y="4956048"/>
            <a:ext cx="219456" cy="219456"/>
          </a:xfrm>
          <a:prstGeom prst="ellipse">
            <a:avLst/>
          </a:prstGeom>
          <a:solidFill>
            <a:srgbClr val="8E44AD"/>
          </a:solidFill>
          <a:ln w="12700">
            <a:solidFill>
              <a:srgbClr val="8E44AD"/>
            </a:solidFill>
            <a:prstDash val="solid"/>
          </a:ln>
        </p:spPr>
        <p:txBody>
          <a:bodyPr/>
          <a:lstStyle/>
          <a:p>
            <a:endParaRPr lang="en-PR"/>
          </a:p>
        </p:txBody>
      </p:sp>
      <p:sp>
        <p:nvSpPr>
          <p:cNvPr id="28" name="Text 26"/>
          <p:cNvSpPr txBox="1"/>
          <p:nvPr/>
        </p:nvSpPr>
        <p:spPr>
          <a:xfrm>
            <a:off x="1078992" y="4654296"/>
            <a:ext cx="2103120" cy="813816"/>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Copilot</a:t>
            </a:r>
            <a:endParaRPr lang="en-US" sz="1900" dirty="0"/>
          </a:p>
        </p:txBody>
      </p:sp>
      <p:sp>
        <p:nvSpPr>
          <p:cNvPr id="29" name="Text 27"/>
          <p:cNvSpPr txBox="1"/>
          <p:nvPr/>
        </p:nvSpPr>
        <p:spPr>
          <a:xfrm>
            <a:off x="3291840" y="4654296"/>
            <a:ext cx="1600200" cy="813816"/>
          </a:xfrm>
          <a:prstGeom prst="rect">
            <a:avLst/>
          </a:prstGeom>
          <a:noFill/>
          <a:ln/>
        </p:spPr>
        <p:txBody>
          <a:bodyPr wrap="square" lIns="0" tIns="0" rIns="0" bIns="0" rtlCol="0" anchor="ctr"/>
          <a:lstStyle/>
          <a:p>
            <a:pPr marL="0" indent="0">
              <a:buNone/>
            </a:pPr>
            <a:r>
              <a:rPr lang="en-US" sz="1600" dirty="0">
                <a:solidFill>
                  <a:srgbClr val="2C3548"/>
                </a:solidFill>
                <a:latin typeface="Calibri" pitchFamily="34" charset="0"/>
                <a:ea typeface="Calibri" pitchFamily="34" charset="-122"/>
                <a:cs typeface="Calibri" pitchFamily="34" charset="-120"/>
              </a:rPr>
              <a:t>Microsoft</a:t>
            </a:r>
            <a:endParaRPr lang="en-US" sz="1600" dirty="0"/>
          </a:p>
        </p:txBody>
      </p:sp>
      <p:sp>
        <p:nvSpPr>
          <p:cNvPr id="30" name="Text 28"/>
          <p:cNvSpPr txBox="1"/>
          <p:nvPr/>
        </p:nvSpPr>
        <p:spPr>
          <a:xfrm>
            <a:off x="4974336" y="4654296"/>
            <a:ext cx="2240280" cy="813816"/>
          </a:xfrm>
          <a:prstGeom prst="rect">
            <a:avLst/>
          </a:prstGeom>
          <a:noFill/>
          <a:ln/>
        </p:spPr>
        <p:txBody>
          <a:bodyPr wrap="square" lIns="0" tIns="0" rIns="0" bIns="0" rtlCol="0" anchor="ctr"/>
          <a:lstStyle/>
          <a:p>
            <a:pPr marL="0" indent="0">
              <a:buNone/>
            </a:pPr>
            <a:r>
              <a:rPr lang="en-US" sz="1600" b="1" dirty="0">
                <a:solidFill>
                  <a:srgbClr val="8E44AD"/>
                </a:solidFill>
                <a:latin typeface="Calibri" pitchFamily="34" charset="0"/>
                <a:ea typeface="Calibri" pitchFamily="34" charset="-122"/>
                <a:cs typeface="Calibri" pitchFamily="34" charset="-120"/>
              </a:rPr>
              <a:t>GPT + Microsoft 365</a:t>
            </a:r>
            <a:endParaRPr lang="en-US" sz="1600" dirty="0"/>
          </a:p>
        </p:txBody>
      </p:sp>
      <p:sp>
        <p:nvSpPr>
          <p:cNvPr id="31" name="Text 29"/>
          <p:cNvSpPr txBox="1"/>
          <p:nvPr/>
        </p:nvSpPr>
        <p:spPr>
          <a:xfrm>
            <a:off x="7351776" y="4654296"/>
            <a:ext cx="4160520" cy="813816"/>
          </a:xfrm>
          <a:prstGeom prst="rect">
            <a:avLst/>
          </a:prstGeom>
          <a:noFill/>
          <a:ln/>
        </p:spPr>
        <p:txBody>
          <a:bodyPr wrap="square" lIns="0" tIns="0" rIns="0" bIns="0" rtlCol="0" anchor="ctr"/>
          <a:lstStyle/>
          <a:p>
            <a:pPr marL="0" indent="0">
              <a:lnSpc>
                <a:spcPts val="2000"/>
              </a:lnSpc>
              <a:buNone/>
            </a:pPr>
            <a:r>
              <a:rPr lang="en-US" sz="1600" dirty="0">
                <a:solidFill>
                  <a:srgbClr val="2C3548"/>
                </a:solidFill>
                <a:latin typeface="Calibri" pitchFamily="34" charset="0"/>
                <a:ea typeface="Calibri" pitchFamily="34" charset="-122"/>
                <a:cs typeface="Calibri" pitchFamily="34" charset="-120"/>
              </a:rPr>
              <a:t>Herramienta institucional autorizada por el DEPR. Integrada a Word, Excel y Teams.</a:t>
            </a:r>
            <a:endParaRPr lang="en-US" sz="1600" dirty="0"/>
          </a:p>
        </p:txBody>
      </p:sp>
      <p:sp>
        <p:nvSpPr>
          <p:cNvPr id="32" name="Text 30"/>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33" name="Text 31"/>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41</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PANORAMA A SEPTIEMBRE DE 2026</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Los asistentes de propósito general (cont.)</a:t>
            </a:r>
            <a:endParaRPr lang="en-US" sz="3000" dirty="0"/>
          </a:p>
        </p:txBody>
      </p:sp>
      <p:sp>
        <p:nvSpPr>
          <p:cNvPr id="4" name="Text 2"/>
          <p:cNvSpPr txBox="1"/>
          <p:nvPr/>
        </p:nvSpPr>
        <p:spPr>
          <a:xfrm>
            <a:off x="1078992" y="1481328"/>
            <a:ext cx="2103120" cy="347472"/>
          </a:xfrm>
          <a:prstGeom prst="rect">
            <a:avLst/>
          </a:prstGeom>
          <a:noFill/>
          <a:ln/>
        </p:spPr>
        <p:txBody>
          <a:bodyPr wrap="square" lIns="0" tIns="0" rIns="0" bIns="0" rtlCol="0" anchor="ctr"/>
          <a:lstStyle/>
          <a:p>
            <a:pPr marL="0" indent="0">
              <a:buNone/>
            </a:pPr>
            <a:r>
              <a:rPr lang="en-US" sz="1600" b="1" kern="0" spc="80" dirty="0">
                <a:solidFill>
                  <a:srgbClr val="5A6478"/>
                </a:solidFill>
                <a:latin typeface="Calibri" pitchFamily="34" charset="0"/>
                <a:ea typeface="Calibri" pitchFamily="34" charset="-122"/>
                <a:cs typeface="Calibri" pitchFamily="34" charset="-120"/>
              </a:rPr>
              <a:t>Herramienta</a:t>
            </a:r>
            <a:endParaRPr lang="en-US" sz="1600" dirty="0"/>
          </a:p>
        </p:txBody>
      </p:sp>
      <p:sp>
        <p:nvSpPr>
          <p:cNvPr id="5" name="Text 3"/>
          <p:cNvSpPr txBox="1"/>
          <p:nvPr/>
        </p:nvSpPr>
        <p:spPr>
          <a:xfrm>
            <a:off x="3291840" y="1481328"/>
            <a:ext cx="1600200" cy="347472"/>
          </a:xfrm>
          <a:prstGeom prst="rect">
            <a:avLst/>
          </a:prstGeom>
          <a:noFill/>
          <a:ln/>
        </p:spPr>
        <p:txBody>
          <a:bodyPr wrap="square" lIns="0" tIns="0" rIns="0" bIns="0" rtlCol="0" anchor="ctr"/>
          <a:lstStyle/>
          <a:p>
            <a:pPr marL="0" indent="0">
              <a:buNone/>
            </a:pPr>
            <a:r>
              <a:rPr lang="en-US" sz="1600" b="1" kern="0" spc="80" dirty="0">
                <a:solidFill>
                  <a:srgbClr val="5A6478"/>
                </a:solidFill>
                <a:latin typeface="Calibri" pitchFamily="34" charset="0"/>
                <a:ea typeface="Calibri" pitchFamily="34" charset="-122"/>
                <a:cs typeface="Calibri" pitchFamily="34" charset="-120"/>
              </a:rPr>
              <a:t>Empresa</a:t>
            </a:r>
            <a:endParaRPr lang="en-US" sz="1600" dirty="0"/>
          </a:p>
        </p:txBody>
      </p:sp>
      <p:sp>
        <p:nvSpPr>
          <p:cNvPr id="6" name="Text 4"/>
          <p:cNvSpPr txBox="1"/>
          <p:nvPr/>
        </p:nvSpPr>
        <p:spPr>
          <a:xfrm>
            <a:off x="4974336" y="1481328"/>
            <a:ext cx="2240280" cy="347472"/>
          </a:xfrm>
          <a:prstGeom prst="rect">
            <a:avLst/>
          </a:prstGeom>
          <a:noFill/>
          <a:ln/>
        </p:spPr>
        <p:txBody>
          <a:bodyPr wrap="square" lIns="0" tIns="0" rIns="0" bIns="0" rtlCol="0" anchor="ctr"/>
          <a:lstStyle/>
          <a:p>
            <a:pPr marL="0" indent="0">
              <a:buNone/>
            </a:pPr>
            <a:r>
              <a:rPr lang="en-US" sz="1600" b="1" kern="0" spc="80" dirty="0">
                <a:solidFill>
                  <a:srgbClr val="5A6478"/>
                </a:solidFill>
                <a:latin typeface="Calibri" pitchFamily="34" charset="0"/>
                <a:ea typeface="Calibri" pitchFamily="34" charset="-122"/>
                <a:cs typeface="Calibri" pitchFamily="34" charset="-120"/>
              </a:rPr>
              <a:t>Modelo vigente</a:t>
            </a:r>
            <a:endParaRPr lang="en-US" sz="1600" dirty="0"/>
          </a:p>
        </p:txBody>
      </p:sp>
      <p:sp>
        <p:nvSpPr>
          <p:cNvPr id="7" name="Text 5"/>
          <p:cNvSpPr txBox="1"/>
          <p:nvPr/>
        </p:nvSpPr>
        <p:spPr>
          <a:xfrm>
            <a:off x="7351776" y="1481328"/>
            <a:ext cx="4160520" cy="347472"/>
          </a:xfrm>
          <a:prstGeom prst="rect">
            <a:avLst/>
          </a:prstGeom>
          <a:noFill/>
          <a:ln/>
        </p:spPr>
        <p:txBody>
          <a:bodyPr wrap="square" lIns="0" tIns="0" rIns="0" bIns="0" rtlCol="0" anchor="ctr"/>
          <a:lstStyle/>
          <a:p>
            <a:pPr marL="0" indent="0">
              <a:buNone/>
            </a:pPr>
            <a:r>
              <a:rPr lang="en-US" sz="1600" b="1" kern="0" spc="80" dirty="0">
                <a:solidFill>
                  <a:srgbClr val="5A6478"/>
                </a:solidFill>
                <a:latin typeface="Calibri" pitchFamily="34" charset="0"/>
                <a:ea typeface="Calibri" pitchFamily="34" charset="-122"/>
                <a:cs typeface="Calibri" pitchFamily="34" charset="-120"/>
              </a:rPr>
              <a:t>Qué aporta al docente</a:t>
            </a:r>
            <a:endParaRPr lang="en-US" sz="1600" dirty="0"/>
          </a:p>
        </p:txBody>
      </p:sp>
      <p:sp>
        <p:nvSpPr>
          <p:cNvPr id="8" name="Shape 6"/>
          <p:cNvSpPr/>
          <p:nvPr/>
        </p:nvSpPr>
        <p:spPr>
          <a:xfrm>
            <a:off x="566928" y="1938528"/>
            <a:ext cx="11057839" cy="813816"/>
          </a:xfrm>
          <a:prstGeom prst="roundRect">
            <a:avLst>
              <a:gd name="adj" fmla="val 10112"/>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9" name="Shape 7"/>
          <p:cNvSpPr/>
          <p:nvPr/>
        </p:nvSpPr>
        <p:spPr>
          <a:xfrm>
            <a:off x="786384" y="2240280"/>
            <a:ext cx="219456" cy="219456"/>
          </a:xfrm>
          <a:prstGeom prst="ellipse">
            <a:avLst/>
          </a:prstGeom>
          <a:solidFill>
            <a:srgbClr val="C0392B"/>
          </a:solidFill>
          <a:ln w="12700">
            <a:solidFill>
              <a:srgbClr val="C0392B"/>
            </a:solidFill>
            <a:prstDash val="solid"/>
          </a:ln>
        </p:spPr>
        <p:txBody>
          <a:bodyPr/>
          <a:lstStyle/>
          <a:p>
            <a:endParaRPr lang="en-PR"/>
          </a:p>
        </p:txBody>
      </p:sp>
      <p:sp>
        <p:nvSpPr>
          <p:cNvPr id="10" name="Text 8"/>
          <p:cNvSpPr txBox="1"/>
          <p:nvPr/>
        </p:nvSpPr>
        <p:spPr>
          <a:xfrm>
            <a:off x="1078992" y="1938528"/>
            <a:ext cx="2103120" cy="813816"/>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DeepSeek</a:t>
            </a:r>
            <a:endParaRPr lang="en-US" sz="1900" dirty="0"/>
          </a:p>
        </p:txBody>
      </p:sp>
      <p:sp>
        <p:nvSpPr>
          <p:cNvPr id="11" name="Text 9"/>
          <p:cNvSpPr txBox="1"/>
          <p:nvPr/>
        </p:nvSpPr>
        <p:spPr>
          <a:xfrm>
            <a:off x="3291840" y="1938528"/>
            <a:ext cx="1600200" cy="813816"/>
          </a:xfrm>
          <a:prstGeom prst="rect">
            <a:avLst/>
          </a:prstGeom>
          <a:noFill/>
          <a:ln/>
        </p:spPr>
        <p:txBody>
          <a:bodyPr wrap="square" lIns="0" tIns="0" rIns="0" bIns="0" rtlCol="0" anchor="ctr"/>
          <a:lstStyle/>
          <a:p>
            <a:pPr marL="0" indent="0">
              <a:buNone/>
            </a:pPr>
            <a:r>
              <a:rPr lang="en-US" sz="1600" dirty="0">
                <a:solidFill>
                  <a:srgbClr val="2C3548"/>
                </a:solidFill>
                <a:latin typeface="Calibri" pitchFamily="34" charset="0"/>
                <a:ea typeface="Calibri" pitchFamily="34" charset="-122"/>
                <a:cs typeface="Calibri" pitchFamily="34" charset="-120"/>
              </a:rPr>
              <a:t>DeepSeek AI</a:t>
            </a:r>
            <a:endParaRPr lang="en-US" sz="1600" dirty="0"/>
          </a:p>
        </p:txBody>
      </p:sp>
      <p:sp>
        <p:nvSpPr>
          <p:cNvPr id="12" name="Text 10"/>
          <p:cNvSpPr txBox="1"/>
          <p:nvPr/>
        </p:nvSpPr>
        <p:spPr>
          <a:xfrm>
            <a:off x="4974336" y="1938528"/>
            <a:ext cx="2240280" cy="813816"/>
          </a:xfrm>
          <a:prstGeom prst="rect">
            <a:avLst/>
          </a:prstGeom>
          <a:noFill/>
          <a:ln/>
        </p:spPr>
        <p:txBody>
          <a:bodyPr wrap="square" lIns="0" tIns="0" rIns="0" bIns="0"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V4 / R1</a:t>
            </a:r>
            <a:endParaRPr lang="en-US" sz="1600" dirty="0"/>
          </a:p>
        </p:txBody>
      </p:sp>
      <p:sp>
        <p:nvSpPr>
          <p:cNvPr id="13" name="Text 11"/>
          <p:cNvSpPr txBox="1"/>
          <p:nvPr/>
        </p:nvSpPr>
        <p:spPr>
          <a:xfrm>
            <a:off x="7351776" y="1938528"/>
            <a:ext cx="4160520" cy="813816"/>
          </a:xfrm>
          <a:prstGeom prst="rect">
            <a:avLst/>
          </a:prstGeom>
          <a:noFill/>
          <a:ln/>
        </p:spPr>
        <p:txBody>
          <a:bodyPr wrap="square" lIns="0" tIns="0" rIns="0" bIns="0" rtlCol="0" anchor="ctr"/>
          <a:lstStyle/>
          <a:p>
            <a:pPr marL="0" indent="0">
              <a:lnSpc>
                <a:spcPts val="2000"/>
              </a:lnSpc>
              <a:buNone/>
            </a:pPr>
            <a:r>
              <a:rPr lang="en-US" sz="1600" dirty="0">
                <a:solidFill>
                  <a:srgbClr val="2C3548"/>
                </a:solidFill>
                <a:latin typeface="Calibri" pitchFamily="34" charset="0"/>
                <a:ea typeface="Calibri" pitchFamily="34" charset="-122"/>
                <a:cs typeface="Calibri" pitchFamily="34" charset="-120"/>
              </a:rPr>
              <a:t>Modelo abierto de bajo costo. Precaución: servidores y normativa fuera de EE. UU.</a:t>
            </a:r>
            <a:endParaRPr lang="en-US" sz="1600" dirty="0"/>
          </a:p>
        </p:txBody>
      </p:sp>
      <p:sp>
        <p:nvSpPr>
          <p:cNvPr id="14" name="Shape 12"/>
          <p:cNvSpPr/>
          <p:nvPr/>
        </p:nvSpPr>
        <p:spPr>
          <a:xfrm>
            <a:off x="566928" y="2843784"/>
            <a:ext cx="11057839" cy="813816"/>
          </a:xfrm>
          <a:prstGeom prst="roundRect">
            <a:avLst>
              <a:gd name="adj" fmla="val 10112"/>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15" name="Shape 13"/>
          <p:cNvSpPr/>
          <p:nvPr/>
        </p:nvSpPr>
        <p:spPr>
          <a:xfrm>
            <a:off x="786384" y="3145536"/>
            <a:ext cx="219456" cy="219456"/>
          </a:xfrm>
          <a:prstGeom prst="ellipse">
            <a:avLst/>
          </a:prstGeom>
          <a:solidFill>
            <a:srgbClr val="5A6478"/>
          </a:solidFill>
          <a:ln w="12700">
            <a:solidFill>
              <a:srgbClr val="5A6478"/>
            </a:solidFill>
            <a:prstDash val="solid"/>
          </a:ln>
        </p:spPr>
        <p:txBody>
          <a:bodyPr/>
          <a:lstStyle/>
          <a:p>
            <a:endParaRPr lang="en-PR"/>
          </a:p>
        </p:txBody>
      </p:sp>
      <p:sp>
        <p:nvSpPr>
          <p:cNvPr id="16" name="Text 14"/>
          <p:cNvSpPr txBox="1"/>
          <p:nvPr/>
        </p:nvSpPr>
        <p:spPr>
          <a:xfrm>
            <a:off x="1078992" y="2843784"/>
            <a:ext cx="2103120" cy="813816"/>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Llama</a:t>
            </a:r>
            <a:endParaRPr lang="en-US" sz="1900" dirty="0"/>
          </a:p>
        </p:txBody>
      </p:sp>
      <p:sp>
        <p:nvSpPr>
          <p:cNvPr id="17" name="Text 15"/>
          <p:cNvSpPr txBox="1"/>
          <p:nvPr/>
        </p:nvSpPr>
        <p:spPr>
          <a:xfrm>
            <a:off x="3291840" y="2843784"/>
            <a:ext cx="1600200" cy="813816"/>
          </a:xfrm>
          <a:prstGeom prst="rect">
            <a:avLst/>
          </a:prstGeom>
          <a:noFill/>
          <a:ln/>
        </p:spPr>
        <p:txBody>
          <a:bodyPr wrap="square" lIns="0" tIns="0" rIns="0" bIns="0" rtlCol="0" anchor="ctr"/>
          <a:lstStyle/>
          <a:p>
            <a:pPr marL="0" indent="0">
              <a:buNone/>
            </a:pPr>
            <a:r>
              <a:rPr lang="en-US" sz="1600" dirty="0">
                <a:solidFill>
                  <a:srgbClr val="2C3548"/>
                </a:solidFill>
                <a:latin typeface="Calibri" pitchFamily="34" charset="0"/>
                <a:ea typeface="Calibri" pitchFamily="34" charset="-122"/>
                <a:cs typeface="Calibri" pitchFamily="34" charset="-120"/>
              </a:rPr>
              <a:t>Meta</a:t>
            </a:r>
            <a:endParaRPr lang="en-US" sz="1600" dirty="0"/>
          </a:p>
        </p:txBody>
      </p:sp>
      <p:sp>
        <p:nvSpPr>
          <p:cNvPr id="18" name="Text 16"/>
          <p:cNvSpPr txBox="1"/>
          <p:nvPr/>
        </p:nvSpPr>
        <p:spPr>
          <a:xfrm>
            <a:off x="4974336" y="2843784"/>
            <a:ext cx="2240280" cy="813816"/>
          </a:xfrm>
          <a:prstGeom prst="rect">
            <a:avLst/>
          </a:prstGeom>
          <a:noFill/>
          <a:ln/>
        </p:spPr>
        <p:txBody>
          <a:bodyPr wrap="square" lIns="0" tIns="0" rIns="0" bIns="0" rtlCol="0" anchor="ctr"/>
          <a:lstStyle/>
          <a:p>
            <a:pPr marL="0" indent="0">
              <a:buNone/>
            </a:pPr>
            <a:r>
              <a:rPr lang="en-US" sz="1600" b="1" dirty="0">
                <a:solidFill>
                  <a:srgbClr val="5A6478"/>
                </a:solidFill>
                <a:latin typeface="Calibri" pitchFamily="34" charset="0"/>
                <a:ea typeface="Calibri" pitchFamily="34" charset="-122"/>
                <a:cs typeface="Calibri" pitchFamily="34" charset="-120"/>
              </a:rPr>
              <a:t>Llama (abierto)</a:t>
            </a:r>
            <a:endParaRPr lang="en-US" sz="1600" dirty="0"/>
          </a:p>
        </p:txBody>
      </p:sp>
      <p:sp>
        <p:nvSpPr>
          <p:cNvPr id="19" name="Text 17"/>
          <p:cNvSpPr txBox="1"/>
          <p:nvPr/>
        </p:nvSpPr>
        <p:spPr>
          <a:xfrm>
            <a:off x="7351776" y="2843784"/>
            <a:ext cx="4160520" cy="813816"/>
          </a:xfrm>
          <a:prstGeom prst="rect">
            <a:avLst/>
          </a:prstGeom>
          <a:noFill/>
          <a:ln/>
        </p:spPr>
        <p:txBody>
          <a:bodyPr wrap="square" lIns="0" tIns="0" rIns="0" bIns="0" rtlCol="0" anchor="ctr"/>
          <a:lstStyle/>
          <a:p>
            <a:pPr marL="0" indent="0">
              <a:lnSpc>
                <a:spcPts val="2000"/>
              </a:lnSpc>
              <a:buNone/>
            </a:pPr>
            <a:r>
              <a:rPr lang="en-US" sz="1600" dirty="0">
                <a:solidFill>
                  <a:srgbClr val="2C3548"/>
                </a:solidFill>
                <a:latin typeface="Calibri" pitchFamily="34" charset="0"/>
                <a:ea typeface="Calibri" pitchFamily="34" charset="-122"/>
                <a:cs typeface="Calibri" pitchFamily="34" charset="-120"/>
              </a:rPr>
              <a:t>De pesos abiertos; se puede ejecutar localmente. Requiere perfil técnico.</a:t>
            </a:r>
            <a:endParaRPr lang="en-US" sz="1600" dirty="0"/>
          </a:p>
        </p:txBody>
      </p:sp>
      <p:sp>
        <p:nvSpPr>
          <p:cNvPr id="20" name="Text 18"/>
          <p:cNvSpPr txBox="1"/>
          <p:nvPr/>
        </p:nvSpPr>
        <p:spPr>
          <a:xfrm>
            <a:off x="566928" y="5760720"/>
            <a:ext cx="11057839" cy="548640"/>
          </a:xfrm>
          <a:prstGeom prst="rect">
            <a:avLst/>
          </a:prstGeom>
          <a:noFill/>
          <a:ln/>
        </p:spPr>
        <p:txBody>
          <a:bodyPr wrap="square" lIns="0" tIns="0" rIns="0" bIns="0" rtlCol="0" anchor="t"/>
          <a:lstStyle/>
          <a:p>
            <a:pPr marL="0" indent="0">
              <a:lnSpc>
                <a:spcPts val="2100"/>
              </a:lnSpc>
              <a:buNone/>
            </a:pPr>
            <a:r>
              <a:rPr lang="en-US" sz="1600" i="1" dirty="0">
                <a:solidFill>
                  <a:srgbClr val="5A6478"/>
                </a:solidFill>
                <a:latin typeface="Calibri" pitchFamily="34" charset="0"/>
                <a:ea typeface="Calibri" pitchFamily="34" charset="-122"/>
                <a:cs typeface="Calibri" pitchFamily="34" charset="-120"/>
              </a:rPr>
              <a:t>Los nombres de modelo cambian cada pocos meses. Verifique la versión vigente antes de citar cifras o capacidades en clase.</a:t>
            </a:r>
            <a:endParaRPr lang="en-US" sz="1600" dirty="0"/>
          </a:p>
        </p:txBody>
      </p:sp>
      <p:sp>
        <p:nvSpPr>
          <p:cNvPr id="21" name="Text 19"/>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2" name="Text 20"/>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42</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LO PRIMERO QUE DEBE SABER</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Copilot: la herramienta autorizada por el DEPR</a:t>
            </a:r>
            <a:endParaRPr lang="en-US" sz="3000" dirty="0"/>
          </a:p>
        </p:txBody>
      </p:sp>
      <p:sp>
        <p:nvSpPr>
          <p:cNvPr id="4" name="Shape 2"/>
          <p:cNvSpPr/>
          <p:nvPr/>
        </p:nvSpPr>
        <p:spPr>
          <a:xfrm>
            <a:off x="566928" y="1408176"/>
            <a:ext cx="11057839" cy="1207008"/>
          </a:xfrm>
          <a:prstGeom prst="roundRect">
            <a:avLst>
              <a:gd name="adj" fmla="val 6818"/>
            </a:avLst>
          </a:prstGeom>
          <a:solidFill>
            <a:srgbClr val="1B2A4A"/>
          </a:solidFill>
          <a:ln w="12700">
            <a:solidFill>
              <a:srgbClr val="1B2A4A"/>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86968" y="1709928"/>
            <a:ext cx="603504" cy="603504"/>
          </a:xfrm>
          <a:prstGeom prst="ellipse">
            <a:avLst/>
          </a:prstGeom>
          <a:solidFill>
            <a:srgbClr val="C9A227"/>
          </a:solidFill>
          <a:ln w="12700">
            <a:solidFill>
              <a:srgbClr val="C9A227"/>
            </a:solidFill>
            <a:prstDash val="solid"/>
          </a:ln>
        </p:spPr>
        <p:txBody>
          <a:bodyPr/>
          <a:lstStyle/>
          <a:p>
            <a:endParaRPr lang="en-PR"/>
          </a:p>
        </p:txBody>
      </p:sp>
      <p:sp>
        <p:nvSpPr>
          <p:cNvPr id="6" name="Text 4"/>
          <p:cNvSpPr txBox="1"/>
          <p:nvPr/>
        </p:nvSpPr>
        <p:spPr>
          <a:xfrm>
            <a:off x="886968" y="1709928"/>
            <a:ext cx="603504" cy="603504"/>
          </a:xfrm>
          <a:prstGeom prst="rect">
            <a:avLst/>
          </a:prstGeom>
          <a:noFill/>
          <a:ln/>
        </p:spPr>
        <p:txBody>
          <a:bodyPr wrap="square" lIns="0" tIns="0" rIns="0" bIns="0" rtlCol="0" anchor="ctr"/>
          <a:lstStyle/>
          <a:p>
            <a:pPr marL="0" indent="0" algn="ctr">
              <a:buNone/>
            </a:pPr>
            <a:r>
              <a:rPr lang="en-US" sz="2200" b="1" dirty="0">
                <a:solidFill>
                  <a:srgbClr val="1B2A4A"/>
                </a:solidFill>
                <a:latin typeface="Cambria" pitchFamily="34" charset="0"/>
                <a:ea typeface="Cambria" pitchFamily="34" charset="-122"/>
                <a:cs typeface="Cambria" pitchFamily="34" charset="-120"/>
              </a:rPr>
              <a:t>★</a:t>
            </a:r>
            <a:endParaRPr lang="en-US" sz="2200" dirty="0"/>
          </a:p>
        </p:txBody>
      </p:sp>
      <p:sp>
        <p:nvSpPr>
          <p:cNvPr id="7" name="Text 5"/>
          <p:cNvSpPr txBox="1"/>
          <p:nvPr/>
        </p:nvSpPr>
        <p:spPr>
          <a:xfrm>
            <a:off x="1682496" y="1408176"/>
            <a:ext cx="9646920" cy="1207008"/>
          </a:xfrm>
          <a:prstGeom prst="rect">
            <a:avLst/>
          </a:prstGeom>
          <a:noFill/>
          <a:ln/>
        </p:spPr>
        <p:txBody>
          <a:bodyPr wrap="square" lIns="0" tIns="0" rIns="0" bIns="0" rtlCol="0" anchor="ctr"/>
          <a:lstStyle/>
          <a:p>
            <a:pPr marL="0" indent="0">
              <a:lnSpc>
                <a:spcPts val="2700"/>
              </a:lnSpc>
              <a:buNone/>
            </a:pPr>
            <a:r>
              <a:rPr lang="en-US" sz="1900" dirty="0">
                <a:solidFill>
                  <a:srgbClr val="FFFFFF"/>
                </a:solidFill>
                <a:latin typeface="Calibri" pitchFamily="34" charset="0"/>
                <a:ea typeface="Calibri" pitchFamily="34" charset="-122"/>
                <a:cs typeface="Calibri" pitchFamily="34" charset="-120"/>
              </a:rPr>
              <a:t>Si va a usar IA con estudiantes dentro del sistema público, Microsoft Copilot en cuenta institucional es la vía autorizada.</a:t>
            </a:r>
            <a:endParaRPr lang="en-US" sz="1900" dirty="0"/>
          </a:p>
        </p:txBody>
      </p:sp>
      <p:sp>
        <p:nvSpPr>
          <p:cNvPr id="8" name="Shape 6"/>
          <p:cNvSpPr/>
          <p:nvPr/>
        </p:nvSpPr>
        <p:spPr>
          <a:xfrm>
            <a:off x="566928" y="2779776"/>
            <a:ext cx="3538728" cy="2523744"/>
          </a:xfrm>
          <a:prstGeom prst="roundRect">
            <a:avLst>
              <a:gd name="adj" fmla="val 3261"/>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9" name="Shape 7"/>
          <p:cNvSpPr/>
          <p:nvPr/>
        </p:nvSpPr>
        <p:spPr>
          <a:xfrm>
            <a:off x="822960" y="3017520"/>
            <a:ext cx="438912" cy="54864"/>
          </a:xfrm>
          <a:prstGeom prst="rect">
            <a:avLst/>
          </a:prstGeom>
          <a:solidFill>
            <a:srgbClr val="2A9D8F"/>
          </a:solidFill>
          <a:ln w="12700">
            <a:solidFill>
              <a:srgbClr val="2A9D8F"/>
            </a:solidFill>
            <a:prstDash val="solid"/>
          </a:ln>
        </p:spPr>
        <p:txBody>
          <a:bodyPr/>
          <a:lstStyle/>
          <a:p>
            <a:endParaRPr lang="en-PR"/>
          </a:p>
        </p:txBody>
      </p:sp>
      <p:sp>
        <p:nvSpPr>
          <p:cNvPr id="10" name="Text 8"/>
          <p:cNvSpPr txBox="1"/>
          <p:nvPr/>
        </p:nvSpPr>
        <p:spPr>
          <a:xfrm>
            <a:off x="822960" y="3182112"/>
            <a:ext cx="3072384" cy="713232"/>
          </a:xfrm>
          <a:prstGeom prst="rect">
            <a:avLst/>
          </a:prstGeom>
          <a:noFill/>
          <a:ln/>
        </p:spPr>
        <p:txBody>
          <a:bodyPr wrap="square" lIns="0" tIns="0" rIns="0" bIns="0" rtlCol="0" anchor="t"/>
          <a:lstStyle/>
          <a:p>
            <a:pPr marL="0" indent="0">
              <a:lnSpc>
                <a:spcPts val="2500"/>
              </a:lnSpc>
              <a:buNone/>
            </a:pPr>
            <a:r>
              <a:rPr lang="en-US" sz="2000" b="1" dirty="0">
                <a:solidFill>
                  <a:srgbClr val="1B2A4A"/>
                </a:solidFill>
                <a:latin typeface="Cambria" pitchFamily="34" charset="0"/>
                <a:ea typeface="Cambria" pitchFamily="34" charset="-122"/>
                <a:cs typeface="Cambria" pitchFamily="34" charset="-120"/>
              </a:rPr>
              <a:t>Cuenta institucional, no personal</a:t>
            </a:r>
            <a:endParaRPr lang="en-US" sz="2000" dirty="0"/>
          </a:p>
        </p:txBody>
      </p:sp>
      <p:sp>
        <p:nvSpPr>
          <p:cNvPr id="11" name="Text 9"/>
          <p:cNvSpPr txBox="1"/>
          <p:nvPr/>
        </p:nvSpPr>
        <p:spPr>
          <a:xfrm>
            <a:off x="822960" y="3931920"/>
            <a:ext cx="3090672" cy="1243584"/>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El acceso debe hacerse desde la cuenta y el dispositivo del DEPR. Las cuentas personales quedan expresamente excluidas.</a:t>
            </a:r>
            <a:endParaRPr lang="en-US" sz="1700" dirty="0"/>
          </a:p>
        </p:txBody>
      </p:sp>
      <p:sp>
        <p:nvSpPr>
          <p:cNvPr id="12" name="Shape 10"/>
          <p:cNvSpPr/>
          <p:nvPr/>
        </p:nvSpPr>
        <p:spPr>
          <a:xfrm>
            <a:off x="4315968" y="2779776"/>
            <a:ext cx="3538728" cy="2523744"/>
          </a:xfrm>
          <a:prstGeom prst="roundRect">
            <a:avLst>
              <a:gd name="adj" fmla="val 3261"/>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3" name="Shape 11"/>
          <p:cNvSpPr/>
          <p:nvPr/>
        </p:nvSpPr>
        <p:spPr>
          <a:xfrm>
            <a:off x="4572000" y="3017520"/>
            <a:ext cx="438912" cy="54864"/>
          </a:xfrm>
          <a:prstGeom prst="rect">
            <a:avLst/>
          </a:prstGeom>
          <a:solidFill>
            <a:srgbClr val="1B2A4A"/>
          </a:solidFill>
          <a:ln w="12700">
            <a:solidFill>
              <a:srgbClr val="1B2A4A"/>
            </a:solidFill>
            <a:prstDash val="solid"/>
          </a:ln>
        </p:spPr>
        <p:txBody>
          <a:bodyPr/>
          <a:lstStyle/>
          <a:p>
            <a:endParaRPr lang="en-PR"/>
          </a:p>
        </p:txBody>
      </p:sp>
      <p:sp>
        <p:nvSpPr>
          <p:cNvPr id="14" name="Text 12"/>
          <p:cNvSpPr txBox="1"/>
          <p:nvPr/>
        </p:nvSpPr>
        <p:spPr>
          <a:xfrm>
            <a:off x="4572000" y="3182112"/>
            <a:ext cx="3072384" cy="713232"/>
          </a:xfrm>
          <a:prstGeom prst="rect">
            <a:avLst/>
          </a:prstGeom>
          <a:noFill/>
          <a:ln/>
        </p:spPr>
        <p:txBody>
          <a:bodyPr wrap="square" lIns="0" tIns="0" rIns="0" bIns="0" rtlCol="0" anchor="t"/>
          <a:lstStyle/>
          <a:p>
            <a:pPr marL="0" indent="0">
              <a:lnSpc>
                <a:spcPts val="2500"/>
              </a:lnSpc>
              <a:buNone/>
            </a:pPr>
            <a:r>
              <a:rPr lang="en-US" sz="2000" b="1" dirty="0">
                <a:solidFill>
                  <a:srgbClr val="1B2A4A"/>
                </a:solidFill>
                <a:latin typeface="Cambria" pitchFamily="34" charset="0"/>
                <a:ea typeface="Cambria" pitchFamily="34" charset="-122"/>
                <a:cs typeface="Cambria" pitchFamily="34" charset="-120"/>
              </a:rPr>
              <a:t>Edad mínima de 13 años</a:t>
            </a:r>
            <a:endParaRPr lang="en-US" sz="2000" dirty="0"/>
          </a:p>
        </p:txBody>
      </p:sp>
      <p:sp>
        <p:nvSpPr>
          <p:cNvPr id="15" name="Text 13"/>
          <p:cNvSpPr txBox="1"/>
          <p:nvPr/>
        </p:nvSpPr>
        <p:spPr>
          <a:xfrm>
            <a:off x="4572000" y="3931920"/>
            <a:ext cx="3090672" cy="1243584"/>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Para estudiantes menores de 13 años o con rezago, el DEPR orienta hacia los Learning Accelerators de Microsoft.</a:t>
            </a:r>
            <a:endParaRPr lang="en-US" sz="1700" dirty="0"/>
          </a:p>
        </p:txBody>
      </p:sp>
      <p:sp>
        <p:nvSpPr>
          <p:cNvPr id="16" name="Shape 14"/>
          <p:cNvSpPr/>
          <p:nvPr/>
        </p:nvSpPr>
        <p:spPr>
          <a:xfrm>
            <a:off x="8065008" y="2779776"/>
            <a:ext cx="3538728" cy="2523744"/>
          </a:xfrm>
          <a:prstGeom prst="roundRect">
            <a:avLst>
              <a:gd name="adj" fmla="val 3261"/>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7" name="Shape 15"/>
          <p:cNvSpPr/>
          <p:nvPr/>
        </p:nvSpPr>
        <p:spPr>
          <a:xfrm>
            <a:off x="8321040" y="3017520"/>
            <a:ext cx="438912" cy="54864"/>
          </a:xfrm>
          <a:prstGeom prst="rect">
            <a:avLst/>
          </a:prstGeom>
          <a:solidFill>
            <a:srgbClr val="C9A227"/>
          </a:solidFill>
          <a:ln w="12700">
            <a:solidFill>
              <a:srgbClr val="C9A227"/>
            </a:solidFill>
            <a:prstDash val="solid"/>
          </a:ln>
        </p:spPr>
        <p:txBody>
          <a:bodyPr/>
          <a:lstStyle/>
          <a:p>
            <a:endParaRPr lang="en-PR"/>
          </a:p>
        </p:txBody>
      </p:sp>
      <p:sp>
        <p:nvSpPr>
          <p:cNvPr id="18" name="Text 16"/>
          <p:cNvSpPr txBox="1"/>
          <p:nvPr/>
        </p:nvSpPr>
        <p:spPr>
          <a:xfrm>
            <a:off x="8321040" y="3182112"/>
            <a:ext cx="3072384" cy="713232"/>
          </a:xfrm>
          <a:prstGeom prst="rect">
            <a:avLst/>
          </a:prstGeom>
          <a:noFill/>
          <a:ln/>
        </p:spPr>
        <p:txBody>
          <a:bodyPr wrap="square" lIns="0" tIns="0" rIns="0" bIns="0" rtlCol="0" anchor="t"/>
          <a:lstStyle/>
          <a:p>
            <a:pPr marL="0" indent="0">
              <a:lnSpc>
                <a:spcPts val="2500"/>
              </a:lnSpc>
              <a:buNone/>
            </a:pPr>
            <a:r>
              <a:rPr lang="en-US" sz="2000" b="1" dirty="0">
                <a:solidFill>
                  <a:srgbClr val="1B2A4A"/>
                </a:solidFill>
                <a:latin typeface="Cambria" pitchFamily="34" charset="0"/>
                <a:ea typeface="Cambria" pitchFamily="34" charset="-122"/>
                <a:cs typeface="Cambria" pitchFamily="34" charset="-120"/>
              </a:rPr>
              <a:t>Uso siempre supervisado</a:t>
            </a:r>
            <a:endParaRPr lang="en-US" sz="2000" dirty="0"/>
          </a:p>
        </p:txBody>
      </p:sp>
      <p:sp>
        <p:nvSpPr>
          <p:cNvPr id="19" name="Text 17"/>
          <p:cNvSpPr txBox="1"/>
          <p:nvPr/>
        </p:nvSpPr>
        <p:spPr>
          <a:xfrm>
            <a:off x="8321040" y="3931920"/>
            <a:ext cx="3090672" cy="1243584"/>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La guía prohíbe el uso no supervisado. El docente revisa las instrucciones dadas y las respuestas obtenidas.</a:t>
            </a:r>
            <a:endParaRPr lang="en-US" sz="1700" dirty="0"/>
          </a:p>
        </p:txBody>
      </p:sp>
      <p:sp>
        <p:nvSpPr>
          <p:cNvPr id="20" name="Text 18"/>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1" name="Text 19"/>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43</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LO PRIMERO QUE DEBE SABER</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Copilot: la herramienta autorizada por el DEPR (cont.)</a:t>
            </a:r>
            <a:endParaRPr lang="en-US" sz="3000" dirty="0"/>
          </a:p>
        </p:txBody>
      </p:sp>
      <p:sp>
        <p:nvSpPr>
          <p:cNvPr id="4" name="Shape 2"/>
          <p:cNvSpPr/>
          <p:nvPr/>
        </p:nvSpPr>
        <p:spPr>
          <a:xfrm>
            <a:off x="566928" y="1737360"/>
            <a:ext cx="3538728" cy="2523744"/>
          </a:xfrm>
          <a:prstGeom prst="roundRect">
            <a:avLst>
              <a:gd name="adj" fmla="val 3261"/>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22960" y="1975104"/>
            <a:ext cx="438912" cy="54864"/>
          </a:xfrm>
          <a:prstGeom prst="rect">
            <a:avLst/>
          </a:prstGeom>
          <a:solidFill>
            <a:srgbClr val="2A9D8F"/>
          </a:solidFill>
          <a:ln w="12700">
            <a:solidFill>
              <a:srgbClr val="2A9D8F"/>
            </a:solidFill>
            <a:prstDash val="solid"/>
          </a:ln>
        </p:spPr>
        <p:txBody>
          <a:bodyPr/>
          <a:lstStyle/>
          <a:p>
            <a:endParaRPr lang="en-PR"/>
          </a:p>
        </p:txBody>
      </p:sp>
      <p:sp>
        <p:nvSpPr>
          <p:cNvPr id="6" name="Text 4"/>
          <p:cNvSpPr txBox="1"/>
          <p:nvPr/>
        </p:nvSpPr>
        <p:spPr>
          <a:xfrm>
            <a:off x="822960" y="2139696"/>
            <a:ext cx="3072384" cy="713232"/>
          </a:xfrm>
          <a:prstGeom prst="rect">
            <a:avLst/>
          </a:prstGeom>
          <a:noFill/>
          <a:ln/>
        </p:spPr>
        <p:txBody>
          <a:bodyPr wrap="square" lIns="0" tIns="0" rIns="0" bIns="0" rtlCol="0" anchor="t"/>
          <a:lstStyle/>
          <a:p>
            <a:pPr marL="0" indent="0">
              <a:lnSpc>
                <a:spcPts val="2500"/>
              </a:lnSpc>
              <a:buNone/>
            </a:pPr>
            <a:r>
              <a:rPr lang="en-US" sz="2000" b="1" dirty="0">
                <a:solidFill>
                  <a:srgbClr val="1B2A4A"/>
                </a:solidFill>
                <a:latin typeface="Cambria" pitchFamily="34" charset="0"/>
                <a:ea typeface="Cambria" pitchFamily="34" charset="-122"/>
                <a:cs typeface="Cambria" pitchFamily="34" charset="-120"/>
              </a:rPr>
              <a:t>Protección de datos</a:t>
            </a:r>
            <a:endParaRPr lang="en-US" sz="2000" dirty="0"/>
          </a:p>
        </p:txBody>
      </p:sp>
      <p:sp>
        <p:nvSpPr>
          <p:cNvPr id="7" name="Text 5"/>
          <p:cNvSpPr txBox="1"/>
          <p:nvPr/>
        </p:nvSpPr>
        <p:spPr>
          <a:xfrm>
            <a:off x="822960" y="2889504"/>
            <a:ext cx="3090672" cy="1243584"/>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Los datos no salen del entorno institucional del mismo modo que en una cuenta gratuita de consumo.</a:t>
            </a:r>
            <a:endParaRPr lang="en-US" sz="1700" dirty="0"/>
          </a:p>
        </p:txBody>
      </p:sp>
      <p:sp>
        <p:nvSpPr>
          <p:cNvPr id="8" name="Shape 6"/>
          <p:cNvSpPr/>
          <p:nvPr/>
        </p:nvSpPr>
        <p:spPr>
          <a:xfrm>
            <a:off x="4315968" y="1737360"/>
            <a:ext cx="3538728" cy="2523744"/>
          </a:xfrm>
          <a:prstGeom prst="roundRect">
            <a:avLst>
              <a:gd name="adj" fmla="val 3261"/>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9" name="Shape 7"/>
          <p:cNvSpPr/>
          <p:nvPr/>
        </p:nvSpPr>
        <p:spPr>
          <a:xfrm>
            <a:off x="4572000" y="1975104"/>
            <a:ext cx="438912" cy="54864"/>
          </a:xfrm>
          <a:prstGeom prst="rect">
            <a:avLst/>
          </a:prstGeom>
          <a:solidFill>
            <a:srgbClr val="1B2A4A"/>
          </a:solidFill>
          <a:ln w="12700">
            <a:solidFill>
              <a:srgbClr val="1B2A4A"/>
            </a:solidFill>
            <a:prstDash val="solid"/>
          </a:ln>
        </p:spPr>
        <p:txBody>
          <a:bodyPr/>
          <a:lstStyle/>
          <a:p>
            <a:endParaRPr lang="en-PR"/>
          </a:p>
        </p:txBody>
      </p:sp>
      <p:sp>
        <p:nvSpPr>
          <p:cNvPr id="10" name="Text 8"/>
          <p:cNvSpPr txBox="1"/>
          <p:nvPr/>
        </p:nvSpPr>
        <p:spPr>
          <a:xfrm>
            <a:off x="4572000" y="2139696"/>
            <a:ext cx="3072384" cy="713232"/>
          </a:xfrm>
          <a:prstGeom prst="rect">
            <a:avLst/>
          </a:prstGeom>
          <a:noFill/>
          <a:ln/>
        </p:spPr>
        <p:txBody>
          <a:bodyPr wrap="square" lIns="0" tIns="0" rIns="0" bIns="0" rtlCol="0" anchor="t"/>
          <a:lstStyle/>
          <a:p>
            <a:pPr marL="0" indent="0">
              <a:lnSpc>
                <a:spcPts val="2500"/>
              </a:lnSpc>
              <a:buNone/>
            </a:pPr>
            <a:r>
              <a:rPr lang="en-US" sz="2000" b="1" dirty="0">
                <a:solidFill>
                  <a:srgbClr val="1B2A4A"/>
                </a:solidFill>
                <a:latin typeface="Cambria" pitchFamily="34" charset="0"/>
                <a:ea typeface="Cambria" pitchFamily="34" charset="-122"/>
                <a:cs typeface="Cambria" pitchFamily="34" charset="-120"/>
              </a:rPr>
              <a:t>Integrado al flujo de trabajo</a:t>
            </a:r>
            <a:endParaRPr lang="en-US" sz="2000" dirty="0"/>
          </a:p>
        </p:txBody>
      </p:sp>
      <p:sp>
        <p:nvSpPr>
          <p:cNvPr id="11" name="Text 9"/>
          <p:cNvSpPr txBox="1"/>
          <p:nvPr/>
        </p:nvSpPr>
        <p:spPr>
          <a:xfrm>
            <a:off x="4572000" y="2889504"/>
            <a:ext cx="3090672" cy="1243584"/>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Funciona dentro de Word, Excel, PowerPoint, Outlook y Teams, donde ya trabaja el docente.</a:t>
            </a:r>
            <a:endParaRPr lang="en-US" sz="1700" dirty="0"/>
          </a:p>
        </p:txBody>
      </p:sp>
      <p:sp>
        <p:nvSpPr>
          <p:cNvPr id="12" name="Shape 10"/>
          <p:cNvSpPr/>
          <p:nvPr/>
        </p:nvSpPr>
        <p:spPr>
          <a:xfrm>
            <a:off x="8065008" y="1737360"/>
            <a:ext cx="3538728" cy="2523744"/>
          </a:xfrm>
          <a:prstGeom prst="roundRect">
            <a:avLst>
              <a:gd name="adj" fmla="val 3261"/>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3" name="Shape 11"/>
          <p:cNvSpPr/>
          <p:nvPr/>
        </p:nvSpPr>
        <p:spPr>
          <a:xfrm>
            <a:off x="8321040" y="1975104"/>
            <a:ext cx="438912" cy="54864"/>
          </a:xfrm>
          <a:prstGeom prst="rect">
            <a:avLst/>
          </a:prstGeom>
          <a:solidFill>
            <a:srgbClr val="C9A227"/>
          </a:solidFill>
          <a:ln w="12700">
            <a:solidFill>
              <a:srgbClr val="C9A227"/>
            </a:solidFill>
            <a:prstDash val="solid"/>
          </a:ln>
        </p:spPr>
        <p:txBody>
          <a:bodyPr/>
          <a:lstStyle/>
          <a:p>
            <a:endParaRPr lang="en-PR"/>
          </a:p>
        </p:txBody>
      </p:sp>
      <p:sp>
        <p:nvSpPr>
          <p:cNvPr id="14" name="Text 12"/>
          <p:cNvSpPr txBox="1"/>
          <p:nvPr/>
        </p:nvSpPr>
        <p:spPr>
          <a:xfrm>
            <a:off x="8321040" y="2139696"/>
            <a:ext cx="3072384" cy="713232"/>
          </a:xfrm>
          <a:prstGeom prst="rect">
            <a:avLst/>
          </a:prstGeom>
          <a:noFill/>
          <a:ln/>
        </p:spPr>
        <p:txBody>
          <a:bodyPr wrap="square" lIns="0" tIns="0" rIns="0" bIns="0" rtlCol="0" anchor="t"/>
          <a:lstStyle/>
          <a:p>
            <a:pPr marL="0" indent="0">
              <a:lnSpc>
                <a:spcPts val="2500"/>
              </a:lnSpc>
              <a:buNone/>
            </a:pPr>
            <a:r>
              <a:rPr lang="en-US" sz="2000" b="1" dirty="0">
                <a:solidFill>
                  <a:srgbClr val="1B2A4A"/>
                </a:solidFill>
                <a:latin typeface="Cambria" pitchFamily="34" charset="0"/>
                <a:ea typeface="Cambria" pitchFamily="34" charset="-122"/>
                <a:cs typeface="Cambria" pitchFamily="34" charset="-120"/>
              </a:rPr>
              <a:t>Capacitación previa obligatoria</a:t>
            </a:r>
            <a:endParaRPr lang="en-US" sz="2000" dirty="0"/>
          </a:p>
        </p:txBody>
      </p:sp>
      <p:sp>
        <p:nvSpPr>
          <p:cNvPr id="15" name="Text 13"/>
          <p:cNvSpPr txBox="1"/>
          <p:nvPr/>
        </p:nvSpPr>
        <p:spPr>
          <a:xfrm>
            <a:off x="8321040" y="2889504"/>
            <a:ext cx="3090672" cy="1243584"/>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La política exige formar antes a estudiantes, docentes y familias. Este taller forma parte de ese requisito.</a:t>
            </a:r>
            <a:endParaRPr lang="en-US" sz="1700" dirty="0"/>
          </a:p>
        </p:txBody>
      </p:sp>
      <p:sp>
        <p:nvSpPr>
          <p:cNvPr id="16" name="Text 14"/>
          <p:cNvSpPr txBox="1"/>
          <p:nvPr/>
        </p:nvSpPr>
        <p:spPr>
          <a:xfrm>
            <a:off x="566928" y="5760720"/>
            <a:ext cx="11057839" cy="548640"/>
          </a:xfrm>
          <a:prstGeom prst="rect">
            <a:avLst/>
          </a:prstGeom>
          <a:noFill/>
          <a:ln/>
        </p:spPr>
        <p:txBody>
          <a:bodyPr wrap="square" lIns="0" tIns="0" rIns="0" bIns="0" rtlCol="0" anchor="t"/>
          <a:lstStyle/>
          <a:p>
            <a:pPr marL="0" indent="0">
              <a:lnSpc>
                <a:spcPts val="2100"/>
              </a:lnSpc>
              <a:buNone/>
            </a:pPr>
            <a:r>
              <a:rPr lang="en-US" sz="1600" i="1" dirty="0">
                <a:solidFill>
                  <a:srgbClr val="5A6478"/>
                </a:solidFill>
                <a:latin typeface="Calibri" pitchFamily="34" charset="0"/>
                <a:ea typeface="Calibri" pitchFamily="34" charset="-122"/>
                <a:cs typeface="Calibri" pitchFamily="34" charset="-120"/>
              </a:rPr>
              <a:t>Fuente: Departamento de Educación de Puerto Rico (2026). Guía para el uso de la inteligencia artificial en el aprendizaje estudiantil (14 de enero de 2026).</a:t>
            </a:r>
            <a:endParaRPr lang="en-US" sz="1600" dirty="0"/>
          </a:p>
        </p:txBody>
      </p:sp>
      <p:sp>
        <p:nvSpPr>
          <p:cNvPr id="17" name="Text 15"/>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8" name="Text 16"/>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44</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LISTA DE COTEJO DE CINCO PREGUNTAS</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Antes de adoptar cualquier herramienta</a:t>
            </a:r>
            <a:endParaRPr lang="en-US" sz="3000" dirty="0"/>
          </a:p>
        </p:txBody>
      </p:sp>
      <p:sp>
        <p:nvSpPr>
          <p:cNvPr id="4" name="Shape 2"/>
          <p:cNvSpPr/>
          <p:nvPr/>
        </p:nvSpPr>
        <p:spPr>
          <a:xfrm>
            <a:off x="566928" y="1600200"/>
            <a:ext cx="11057839" cy="1325880"/>
          </a:xfrm>
          <a:prstGeom prst="roundRect">
            <a:avLst>
              <a:gd name="adj" fmla="val 6207"/>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786384" y="1815084"/>
            <a:ext cx="566928" cy="566928"/>
          </a:xfrm>
          <a:prstGeom prst="ellipse">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81508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1536192" y="1746504"/>
            <a:ext cx="9869119"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¿Resuelve un problema real que yo tengo?</a:t>
            </a:r>
            <a:endParaRPr lang="en-US" sz="2000" dirty="0"/>
          </a:p>
        </p:txBody>
      </p:sp>
      <p:sp>
        <p:nvSpPr>
          <p:cNvPr id="8" name="Text 6"/>
          <p:cNvSpPr txBox="1"/>
          <p:nvPr/>
        </p:nvSpPr>
        <p:spPr>
          <a:xfrm>
            <a:off x="1536192" y="2148840"/>
            <a:ext cx="9869119" cy="649224"/>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Si la respuesta empieza con “sería interesante…”, no la adopte todavía. Empiece por una tarea que le consume tiempo cada semana.</a:t>
            </a:r>
            <a:endParaRPr lang="en-US" sz="1800" dirty="0"/>
          </a:p>
        </p:txBody>
      </p:sp>
      <p:sp>
        <p:nvSpPr>
          <p:cNvPr id="9" name="Shape 7"/>
          <p:cNvSpPr/>
          <p:nvPr/>
        </p:nvSpPr>
        <p:spPr>
          <a:xfrm>
            <a:off x="566928" y="3063240"/>
            <a:ext cx="11057839" cy="1325880"/>
          </a:xfrm>
          <a:prstGeom prst="roundRect">
            <a:avLst>
              <a:gd name="adj" fmla="val 6207"/>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10" name="Shape 8"/>
          <p:cNvSpPr/>
          <p:nvPr/>
        </p:nvSpPr>
        <p:spPr>
          <a:xfrm>
            <a:off x="786384" y="3278124"/>
            <a:ext cx="566928" cy="566928"/>
          </a:xfrm>
          <a:prstGeom prst="ellipse">
            <a:avLst/>
          </a:prstGeom>
          <a:solidFill>
            <a:srgbClr val="2A9D8F"/>
          </a:solidFill>
          <a:ln w="12700">
            <a:solidFill>
              <a:srgbClr val="2A9D8F"/>
            </a:solidFill>
            <a:prstDash val="solid"/>
          </a:ln>
        </p:spPr>
        <p:txBody>
          <a:bodyPr/>
          <a:lstStyle/>
          <a:p>
            <a:endParaRPr lang="en-PR"/>
          </a:p>
        </p:txBody>
      </p:sp>
      <p:sp>
        <p:nvSpPr>
          <p:cNvPr id="11" name="Text 9"/>
          <p:cNvSpPr txBox="1"/>
          <p:nvPr/>
        </p:nvSpPr>
        <p:spPr>
          <a:xfrm>
            <a:off x="786384" y="327812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txBox="1"/>
          <p:nvPr/>
        </p:nvSpPr>
        <p:spPr>
          <a:xfrm>
            <a:off x="1536192" y="3209544"/>
            <a:ext cx="9869119"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¿Qué datos pide y dónde los guarda?</a:t>
            </a:r>
            <a:endParaRPr lang="en-US" sz="2000" dirty="0"/>
          </a:p>
        </p:txBody>
      </p:sp>
      <p:sp>
        <p:nvSpPr>
          <p:cNvPr id="13" name="Text 11"/>
          <p:cNvSpPr txBox="1"/>
          <p:nvPr/>
        </p:nvSpPr>
        <p:spPr>
          <a:xfrm>
            <a:off x="1536192" y="3611880"/>
            <a:ext cx="9869119" cy="649224"/>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Busque la política de privacidad. Si no encuentra dónde se almacenan los datos ni por cuánto tiempo, eso ya es una respuesta.</a:t>
            </a:r>
            <a:endParaRPr lang="en-US" sz="1800" dirty="0"/>
          </a:p>
        </p:txBody>
      </p:sp>
      <p:sp>
        <p:nvSpPr>
          <p:cNvPr id="14" name="Shape 12"/>
          <p:cNvSpPr/>
          <p:nvPr/>
        </p:nvSpPr>
        <p:spPr>
          <a:xfrm>
            <a:off x="566928" y="4526280"/>
            <a:ext cx="11057839" cy="1325880"/>
          </a:xfrm>
          <a:prstGeom prst="roundRect">
            <a:avLst>
              <a:gd name="adj" fmla="val 6207"/>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5" name="Shape 13"/>
          <p:cNvSpPr/>
          <p:nvPr/>
        </p:nvSpPr>
        <p:spPr>
          <a:xfrm>
            <a:off x="786384" y="4741164"/>
            <a:ext cx="566928" cy="566928"/>
          </a:xfrm>
          <a:prstGeom prst="ellipse">
            <a:avLst/>
          </a:prstGeom>
          <a:solidFill>
            <a:srgbClr val="1B2A4A"/>
          </a:solidFill>
          <a:ln w="12700">
            <a:solidFill>
              <a:srgbClr val="1B2A4A"/>
            </a:solidFill>
            <a:prstDash val="solid"/>
          </a:ln>
        </p:spPr>
        <p:txBody>
          <a:bodyPr/>
          <a:lstStyle/>
          <a:p>
            <a:endParaRPr lang="en-PR"/>
          </a:p>
        </p:txBody>
      </p:sp>
      <p:sp>
        <p:nvSpPr>
          <p:cNvPr id="16" name="Text 14"/>
          <p:cNvSpPr txBox="1"/>
          <p:nvPr/>
        </p:nvSpPr>
        <p:spPr>
          <a:xfrm>
            <a:off x="786384" y="474116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txBox="1"/>
          <p:nvPr/>
        </p:nvSpPr>
        <p:spPr>
          <a:xfrm>
            <a:off x="1536192" y="4672584"/>
            <a:ext cx="9869119"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¿Cumple con FERPA y COPPA?</a:t>
            </a:r>
            <a:endParaRPr lang="en-US" sz="2000" dirty="0"/>
          </a:p>
        </p:txBody>
      </p:sp>
      <p:sp>
        <p:nvSpPr>
          <p:cNvPr id="18" name="Text 16"/>
          <p:cNvSpPr txBox="1"/>
          <p:nvPr/>
        </p:nvSpPr>
        <p:spPr>
          <a:xfrm>
            <a:off x="1536192" y="5074920"/>
            <a:ext cx="9869119" cy="649224"/>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Si la herramienta procesará información de estudiantes identificables, esta pregunta no es opcional.</a:t>
            </a:r>
            <a:endParaRPr lang="en-US" sz="1800" dirty="0"/>
          </a:p>
        </p:txBody>
      </p:sp>
      <p:sp>
        <p:nvSpPr>
          <p:cNvPr id="19" name="Text 17"/>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0" name="Text 18"/>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45</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LISTA DE COTEJO DE CINCO PREGUNTAS</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Antes de adoptar cualquier herramienta (cont.)</a:t>
            </a:r>
            <a:endParaRPr lang="en-US" sz="3000" dirty="0"/>
          </a:p>
        </p:txBody>
      </p:sp>
      <p:sp>
        <p:nvSpPr>
          <p:cNvPr id="4" name="Shape 2"/>
          <p:cNvSpPr/>
          <p:nvPr/>
        </p:nvSpPr>
        <p:spPr>
          <a:xfrm>
            <a:off x="566928" y="1600200"/>
            <a:ext cx="11057839" cy="1325880"/>
          </a:xfrm>
          <a:prstGeom prst="roundRect">
            <a:avLst>
              <a:gd name="adj" fmla="val 6207"/>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786384" y="1815084"/>
            <a:ext cx="566928" cy="566928"/>
          </a:xfrm>
          <a:prstGeom prst="ellipse">
            <a:avLst/>
          </a:prstGeom>
          <a:solidFill>
            <a:srgbClr val="2A9D8F"/>
          </a:solidFill>
          <a:ln w="12700">
            <a:solidFill>
              <a:srgbClr val="2A9D8F"/>
            </a:solidFill>
            <a:prstDash val="solid"/>
          </a:ln>
        </p:spPr>
        <p:txBody>
          <a:bodyPr/>
          <a:lstStyle/>
          <a:p>
            <a:endParaRPr lang="en-PR"/>
          </a:p>
        </p:txBody>
      </p:sp>
      <p:sp>
        <p:nvSpPr>
          <p:cNvPr id="6" name="Text 4"/>
          <p:cNvSpPr txBox="1"/>
          <p:nvPr/>
        </p:nvSpPr>
        <p:spPr>
          <a:xfrm>
            <a:off x="786384" y="181508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7" name="Text 5"/>
          <p:cNvSpPr txBox="1"/>
          <p:nvPr/>
        </p:nvSpPr>
        <p:spPr>
          <a:xfrm>
            <a:off x="1536192" y="1746504"/>
            <a:ext cx="9869119"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¿Puedo verificar lo que produce?</a:t>
            </a:r>
            <a:endParaRPr lang="en-US" sz="2000" dirty="0"/>
          </a:p>
        </p:txBody>
      </p:sp>
      <p:sp>
        <p:nvSpPr>
          <p:cNvPr id="8" name="Text 6"/>
          <p:cNvSpPr txBox="1"/>
          <p:nvPr/>
        </p:nvSpPr>
        <p:spPr>
          <a:xfrm>
            <a:off x="1536192" y="2148840"/>
            <a:ext cx="9869119" cy="649224"/>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Si usted no domina el contenido lo suficiente como para detectar un error, no está en posición de usarla para ese fin.</a:t>
            </a:r>
            <a:endParaRPr lang="en-US" sz="1800" dirty="0"/>
          </a:p>
        </p:txBody>
      </p:sp>
      <p:sp>
        <p:nvSpPr>
          <p:cNvPr id="9" name="Shape 7"/>
          <p:cNvSpPr/>
          <p:nvPr/>
        </p:nvSpPr>
        <p:spPr>
          <a:xfrm>
            <a:off x="566928" y="3063240"/>
            <a:ext cx="11057839" cy="1325880"/>
          </a:xfrm>
          <a:prstGeom prst="roundRect">
            <a:avLst>
              <a:gd name="adj" fmla="val 6207"/>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0" name="Shape 8"/>
          <p:cNvSpPr/>
          <p:nvPr/>
        </p:nvSpPr>
        <p:spPr>
          <a:xfrm>
            <a:off x="786384" y="3278124"/>
            <a:ext cx="566928" cy="566928"/>
          </a:xfrm>
          <a:prstGeom prst="ellipse">
            <a:avLst/>
          </a:prstGeom>
          <a:solidFill>
            <a:srgbClr val="1B2A4A"/>
          </a:solidFill>
          <a:ln w="12700">
            <a:solidFill>
              <a:srgbClr val="1B2A4A"/>
            </a:solidFill>
            <a:prstDash val="solid"/>
          </a:ln>
        </p:spPr>
        <p:txBody>
          <a:bodyPr/>
          <a:lstStyle/>
          <a:p>
            <a:endParaRPr lang="en-PR"/>
          </a:p>
        </p:txBody>
      </p:sp>
      <p:sp>
        <p:nvSpPr>
          <p:cNvPr id="11" name="Text 9"/>
          <p:cNvSpPr txBox="1"/>
          <p:nvPr/>
        </p:nvSpPr>
        <p:spPr>
          <a:xfrm>
            <a:off x="786384" y="327812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12" name="Text 10"/>
          <p:cNvSpPr txBox="1"/>
          <p:nvPr/>
        </p:nvSpPr>
        <p:spPr>
          <a:xfrm>
            <a:off x="1536192" y="3209544"/>
            <a:ext cx="9869119"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¿Qué pasa si mañana desaparece o empieza a cobrar?</a:t>
            </a:r>
            <a:endParaRPr lang="en-US" sz="2000" dirty="0"/>
          </a:p>
        </p:txBody>
      </p:sp>
      <p:sp>
        <p:nvSpPr>
          <p:cNvPr id="13" name="Text 11"/>
          <p:cNvSpPr txBox="1"/>
          <p:nvPr/>
        </p:nvSpPr>
        <p:spPr>
          <a:xfrm>
            <a:off x="1536192" y="3611880"/>
            <a:ext cx="9869119" cy="649224"/>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Muchas herramientas educativas de IA cierran o cambian de modelo de negocio en menos de dos años. No construya su curso sobre una sola.</a:t>
            </a:r>
            <a:endParaRPr lang="en-US" sz="1800" dirty="0"/>
          </a:p>
        </p:txBody>
      </p:sp>
      <p:sp>
        <p:nvSpPr>
          <p:cNvPr id="14" name="Text 12"/>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5" name="Text 13"/>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46</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HERRAMIENTAS · 1 DE 5</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Planificación y creación de recursos</a:t>
            </a:r>
            <a:endParaRPr lang="en-US" sz="3000" dirty="0"/>
          </a:p>
        </p:txBody>
      </p:sp>
      <p:sp>
        <p:nvSpPr>
          <p:cNvPr id="4" name="Shape 2"/>
          <p:cNvSpPr/>
          <p:nvPr/>
        </p:nvSpPr>
        <p:spPr>
          <a:xfrm>
            <a:off x="566928" y="1536192"/>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04672" y="1792224"/>
            <a:ext cx="621792" cy="621792"/>
          </a:xfrm>
          <a:prstGeom prst="roundRect">
            <a:avLst>
              <a:gd name="adj" fmla="val 19118"/>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04672" y="1792224"/>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M</a:t>
            </a:r>
            <a:endParaRPr lang="en-US" sz="2600" dirty="0"/>
          </a:p>
        </p:txBody>
      </p:sp>
      <p:sp>
        <p:nvSpPr>
          <p:cNvPr id="7" name="Text 5"/>
          <p:cNvSpPr txBox="1"/>
          <p:nvPr/>
        </p:nvSpPr>
        <p:spPr>
          <a:xfrm>
            <a:off x="1609344" y="1737360"/>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MagicSchool</a:t>
            </a:r>
            <a:endParaRPr lang="en-US" sz="2000" dirty="0"/>
          </a:p>
        </p:txBody>
      </p:sp>
      <p:sp>
        <p:nvSpPr>
          <p:cNvPr id="8" name="Text 6"/>
          <p:cNvSpPr txBox="1"/>
          <p:nvPr/>
        </p:nvSpPr>
        <p:spPr>
          <a:xfrm>
            <a:off x="1609344" y="2121408"/>
            <a:ext cx="4133088" cy="310896"/>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magicschool.ai · plan gratuito para docentes</a:t>
            </a:r>
            <a:endParaRPr lang="en-US" sz="1600" dirty="0"/>
          </a:p>
        </p:txBody>
      </p:sp>
      <p:sp>
        <p:nvSpPr>
          <p:cNvPr id="9" name="Text 7"/>
          <p:cNvSpPr txBox="1"/>
          <p:nvPr/>
        </p:nvSpPr>
        <p:spPr>
          <a:xfrm>
            <a:off x="1609344" y="2468880"/>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Más de 80 generadores: planes de clase, rúbricas, cartas a familias, actividades y avalúos.</a:t>
            </a:r>
            <a:endParaRPr lang="en-US" sz="1700" dirty="0"/>
          </a:p>
        </p:txBody>
      </p:sp>
      <p:sp>
        <p:nvSpPr>
          <p:cNvPr id="10" name="Shape 8"/>
          <p:cNvSpPr/>
          <p:nvPr/>
        </p:nvSpPr>
        <p:spPr>
          <a:xfrm>
            <a:off x="6190488" y="1536192"/>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1" name="Shape 9"/>
          <p:cNvSpPr/>
          <p:nvPr/>
        </p:nvSpPr>
        <p:spPr>
          <a:xfrm>
            <a:off x="6428232" y="1792224"/>
            <a:ext cx="621792" cy="621792"/>
          </a:xfrm>
          <a:prstGeom prst="roundRect">
            <a:avLst>
              <a:gd name="adj" fmla="val 19118"/>
            </a:avLst>
          </a:prstGeom>
          <a:solidFill>
            <a:srgbClr val="2A9D8F"/>
          </a:solidFill>
          <a:ln w="12700">
            <a:solidFill>
              <a:srgbClr val="2A9D8F"/>
            </a:solidFill>
            <a:prstDash val="solid"/>
          </a:ln>
        </p:spPr>
        <p:txBody>
          <a:bodyPr/>
          <a:lstStyle/>
          <a:p>
            <a:endParaRPr lang="en-PR"/>
          </a:p>
        </p:txBody>
      </p:sp>
      <p:sp>
        <p:nvSpPr>
          <p:cNvPr id="12" name="Text 10"/>
          <p:cNvSpPr txBox="1"/>
          <p:nvPr/>
        </p:nvSpPr>
        <p:spPr>
          <a:xfrm>
            <a:off x="6428232" y="1792224"/>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B</a:t>
            </a:r>
            <a:endParaRPr lang="en-US" sz="2600" dirty="0"/>
          </a:p>
        </p:txBody>
      </p:sp>
      <p:sp>
        <p:nvSpPr>
          <p:cNvPr id="13" name="Text 11"/>
          <p:cNvSpPr txBox="1"/>
          <p:nvPr/>
        </p:nvSpPr>
        <p:spPr>
          <a:xfrm>
            <a:off x="7232904" y="1737360"/>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Brisk Teaching</a:t>
            </a:r>
            <a:endParaRPr lang="en-US" sz="2000" dirty="0"/>
          </a:p>
        </p:txBody>
      </p:sp>
      <p:sp>
        <p:nvSpPr>
          <p:cNvPr id="14" name="Text 12"/>
          <p:cNvSpPr txBox="1"/>
          <p:nvPr/>
        </p:nvSpPr>
        <p:spPr>
          <a:xfrm>
            <a:off x="7232904" y="2121408"/>
            <a:ext cx="4133088" cy="310896"/>
          </a:xfrm>
          <a:prstGeom prst="rect">
            <a:avLst/>
          </a:prstGeom>
          <a:noFill/>
          <a:ln/>
        </p:spPr>
        <p:txBody>
          <a:bodyPr wrap="square" lIns="0" tIns="0" rIns="0" bIns="0" rtlCol="0" anchor="ctr"/>
          <a:lstStyle/>
          <a:p>
            <a:pPr marL="0" indent="0">
              <a:buNone/>
            </a:pPr>
            <a:r>
              <a:rPr lang="en-US" sz="1600" b="1" dirty="0">
                <a:solidFill>
                  <a:srgbClr val="2A9D8F"/>
                </a:solidFill>
                <a:latin typeface="Calibri" pitchFamily="34" charset="0"/>
                <a:ea typeface="Calibri" pitchFamily="34" charset="-122"/>
                <a:cs typeface="Calibri" pitchFamily="34" charset="-120"/>
              </a:rPr>
              <a:t>briskteaching.com · extensión de navegador</a:t>
            </a:r>
            <a:endParaRPr lang="en-US" sz="1600" dirty="0"/>
          </a:p>
        </p:txBody>
      </p:sp>
      <p:sp>
        <p:nvSpPr>
          <p:cNvPr id="15" name="Text 13"/>
          <p:cNvSpPr txBox="1"/>
          <p:nvPr/>
        </p:nvSpPr>
        <p:spPr>
          <a:xfrm>
            <a:off x="7232904" y="2468880"/>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Trabaja dentro de Google Docs y Microsoft: crea, retroalimenta y ajusta nivel sin salir del documento.</a:t>
            </a:r>
            <a:endParaRPr lang="en-US" sz="1700" dirty="0"/>
          </a:p>
        </p:txBody>
      </p:sp>
      <p:sp>
        <p:nvSpPr>
          <p:cNvPr id="16" name="Shape 14"/>
          <p:cNvSpPr/>
          <p:nvPr/>
        </p:nvSpPr>
        <p:spPr>
          <a:xfrm>
            <a:off x="566928" y="3529584"/>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7" name="Shape 15"/>
          <p:cNvSpPr/>
          <p:nvPr/>
        </p:nvSpPr>
        <p:spPr>
          <a:xfrm>
            <a:off x="804672" y="3785616"/>
            <a:ext cx="621792" cy="621792"/>
          </a:xfrm>
          <a:prstGeom prst="roundRect">
            <a:avLst>
              <a:gd name="adj" fmla="val 19118"/>
            </a:avLst>
          </a:prstGeom>
          <a:solidFill>
            <a:srgbClr val="C9A227"/>
          </a:solidFill>
          <a:ln w="12700">
            <a:solidFill>
              <a:srgbClr val="C9A227"/>
            </a:solidFill>
            <a:prstDash val="solid"/>
          </a:ln>
        </p:spPr>
        <p:txBody>
          <a:bodyPr/>
          <a:lstStyle/>
          <a:p>
            <a:endParaRPr lang="en-PR"/>
          </a:p>
        </p:txBody>
      </p:sp>
      <p:sp>
        <p:nvSpPr>
          <p:cNvPr id="18" name="Text 16"/>
          <p:cNvSpPr txBox="1"/>
          <p:nvPr/>
        </p:nvSpPr>
        <p:spPr>
          <a:xfrm>
            <a:off x="804672" y="3785616"/>
            <a:ext cx="621792" cy="621792"/>
          </a:xfrm>
          <a:prstGeom prst="rect">
            <a:avLst/>
          </a:prstGeom>
          <a:noFill/>
          <a:ln/>
        </p:spPr>
        <p:txBody>
          <a:bodyPr wrap="square" lIns="0" tIns="0" rIns="0" bIns="0" rtlCol="0" anchor="ctr"/>
          <a:lstStyle/>
          <a:p>
            <a:pPr marL="0" indent="0" algn="ctr">
              <a:buNone/>
            </a:pPr>
            <a:r>
              <a:rPr lang="en-US" sz="2600" b="1" dirty="0">
                <a:solidFill>
                  <a:srgbClr val="1B2A4A"/>
                </a:solidFill>
                <a:latin typeface="Cambria" pitchFamily="34" charset="0"/>
                <a:ea typeface="Cambria" pitchFamily="34" charset="-122"/>
                <a:cs typeface="Cambria" pitchFamily="34" charset="-120"/>
              </a:rPr>
              <a:t>E</a:t>
            </a:r>
            <a:endParaRPr lang="en-US" sz="2600" dirty="0"/>
          </a:p>
        </p:txBody>
      </p:sp>
      <p:sp>
        <p:nvSpPr>
          <p:cNvPr id="19" name="Text 17"/>
          <p:cNvSpPr txBox="1"/>
          <p:nvPr/>
        </p:nvSpPr>
        <p:spPr>
          <a:xfrm>
            <a:off x="1609344" y="3730752"/>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Eduaide.AI</a:t>
            </a:r>
            <a:endParaRPr lang="en-US" sz="2000" dirty="0"/>
          </a:p>
        </p:txBody>
      </p:sp>
      <p:sp>
        <p:nvSpPr>
          <p:cNvPr id="20" name="Text 18"/>
          <p:cNvSpPr txBox="1"/>
          <p:nvPr/>
        </p:nvSpPr>
        <p:spPr>
          <a:xfrm>
            <a:off x="1609344" y="4114800"/>
            <a:ext cx="4133088" cy="310896"/>
          </a:xfrm>
          <a:prstGeom prst="rect">
            <a:avLst/>
          </a:prstGeom>
          <a:noFill/>
          <a:ln/>
        </p:spPr>
        <p:txBody>
          <a:bodyPr wrap="square" lIns="0" tIns="0" rIns="0" bIns="0" rtlCol="0" anchor="ctr"/>
          <a:lstStyle/>
          <a:p>
            <a:pPr marL="0" indent="0">
              <a:buNone/>
            </a:pPr>
            <a:r>
              <a:rPr lang="en-US" sz="1600" b="1" dirty="0">
                <a:solidFill>
                  <a:srgbClr val="9A7B15"/>
                </a:solidFill>
                <a:latin typeface="Calibri" pitchFamily="34" charset="0"/>
                <a:ea typeface="Calibri" pitchFamily="34" charset="-122"/>
                <a:cs typeface="Calibri" pitchFamily="34" charset="-120"/>
              </a:rPr>
              <a:t>eduaide.ai</a:t>
            </a:r>
            <a:endParaRPr lang="en-US" sz="1600" dirty="0"/>
          </a:p>
        </p:txBody>
      </p:sp>
      <p:sp>
        <p:nvSpPr>
          <p:cNvPr id="21" name="Text 19"/>
          <p:cNvSpPr txBox="1"/>
          <p:nvPr/>
        </p:nvSpPr>
        <p:spPr>
          <a:xfrm>
            <a:off x="1609344" y="4462272"/>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Espacio de trabajo con más de un centenar de tipos de recurso y asistente de retroalimentación.</a:t>
            </a:r>
            <a:endParaRPr lang="en-US" sz="1700" dirty="0"/>
          </a:p>
        </p:txBody>
      </p:sp>
      <p:sp>
        <p:nvSpPr>
          <p:cNvPr id="22" name="Shape 20"/>
          <p:cNvSpPr/>
          <p:nvPr/>
        </p:nvSpPr>
        <p:spPr>
          <a:xfrm>
            <a:off x="6190488" y="3529584"/>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23" name="Shape 21"/>
          <p:cNvSpPr/>
          <p:nvPr/>
        </p:nvSpPr>
        <p:spPr>
          <a:xfrm>
            <a:off x="6428232" y="3785616"/>
            <a:ext cx="621792" cy="621792"/>
          </a:xfrm>
          <a:prstGeom prst="roundRect">
            <a:avLst>
              <a:gd name="adj" fmla="val 19118"/>
            </a:avLst>
          </a:prstGeom>
          <a:solidFill>
            <a:srgbClr val="8E44AD"/>
          </a:solidFill>
          <a:ln w="12700">
            <a:solidFill>
              <a:srgbClr val="8E44AD"/>
            </a:solidFill>
            <a:prstDash val="solid"/>
          </a:ln>
        </p:spPr>
        <p:txBody>
          <a:bodyPr/>
          <a:lstStyle/>
          <a:p>
            <a:endParaRPr lang="en-PR"/>
          </a:p>
        </p:txBody>
      </p:sp>
      <p:sp>
        <p:nvSpPr>
          <p:cNvPr id="24" name="Text 22"/>
          <p:cNvSpPr txBox="1"/>
          <p:nvPr/>
        </p:nvSpPr>
        <p:spPr>
          <a:xfrm>
            <a:off x="6428232" y="3785616"/>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K</a:t>
            </a:r>
            <a:endParaRPr lang="en-US" sz="2600" dirty="0"/>
          </a:p>
        </p:txBody>
      </p:sp>
      <p:sp>
        <p:nvSpPr>
          <p:cNvPr id="25" name="Text 23"/>
          <p:cNvSpPr txBox="1"/>
          <p:nvPr/>
        </p:nvSpPr>
        <p:spPr>
          <a:xfrm>
            <a:off x="7232904" y="3730752"/>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Khanmigo para docentes</a:t>
            </a:r>
            <a:endParaRPr lang="en-US" sz="2000" dirty="0"/>
          </a:p>
        </p:txBody>
      </p:sp>
      <p:sp>
        <p:nvSpPr>
          <p:cNvPr id="26" name="Text 24"/>
          <p:cNvSpPr txBox="1"/>
          <p:nvPr/>
        </p:nvSpPr>
        <p:spPr>
          <a:xfrm>
            <a:off x="7232904" y="4114800"/>
            <a:ext cx="4133088" cy="310896"/>
          </a:xfrm>
          <a:prstGeom prst="rect">
            <a:avLst/>
          </a:prstGeom>
          <a:noFill/>
          <a:ln/>
        </p:spPr>
        <p:txBody>
          <a:bodyPr wrap="square" lIns="0" tIns="0" rIns="0" bIns="0" rtlCol="0" anchor="ctr"/>
          <a:lstStyle/>
          <a:p>
            <a:pPr marL="0" indent="0">
              <a:buNone/>
            </a:pPr>
            <a:r>
              <a:rPr lang="en-US" sz="1600" b="1" dirty="0">
                <a:solidFill>
                  <a:srgbClr val="8E44AD"/>
                </a:solidFill>
                <a:latin typeface="Calibri" pitchFamily="34" charset="0"/>
                <a:ea typeface="Calibri" pitchFamily="34" charset="-122"/>
                <a:cs typeface="Calibri" pitchFamily="34" charset="-120"/>
              </a:rPr>
              <a:t>khanmigo.ai · gratuito para educadores</a:t>
            </a:r>
            <a:endParaRPr lang="en-US" sz="1600" dirty="0"/>
          </a:p>
        </p:txBody>
      </p:sp>
      <p:sp>
        <p:nvSpPr>
          <p:cNvPr id="27" name="Text 25"/>
          <p:cNvSpPr txBox="1"/>
          <p:nvPr/>
        </p:nvSpPr>
        <p:spPr>
          <a:xfrm>
            <a:off x="7232904" y="4462272"/>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Gratuito para maestros mediante la alianza Khan Academy–Microsoft. Alineado a estándares.</a:t>
            </a:r>
            <a:endParaRPr lang="en-US" sz="1700" dirty="0"/>
          </a:p>
        </p:txBody>
      </p:sp>
      <p:sp>
        <p:nvSpPr>
          <p:cNvPr id="28" name="Text 26"/>
          <p:cNvSpPr txBox="1"/>
          <p:nvPr/>
        </p:nvSpPr>
        <p:spPr>
          <a:xfrm>
            <a:off x="566928" y="5760720"/>
            <a:ext cx="11057839" cy="548640"/>
          </a:xfrm>
          <a:prstGeom prst="rect">
            <a:avLst/>
          </a:prstGeom>
          <a:noFill/>
          <a:ln/>
        </p:spPr>
        <p:txBody>
          <a:bodyPr wrap="square" lIns="0" tIns="0" rIns="0" bIns="0" rtlCol="0" anchor="t"/>
          <a:lstStyle/>
          <a:p>
            <a:pPr marL="0" indent="0">
              <a:lnSpc>
                <a:spcPts val="2100"/>
              </a:lnSpc>
              <a:buNone/>
            </a:pPr>
            <a:r>
              <a:rPr lang="en-US" sz="1600" i="1" dirty="0">
                <a:solidFill>
                  <a:srgbClr val="5A6478"/>
                </a:solidFill>
                <a:latin typeface="Calibri" pitchFamily="34" charset="0"/>
                <a:ea typeface="Calibri" pitchFamily="34" charset="-122"/>
                <a:cs typeface="Calibri" pitchFamily="34" charset="-120"/>
              </a:rPr>
              <a:t>Verificado en septiembre de 2026. Todas ofrecen algún nivel de acceso gratuito para docentes; confirme siempre la política vigente antes de registrar a estudiantes.</a:t>
            </a:r>
            <a:endParaRPr lang="en-US" sz="1600" dirty="0"/>
          </a:p>
        </p:txBody>
      </p:sp>
      <p:sp>
        <p:nvSpPr>
          <p:cNvPr id="29" name="Text 27"/>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30" name="Text 28"/>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47</a:t>
            </a:r>
            <a:endParaRPr 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HERRAMIENTAS · 2 DE 5</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Diferenciación y accesibilidad</a:t>
            </a:r>
            <a:endParaRPr lang="en-US" sz="3000" dirty="0"/>
          </a:p>
        </p:txBody>
      </p:sp>
      <p:sp>
        <p:nvSpPr>
          <p:cNvPr id="4" name="Shape 2"/>
          <p:cNvSpPr/>
          <p:nvPr/>
        </p:nvSpPr>
        <p:spPr>
          <a:xfrm>
            <a:off x="566928" y="1536192"/>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04672" y="1792224"/>
            <a:ext cx="621792" cy="621792"/>
          </a:xfrm>
          <a:prstGeom prst="roundRect">
            <a:avLst>
              <a:gd name="adj" fmla="val 19118"/>
            </a:avLst>
          </a:prstGeom>
          <a:solidFill>
            <a:srgbClr val="2A9D8F"/>
          </a:solidFill>
          <a:ln w="12700">
            <a:solidFill>
              <a:srgbClr val="2A9D8F"/>
            </a:solidFill>
            <a:prstDash val="solid"/>
          </a:ln>
        </p:spPr>
        <p:txBody>
          <a:bodyPr/>
          <a:lstStyle/>
          <a:p>
            <a:endParaRPr lang="en-PR"/>
          </a:p>
        </p:txBody>
      </p:sp>
      <p:sp>
        <p:nvSpPr>
          <p:cNvPr id="6" name="Text 4"/>
          <p:cNvSpPr txBox="1"/>
          <p:nvPr/>
        </p:nvSpPr>
        <p:spPr>
          <a:xfrm>
            <a:off x="804672" y="1792224"/>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D</a:t>
            </a:r>
            <a:endParaRPr lang="en-US" sz="2600" dirty="0"/>
          </a:p>
        </p:txBody>
      </p:sp>
      <p:sp>
        <p:nvSpPr>
          <p:cNvPr id="7" name="Text 5"/>
          <p:cNvSpPr txBox="1"/>
          <p:nvPr/>
        </p:nvSpPr>
        <p:spPr>
          <a:xfrm>
            <a:off x="1609344" y="1737360"/>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Diffit</a:t>
            </a:r>
            <a:endParaRPr lang="en-US" sz="2000" dirty="0"/>
          </a:p>
        </p:txBody>
      </p:sp>
      <p:sp>
        <p:nvSpPr>
          <p:cNvPr id="8" name="Text 6"/>
          <p:cNvSpPr txBox="1"/>
          <p:nvPr/>
        </p:nvSpPr>
        <p:spPr>
          <a:xfrm>
            <a:off x="1609344" y="2121408"/>
            <a:ext cx="4133088" cy="310896"/>
          </a:xfrm>
          <a:prstGeom prst="rect">
            <a:avLst/>
          </a:prstGeom>
          <a:noFill/>
          <a:ln/>
        </p:spPr>
        <p:txBody>
          <a:bodyPr wrap="square" lIns="0" tIns="0" rIns="0" bIns="0" rtlCol="0" anchor="ctr"/>
          <a:lstStyle/>
          <a:p>
            <a:pPr marL="0" indent="0">
              <a:buNone/>
            </a:pPr>
            <a:r>
              <a:rPr lang="en-US" sz="1600" b="1" dirty="0">
                <a:solidFill>
                  <a:srgbClr val="2A9D8F"/>
                </a:solidFill>
                <a:latin typeface="Calibri" pitchFamily="34" charset="0"/>
                <a:ea typeface="Calibri" pitchFamily="34" charset="-122"/>
                <a:cs typeface="Calibri" pitchFamily="34" charset="-120"/>
              </a:rPr>
              <a:t>diffit.me</a:t>
            </a:r>
            <a:endParaRPr lang="en-US" sz="1600" dirty="0"/>
          </a:p>
        </p:txBody>
      </p:sp>
      <p:sp>
        <p:nvSpPr>
          <p:cNvPr id="9" name="Text 7"/>
          <p:cNvSpPr txBox="1"/>
          <p:nvPr/>
        </p:nvSpPr>
        <p:spPr>
          <a:xfrm>
            <a:off x="1609344" y="2468880"/>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Adapta cualquier texto, artículo o video al nivel de lectura del estudiante y genera preguntas asociadas.</a:t>
            </a:r>
            <a:endParaRPr lang="en-US" sz="1700" dirty="0"/>
          </a:p>
        </p:txBody>
      </p:sp>
      <p:sp>
        <p:nvSpPr>
          <p:cNvPr id="10" name="Shape 8"/>
          <p:cNvSpPr/>
          <p:nvPr/>
        </p:nvSpPr>
        <p:spPr>
          <a:xfrm>
            <a:off x="6190488" y="1536192"/>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1" name="Shape 9"/>
          <p:cNvSpPr/>
          <p:nvPr/>
        </p:nvSpPr>
        <p:spPr>
          <a:xfrm>
            <a:off x="6428232" y="1792224"/>
            <a:ext cx="621792" cy="621792"/>
          </a:xfrm>
          <a:prstGeom prst="roundRect">
            <a:avLst>
              <a:gd name="adj" fmla="val 19118"/>
            </a:avLst>
          </a:prstGeom>
          <a:solidFill>
            <a:srgbClr val="1B2A4A"/>
          </a:solidFill>
          <a:ln w="12700">
            <a:solidFill>
              <a:srgbClr val="1B2A4A"/>
            </a:solidFill>
            <a:prstDash val="solid"/>
          </a:ln>
        </p:spPr>
        <p:txBody>
          <a:bodyPr/>
          <a:lstStyle/>
          <a:p>
            <a:endParaRPr lang="en-PR"/>
          </a:p>
        </p:txBody>
      </p:sp>
      <p:sp>
        <p:nvSpPr>
          <p:cNvPr id="12" name="Text 10"/>
          <p:cNvSpPr txBox="1"/>
          <p:nvPr/>
        </p:nvSpPr>
        <p:spPr>
          <a:xfrm>
            <a:off x="6428232" y="1792224"/>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B</a:t>
            </a:r>
            <a:endParaRPr lang="en-US" sz="2600" dirty="0"/>
          </a:p>
        </p:txBody>
      </p:sp>
      <p:sp>
        <p:nvSpPr>
          <p:cNvPr id="13" name="Text 11"/>
          <p:cNvSpPr txBox="1"/>
          <p:nvPr/>
        </p:nvSpPr>
        <p:spPr>
          <a:xfrm>
            <a:off x="7232904" y="1737360"/>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Brisk · Change Level</a:t>
            </a:r>
            <a:endParaRPr lang="en-US" sz="2000" dirty="0"/>
          </a:p>
        </p:txBody>
      </p:sp>
      <p:sp>
        <p:nvSpPr>
          <p:cNvPr id="14" name="Text 12"/>
          <p:cNvSpPr txBox="1"/>
          <p:nvPr/>
        </p:nvSpPr>
        <p:spPr>
          <a:xfrm>
            <a:off x="7232904" y="2121408"/>
            <a:ext cx="4133088" cy="310896"/>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briskteaching.com</a:t>
            </a:r>
            <a:endParaRPr lang="en-US" sz="1600" dirty="0"/>
          </a:p>
        </p:txBody>
      </p:sp>
      <p:sp>
        <p:nvSpPr>
          <p:cNvPr id="15" name="Text 13"/>
          <p:cNvSpPr txBox="1"/>
          <p:nvPr/>
        </p:nvSpPr>
        <p:spPr>
          <a:xfrm>
            <a:off x="7232904" y="2468880"/>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Reescribe un mismo texto en varios niveles de complejidad y traduce a más de 50 idiomas.</a:t>
            </a:r>
            <a:endParaRPr lang="en-US" sz="1700" dirty="0"/>
          </a:p>
        </p:txBody>
      </p:sp>
      <p:sp>
        <p:nvSpPr>
          <p:cNvPr id="16" name="Shape 14"/>
          <p:cNvSpPr/>
          <p:nvPr/>
        </p:nvSpPr>
        <p:spPr>
          <a:xfrm>
            <a:off x="566928" y="3529584"/>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7" name="Shape 15"/>
          <p:cNvSpPr/>
          <p:nvPr/>
        </p:nvSpPr>
        <p:spPr>
          <a:xfrm>
            <a:off x="804672" y="3785616"/>
            <a:ext cx="621792" cy="621792"/>
          </a:xfrm>
          <a:prstGeom prst="roundRect">
            <a:avLst>
              <a:gd name="adj" fmla="val 19118"/>
            </a:avLst>
          </a:prstGeom>
          <a:solidFill>
            <a:srgbClr val="C9A227"/>
          </a:solidFill>
          <a:ln w="12700">
            <a:solidFill>
              <a:srgbClr val="C9A227"/>
            </a:solidFill>
            <a:prstDash val="solid"/>
          </a:ln>
        </p:spPr>
        <p:txBody>
          <a:bodyPr/>
          <a:lstStyle/>
          <a:p>
            <a:endParaRPr lang="en-PR"/>
          </a:p>
        </p:txBody>
      </p:sp>
      <p:sp>
        <p:nvSpPr>
          <p:cNvPr id="18" name="Text 16"/>
          <p:cNvSpPr txBox="1"/>
          <p:nvPr/>
        </p:nvSpPr>
        <p:spPr>
          <a:xfrm>
            <a:off x="804672" y="3785616"/>
            <a:ext cx="621792" cy="621792"/>
          </a:xfrm>
          <a:prstGeom prst="rect">
            <a:avLst/>
          </a:prstGeom>
          <a:noFill/>
          <a:ln/>
        </p:spPr>
        <p:txBody>
          <a:bodyPr wrap="square" lIns="0" tIns="0" rIns="0" bIns="0" rtlCol="0" anchor="ctr"/>
          <a:lstStyle/>
          <a:p>
            <a:pPr marL="0" indent="0" algn="ctr">
              <a:buNone/>
            </a:pPr>
            <a:r>
              <a:rPr lang="en-US" sz="2600" b="1" dirty="0">
                <a:solidFill>
                  <a:srgbClr val="1B2A4A"/>
                </a:solidFill>
                <a:latin typeface="Cambria" pitchFamily="34" charset="0"/>
                <a:ea typeface="Cambria" pitchFamily="34" charset="-122"/>
                <a:cs typeface="Cambria" pitchFamily="34" charset="-120"/>
              </a:rPr>
              <a:t>S</a:t>
            </a:r>
            <a:endParaRPr lang="en-US" sz="2600" dirty="0"/>
          </a:p>
        </p:txBody>
      </p:sp>
      <p:sp>
        <p:nvSpPr>
          <p:cNvPr id="19" name="Text 17"/>
          <p:cNvSpPr txBox="1"/>
          <p:nvPr/>
        </p:nvSpPr>
        <p:spPr>
          <a:xfrm>
            <a:off x="1609344" y="3730752"/>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Speechify</a:t>
            </a:r>
            <a:endParaRPr lang="en-US" sz="2000" dirty="0"/>
          </a:p>
        </p:txBody>
      </p:sp>
      <p:sp>
        <p:nvSpPr>
          <p:cNvPr id="20" name="Text 18"/>
          <p:cNvSpPr txBox="1"/>
          <p:nvPr/>
        </p:nvSpPr>
        <p:spPr>
          <a:xfrm>
            <a:off x="1609344" y="4114800"/>
            <a:ext cx="4133088" cy="310896"/>
          </a:xfrm>
          <a:prstGeom prst="rect">
            <a:avLst/>
          </a:prstGeom>
          <a:noFill/>
          <a:ln/>
        </p:spPr>
        <p:txBody>
          <a:bodyPr wrap="square" lIns="0" tIns="0" rIns="0" bIns="0" rtlCol="0" anchor="ctr"/>
          <a:lstStyle/>
          <a:p>
            <a:pPr marL="0" indent="0">
              <a:buNone/>
            </a:pPr>
            <a:r>
              <a:rPr lang="en-US" sz="1600" b="1" dirty="0">
                <a:solidFill>
                  <a:srgbClr val="9A7B15"/>
                </a:solidFill>
                <a:latin typeface="Calibri" pitchFamily="34" charset="0"/>
                <a:ea typeface="Calibri" pitchFamily="34" charset="-122"/>
                <a:cs typeface="Calibri" pitchFamily="34" charset="-120"/>
              </a:rPr>
              <a:t>speechify.com</a:t>
            </a:r>
            <a:endParaRPr lang="en-US" sz="1600" dirty="0"/>
          </a:p>
        </p:txBody>
      </p:sp>
      <p:sp>
        <p:nvSpPr>
          <p:cNvPr id="21" name="Text 19"/>
          <p:cNvSpPr txBox="1"/>
          <p:nvPr/>
        </p:nvSpPr>
        <p:spPr>
          <a:xfrm>
            <a:off x="1609344" y="4462272"/>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Convierte texto en audio. Apoyo real para estudiantes con dislexia o dificultades de decodificación.</a:t>
            </a:r>
            <a:endParaRPr lang="en-US" sz="1700" dirty="0"/>
          </a:p>
        </p:txBody>
      </p:sp>
      <p:sp>
        <p:nvSpPr>
          <p:cNvPr id="22" name="Shape 20"/>
          <p:cNvSpPr/>
          <p:nvPr/>
        </p:nvSpPr>
        <p:spPr>
          <a:xfrm>
            <a:off x="6190488" y="3529584"/>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23" name="Shape 21"/>
          <p:cNvSpPr/>
          <p:nvPr/>
        </p:nvSpPr>
        <p:spPr>
          <a:xfrm>
            <a:off x="6428232" y="3785616"/>
            <a:ext cx="621792" cy="621792"/>
          </a:xfrm>
          <a:prstGeom prst="roundRect">
            <a:avLst>
              <a:gd name="adj" fmla="val 19118"/>
            </a:avLst>
          </a:prstGeom>
          <a:solidFill>
            <a:srgbClr val="8E44AD"/>
          </a:solidFill>
          <a:ln w="12700">
            <a:solidFill>
              <a:srgbClr val="8E44AD"/>
            </a:solidFill>
            <a:prstDash val="solid"/>
          </a:ln>
        </p:spPr>
        <p:txBody>
          <a:bodyPr/>
          <a:lstStyle/>
          <a:p>
            <a:endParaRPr lang="en-PR"/>
          </a:p>
        </p:txBody>
      </p:sp>
      <p:sp>
        <p:nvSpPr>
          <p:cNvPr id="24" name="Text 22"/>
          <p:cNvSpPr txBox="1"/>
          <p:nvPr/>
        </p:nvSpPr>
        <p:spPr>
          <a:xfrm>
            <a:off x="6428232" y="3785616"/>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S</a:t>
            </a:r>
            <a:endParaRPr lang="en-US" sz="2600" dirty="0"/>
          </a:p>
        </p:txBody>
      </p:sp>
      <p:sp>
        <p:nvSpPr>
          <p:cNvPr id="25" name="Text 23"/>
          <p:cNvSpPr txBox="1"/>
          <p:nvPr/>
        </p:nvSpPr>
        <p:spPr>
          <a:xfrm>
            <a:off x="7232904" y="3730752"/>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SchoolAI</a:t>
            </a:r>
            <a:endParaRPr lang="en-US" sz="2000" dirty="0"/>
          </a:p>
        </p:txBody>
      </p:sp>
      <p:sp>
        <p:nvSpPr>
          <p:cNvPr id="26" name="Text 24"/>
          <p:cNvSpPr txBox="1"/>
          <p:nvPr/>
        </p:nvSpPr>
        <p:spPr>
          <a:xfrm>
            <a:off x="7232904" y="4114800"/>
            <a:ext cx="4133088" cy="310896"/>
          </a:xfrm>
          <a:prstGeom prst="rect">
            <a:avLst/>
          </a:prstGeom>
          <a:noFill/>
          <a:ln/>
        </p:spPr>
        <p:txBody>
          <a:bodyPr wrap="square" lIns="0" tIns="0" rIns="0" bIns="0" rtlCol="0" anchor="ctr"/>
          <a:lstStyle/>
          <a:p>
            <a:pPr marL="0" indent="0">
              <a:buNone/>
            </a:pPr>
            <a:r>
              <a:rPr lang="en-US" sz="1600" b="1" dirty="0">
                <a:solidFill>
                  <a:srgbClr val="8E44AD"/>
                </a:solidFill>
                <a:latin typeface="Calibri" pitchFamily="34" charset="0"/>
                <a:ea typeface="Calibri" pitchFamily="34" charset="-122"/>
                <a:cs typeface="Calibri" pitchFamily="34" charset="-120"/>
              </a:rPr>
              <a:t>schoolai.com</a:t>
            </a:r>
            <a:endParaRPr lang="en-US" sz="1600" dirty="0"/>
          </a:p>
        </p:txBody>
      </p:sp>
      <p:sp>
        <p:nvSpPr>
          <p:cNvPr id="27" name="Text 25"/>
          <p:cNvSpPr txBox="1"/>
          <p:nvPr/>
        </p:nvSpPr>
        <p:spPr>
          <a:xfrm>
            <a:off x="7232904" y="4462272"/>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Espacios de IA supervisados por el docente, con panel de monitoreo y cumplimiento FERPA y COPPA.</a:t>
            </a:r>
            <a:endParaRPr lang="en-US" sz="1700" dirty="0"/>
          </a:p>
        </p:txBody>
      </p:sp>
      <p:sp>
        <p:nvSpPr>
          <p:cNvPr id="28" name="Text 26"/>
          <p:cNvSpPr txBox="1"/>
          <p:nvPr/>
        </p:nvSpPr>
        <p:spPr>
          <a:xfrm>
            <a:off x="566928" y="5760720"/>
            <a:ext cx="11057839" cy="548640"/>
          </a:xfrm>
          <a:prstGeom prst="rect">
            <a:avLst/>
          </a:prstGeom>
          <a:noFill/>
          <a:ln/>
        </p:spPr>
        <p:txBody>
          <a:bodyPr wrap="square" lIns="0" tIns="0" rIns="0" bIns="0" rtlCol="0" anchor="t"/>
          <a:lstStyle/>
          <a:p>
            <a:pPr marL="0" indent="0">
              <a:lnSpc>
                <a:spcPts val="2100"/>
              </a:lnSpc>
              <a:buNone/>
            </a:pPr>
            <a:r>
              <a:rPr lang="en-US" sz="1600" i="1" dirty="0">
                <a:solidFill>
                  <a:srgbClr val="5A6478"/>
                </a:solidFill>
                <a:latin typeface="Calibri" pitchFamily="34" charset="0"/>
                <a:ea typeface="Calibri" pitchFamily="34" charset="-122"/>
                <a:cs typeface="Calibri" pitchFamily="34" charset="-120"/>
              </a:rPr>
              <a:t>La diferenciación con IA no sustituye el diseño universal para el aprendizaje (DUA): lo hace operativamente viable en un salón de treinta estudiantes.</a:t>
            </a:r>
            <a:endParaRPr lang="en-US" sz="1600" dirty="0"/>
          </a:p>
        </p:txBody>
      </p:sp>
      <p:sp>
        <p:nvSpPr>
          <p:cNvPr id="29" name="Text 27"/>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30" name="Text 28"/>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48</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HERRAMIENTAS · 3 DE 5</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Avalúo y evaluación</a:t>
            </a:r>
            <a:endParaRPr lang="en-US" sz="3000" dirty="0"/>
          </a:p>
        </p:txBody>
      </p:sp>
      <p:sp>
        <p:nvSpPr>
          <p:cNvPr id="4" name="Shape 2"/>
          <p:cNvSpPr/>
          <p:nvPr/>
        </p:nvSpPr>
        <p:spPr>
          <a:xfrm>
            <a:off x="566928" y="1536192"/>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04672" y="1792224"/>
            <a:ext cx="621792" cy="621792"/>
          </a:xfrm>
          <a:prstGeom prst="roundRect">
            <a:avLst>
              <a:gd name="adj" fmla="val 19118"/>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04672" y="1792224"/>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Q</a:t>
            </a:r>
            <a:endParaRPr lang="en-US" sz="2600" dirty="0"/>
          </a:p>
        </p:txBody>
      </p:sp>
      <p:sp>
        <p:nvSpPr>
          <p:cNvPr id="7" name="Text 5"/>
          <p:cNvSpPr txBox="1"/>
          <p:nvPr/>
        </p:nvSpPr>
        <p:spPr>
          <a:xfrm>
            <a:off x="1609344" y="1737360"/>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Quizizz</a:t>
            </a:r>
            <a:endParaRPr lang="en-US" sz="2000" dirty="0"/>
          </a:p>
        </p:txBody>
      </p:sp>
      <p:sp>
        <p:nvSpPr>
          <p:cNvPr id="8" name="Text 6"/>
          <p:cNvSpPr txBox="1"/>
          <p:nvPr/>
        </p:nvSpPr>
        <p:spPr>
          <a:xfrm>
            <a:off x="1609344" y="2121408"/>
            <a:ext cx="4133088" cy="310896"/>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quizizz.com · interfaz en español</a:t>
            </a:r>
            <a:endParaRPr lang="en-US" sz="1600" dirty="0"/>
          </a:p>
        </p:txBody>
      </p:sp>
      <p:sp>
        <p:nvSpPr>
          <p:cNvPr id="9" name="Text 7"/>
          <p:cNvSpPr txBox="1"/>
          <p:nvPr/>
        </p:nvSpPr>
        <p:spPr>
          <a:xfrm>
            <a:off x="1609344" y="2468880"/>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Genera cuestionarios con IA a partir de un texto o tema y ofrece práctica adaptativa.</a:t>
            </a:r>
            <a:endParaRPr lang="en-US" sz="1700" dirty="0"/>
          </a:p>
        </p:txBody>
      </p:sp>
      <p:sp>
        <p:nvSpPr>
          <p:cNvPr id="10" name="Shape 8"/>
          <p:cNvSpPr/>
          <p:nvPr/>
        </p:nvSpPr>
        <p:spPr>
          <a:xfrm>
            <a:off x="6190488" y="1536192"/>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1" name="Shape 9"/>
          <p:cNvSpPr/>
          <p:nvPr/>
        </p:nvSpPr>
        <p:spPr>
          <a:xfrm>
            <a:off x="6428232" y="1792224"/>
            <a:ext cx="621792" cy="621792"/>
          </a:xfrm>
          <a:prstGeom prst="roundRect">
            <a:avLst>
              <a:gd name="adj" fmla="val 19118"/>
            </a:avLst>
          </a:prstGeom>
          <a:solidFill>
            <a:srgbClr val="2A9D8F"/>
          </a:solidFill>
          <a:ln w="12700">
            <a:solidFill>
              <a:srgbClr val="2A9D8F"/>
            </a:solidFill>
            <a:prstDash val="solid"/>
          </a:ln>
        </p:spPr>
        <p:txBody>
          <a:bodyPr/>
          <a:lstStyle/>
          <a:p>
            <a:endParaRPr lang="en-PR"/>
          </a:p>
        </p:txBody>
      </p:sp>
      <p:sp>
        <p:nvSpPr>
          <p:cNvPr id="12" name="Text 10"/>
          <p:cNvSpPr txBox="1"/>
          <p:nvPr/>
        </p:nvSpPr>
        <p:spPr>
          <a:xfrm>
            <a:off x="6428232" y="1792224"/>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C</a:t>
            </a:r>
            <a:endParaRPr lang="en-US" sz="2600" dirty="0"/>
          </a:p>
        </p:txBody>
      </p:sp>
      <p:sp>
        <p:nvSpPr>
          <p:cNvPr id="13" name="Text 11"/>
          <p:cNvSpPr txBox="1"/>
          <p:nvPr/>
        </p:nvSpPr>
        <p:spPr>
          <a:xfrm>
            <a:off x="7232904" y="1737360"/>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ClassPoint</a:t>
            </a:r>
            <a:endParaRPr lang="en-US" sz="2000" dirty="0"/>
          </a:p>
        </p:txBody>
      </p:sp>
      <p:sp>
        <p:nvSpPr>
          <p:cNvPr id="14" name="Text 12"/>
          <p:cNvSpPr txBox="1"/>
          <p:nvPr/>
        </p:nvSpPr>
        <p:spPr>
          <a:xfrm>
            <a:off x="7232904" y="2121408"/>
            <a:ext cx="4133088" cy="310896"/>
          </a:xfrm>
          <a:prstGeom prst="rect">
            <a:avLst/>
          </a:prstGeom>
          <a:noFill/>
          <a:ln/>
        </p:spPr>
        <p:txBody>
          <a:bodyPr wrap="square" lIns="0" tIns="0" rIns="0" bIns="0" rtlCol="0" anchor="ctr"/>
          <a:lstStyle/>
          <a:p>
            <a:pPr marL="0" indent="0">
              <a:buNone/>
            </a:pPr>
            <a:r>
              <a:rPr lang="en-US" sz="1600" b="1" dirty="0">
                <a:solidFill>
                  <a:srgbClr val="2A9D8F"/>
                </a:solidFill>
                <a:latin typeface="Calibri" pitchFamily="34" charset="0"/>
                <a:ea typeface="Calibri" pitchFamily="34" charset="-122"/>
                <a:cs typeface="Calibri" pitchFamily="34" charset="-120"/>
              </a:rPr>
              <a:t>classpoint.io</a:t>
            </a:r>
            <a:endParaRPr lang="en-US" sz="1600" dirty="0"/>
          </a:p>
        </p:txBody>
      </p:sp>
      <p:sp>
        <p:nvSpPr>
          <p:cNvPr id="15" name="Text 13"/>
          <p:cNvSpPr txBox="1"/>
          <p:nvPr/>
        </p:nvSpPr>
        <p:spPr>
          <a:xfrm>
            <a:off x="7232904" y="2468880"/>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Convierte PowerPoint en clase interactiva: preguntas en vivo, votación y gamificación.</a:t>
            </a:r>
            <a:endParaRPr lang="en-US" sz="1700" dirty="0"/>
          </a:p>
        </p:txBody>
      </p:sp>
      <p:sp>
        <p:nvSpPr>
          <p:cNvPr id="16" name="Shape 14"/>
          <p:cNvSpPr/>
          <p:nvPr/>
        </p:nvSpPr>
        <p:spPr>
          <a:xfrm>
            <a:off x="566928" y="3529584"/>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7" name="Shape 15"/>
          <p:cNvSpPr/>
          <p:nvPr/>
        </p:nvSpPr>
        <p:spPr>
          <a:xfrm>
            <a:off x="804672" y="3785616"/>
            <a:ext cx="621792" cy="621792"/>
          </a:xfrm>
          <a:prstGeom prst="roundRect">
            <a:avLst>
              <a:gd name="adj" fmla="val 19118"/>
            </a:avLst>
          </a:prstGeom>
          <a:solidFill>
            <a:srgbClr val="C9A227"/>
          </a:solidFill>
          <a:ln w="12700">
            <a:solidFill>
              <a:srgbClr val="C9A227"/>
            </a:solidFill>
            <a:prstDash val="solid"/>
          </a:ln>
        </p:spPr>
        <p:txBody>
          <a:bodyPr/>
          <a:lstStyle/>
          <a:p>
            <a:endParaRPr lang="en-PR"/>
          </a:p>
        </p:txBody>
      </p:sp>
      <p:sp>
        <p:nvSpPr>
          <p:cNvPr id="18" name="Text 16"/>
          <p:cNvSpPr txBox="1"/>
          <p:nvPr/>
        </p:nvSpPr>
        <p:spPr>
          <a:xfrm>
            <a:off x="804672" y="3785616"/>
            <a:ext cx="621792" cy="621792"/>
          </a:xfrm>
          <a:prstGeom prst="rect">
            <a:avLst/>
          </a:prstGeom>
          <a:noFill/>
          <a:ln/>
        </p:spPr>
        <p:txBody>
          <a:bodyPr wrap="square" lIns="0" tIns="0" rIns="0" bIns="0" rtlCol="0" anchor="ctr"/>
          <a:lstStyle/>
          <a:p>
            <a:pPr marL="0" indent="0" algn="ctr">
              <a:buNone/>
            </a:pPr>
            <a:r>
              <a:rPr lang="en-US" sz="2600" b="1" dirty="0">
                <a:solidFill>
                  <a:srgbClr val="1B2A4A"/>
                </a:solidFill>
                <a:latin typeface="Cambria" pitchFamily="34" charset="0"/>
                <a:ea typeface="Cambria" pitchFamily="34" charset="-122"/>
                <a:cs typeface="Cambria" pitchFamily="34" charset="-120"/>
              </a:rPr>
              <a:t>C</a:t>
            </a:r>
            <a:endParaRPr lang="en-US" sz="2600" dirty="0"/>
          </a:p>
        </p:txBody>
      </p:sp>
      <p:sp>
        <p:nvSpPr>
          <p:cNvPr id="19" name="Text 17"/>
          <p:cNvSpPr txBox="1"/>
          <p:nvPr/>
        </p:nvSpPr>
        <p:spPr>
          <a:xfrm>
            <a:off x="1609344" y="3730752"/>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Curipod</a:t>
            </a:r>
            <a:endParaRPr lang="en-US" sz="2000" dirty="0"/>
          </a:p>
        </p:txBody>
      </p:sp>
      <p:sp>
        <p:nvSpPr>
          <p:cNvPr id="20" name="Text 18"/>
          <p:cNvSpPr txBox="1"/>
          <p:nvPr/>
        </p:nvSpPr>
        <p:spPr>
          <a:xfrm>
            <a:off x="1609344" y="4114800"/>
            <a:ext cx="4133088" cy="310896"/>
          </a:xfrm>
          <a:prstGeom prst="rect">
            <a:avLst/>
          </a:prstGeom>
          <a:noFill/>
          <a:ln/>
        </p:spPr>
        <p:txBody>
          <a:bodyPr wrap="square" lIns="0" tIns="0" rIns="0" bIns="0" rtlCol="0" anchor="ctr"/>
          <a:lstStyle/>
          <a:p>
            <a:pPr marL="0" indent="0">
              <a:buNone/>
            </a:pPr>
            <a:r>
              <a:rPr lang="en-US" sz="1600" b="1" dirty="0">
                <a:solidFill>
                  <a:srgbClr val="9A7B15"/>
                </a:solidFill>
                <a:latin typeface="Calibri" pitchFamily="34" charset="0"/>
                <a:ea typeface="Calibri" pitchFamily="34" charset="-122"/>
                <a:cs typeface="Calibri" pitchFamily="34" charset="-120"/>
              </a:rPr>
              <a:t>curipod.com</a:t>
            </a:r>
            <a:endParaRPr lang="en-US" sz="1600" dirty="0"/>
          </a:p>
        </p:txBody>
      </p:sp>
      <p:sp>
        <p:nvSpPr>
          <p:cNvPr id="21" name="Text 19"/>
          <p:cNvSpPr txBox="1"/>
          <p:nvPr/>
        </p:nvSpPr>
        <p:spPr>
          <a:xfrm>
            <a:off x="1609344" y="4462272"/>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Crea lecciones interactivas con preguntas abiertas y retroalimentación automática por IA.</a:t>
            </a:r>
            <a:endParaRPr lang="en-US" sz="1700" dirty="0"/>
          </a:p>
        </p:txBody>
      </p:sp>
      <p:sp>
        <p:nvSpPr>
          <p:cNvPr id="22" name="Shape 20"/>
          <p:cNvSpPr/>
          <p:nvPr/>
        </p:nvSpPr>
        <p:spPr>
          <a:xfrm>
            <a:off x="6190488" y="3529584"/>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23" name="Shape 21"/>
          <p:cNvSpPr/>
          <p:nvPr/>
        </p:nvSpPr>
        <p:spPr>
          <a:xfrm>
            <a:off x="6428232" y="3785616"/>
            <a:ext cx="621792" cy="621792"/>
          </a:xfrm>
          <a:prstGeom prst="roundRect">
            <a:avLst>
              <a:gd name="adj" fmla="val 19118"/>
            </a:avLst>
          </a:prstGeom>
          <a:solidFill>
            <a:srgbClr val="8E44AD"/>
          </a:solidFill>
          <a:ln w="12700">
            <a:solidFill>
              <a:srgbClr val="8E44AD"/>
            </a:solidFill>
            <a:prstDash val="solid"/>
          </a:ln>
        </p:spPr>
        <p:txBody>
          <a:bodyPr/>
          <a:lstStyle/>
          <a:p>
            <a:endParaRPr lang="en-PR"/>
          </a:p>
        </p:txBody>
      </p:sp>
      <p:sp>
        <p:nvSpPr>
          <p:cNvPr id="24" name="Text 22"/>
          <p:cNvSpPr txBox="1"/>
          <p:nvPr/>
        </p:nvSpPr>
        <p:spPr>
          <a:xfrm>
            <a:off x="6428232" y="3785616"/>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R</a:t>
            </a:r>
            <a:endParaRPr lang="en-US" sz="2600" dirty="0"/>
          </a:p>
        </p:txBody>
      </p:sp>
      <p:sp>
        <p:nvSpPr>
          <p:cNvPr id="25" name="Text 23"/>
          <p:cNvSpPr txBox="1"/>
          <p:nvPr/>
        </p:nvSpPr>
        <p:spPr>
          <a:xfrm>
            <a:off x="7232904" y="3730752"/>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Rúbricas con IA</a:t>
            </a:r>
            <a:endParaRPr lang="en-US" sz="2000" dirty="0"/>
          </a:p>
        </p:txBody>
      </p:sp>
      <p:sp>
        <p:nvSpPr>
          <p:cNvPr id="26" name="Text 24"/>
          <p:cNvSpPr txBox="1"/>
          <p:nvPr/>
        </p:nvSpPr>
        <p:spPr>
          <a:xfrm>
            <a:off x="7232904" y="4114800"/>
            <a:ext cx="4133088" cy="310896"/>
          </a:xfrm>
          <a:prstGeom prst="rect">
            <a:avLst/>
          </a:prstGeom>
          <a:noFill/>
          <a:ln/>
        </p:spPr>
        <p:txBody>
          <a:bodyPr wrap="square" lIns="0" tIns="0" rIns="0" bIns="0" rtlCol="0" anchor="ctr"/>
          <a:lstStyle/>
          <a:p>
            <a:pPr marL="0" indent="0">
              <a:buNone/>
            </a:pPr>
            <a:r>
              <a:rPr lang="en-US" sz="1600" b="1" dirty="0">
                <a:solidFill>
                  <a:srgbClr val="8E44AD"/>
                </a:solidFill>
                <a:latin typeface="Calibri" pitchFamily="34" charset="0"/>
                <a:ea typeface="Calibri" pitchFamily="34" charset="-122"/>
                <a:cs typeface="Calibri" pitchFamily="34" charset="-120"/>
              </a:rPr>
              <a:t>MagicSchool · Eduaide · Copilot</a:t>
            </a:r>
            <a:endParaRPr lang="en-US" sz="1600" dirty="0"/>
          </a:p>
        </p:txBody>
      </p:sp>
      <p:sp>
        <p:nvSpPr>
          <p:cNvPr id="27" name="Text 25"/>
          <p:cNvSpPr txBox="1"/>
          <p:nvPr/>
        </p:nvSpPr>
        <p:spPr>
          <a:xfrm>
            <a:off x="7232904" y="4462272"/>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Redacte la rúbrica con IA y ajústela usted. Nunca delegue la calificación final a la máquina.</a:t>
            </a:r>
            <a:endParaRPr lang="en-US" sz="1700" dirty="0"/>
          </a:p>
        </p:txBody>
      </p:sp>
      <p:sp>
        <p:nvSpPr>
          <p:cNvPr id="28" name="Text 26"/>
          <p:cNvSpPr txBox="1"/>
          <p:nvPr/>
        </p:nvSpPr>
        <p:spPr>
          <a:xfrm>
            <a:off x="566928" y="5760720"/>
            <a:ext cx="11057839" cy="548640"/>
          </a:xfrm>
          <a:prstGeom prst="rect">
            <a:avLst/>
          </a:prstGeom>
          <a:noFill/>
          <a:ln/>
        </p:spPr>
        <p:txBody>
          <a:bodyPr wrap="square" lIns="0" tIns="0" rIns="0" bIns="0" rtlCol="0" anchor="t"/>
          <a:lstStyle/>
          <a:p>
            <a:pPr marL="0" indent="0">
              <a:lnSpc>
                <a:spcPts val="2100"/>
              </a:lnSpc>
              <a:buNone/>
            </a:pPr>
            <a:r>
              <a:rPr lang="en-US" sz="1600" i="1" dirty="0">
                <a:solidFill>
                  <a:srgbClr val="5A6478"/>
                </a:solidFill>
                <a:latin typeface="Calibri" pitchFamily="34" charset="0"/>
                <a:ea typeface="Calibri" pitchFamily="34" charset="-122"/>
                <a:cs typeface="Calibri" pitchFamily="34" charset="-120"/>
              </a:rPr>
              <a:t>Regla firme: la IA puede proponer una nota o una retroalimentación inicial; la decisión evaluativa que afecta al estudiante debe pasar siempre por juicio humano.</a:t>
            </a:r>
            <a:endParaRPr lang="en-US" sz="1600" dirty="0"/>
          </a:p>
        </p:txBody>
      </p:sp>
      <p:sp>
        <p:nvSpPr>
          <p:cNvPr id="29" name="Text 27"/>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30" name="Text 28"/>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49</a:t>
            </a:r>
            <a:endParaRPr 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HERRAMIENTAS · 4 DE 5</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Matemáticas y ciencias</a:t>
            </a:r>
            <a:endParaRPr lang="en-US" sz="3000" dirty="0"/>
          </a:p>
        </p:txBody>
      </p:sp>
      <p:sp>
        <p:nvSpPr>
          <p:cNvPr id="4" name="Shape 2"/>
          <p:cNvSpPr/>
          <p:nvPr/>
        </p:nvSpPr>
        <p:spPr>
          <a:xfrm>
            <a:off x="566928" y="1536192"/>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04672" y="1792224"/>
            <a:ext cx="621792" cy="621792"/>
          </a:xfrm>
          <a:prstGeom prst="roundRect">
            <a:avLst>
              <a:gd name="adj" fmla="val 19118"/>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04672" y="1792224"/>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W</a:t>
            </a:r>
            <a:endParaRPr lang="en-US" sz="2600" dirty="0"/>
          </a:p>
        </p:txBody>
      </p:sp>
      <p:sp>
        <p:nvSpPr>
          <p:cNvPr id="7" name="Text 5"/>
          <p:cNvSpPr txBox="1"/>
          <p:nvPr/>
        </p:nvSpPr>
        <p:spPr>
          <a:xfrm>
            <a:off x="1609344" y="1737360"/>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Wolfram Alpha</a:t>
            </a:r>
            <a:endParaRPr lang="en-US" sz="2000" dirty="0"/>
          </a:p>
        </p:txBody>
      </p:sp>
      <p:sp>
        <p:nvSpPr>
          <p:cNvPr id="8" name="Text 6"/>
          <p:cNvSpPr txBox="1"/>
          <p:nvPr/>
        </p:nvSpPr>
        <p:spPr>
          <a:xfrm>
            <a:off x="1609344" y="2121408"/>
            <a:ext cx="4133088" cy="310896"/>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wolframalpha.com</a:t>
            </a:r>
            <a:endParaRPr lang="en-US" sz="1600" dirty="0"/>
          </a:p>
        </p:txBody>
      </p:sp>
      <p:sp>
        <p:nvSpPr>
          <p:cNvPr id="9" name="Text 7"/>
          <p:cNvSpPr txBox="1"/>
          <p:nvPr/>
        </p:nvSpPr>
        <p:spPr>
          <a:xfrm>
            <a:off x="1609344" y="2468880"/>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Motor de cálculo simbólico con solución paso a paso. Confiable donde los LLM fallan en aritmética.</a:t>
            </a:r>
            <a:endParaRPr lang="en-US" sz="1700" dirty="0"/>
          </a:p>
        </p:txBody>
      </p:sp>
      <p:sp>
        <p:nvSpPr>
          <p:cNvPr id="10" name="Shape 8"/>
          <p:cNvSpPr/>
          <p:nvPr/>
        </p:nvSpPr>
        <p:spPr>
          <a:xfrm>
            <a:off x="6190488" y="1536192"/>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1" name="Shape 9"/>
          <p:cNvSpPr/>
          <p:nvPr/>
        </p:nvSpPr>
        <p:spPr>
          <a:xfrm>
            <a:off x="6428232" y="1792224"/>
            <a:ext cx="621792" cy="621792"/>
          </a:xfrm>
          <a:prstGeom prst="roundRect">
            <a:avLst>
              <a:gd name="adj" fmla="val 19118"/>
            </a:avLst>
          </a:prstGeom>
          <a:solidFill>
            <a:srgbClr val="2A9D8F"/>
          </a:solidFill>
          <a:ln w="12700">
            <a:solidFill>
              <a:srgbClr val="2A9D8F"/>
            </a:solidFill>
            <a:prstDash val="solid"/>
          </a:ln>
        </p:spPr>
        <p:txBody>
          <a:bodyPr/>
          <a:lstStyle/>
          <a:p>
            <a:endParaRPr lang="en-PR"/>
          </a:p>
        </p:txBody>
      </p:sp>
      <p:sp>
        <p:nvSpPr>
          <p:cNvPr id="12" name="Text 10"/>
          <p:cNvSpPr txBox="1"/>
          <p:nvPr/>
        </p:nvSpPr>
        <p:spPr>
          <a:xfrm>
            <a:off x="6428232" y="1792224"/>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G</a:t>
            </a:r>
            <a:endParaRPr lang="en-US" sz="2600" dirty="0"/>
          </a:p>
        </p:txBody>
      </p:sp>
      <p:sp>
        <p:nvSpPr>
          <p:cNvPr id="13" name="Text 11"/>
          <p:cNvSpPr txBox="1"/>
          <p:nvPr/>
        </p:nvSpPr>
        <p:spPr>
          <a:xfrm>
            <a:off x="7232904" y="1737360"/>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GeoGebra</a:t>
            </a:r>
            <a:endParaRPr lang="en-US" sz="2000" dirty="0"/>
          </a:p>
        </p:txBody>
      </p:sp>
      <p:sp>
        <p:nvSpPr>
          <p:cNvPr id="14" name="Text 12"/>
          <p:cNvSpPr txBox="1"/>
          <p:nvPr/>
        </p:nvSpPr>
        <p:spPr>
          <a:xfrm>
            <a:off x="7232904" y="2121408"/>
            <a:ext cx="4133088" cy="310896"/>
          </a:xfrm>
          <a:prstGeom prst="rect">
            <a:avLst/>
          </a:prstGeom>
          <a:noFill/>
          <a:ln/>
        </p:spPr>
        <p:txBody>
          <a:bodyPr wrap="square" lIns="0" tIns="0" rIns="0" bIns="0" rtlCol="0" anchor="ctr"/>
          <a:lstStyle/>
          <a:p>
            <a:pPr marL="0" indent="0">
              <a:buNone/>
            </a:pPr>
            <a:r>
              <a:rPr lang="en-US" sz="1600" b="1" dirty="0">
                <a:solidFill>
                  <a:srgbClr val="2A9D8F"/>
                </a:solidFill>
                <a:latin typeface="Calibri" pitchFamily="34" charset="0"/>
                <a:ea typeface="Calibri" pitchFamily="34" charset="-122"/>
                <a:cs typeface="Calibri" pitchFamily="34" charset="-120"/>
              </a:rPr>
              <a:t>geogebra.org · gratuito</a:t>
            </a:r>
            <a:endParaRPr lang="en-US" sz="1600" dirty="0"/>
          </a:p>
        </p:txBody>
      </p:sp>
      <p:sp>
        <p:nvSpPr>
          <p:cNvPr id="15" name="Text 13"/>
          <p:cNvSpPr txBox="1"/>
          <p:nvPr/>
        </p:nvSpPr>
        <p:spPr>
          <a:xfrm>
            <a:off x="7232904" y="2468880"/>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Visualización dinámica de funciones, geometría y estadística. Estándar en el aula de matemáticas.</a:t>
            </a:r>
            <a:endParaRPr lang="en-US" sz="1700" dirty="0"/>
          </a:p>
        </p:txBody>
      </p:sp>
      <p:sp>
        <p:nvSpPr>
          <p:cNvPr id="16" name="Shape 14"/>
          <p:cNvSpPr/>
          <p:nvPr/>
        </p:nvSpPr>
        <p:spPr>
          <a:xfrm>
            <a:off x="566928" y="3529584"/>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7" name="Shape 15"/>
          <p:cNvSpPr/>
          <p:nvPr/>
        </p:nvSpPr>
        <p:spPr>
          <a:xfrm>
            <a:off x="804672" y="3785616"/>
            <a:ext cx="621792" cy="621792"/>
          </a:xfrm>
          <a:prstGeom prst="roundRect">
            <a:avLst>
              <a:gd name="adj" fmla="val 19118"/>
            </a:avLst>
          </a:prstGeom>
          <a:solidFill>
            <a:srgbClr val="C9A227"/>
          </a:solidFill>
          <a:ln w="12700">
            <a:solidFill>
              <a:srgbClr val="C9A227"/>
            </a:solidFill>
            <a:prstDash val="solid"/>
          </a:ln>
        </p:spPr>
        <p:txBody>
          <a:bodyPr/>
          <a:lstStyle/>
          <a:p>
            <a:endParaRPr lang="en-PR"/>
          </a:p>
        </p:txBody>
      </p:sp>
      <p:sp>
        <p:nvSpPr>
          <p:cNvPr id="18" name="Text 16"/>
          <p:cNvSpPr txBox="1"/>
          <p:nvPr/>
        </p:nvSpPr>
        <p:spPr>
          <a:xfrm>
            <a:off x="804672" y="3785616"/>
            <a:ext cx="621792" cy="621792"/>
          </a:xfrm>
          <a:prstGeom prst="rect">
            <a:avLst/>
          </a:prstGeom>
          <a:noFill/>
          <a:ln/>
        </p:spPr>
        <p:txBody>
          <a:bodyPr wrap="square" lIns="0" tIns="0" rIns="0" bIns="0" rtlCol="0" anchor="ctr"/>
          <a:lstStyle/>
          <a:p>
            <a:pPr marL="0" indent="0" algn="ctr">
              <a:buNone/>
            </a:pPr>
            <a:r>
              <a:rPr lang="en-US" sz="2600" b="1" dirty="0">
                <a:solidFill>
                  <a:srgbClr val="1B2A4A"/>
                </a:solidFill>
                <a:latin typeface="Cambria" pitchFamily="34" charset="0"/>
                <a:ea typeface="Cambria" pitchFamily="34" charset="-122"/>
                <a:cs typeface="Cambria" pitchFamily="34" charset="-120"/>
              </a:rPr>
              <a:t>D</a:t>
            </a:r>
            <a:endParaRPr lang="en-US" sz="2600" dirty="0"/>
          </a:p>
        </p:txBody>
      </p:sp>
      <p:sp>
        <p:nvSpPr>
          <p:cNvPr id="19" name="Text 17"/>
          <p:cNvSpPr txBox="1"/>
          <p:nvPr/>
        </p:nvSpPr>
        <p:spPr>
          <a:xfrm>
            <a:off x="1609344" y="3730752"/>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Desmos</a:t>
            </a:r>
            <a:endParaRPr lang="en-US" sz="2000" dirty="0"/>
          </a:p>
        </p:txBody>
      </p:sp>
      <p:sp>
        <p:nvSpPr>
          <p:cNvPr id="20" name="Text 18"/>
          <p:cNvSpPr txBox="1"/>
          <p:nvPr/>
        </p:nvSpPr>
        <p:spPr>
          <a:xfrm>
            <a:off x="1609344" y="4114800"/>
            <a:ext cx="4133088" cy="310896"/>
          </a:xfrm>
          <a:prstGeom prst="rect">
            <a:avLst/>
          </a:prstGeom>
          <a:noFill/>
          <a:ln/>
        </p:spPr>
        <p:txBody>
          <a:bodyPr wrap="square" lIns="0" tIns="0" rIns="0" bIns="0" rtlCol="0" anchor="ctr"/>
          <a:lstStyle/>
          <a:p>
            <a:pPr marL="0" indent="0">
              <a:buNone/>
            </a:pPr>
            <a:r>
              <a:rPr lang="en-US" sz="1600" b="1" dirty="0">
                <a:solidFill>
                  <a:srgbClr val="9A7B15"/>
                </a:solidFill>
                <a:latin typeface="Calibri" pitchFamily="34" charset="0"/>
                <a:ea typeface="Calibri" pitchFamily="34" charset="-122"/>
                <a:cs typeface="Calibri" pitchFamily="34" charset="-120"/>
              </a:rPr>
              <a:t>desmos.com · gratuito</a:t>
            </a:r>
            <a:endParaRPr lang="en-US" sz="1600" dirty="0"/>
          </a:p>
        </p:txBody>
      </p:sp>
      <p:sp>
        <p:nvSpPr>
          <p:cNvPr id="21" name="Text 19"/>
          <p:cNvSpPr txBox="1"/>
          <p:nvPr/>
        </p:nvSpPr>
        <p:spPr>
          <a:xfrm>
            <a:off x="1609344" y="4462272"/>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Graficador y actividades de clase con panel docente. Excelente para exploración guiada.</a:t>
            </a:r>
            <a:endParaRPr lang="en-US" sz="1700" dirty="0"/>
          </a:p>
        </p:txBody>
      </p:sp>
      <p:sp>
        <p:nvSpPr>
          <p:cNvPr id="22" name="Shape 20"/>
          <p:cNvSpPr/>
          <p:nvPr/>
        </p:nvSpPr>
        <p:spPr>
          <a:xfrm>
            <a:off x="6190488" y="3529584"/>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23" name="Shape 21"/>
          <p:cNvSpPr/>
          <p:nvPr/>
        </p:nvSpPr>
        <p:spPr>
          <a:xfrm>
            <a:off x="6428232" y="3785616"/>
            <a:ext cx="621792" cy="621792"/>
          </a:xfrm>
          <a:prstGeom prst="roundRect">
            <a:avLst>
              <a:gd name="adj" fmla="val 19118"/>
            </a:avLst>
          </a:prstGeom>
          <a:solidFill>
            <a:srgbClr val="8E44AD"/>
          </a:solidFill>
          <a:ln w="12700">
            <a:solidFill>
              <a:srgbClr val="8E44AD"/>
            </a:solidFill>
            <a:prstDash val="solid"/>
          </a:ln>
        </p:spPr>
        <p:txBody>
          <a:bodyPr/>
          <a:lstStyle/>
          <a:p>
            <a:endParaRPr lang="en-PR"/>
          </a:p>
        </p:txBody>
      </p:sp>
      <p:sp>
        <p:nvSpPr>
          <p:cNvPr id="24" name="Text 22"/>
          <p:cNvSpPr txBox="1"/>
          <p:nvPr/>
        </p:nvSpPr>
        <p:spPr>
          <a:xfrm>
            <a:off x="6428232" y="3785616"/>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C</a:t>
            </a:r>
            <a:endParaRPr lang="en-US" sz="2600" dirty="0"/>
          </a:p>
        </p:txBody>
      </p:sp>
      <p:sp>
        <p:nvSpPr>
          <p:cNvPr id="25" name="Text 23"/>
          <p:cNvSpPr txBox="1"/>
          <p:nvPr/>
        </p:nvSpPr>
        <p:spPr>
          <a:xfrm>
            <a:off x="7232904" y="3730752"/>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Copilot con Excel</a:t>
            </a:r>
            <a:endParaRPr lang="en-US" sz="2000" dirty="0"/>
          </a:p>
        </p:txBody>
      </p:sp>
      <p:sp>
        <p:nvSpPr>
          <p:cNvPr id="26" name="Text 24"/>
          <p:cNvSpPr txBox="1"/>
          <p:nvPr/>
        </p:nvSpPr>
        <p:spPr>
          <a:xfrm>
            <a:off x="7232904" y="4114800"/>
            <a:ext cx="4133088" cy="310896"/>
          </a:xfrm>
          <a:prstGeom prst="rect">
            <a:avLst/>
          </a:prstGeom>
          <a:noFill/>
          <a:ln/>
        </p:spPr>
        <p:txBody>
          <a:bodyPr wrap="square" lIns="0" tIns="0" rIns="0" bIns="0" rtlCol="0" anchor="ctr"/>
          <a:lstStyle/>
          <a:p>
            <a:pPr marL="0" indent="0">
              <a:buNone/>
            </a:pPr>
            <a:r>
              <a:rPr lang="en-US" sz="1600" b="1" dirty="0">
                <a:solidFill>
                  <a:srgbClr val="8E44AD"/>
                </a:solidFill>
                <a:latin typeface="Calibri" pitchFamily="34" charset="0"/>
                <a:ea typeface="Calibri" pitchFamily="34" charset="-122"/>
                <a:cs typeface="Calibri" pitchFamily="34" charset="-120"/>
              </a:rPr>
              <a:t>Microsoft 365 institucional</a:t>
            </a:r>
            <a:endParaRPr lang="en-US" sz="1600" dirty="0"/>
          </a:p>
        </p:txBody>
      </p:sp>
      <p:sp>
        <p:nvSpPr>
          <p:cNvPr id="27" name="Text 25"/>
          <p:cNvSpPr txBox="1"/>
          <p:nvPr/>
        </p:nvSpPr>
        <p:spPr>
          <a:xfrm>
            <a:off x="7232904" y="4462272"/>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Analiza distribuciones de notas, genera gráficas y explica fórmulas dentro de la hoja de cálculo.</a:t>
            </a:r>
            <a:endParaRPr lang="en-US" sz="1700" dirty="0"/>
          </a:p>
        </p:txBody>
      </p:sp>
      <p:sp>
        <p:nvSpPr>
          <p:cNvPr id="28" name="Text 26"/>
          <p:cNvSpPr txBox="1"/>
          <p:nvPr/>
        </p:nvSpPr>
        <p:spPr>
          <a:xfrm>
            <a:off x="566928" y="5760720"/>
            <a:ext cx="11057839" cy="548640"/>
          </a:xfrm>
          <a:prstGeom prst="rect">
            <a:avLst/>
          </a:prstGeom>
          <a:noFill/>
          <a:ln/>
        </p:spPr>
        <p:txBody>
          <a:bodyPr wrap="square" lIns="0" tIns="0" rIns="0" bIns="0" rtlCol="0" anchor="t"/>
          <a:lstStyle/>
          <a:p>
            <a:pPr marL="0" indent="0">
              <a:lnSpc>
                <a:spcPts val="2100"/>
              </a:lnSpc>
              <a:buNone/>
            </a:pPr>
            <a:r>
              <a:rPr lang="en-US" sz="1600" i="1" dirty="0">
                <a:solidFill>
                  <a:srgbClr val="5A6478"/>
                </a:solidFill>
                <a:latin typeface="Calibri" pitchFamily="34" charset="0"/>
                <a:ea typeface="Calibri" pitchFamily="34" charset="-122"/>
                <a:cs typeface="Calibri" pitchFamily="34" charset="-120"/>
              </a:rPr>
              <a:t>Advertencia técnica: los modelos de lenguaje predicen texto, no calculan. Para operaciones exactas use una herramienta de cálculo o pida al modelo que muestre y verifique cada paso.</a:t>
            </a:r>
            <a:endParaRPr lang="en-US" sz="1600" dirty="0"/>
          </a:p>
        </p:txBody>
      </p:sp>
      <p:sp>
        <p:nvSpPr>
          <p:cNvPr id="29" name="Text 27"/>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30" name="Text 28"/>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50</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HERRAMIENTAS · 5 DE 5</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Comunicación visual, audio y video</a:t>
            </a:r>
            <a:endParaRPr lang="en-US" sz="3000" dirty="0"/>
          </a:p>
        </p:txBody>
      </p:sp>
      <p:sp>
        <p:nvSpPr>
          <p:cNvPr id="4" name="Shape 2"/>
          <p:cNvSpPr/>
          <p:nvPr/>
        </p:nvSpPr>
        <p:spPr>
          <a:xfrm>
            <a:off x="566928" y="1536192"/>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04672" y="1792224"/>
            <a:ext cx="621792" cy="621792"/>
          </a:xfrm>
          <a:prstGeom prst="roundRect">
            <a:avLst>
              <a:gd name="adj" fmla="val 19118"/>
            </a:avLst>
          </a:prstGeom>
          <a:solidFill>
            <a:srgbClr val="2A9D8F"/>
          </a:solidFill>
          <a:ln w="12700">
            <a:solidFill>
              <a:srgbClr val="2A9D8F"/>
            </a:solidFill>
            <a:prstDash val="solid"/>
          </a:ln>
        </p:spPr>
        <p:txBody>
          <a:bodyPr/>
          <a:lstStyle/>
          <a:p>
            <a:endParaRPr lang="en-PR"/>
          </a:p>
        </p:txBody>
      </p:sp>
      <p:sp>
        <p:nvSpPr>
          <p:cNvPr id="6" name="Text 4"/>
          <p:cNvSpPr txBox="1"/>
          <p:nvPr/>
        </p:nvSpPr>
        <p:spPr>
          <a:xfrm>
            <a:off x="804672" y="1792224"/>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N</a:t>
            </a:r>
            <a:endParaRPr lang="en-US" sz="2600" dirty="0"/>
          </a:p>
        </p:txBody>
      </p:sp>
      <p:sp>
        <p:nvSpPr>
          <p:cNvPr id="7" name="Text 5"/>
          <p:cNvSpPr txBox="1"/>
          <p:nvPr/>
        </p:nvSpPr>
        <p:spPr>
          <a:xfrm>
            <a:off x="1609344" y="1737360"/>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Napkin AI</a:t>
            </a:r>
            <a:endParaRPr lang="en-US" sz="2000" dirty="0"/>
          </a:p>
        </p:txBody>
      </p:sp>
      <p:sp>
        <p:nvSpPr>
          <p:cNvPr id="8" name="Text 6"/>
          <p:cNvSpPr txBox="1"/>
          <p:nvPr/>
        </p:nvSpPr>
        <p:spPr>
          <a:xfrm>
            <a:off x="1609344" y="2121408"/>
            <a:ext cx="4133088" cy="310896"/>
          </a:xfrm>
          <a:prstGeom prst="rect">
            <a:avLst/>
          </a:prstGeom>
          <a:noFill/>
          <a:ln/>
        </p:spPr>
        <p:txBody>
          <a:bodyPr wrap="square" lIns="0" tIns="0" rIns="0" bIns="0" rtlCol="0" anchor="ctr"/>
          <a:lstStyle/>
          <a:p>
            <a:pPr marL="0" indent="0">
              <a:buNone/>
            </a:pPr>
            <a:r>
              <a:rPr lang="en-US" sz="1600" b="1" dirty="0">
                <a:solidFill>
                  <a:srgbClr val="2A9D8F"/>
                </a:solidFill>
                <a:latin typeface="Calibri" pitchFamily="34" charset="0"/>
                <a:ea typeface="Calibri" pitchFamily="34" charset="-122"/>
                <a:cs typeface="Calibri" pitchFamily="34" charset="-120"/>
              </a:rPr>
              <a:t>napkin.ai</a:t>
            </a:r>
            <a:endParaRPr lang="en-US" sz="1600" dirty="0"/>
          </a:p>
        </p:txBody>
      </p:sp>
      <p:sp>
        <p:nvSpPr>
          <p:cNvPr id="9" name="Text 7"/>
          <p:cNvSpPr txBox="1"/>
          <p:nvPr/>
        </p:nvSpPr>
        <p:spPr>
          <a:xfrm>
            <a:off x="1609344" y="2468880"/>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Convierte un texto en diagramas y esquemas editables. Muy útil para material de apoyo visual.</a:t>
            </a:r>
            <a:endParaRPr lang="en-US" sz="1700" dirty="0"/>
          </a:p>
        </p:txBody>
      </p:sp>
      <p:sp>
        <p:nvSpPr>
          <p:cNvPr id="10" name="Shape 8"/>
          <p:cNvSpPr/>
          <p:nvPr/>
        </p:nvSpPr>
        <p:spPr>
          <a:xfrm>
            <a:off x="6190488" y="1536192"/>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1" name="Shape 9"/>
          <p:cNvSpPr/>
          <p:nvPr/>
        </p:nvSpPr>
        <p:spPr>
          <a:xfrm>
            <a:off x="6428232" y="1792224"/>
            <a:ext cx="621792" cy="621792"/>
          </a:xfrm>
          <a:prstGeom prst="roundRect">
            <a:avLst>
              <a:gd name="adj" fmla="val 19118"/>
            </a:avLst>
          </a:prstGeom>
          <a:solidFill>
            <a:srgbClr val="1B2A4A"/>
          </a:solidFill>
          <a:ln w="12700">
            <a:solidFill>
              <a:srgbClr val="1B2A4A"/>
            </a:solidFill>
            <a:prstDash val="solid"/>
          </a:ln>
        </p:spPr>
        <p:txBody>
          <a:bodyPr/>
          <a:lstStyle/>
          <a:p>
            <a:endParaRPr lang="en-PR"/>
          </a:p>
        </p:txBody>
      </p:sp>
      <p:sp>
        <p:nvSpPr>
          <p:cNvPr id="12" name="Text 10"/>
          <p:cNvSpPr txBox="1"/>
          <p:nvPr/>
        </p:nvSpPr>
        <p:spPr>
          <a:xfrm>
            <a:off x="6428232" y="1792224"/>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G</a:t>
            </a:r>
            <a:endParaRPr lang="en-US" sz="2600" dirty="0"/>
          </a:p>
        </p:txBody>
      </p:sp>
      <p:sp>
        <p:nvSpPr>
          <p:cNvPr id="13" name="Text 11"/>
          <p:cNvSpPr txBox="1"/>
          <p:nvPr/>
        </p:nvSpPr>
        <p:spPr>
          <a:xfrm>
            <a:off x="7232904" y="1737360"/>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Gamma</a:t>
            </a:r>
            <a:endParaRPr lang="en-US" sz="2000" dirty="0"/>
          </a:p>
        </p:txBody>
      </p:sp>
      <p:sp>
        <p:nvSpPr>
          <p:cNvPr id="14" name="Text 12"/>
          <p:cNvSpPr txBox="1"/>
          <p:nvPr/>
        </p:nvSpPr>
        <p:spPr>
          <a:xfrm>
            <a:off x="7232904" y="2121408"/>
            <a:ext cx="4133088" cy="310896"/>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gamma.app</a:t>
            </a:r>
            <a:endParaRPr lang="en-US" sz="1600" dirty="0"/>
          </a:p>
        </p:txBody>
      </p:sp>
      <p:sp>
        <p:nvSpPr>
          <p:cNvPr id="15" name="Text 13"/>
          <p:cNvSpPr txBox="1"/>
          <p:nvPr/>
        </p:nvSpPr>
        <p:spPr>
          <a:xfrm>
            <a:off x="7232904" y="2468880"/>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Genera presentaciones completas a partir de un guion o un documento.</a:t>
            </a:r>
            <a:endParaRPr lang="en-US" sz="1700" dirty="0"/>
          </a:p>
        </p:txBody>
      </p:sp>
      <p:sp>
        <p:nvSpPr>
          <p:cNvPr id="16" name="Shape 14"/>
          <p:cNvSpPr/>
          <p:nvPr/>
        </p:nvSpPr>
        <p:spPr>
          <a:xfrm>
            <a:off x="566928" y="3529584"/>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7" name="Shape 15"/>
          <p:cNvSpPr/>
          <p:nvPr/>
        </p:nvSpPr>
        <p:spPr>
          <a:xfrm>
            <a:off x="804672" y="3785616"/>
            <a:ext cx="621792" cy="621792"/>
          </a:xfrm>
          <a:prstGeom prst="roundRect">
            <a:avLst>
              <a:gd name="adj" fmla="val 19118"/>
            </a:avLst>
          </a:prstGeom>
          <a:solidFill>
            <a:srgbClr val="C9A227"/>
          </a:solidFill>
          <a:ln w="12700">
            <a:solidFill>
              <a:srgbClr val="C9A227"/>
            </a:solidFill>
            <a:prstDash val="solid"/>
          </a:ln>
        </p:spPr>
        <p:txBody>
          <a:bodyPr/>
          <a:lstStyle/>
          <a:p>
            <a:endParaRPr lang="en-PR"/>
          </a:p>
        </p:txBody>
      </p:sp>
      <p:sp>
        <p:nvSpPr>
          <p:cNvPr id="18" name="Text 16"/>
          <p:cNvSpPr txBox="1"/>
          <p:nvPr/>
        </p:nvSpPr>
        <p:spPr>
          <a:xfrm>
            <a:off x="804672" y="3785616"/>
            <a:ext cx="621792" cy="621792"/>
          </a:xfrm>
          <a:prstGeom prst="rect">
            <a:avLst/>
          </a:prstGeom>
          <a:noFill/>
          <a:ln/>
        </p:spPr>
        <p:txBody>
          <a:bodyPr wrap="square" lIns="0" tIns="0" rIns="0" bIns="0" rtlCol="0" anchor="ctr"/>
          <a:lstStyle/>
          <a:p>
            <a:pPr marL="0" indent="0" algn="ctr">
              <a:buNone/>
            </a:pPr>
            <a:r>
              <a:rPr lang="en-US" sz="2600" b="1" dirty="0">
                <a:solidFill>
                  <a:srgbClr val="1B2A4A"/>
                </a:solidFill>
                <a:latin typeface="Cambria" pitchFamily="34" charset="0"/>
                <a:ea typeface="Cambria" pitchFamily="34" charset="-122"/>
                <a:cs typeface="Cambria" pitchFamily="34" charset="-120"/>
              </a:rPr>
              <a:t>C</a:t>
            </a:r>
            <a:endParaRPr lang="en-US" sz="2600" dirty="0"/>
          </a:p>
        </p:txBody>
      </p:sp>
      <p:sp>
        <p:nvSpPr>
          <p:cNvPr id="19" name="Text 17"/>
          <p:cNvSpPr txBox="1"/>
          <p:nvPr/>
        </p:nvSpPr>
        <p:spPr>
          <a:xfrm>
            <a:off x="1609344" y="3730752"/>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Canva con Magic Studio</a:t>
            </a:r>
            <a:endParaRPr lang="en-US" sz="2000" dirty="0"/>
          </a:p>
        </p:txBody>
      </p:sp>
      <p:sp>
        <p:nvSpPr>
          <p:cNvPr id="20" name="Text 18"/>
          <p:cNvSpPr txBox="1"/>
          <p:nvPr/>
        </p:nvSpPr>
        <p:spPr>
          <a:xfrm>
            <a:off x="1609344" y="4114800"/>
            <a:ext cx="4133088" cy="310896"/>
          </a:xfrm>
          <a:prstGeom prst="rect">
            <a:avLst/>
          </a:prstGeom>
          <a:noFill/>
          <a:ln/>
        </p:spPr>
        <p:txBody>
          <a:bodyPr wrap="square" lIns="0" tIns="0" rIns="0" bIns="0" rtlCol="0" anchor="ctr"/>
          <a:lstStyle/>
          <a:p>
            <a:pPr marL="0" indent="0">
              <a:buNone/>
            </a:pPr>
            <a:r>
              <a:rPr lang="en-US" sz="1600" b="1" dirty="0">
                <a:solidFill>
                  <a:srgbClr val="9A7B15"/>
                </a:solidFill>
                <a:latin typeface="Calibri" pitchFamily="34" charset="0"/>
                <a:ea typeface="Calibri" pitchFamily="34" charset="-122"/>
                <a:cs typeface="Calibri" pitchFamily="34" charset="-120"/>
              </a:rPr>
              <a:t>canva.com · plan gratuito para educadores</a:t>
            </a:r>
            <a:endParaRPr lang="en-US" sz="1600" dirty="0"/>
          </a:p>
        </p:txBody>
      </p:sp>
      <p:sp>
        <p:nvSpPr>
          <p:cNvPr id="21" name="Text 19"/>
          <p:cNvSpPr txBox="1"/>
          <p:nvPr/>
        </p:nvSpPr>
        <p:spPr>
          <a:xfrm>
            <a:off x="1609344" y="4462272"/>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Diseño gráfico, imágenes y video con IA integrada. Cuenta educativa gratuita.</a:t>
            </a:r>
            <a:endParaRPr lang="en-US" sz="1700" dirty="0"/>
          </a:p>
        </p:txBody>
      </p:sp>
      <p:sp>
        <p:nvSpPr>
          <p:cNvPr id="22" name="Shape 20"/>
          <p:cNvSpPr/>
          <p:nvPr/>
        </p:nvSpPr>
        <p:spPr>
          <a:xfrm>
            <a:off x="6190488" y="3529584"/>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23" name="Shape 21"/>
          <p:cNvSpPr/>
          <p:nvPr/>
        </p:nvSpPr>
        <p:spPr>
          <a:xfrm>
            <a:off x="6428232" y="3785616"/>
            <a:ext cx="621792" cy="621792"/>
          </a:xfrm>
          <a:prstGeom prst="roundRect">
            <a:avLst>
              <a:gd name="adj" fmla="val 19118"/>
            </a:avLst>
          </a:prstGeom>
          <a:solidFill>
            <a:srgbClr val="8E44AD"/>
          </a:solidFill>
          <a:ln w="12700">
            <a:solidFill>
              <a:srgbClr val="8E44AD"/>
            </a:solidFill>
            <a:prstDash val="solid"/>
          </a:ln>
        </p:spPr>
        <p:txBody>
          <a:bodyPr/>
          <a:lstStyle/>
          <a:p>
            <a:endParaRPr lang="en-PR"/>
          </a:p>
        </p:txBody>
      </p:sp>
      <p:sp>
        <p:nvSpPr>
          <p:cNvPr id="24" name="Text 22"/>
          <p:cNvSpPr txBox="1"/>
          <p:nvPr/>
        </p:nvSpPr>
        <p:spPr>
          <a:xfrm>
            <a:off x="6428232" y="3785616"/>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S</a:t>
            </a:r>
            <a:endParaRPr lang="en-US" sz="2600" dirty="0"/>
          </a:p>
        </p:txBody>
      </p:sp>
      <p:sp>
        <p:nvSpPr>
          <p:cNvPr id="25" name="Text 23"/>
          <p:cNvSpPr txBox="1"/>
          <p:nvPr/>
        </p:nvSpPr>
        <p:spPr>
          <a:xfrm>
            <a:off x="7232904" y="3730752"/>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Synthesia</a:t>
            </a:r>
            <a:endParaRPr lang="en-US" sz="2000" dirty="0"/>
          </a:p>
        </p:txBody>
      </p:sp>
      <p:sp>
        <p:nvSpPr>
          <p:cNvPr id="26" name="Text 24"/>
          <p:cNvSpPr txBox="1"/>
          <p:nvPr/>
        </p:nvSpPr>
        <p:spPr>
          <a:xfrm>
            <a:off x="7232904" y="4114800"/>
            <a:ext cx="4133088" cy="310896"/>
          </a:xfrm>
          <a:prstGeom prst="rect">
            <a:avLst/>
          </a:prstGeom>
          <a:noFill/>
          <a:ln/>
        </p:spPr>
        <p:txBody>
          <a:bodyPr wrap="square" lIns="0" tIns="0" rIns="0" bIns="0" rtlCol="0" anchor="ctr"/>
          <a:lstStyle/>
          <a:p>
            <a:pPr marL="0" indent="0">
              <a:buNone/>
            </a:pPr>
            <a:r>
              <a:rPr lang="en-US" sz="1600" b="1" dirty="0">
                <a:solidFill>
                  <a:srgbClr val="8E44AD"/>
                </a:solidFill>
                <a:latin typeface="Calibri" pitchFamily="34" charset="0"/>
                <a:ea typeface="Calibri" pitchFamily="34" charset="-122"/>
                <a:cs typeface="Calibri" pitchFamily="34" charset="-120"/>
              </a:rPr>
              <a:t>synthesia.io</a:t>
            </a:r>
            <a:endParaRPr lang="en-US" sz="1600" dirty="0"/>
          </a:p>
        </p:txBody>
      </p:sp>
      <p:sp>
        <p:nvSpPr>
          <p:cNvPr id="27" name="Text 25"/>
          <p:cNvSpPr txBox="1"/>
          <p:nvPr/>
        </p:nvSpPr>
        <p:spPr>
          <a:xfrm>
            <a:off x="7232904" y="4462272"/>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Convierte un guion en video con presentador virtual y locución en más de 130 idiomas.</a:t>
            </a:r>
            <a:endParaRPr lang="en-US" sz="1700" dirty="0"/>
          </a:p>
        </p:txBody>
      </p:sp>
      <p:sp>
        <p:nvSpPr>
          <p:cNvPr id="28" name="Text 26"/>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9" name="Text 27"/>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51</a:t>
            </a:r>
            <a:endParaRPr lang="en-US" sz="1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HERRAMIENTAS · 5 DE 5</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Comunicación visual, audio y video (cont.)</a:t>
            </a:r>
            <a:endParaRPr lang="en-US" sz="3000" dirty="0"/>
          </a:p>
        </p:txBody>
      </p:sp>
      <p:sp>
        <p:nvSpPr>
          <p:cNvPr id="4" name="Shape 2"/>
          <p:cNvSpPr/>
          <p:nvPr/>
        </p:nvSpPr>
        <p:spPr>
          <a:xfrm>
            <a:off x="566928" y="1536192"/>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04672" y="1792224"/>
            <a:ext cx="621792" cy="621792"/>
          </a:xfrm>
          <a:prstGeom prst="roundRect">
            <a:avLst>
              <a:gd name="adj" fmla="val 19118"/>
            </a:avLst>
          </a:prstGeom>
          <a:solidFill>
            <a:srgbClr val="2A9D8F"/>
          </a:solidFill>
          <a:ln w="12700">
            <a:solidFill>
              <a:srgbClr val="2A9D8F"/>
            </a:solidFill>
            <a:prstDash val="solid"/>
          </a:ln>
        </p:spPr>
        <p:txBody>
          <a:bodyPr/>
          <a:lstStyle/>
          <a:p>
            <a:endParaRPr lang="en-PR"/>
          </a:p>
        </p:txBody>
      </p:sp>
      <p:sp>
        <p:nvSpPr>
          <p:cNvPr id="6" name="Text 4"/>
          <p:cNvSpPr txBox="1"/>
          <p:nvPr/>
        </p:nvSpPr>
        <p:spPr>
          <a:xfrm>
            <a:off x="804672" y="1792224"/>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G</a:t>
            </a:r>
            <a:endParaRPr lang="en-US" sz="2600" dirty="0"/>
          </a:p>
        </p:txBody>
      </p:sp>
      <p:sp>
        <p:nvSpPr>
          <p:cNvPr id="7" name="Text 5"/>
          <p:cNvSpPr txBox="1"/>
          <p:nvPr/>
        </p:nvSpPr>
        <p:spPr>
          <a:xfrm>
            <a:off x="1609344" y="1737360"/>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Gemini Notebook</a:t>
            </a:r>
            <a:endParaRPr lang="en-US" sz="2000" dirty="0"/>
          </a:p>
        </p:txBody>
      </p:sp>
      <p:sp>
        <p:nvSpPr>
          <p:cNvPr id="8" name="Text 6"/>
          <p:cNvSpPr txBox="1"/>
          <p:nvPr/>
        </p:nvSpPr>
        <p:spPr>
          <a:xfrm>
            <a:off x="1609344" y="2121408"/>
            <a:ext cx="4133088" cy="310896"/>
          </a:xfrm>
          <a:prstGeom prst="rect">
            <a:avLst/>
          </a:prstGeom>
          <a:noFill/>
          <a:ln/>
        </p:spPr>
        <p:txBody>
          <a:bodyPr wrap="square" lIns="0" tIns="0" rIns="0" bIns="0" rtlCol="0" anchor="ctr"/>
          <a:lstStyle/>
          <a:p>
            <a:pPr marL="0" indent="0">
              <a:buNone/>
            </a:pPr>
            <a:r>
              <a:rPr lang="en-US" sz="1600" b="1" dirty="0">
                <a:solidFill>
                  <a:srgbClr val="2A9D8F"/>
                </a:solidFill>
                <a:latin typeface="Calibri" pitchFamily="34" charset="0"/>
                <a:ea typeface="Calibri" pitchFamily="34" charset="-122"/>
                <a:cs typeface="Calibri" pitchFamily="34" charset="-120"/>
              </a:rPr>
              <a:t>notebooklm.google.com</a:t>
            </a:r>
            <a:endParaRPr lang="en-US" sz="1600" dirty="0"/>
          </a:p>
        </p:txBody>
      </p:sp>
      <p:sp>
        <p:nvSpPr>
          <p:cNvPr id="9" name="Text 7"/>
          <p:cNvSpPr txBox="1"/>
          <p:nvPr/>
        </p:nvSpPr>
        <p:spPr>
          <a:xfrm>
            <a:off x="1609344" y="2468880"/>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Antes NotebookLM. Analiza sus propios documentos y genera resúmenes y audio-resúmenes.</a:t>
            </a:r>
            <a:endParaRPr lang="en-US" sz="1700" dirty="0"/>
          </a:p>
        </p:txBody>
      </p:sp>
      <p:sp>
        <p:nvSpPr>
          <p:cNvPr id="10" name="Shape 8"/>
          <p:cNvSpPr/>
          <p:nvPr/>
        </p:nvSpPr>
        <p:spPr>
          <a:xfrm>
            <a:off x="6190488" y="1536192"/>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1" name="Shape 9"/>
          <p:cNvSpPr/>
          <p:nvPr/>
        </p:nvSpPr>
        <p:spPr>
          <a:xfrm>
            <a:off x="6428232" y="1792224"/>
            <a:ext cx="621792" cy="621792"/>
          </a:xfrm>
          <a:prstGeom prst="roundRect">
            <a:avLst>
              <a:gd name="adj" fmla="val 19118"/>
            </a:avLst>
          </a:prstGeom>
          <a:solidFill>
            <a:srgbClr val="1B2A4A"/>
          </a:solidFill>
          <a:ln w="12700">
            <a:solidFill>
              <a:srgbClr val="1B2A4A"/>
            </a:solidFill>
            <a:prstDash val="solid"/>
          </a:ln>
        </p:spPr>
        <p:txBody>
          <a:bodyPr/>
          <a:lstStyle/>
          <a:p>
            <a:endParaRPr lang="en-PR"/>
          </a:p>
        </p:txBody>
      </p:sp>
      <p:sp>
        <p:nvSpPr>
          <p:cNvPr id="12" name="Text 10"/>
          <p:cNvSpPr txBox="1"/>
          <p:nvPr/>
        </p:nvSpPr>
        <p:spPr>
          <a:xfrm>
            <a:off x="6428232" y="1792224"/>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E</a:t>
            </a:r>
            <a:endParaRPr lang="en-US" sz="2600" dirty="0"/>
          </a:p>
        </p:txBody>
      </p:sp>
      <p:sp>
        <p:nvSpPr>
          <p:cNvPr id="13" name="Text 11"/>
          <p:cNvSpPr txBox="1"/>
          <p:nvPr/>
        </p:nvSpPr>
        <p:spPr>
          <a:xfrm>
            <a:off x="7232904" y="1737360"/>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ElevenLabs · Murf</a:t>
            </a:r>
            <a:endParaRPr lang="en-US" sz="2000" dirty="0"/>
          </a:p>
        </p:txBody>
      </p:sp>
      <p:sp>
        <p:nvSpPr>
          <p:cNvPr id="14" name="Text 12"/>
          <p:cNvSpPr txBox="1"/>
          <p:nvPr/>
        </p:nvSpPr>
        <p:spPr>
          <a:xfrm>
            <a:off x="7232904" y="2121408"/>
            <a:ext cx="4133088" cy="310896"/>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elevenlabs.io · murf.ai</a:t>
            </a:r>
            <a:endParaRPr lang="en-US" sz="1600" dirty="0"/>
          </a:p>
        </p:txBody>
      </p:sp>
      <p:sp>
        <p:nvSpPr>
          <p:cNvPr id="15" name="Text 13"/>
          <p:cNvSpPr txBox="1"/>
          <p:nvPr/>
        </p:nvSpPr>
        <p:spPr>
          <a:xfrm>
            <a:off x="7232904" y="2468880"/>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Locución sintética de alta calidad para narrar material en español.</a:t>
            </a:r>
            <a:endParaRPr lang="en-US" sz="1700" dirty="0"/>
          </a:p>
        </p:txBody>
      </p:sp>
      <p:sp>
        <p:nvSpPr>
          <p:cNvPr id="16" name="Text 14"/>
          <p:cNvSpPr txBox="1"/>
          <p:nvPr/>
        </p:nvSpPr>
        <p:spPr>
          <a:xfrm>
            <a:off x="566928" y="5760720"/>
            <a:ext cx="11057839" cy="548640"/>
          </a:xfrm>
          <a:prstGeom prst="rect">
            <a:avLst/>
          </a:prstGeom>
          <a:noFill/>
          <a:ln/>
        </p:spPr>
        <p:txBody>
          <a:bodyPr wrap="square" lIns="0" tIns="0" rIns="0" bIns="0" rtlCol="0" anchor="t"/>
          <a:lstStyle/>
          <a:p>
            <a:pPr marL="0" indent="0">
              <a:lnSpc>
                <a:spcPts val="2100"/>
              </a:lnSpc>
              <a:buNone/>
            </a:pPr>
            <a:r>
              <a:rPr lang="en-US" sz="1600" i="1" dirty="0">
                <a:solidFill>
                  <a:srgbClr val="5A6478"/>
                </a:solidFill>
                <a:latin typeface="Calibri" pitchFamily="34" charset="0"/>
                <a:ea typeface="Calibri" pitchFamily="34" charset="-122"/>
                <a:cs typeface="Calibri" pitchFamily="34" charset="-120"/>
              </a:rPr>
              <a:t>Toda imagen, voz o video generado por IA debe rotularse como tal cuando se comparte con estudiantes o familias. Es una práctica de transparencia, no una formalidad.</a:t>
            </a:r>
            <a:endParaRPr lang="en-US" sz="1600" dirty="0"/>
          </a:p>
        </p:txBody>
      </p:sp>
      <p:sp>
        <p:nvSpPr>
          <p:cNvPr id="17" name="Text 15"/>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8" name="Text 16"/>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52</a:t>
            </a:r>
            <a:endParaRPr 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PARA SU PROPIA FORMACIÓN Y LA DE SUS ESTUDIANTES MAYORES</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Investigación y trabajo académico</a:t>
            </a:r>
            <a:endParaRPr lang="en-US" sz="3000" dirty="0"/>
          </a:p>
        </p:txBody>
      </p:sp>
      <p:sp>
        <p:nvSpPr>
          <p:cNvPr id="4" name="Shape 2"/>
          <p:cNvSpPr/>
          <p:nvPr/>
        </p:nvSpPr>
        <p:spPr>
          <a:xfrm>
            <a:off x="566928" y="1536192"/>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04672" y="1792224"/>
            <a:ext cx="621792" cy="621792"/>
          </a:xfrm>
          <a:prstGeom prst="roundRect">
            <a:avLst>
              <a:gd name="adj" fmla="val 19118"/>
            </a:avLst>
          </a:prstGeom>
          <a:solidFill>
            <a:srgbClr val="2A9D8F"/>
          </a:solidFill>
          <a:ln w="12700">
            <a:solidFill>
              <a:srgbClr val="2A9D8F"/>
            </a:solidFill>
            <a:prstDash val="solid"/>
          </a:ln>
        </p:spPr>
        <p:txBody>
          <a:bodyPr/>
          <a:lstStyle/>
          <a:p>
            <a:endParaRPr lang="en-PR"/>
          </a:p>
        </p:txBody>
      </p:sp>
      <p:sp>
        <p:nvSpPr>
          <p:cNvPr id="6" name="Text 4"/>
          <p:cNvSpPr txBox="1"/>
          <p:nvPr/>
        </p:nvSpPr>
        <p:spPr>
          <a:xfrm>
            <a:off x="804672" y="1792224"/>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P</a:t>
            </a:r>
            <a:endParaRPr lang="en-US" sz="2600" dirty="0"/>
          </a:p>
        </p:txBody>
      </p:sp>
      <p:sp>
        <p:nvSpPr>
          <p:cNvPr id="7" name="Text 5"/>
          <p:cNvSpPr txBox="1"/>
          <p:nvPr/>
        </p:nvSpPr>
        <p:spPr>
          <a:xfrm>
            <a:off x="1609344" y="1737360"/>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Perplexity</a:t>
            </a:r>
            <a:endParaRPr lang="en-US" sz="2000" dirty="0"/>
          </a:p>
        </p:txBody>
      </p:sp>
      <p:sp>
        <p:nvSpPr>
          <p:cNvPr id="8" name="Text 6"/>
          <p:cNvSpPr txBox="1"/>
          <p:nvPr/>
        </p:nvSpPr>
        <p:spPr>
          <a:xfrm>
            <a:off x="1609344" y="2121408"/>
            <a:ext cx="4133088" cy="310896"/>
          </a:xfrm>
          <a:prstGeom prst="rect">
            <a:avLst/>
          </a:prstGeom>
          <a:noFill/>
          <a:ln/>
        </p:spPr>
        <p:txBody>
          <a:bodyPr wrap="square" lIns="0" tIns="0" rIns="0" bIns="0" rtlCol="0" anchor="ctr"/>
          <a:lstStyle/>
          <a:p>
            <a:pPr marL="0" indent="0">
              <a:buNone/>
            </a:pPr>
            <a:r>
              <a:rPr lang="en-US" sz="1600" b="1" dirty="0">
                <a:solidFill>
                  <a:srgbClr val="2A9D8F"/>
                </a:solidFill>
                <a:latin typeface="Calibri" pitchFamily="34" charset="0"/>
                <a:ea typeface="Calibri" pitchFamily="34" charset="-122"/>
                <a:cs typeface="Calibri" pitchFamily="34" charset="-120"/>
              </a:rPr>
              <a:t>perplexity.ai</a:t>
            </a:r>
            <a:endParaRPr lang="en-US" sz="1600" dirty="0"/>
          </a:p>
        </p:txBody>
      </p:sp>
      <p:sp>
        <p:nvSpPr>
          <p:cNvPr id="9" name="Text 7"/>
          <p:cNvSpPr txBox="1"/>
          <p:nvPr/>
        </p:nvSpPr>
        <p:spPr>
          <a:xfrm>
            <a:off x="1609344" y="2468880"/>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Buscador con IA que cita las fuentes de cada afirmación. Permite verificar en un clic.</a:t>
            </a:r>
            <a:endParaRPr lang="en-US" sz="1700" dirty="0"/>
          </a:p>
        </p:txBody>
      </p:sp>
      <p:sp>
        <p:nvSpPr>
          <p:cNvPr id="10" name="Shape 8"/>
          <p:cNvSpPr/>
          <p:nvPr/>
        </p:nvSpPr>
        <p:spPr>
          <a:xfrm>
            <a:off x="6190488" y="1536192"/>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1" name="Shape 9"/>
          <p:cNvSpPr/>
          <p:nvPr/>
        </p:nvSpPr>
        <p:spPr>
          <a:xfrm>
            <a:off x="6428232" y="1792224"/>
            <a:ext cx="621792" cy="621792"/>
          </a:xfrm>
          <a:prstGeom prst="roundRect">
            <a:avLst>
              <a:gd name="adj" fmla="val 19118"/>
            </a:avLst>
          </a:prstGeom>
          <a:solidFill>
            <a:srgbClr val="1B2A4A"/>
          </a:solidFill>
          <a:ln w="12700">
            <a:solidFill>
              <a:srgbClr val="1B2A4A"/>
            </a:solidFill>
            <a:prstDash val="solid"/>
          </a:ln>
        </p:spPr>
        <p:txBody>
          <a:bodyPr/>
          <a:lstStyle/>
          <a:p>
            <a:endParaRPr lang="en-PR"/>
          </a:p>
        </p:txBody>
      </p:sp>
      <p:sp>
        <p:nvSpPr>
          <p:cNvPr id="12" name="Text 10"/>
          <p:cNvSpPr txBox="1"/>
          <p:nvPr/>
        </p:nvSpPr>
        <p:spPr>
          <a:xfrm>
            <a:off x="6428232" y="1792224"/>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E</a:t>
            </a:r>
            <a:endParaRPr lang="en-US" sz="2600" dirty="0"/>
          </a:p>
        </p:txBody>
      </p:sp>
      <p:sp>
        <p:nvSpPr>
          <p:cNvPr id="13" name="Text 11"/>
          <p:cNvSpPr txBox="1"/>
          <p:nvPr/>
        </p:nvSpPr>
        <p:spPr>
          <a:xfrm>
            <a:off x="7232904" y="1737360"/>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Elicit</a:t>
            </a:r>
            <a:endParaRPr lang="en-US" sz="2000" dirty="0"/>
          </a:p>
        </p:txBody>
      </p:sp>
      <p:sp>
        <p:nvSpPr>
          <p:cNvPr id="14" name="Text 12"/>
          <p:cNvSpPr txBox="1"/>
          <p:nvPr/>
        </p:nvSpPr>
        <p:spPr>
          <a:xfrm>
            <a:off x="7232904" y="2121408"/>
            <a:ext cx="4133088" cy="310896"/>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elicit.com</a:t>
            </a:r>
            <a:endParaRPr lang="en-US" sz="1600" dirty="0"/>
          </a:p>
        </p:txBody>
      </p:sp>
      <p:sp>
        <p:nvSpPr>
          <p:cNvPr id="15" name="Text 13"/>
          <p:cNvSpPr txBox="1"/>
          <p:nvPr/>
        </p:nvSpPr>
        <p:spPr>
          <a:xfrm>
            <a:off x="7232904" y="2468880"/>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Localiza y sintetiza literatura científica. Extrae datos de múltiples artículos a la vez.</a:t>
            </a:r>
            <a:endParaRPr lang="en-US" sz="1700" dirty="0"/>
          </a:p>
        </p:txBody>
      </p:sp>
      <p:sp>
        <p:nvSpPr>
          <p:cNvPr id="16" name="Shape 14"/>
          <p:cNvSpPr/>
          <p:nvPr/>
        </p:nvSpPr>
        <p:spPr>
          <a:xfrm>
            <a:off x="566928" y="3529584"/>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7" name="Shape 15"/>
          <p:cNvSpPr/>
          <p:nvPr/>
        </p:nvSpPr>
        <p:spPr>
          <a:xfrm>
            <a:off x="804672" y="3785616"/>
            <a:ext cx="621792" cy="621792"/>
          </a:xfrm>
          <a:prstGeom prst="roundRect">
            <a:avLst>
              <a:gd name="adj" fmla="val 19118"/>
            </a:avLst>
          </a:prstGeom>
          <a:solidFill>
            <a:srgbClr val="C9A227"/>
          </a:solidFill>
          <a:ln w="12700">
            <a:solidFill>
              <a:srgbClr val="C9A227"/>
            </a:solidFill>
            <a:prstDash val="solid"/>
          </a:ln>
        </p:spPr>
        <p:txBody>
          <a:bodyPr/>
          <a:lstStyle/>
          <a:p>
            <a:endParaRPr lang="en-PR"/>
          </a:p>
        </p:txBody>
      </p:sp>
      <p:sp>
        <p:nvSpPr>
          <p:cNvPr id="18" name="Text 16"/>
          <p:cNvSpPr txBox="1"/>
          <p:nvPr/>
        </p:nvSpPr>
        <p:spPr>
          <a:xfrm>
            <a:off x="804672" y="3785616"/>
            <a:ext cx="621792" cy="621792"/>
          </a:xfrm>
          <a:prstGeom prst="rect">
            <a:avLst/>
          </a:prstGeom>
          <a:noFill/>
          <a:ln/>
        </p:spPr>
        <p:txBody>
          <a:bodyPr wrap="square" lIns="0" tIns="0" rIns="0" bIns="0" rtlCol="0" anchor="ctr"/>
          <a:lstStyle/>
          <a:p>
            <a:pPr marL="0" indent="0" algn="ctr">
              <a:buNone/>
            </a:pPr>
            <a:r>
              <a:rPr lang="en-US" sz="2600" b="1" dirty="0">
                <a:solidFill>
                  <a:srgbClr val="1B2A4A"/>
                </a:solidFill>
                <a:latin typeface="Cambria" pitchFamily="34" charset="0"/>
                <a:ea typeface="Cambria" pitchFamily="34" charset="-122"/>
                <a:cs typeface="Cambria" pitchFamily="34" charset="-120"/>
              </a:rPr>
              <a:t>C</a:t>
            </a:r>
            <a:endParaRPr lang="en-US" sz="2600" dirty="0"/>
          </a:p>
        </p:txBody>
      </p:sp>
      <p:sp>
        <p:nvSpPr>
          <p:cNvPr id="19" name="Text 17"/>
          <p:cNvSpPr txBox="1"/>
          <p:nvPr/>
        </p:nvSpPr>
        <p:spPr>
          <a:xfrm>
            <a:off x="1609344" y="3730752"/>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ChatPDF</a:t>
            </a:r>
            <a:endParaRPr lang="en-US" sz="2000" dirty="0"/>
          </a:p>
        </p:txBody>
      </p:sp>
      <p:sp>
        <p:nvSpPr>
          <p:cNvPr id="20" name="Text 18"/>
          <p:cNvSpPr txBox="1"/>
          <p:nvPr/>
        </p:nvSpPr>
        <p:spPr>
          <a:xfrm>
            <a:off x="1609344" y="4114800"/>
            <a:ext cx="4133088" cy="310896"/>
          </a:xfrm>
          <a:prstGeom prst="rect">
            <a:avLst/>
          </a:prstGeom>
          <a:noFill/>
          <a:ln/>
        </p:spPr>
        <p:txBody>
          <a:bodyPr wrap="square" lIns="0" tIns="0" rIns="0" bIns="0" rtlCol="0" anchor="ctr"/>
          <a:lstStyle/>
          <a:p>
            <a:pPr marL="0" indent="0">
              <a:buNone/>
            </a:pPr>
            <a:r>
              <a:rPr lang="en-US" sz="1600" b="1" dirty="0">
                <a:solidFill>
                  <a:srgbClr val="9A7B15"/>
                </a:solidFill>
                <a:latin typeface="Calibri" pitchFamily="34" charset="0"/>
                <a:ea typeface="Calibri" pitchFamily="34" charset="-122"/>
                <a:cs typeface="Calibri" pitchFamily="34" charset="-120"/>
              </a:rPr>
              <a:t>chatpdf.com</a:t>
            </a:r>
            <a:endParaRPr lang="en-US" sz="1600" dirty="0"/>
          </a:p>
        </p:txBody>
      </p:sp>
      <p:sp>
        <p:nvSpPr>
          <p:cNvPr id="21" name="Text 19"/>
          <p:cNvSpPr txBox="1"/>
          <p:nvPr/>
        </p:nvSpPr>
        <p:spPr>
          <a:xfrm>
            <a:off x="1609344" y="4462272"/>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Convierte un documento largo en interlocutor: pregunte directamente al PDF.</a:t>
            </a:r>
            <a:endParaRPr lang="en-US" sz="1700" dirty="0"/>
          </a:p>
        </p:txBody>
      </p:sp>
      <p:sp>
        <p:nvSpPr>
          <p:cNvPr id="22" name="Shape 20"/>
          <p:cNvSpPr/>
          <p:nvPr/>
        </p:nvSpPr>
        <p:spPr>
          <a:xfrm>
            <a:off x="6190488" y="3529584"/>
            <a:ext cx="5422392" cy="1828800"/>
          </a:xfrm>
          <a:prstGeom prst="roundRect">
            <a:avLst>
              <a:gd name="adj" fmla="val 4500"/>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23" name="Shape 21"/>
          <p:cNvSpPr/>
          <p:nvPr/>
        </p:nvSpPr>
        <p:spPr>
          <a:xfrm>
            <a:off x="6428232" y="3785616"/>
            <a:ext cx="621792" cy="621792"/>
          </a:xfrm>
          <a:prstGeom prst="roundRect">
            <a:avLst>
              <a:gd name="adj" fmla="val 19118"/>
            </a:avLst>
          </a:prstGeom>
          <a:solidFill>
            <a:srgbClr val="8E44AD"/>
          </a:solidFill>
          <a:ln w="12700">
            <a:solidFill>
              <a:srgbClr val="8E44AD"/>
            </a:solidFill>
            <a:prstDash val="solid"/>
          </a:ln>
        </p:spPr>
        <p:txBody>
          <a:bodyPr/>
          <a:lstStyle/>
          <a:p>
            <a:endParaRPr lang="en-PR"/>
          </a:p>
        </p:txBody>
      </p:sp>
      <p:sp>
        <p:nvSpPr>
          <p:cNvPr id="24" name="Text 22"/>
          <p:cNvSpPr txBox="1"/>
          <p:nvPr/>
        </p:nvSpPr>
        <p:spPr>
          <a:xfrm>
            <a:off x="6428232" y="3785616"/>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S</a:t>
            </a:r>
            <a:endParaRPr lang="en-US" sz="2600" dirty="0"/>
          </a:p>
        </p:txBody>
      </p:sp>
      <p:sp>
        <p:nvSpPr>
          <p:cNvPr id="25" name="Text 23"/>
          <p:cNvSpPr txBox="1"/>
          <p:nvPr/>
        </p:nvSpPr>
        <p:spPr>
          <a:xfrm>
            <a:off x="7232904" y="3730752"/>
            <a:ext cx="411480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Scribbr · BibGuru</a:t>
            </a:r>
            <a:endParaRPr lang="en-US" sz="2000" dirty="0"/>
          </a:p>
        </p:txBody>
      </p:sp>
      <p:sp>
        <p:nvSpPr>
          <p:cNvPr id="26" name="Text 24"/>
          <p:cNvSpPr txBox="1"/>
          <p:nvPr/>
        </p:nvSpPr>
        <p:spPr>
          <a:xfrm>
            <a:off x="7232904" y="4114800"/>
            <a:ext cx="4133088" cy="310896"/>
          </a:xfrm>
          <a:prstGeom prst="rect">
            <a:avLst/>
          </a:prstGeom>
          <a:noFill/>
          <a:ln/>
        </p:spPr>
        <p:txBody>
          <a:bodyPr wrap="square" lIns="0" tIns="0" rIns="0" bIns="0" rtlCol="0" anchor="ctr"/>
          <a:lstStyle/>
          <a:p>
            <a:pPr marL="0" indent="0">
              <a:buNone/>
            </a:pPr>
            <a:r>
              <a:rPr lang="en-US" sz="1600" b="1" dirty="0">
                <a:solidFill>
                  <a:srgbClr val="8E44AD"/>
                </a:solidFill>
                <a:latin typeface="Calibri" pitchFamily="34" charset="0"/>
                <a:ea typeface="Calibri" pitchFamily="34" charset="-122"/>
                <a:cs typeface="Calibri" pitchFamily="34" charset="-120"/>
              </a:rPr>
              <a:t>scribbr.com · bibguru.com</a:t>
            </a:r>
            <a:endParaRPr lang="en-US" sz="1600" dirty="0"/>
          </a:p>
        </p:txBody>
      </p:sp>
      <p:sp>
        <p:nvSpPr>
          <p:cNvPr id="27" name="Text 25"/>
          <p:cNvSpPr txBox="1"/>
          <p:nvPr/>
        </p:nvSpPr>
        <p:spPr>
          <a:xfrm>
            <a:off x="7232904" y="4462272"/>
            <a:ext cx="4160520" cy="822960"/>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Generadores de referencias en APA 7. Verifique siempre el resultado contra la fuente original.</a:t>
            </a:r>
            <a:endParaRPr lang="en-US" sz="1700" dirty="0"/>
          </a:p>
        </p:txBody>
      </p:sp>
      <p:sp>
        <p:nvSpPr>
          <p:cNvPr id="28" name="Text 26"/>
          <p:cNvSpPr txBox="1"/>
          <p:nvPr/>
        </p:nvSpPr>
        <p:spPr>
          <a:xfrm>
            <a:off x="566928" y="5760720"/>
            <a:ext cx="11057839" cy="548640"/>
          </a:xfrm>
          <a:prstGeom prst="rect">
            <a:avLst/>
          </a:prstGeom>
          <a:noFill/>
          <a:ln/>
        </p:spPr>
        <p:txBody>
          <a:bodyPr wrap="square" lIns="0" tIns="0" rIns="0" bIns="0" rtlCol="0" anchor="t"/>
          <a:lstStyle/>
          <a:p>
            <a:pPr marL="0" indent="0">
              <a:lnSpc>
                <a:spcPts val="2100"/>
              </a:lnSpc>
              <a:buNone/>
            </a:pPr>
            <a:r>
              <a:rPr lang="en-US" sz="1600" i="1" dirty="0">
                <a:solidFill>
                  <a:srgbClr val="5A6478"/>
                </a:solidFill>
                <a:latin typeface="Calibri" pitchFamily="34" charset="0"/>
                <a:ea typeface="Calibri" pitchFamily="34" charset="-122"/>
                <a:cs typeface="Calibri" pitchFamily="34" charset="-120"/>
              </a:rPr>
              <a:t>Advertencia de integridad: nunca acepte una referencia bibliográfica producida por un modelo de lenguaje sin comprobar que el artículo, el DOI y los autores existen realmente.</a:t>
            </a:r>
            <a:endParaRPr lang="en-US" sz="1600" dirty="0"/>
          </a:p>
        </p:txBody>
      </p:sp>
      <p:sp>
        <p:nvSpPr>
          <p:cNvPr id="29" name="Text 27"/>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30" name="Text 28"/>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53</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CRITERIO, NO CENSURA</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Herramientas que este taller no recomienda</a:t>
            </a:r>
            <a:endParaRPr lang="en-US" sz="3000" dirty="0"/>
          </a:p>
        </p:txBody>
      </p:sp>
      <p:sp>
        <p:nvSpPr>
          <p:cNvPr id="4" name="Shape 2"/>
          <p:cNvSpPr/>
          <p:nvPr/>
        </p:nvSpPr>
        <p:spPr>
          <a:xfrm>
            <a:off x="566928" y="1609344"/>
            <a:ext cx="11057839" cy="1316736"/>
          </a:xfrm>
          <a:prstGeom prst="roundRect">
            <a:avLst>
              <a:gd name="adj" fmla="val 6250"/>
            </a:avLst>
          </a:prstGeom>
          <a:solidFill>
            <a:srgbClr val="FBF0EF"/>
          </a:solidFill>
          <a:ln w="12700">
            <a:solidFill>
              <a:srgbClr val="FBF0EF"/>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04672" y="1975104"/>
            <a:ext cx="585216" cy="585216"/>
          </a:xfrm>
          <a:prstGeom prst="ellipse">
            <a:avLst/>
          </a:prstGeom>
          <a:solidFill>
            <a:srgbClr val="C0392B"/>
          </a:solidFill>
          <a:ln w="12700">
            <a:solidFill>
              <a:srgbClr val="C0392B"/>
            </a:solidFill>
            <a:prstDash val="solid"/>
          </a:ln>
        </p:spPr>
        <p:txBody>
          <a:bodyPr/>
          <a:lstStyle/>
          <a:p>
            <a:endParaRPr lang="en-PR"/>
          </a:p>
        </p:txBody>
      </p:sp>
      <p:sp>
        <p:nvSpPr>
          <p:cNvPr id="6" name="Text 4"/>
          <p:cNvSpPr txBox="1"/>
          <p:nvPr/>
        </p:nvSpPr>
        <p:spPr>
          <a:xfrm>
            <a:off x="804672" y="1975104"/>
            <a:ext cx="585216" cy="585216"/>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7" name="Text 5"/>
          <p:cNvSpPr txBox="1"/>
          <p:nvPr/>
        </p:nvSpPr>
        <p:spPr>
          <a:xfrm>
            <a:off x="1591056" y="1773936"/>
            <a:ext cx="9784080" cy="384048"/>
          </a:xfrm>
          <a:prstGeom prst="rect">
            <a:avLst/>
          </a:prstGeom>
          <a:noFill/>
          <a:ln/>
        </p:spPr>
        <p:txBody>
          <a:bodyPr wrap="square" lIns="0" tIns="0" rIns="0" bIns="0" rtlCol="0" anchor="ctr"/>
          <a:lstStyle/>
          <a:p>
            <a:pPr marL="0" indent="0">
              <a:buNone/>
            </a:pPr>
            <a:r>
              <a:rPr lang="en-US" sz="2000" b="1" dirty="0">
                <a:solidFill>
                  <a:srgbClr val="C0392B"/>
                </a:solidFill>
                <a:latin typeface="Cambria" pitchFamily="34" charset="0"/>
                <a:ea typeface="Cambria" pitchFamily="34" charset="-122"/>
                <a:cs typeface="Cambria" pitchFamily="34" charset="-120"/>
              </a:rPr>
              <a:t>Escritores de IA “indetectables”</a:t>
            </a:r>
            <a:endParaRPr lang="en-US" sz="2000" dirty="0"/>
          </a:p>
        </p:txBody>
      </p:sp>
      <p:sp>
        <p:nvSpPr>
          <p:cNvPr id="8" name="Text 6"/>
          <p:cNvSpPr txBox="1"/>
          <p:nvPr/>
        </p:nvSpPr>
        <p:spPr>
          <a:xfrm>
            <a:off x="1591056" y="2194560"/>
            <a:ext cx="9784080" cy="603504"/>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Su propuesta de valor explícita es evadir la detección académica. Recomendarlas a docentes contradice el propósito formativo del taller.</a:t>
            </a:r>
            <a:endParaRPr lang="en-US" sz="1800" dirty="0"/>
          </a:p>
        </p:txBody>
      </p:sp>
      <p:sp>
        <p:nvSpPr>
          <p:cNvPr id="9" name="Shape 7"/>
          <p:cNvSpPr/>
          <p:nvPr/>
        </p:nvSpPr>
        <p:spPr>
          <a:xfrm>
            <a:off x="566928" y="3072384"/>
            <a:ext cx="11057839" cy="1316736"/>
          </a:xfrm>
          <a:prstGeom prst="roundRect">
            <a:avLst>
              <a:gd name="adj" fmla="val 6250"/>
            </a:avLst>
          </a:prstGeom>
          <a:solidFill>
            <a:srgbClr val="FBF0EF"/>
          </a:solidFill>
          <a:ln w="12700">
            <a:solidFill>
              <a:srgbClr val="FBF0EF"/>
            </a:solidFill>
            <a:prstDash val="solid"/>
          </a:ln>
          <a:effectLst>
            <a:outerShdw blurRad="127000" dist="25400" dir="5400000" algn="bl" rotWithShape="0">
              <a:srgbClr val="1B2A4A">
                <a:alpha val="14000"/>
              </a:srgbClr>
            </a:outerShdw>
          </a:effectLst>
        </p:spPr>
        <p:txBody>
          <a:bodyPr/>
          <a:lstStyle/>
          <a:p>
            <a:endParaRPr lang="en-PR"/>
          </a:p>
        </p:txBody>
      </p:sp>
      <p:sp>
        <p:nvSpPr>
          <p:cNvPr id="10" name="Shape 8"/>
          <p:cNvSpPr/>
          <p:nvPr/>
        </p:nvSpPr>
        <p:spPr>
          <a:xfrm>
            <a:off x="804672" y="3438144"/>
            <a:ext cx="585216" cy="585216"/>
          </a:xfrm>
          <a:prstGeom prst="ellipse">
            <a:avLst/>
          </a:prstGeom>
          <a:solidFill>
            <a:srgbClr val="C0392B"/>
          </a:solidFill>
          <a:ln w="12700">
            <a:solidFill>
              <a:srgbClr val="C0392B"/>
            </a:solidFill>
            <a:prstDash val="solid"/>
          </a:ln>
        </p:spPr>
        <p:txBody>
          <a:bodyPr/>
          <a:lstStyle/>
          <a:p>
            <a:endParaRPr lang="en-PR"/>
          </a:p>
        </p:txBody>
      </p:sp>
      <p:sp>
        <p:nvSpPr>
          <p:cNvPr id="11" name="Text 9"/>
          <p:cNvSpPr txBox="1"/>
          <p:nvPr/>
        </p:nvSpPr>
        <p:spPr>
          <a:xfrm>
            <a:off x="804672" y="3438144"/>
            <a:ext cx="585216" cy="585216"/>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2" name="Text 10"/>
          <p:cNvSpPr txBox="1"/>
          <p:nvPr/>
        </p:nvSpPr>
        <p:spPr>
          <a:xfrm>
            <a:off x="1591056" y="3236976"/>
            <a:ext cx="9784080" cy="384048"/>
          </a:xfrm>
          <a:prstGeom prst="rect">
            <a:avLst/>
          </a:prstGeom>
          <a:noFill/>
          <a:ln/>
        </p:spPr>
        <p:txBody>
          <a:bodyPr wrap="square" lIns="0" tIns="0" rIns="0" bIns="0" rtlCol="0" anchor="ctr"/>
          <a:lstStyle/>
          <a:p>
            <a:pPr marL="0" indent="0">
              <a:buNone/>
            </a:pPr>
            <a:r>
              <a:rPr lang="en-US" sz="2000" b="1" dirty="0">
                <a:solidFill>
                  <a:srgbClr val="C0392B"/>
                </a:solidFill>
                <a:latin typeface="Cambria" pitchFamily="34" charset="0"/>
                <a:ea typeface="Cambria" pitchFamily="34" charset="-122"/>
                <a:cs typeface="Cambria" pitchFamily="34" charset="-120"/>
              </a:rPr>
              <a:t>Asistentes de IA por WhatsApp con número comercial</a:t>
            </a:r>
            <a:endParaRPr lang="en-US" sz="2000" dirty="0"/>
          </a:p>
        </p:txBody>
      </p:sp>
      <p:sp>
        <p:nvSpPr>
          <p:cNvPr id="13" name="Text 11"/>
          <p:cNvSpPr txBox="1"/>
          <p:nvPr/>
        </p:nvSpPr>
        <p:spPr>
          <a:xfrm>
            <a:off x="1591056" y="3657600"/>
            <a:ext cx="9784080" cy="603504"/>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Los números y los términos cambian sin aviso, y los mensajes circulan por servidores de terceros sin garantías para datos estudiantiles.</a:t>
            </a:r>
            <a:endParaRPr lang="en-US" sz="1800" dirty="0"/>
          </a:p>
        </p:txBody>
      </p:sp>
      <p:sp>
        <p:nvSpPr>
          <p:cNvPr id="14" name="Shape 12"/>
          <p:cNvSpPr/>
          <p:nvPr/>
        </p:nvSpPr>
        <p:spPr>
          <a:xfrm>
            <a:off x="566928" y="4535424"/>
            <a:ext cx="11057839" cy="1316736"/>
          </a:xfrm>
          <a:prstGeom prst="roundRect">
            <a:avLst>
              <a:gd name="adj" fmla="val 6250"/>
            </a:avLst>
          </a:prstGeom>
          <a:solidFill>
            <a:srgbClr val="FBF0EF"/>
          </a:solidFill>
          <a:ln w="12700">
            <a:solidFill>
              <a:srgbClr val="FBF0EF"/>
            </a:solidFill>
            <a:prstDash val="solid"/>
          </a:ln>
          <a:effectLst>
            <a:outerShdw blurRad="127000" dist="25400" dir="5400000" algn="bl" rotWithShape="0">
              <a:srgbClr val="1B2A4A">
                <a:alpha val="14000"/>
              </a:srgbClr>
            </a:outerShdw>
          </a:effectLst>
        </p:spPr>
        <p:txBody>
          <a:bodyPr/>
          <a:lstStyle/>
          <a:p>
            <a:endParaRPr lang="en-PR"/>
          </a:p>
        </p:txBody>
      </p:sp>
      <p:sp>
        <p:nvSpPr>
          <p:cNvPr id="15" name="Shape 13"/>
          <p:cNvSpPr/>
          <p:nvPr/>
        </p:nvSpPr>
        <p:spPr>
          <a:xfrm>
            <a:off x="804672" y="4901184"/>
            <a:ext cx="585216" cy="585216"/>
          </a:xfrm>
          <a:prstGeom prst="ellipse">
            <a:avLst/>
          </a:prstGeom>
          <a:solidFill>
            <a:srgbClr val="C0392B"/>
          </a:solidFill>
          <a:ln w="12700">
            <a:solidFill>
              <a:srgbClr val="C0392B"/>
            </a:solidFill>
            <a:prstDash val="solid"/>
          </a:ln>
        </p:spPr>
        <p:txBody>
          <a:bodyPr/>
          <a:lstStyle/>
          <a:p>
            <a:endParaRPr lang="en-PR"/>
          </a:p>
        </p:txBody>
      </p:sp>
      <p:sp>
        <p:nvSpPr>
          <p:cNvPr id="16" name="Text 14"/>
          <p:cNvSpPr txBox="1"/>
          <p:nvPr/>
        </p:nvSpPr>
        <p:spPr>
          <a:xfrm>
            <a:off x="804672" y="4901184"/>
            <a:ext cx="585216" cy="585216"/>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7" name="Text 15"/>
          <p:cNvSpPr txBox="1"/>
          <p:nvPr/>
        </p:nvSpPr>
        <p:spPr>
          <a:xfrm>
            <a:off x="1591056" y="4700016"/>
            <a:ext cx="9784080" cy="384048"/>
          </a:xfrm>
          <a:prstGeom prst="rect">
            <a:avLst/>
          </a:prstGeom>
          <a:noFill/>
          <a:ln/>
        </p:spPr>
        <p:txBody>
          <a:bodyPr wrap="square" lIns="0" tIns="0" rIns="0" bIns="0" rtlCol="0" anchor="ctr"/>
          <a:lstStyle/>
          <a:p>
            <a:pPr marL="0" indent="0">
              <a:buNone/>
            </a:pPr>
            <a:r>
              <a:rPr lang="en-US" sz="2000" b="1" dirty="0">
                <a:solidFill>
                  <a:srgbClr val="C0392B"/>
                </a:solidFill>
                <a:latin typeface="Cambria" pitchFamily="34" charset="0"/>
                <a:ea typeface="Cambria" pitchFamily="34" charset="-122"/>
                <a:cs typeface="Cambria" pitchFamily="34" charset="-120"/>
              </a:rPr>
              <a:t>Generadores de imágenes sin filtros para menores</a:t>
            </a:r>
            <a:endParaRPr lang="en-US" sz="2000" dirty="0"/>
          </a:p>
        </p:txBody>
      </p:sp>
      <p:sp>
        <p:nvSpPr>
          <p:cNvPr id="18" name="Text 16"/>
          <p:cNvSpPr txBox="1"/>
          <p:nvPr/>
        </p:nvSpPr>
        <p:spPr>
          <a:xfrm>
            <a:off x="1591056" y="5120640"/>
            <a:ext cx="9784080" cy="603504"/>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Sin control de contenido ni verificación de edad, no son apropiados para uso con estudiantes.</a:t>
            </a:r>
            <a:endParaRPr lang="en-US" sz="1800" dirty="0"/>
          </a:p>
        </p:txBody>
      </p:sp>
      <p:sp>
        <p:nvSpPr>
          <p:cNvPr id="19" name="Text 17"/>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0" name="Text 18"/>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54</a:t>
            </a:r>
            <a:endParaRPr lang="en-US" sz="16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CRITERIO, NO CENSURA</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Herramientas que este taller no recomienda (cont.)</a:t>
            </a:r>
            <a:endParaRPr lang="en-US" sz="3000" dirty="0"/>
          </a:p>
        </p:txBody>
      </p:sp>
      <p:sp>
        <p:nvSpPr>
          <p:cNvPr id="4" name="Shape 2"/>
          <p:cNvSpPr/>
          <p:nvPr/>
        </p:nvSpPr>
        <p:spPr>
          <a:xfrm>
            <a:off x="566928" y="1609344"/>
            <a:ext cx="11057839" cy="1316736"/>
          </a:xfrm>
          <a:prstGeom prst="roundRect">
            <a:avLst>
              <a:gd name="adj" fmla="val 6250"/>
            </a:avLst>
          </a:prstGeom>
          <a:solidFill>
            <a:srgbClr val="FBF0EF"/>
          </a:solidFill>
          <a:ln w="12700">
            <a:solidFill>
              <a:srgbClr val="FBF0EF"/>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04672" y="1975104"/>
            <a:ext cx="585216" cy="585216"/>
          </a:xfrm>
          <a:prstGeom prst="ellipse">
            <a:avLst/>
          </a:prstGeom>
          <a:solidFill>
            <a:srgbClr val="C0392B"/>
          </a:solidFill>
          <a:ln w="12700">
            <a:solidFill>
              <a:srgbClr val="C0392B"/>
            </a:solidFill>
            <a:prstDash val="solid"/>
          </a:ln>
        </p:spPr>
        <p:txBody>
          <a:bodyPr/>
          <a:lstStyle/>
          <a:p>
            <a:endParaRPr lang="en-PR"/>
          </a:p>
        </p:txBody>
      </p:sp>
      <p:sp>
        <p:nvSpPr>
          <p:cNvPr id="6" name="Text 4"/>
          <p:cNvSpPr txBox="1"/>
          <p:nvPr/>
        </p:nvSpPr>
        <p:spPr>
          <a:xfrm>
            <a:off x="804672" y="1975104"/>
            <a:ext cx="585216" cy="585216"/>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7" name="Text 5"/>
          <p:cNvSpPr txBox="1"/>
          <p:nvPr/>
        </p:nvSpPr>
        <p:spPr>
          <a:xfrm>
            <a:off x="1591056" y="1773936"/>
            <a:ext cx="9784080" cy="384048"/>
          </a:xfrm>
          <a:prstGeom prst="rect">
            <a:avLst/>
          </a:prstGeom>
          <a:noFill/>
          <a:ln/>
        </p:spPr>
        <p:txBody>
          <a:bodyPr wrap="square" lIns="0" tIns="0" rIns="0" bIns="0" rtlCol="0" anchor="ctr"/>
          <a:lstStyle/>
          <a:p>
            <a:pPr marL="0" indent="0">
              <a:buNone/>
            </a:pPr>
            <a:r>
              <a:rPr lang="en-US" sz="2000" b="1" dirty="0">
                <a:solidFill>
                  <a:srgbClr val="C0392B"/>
                </a:solidFill>
                <a:latin typeface="Cambria" pitchFamily="34" charset="0"/>
                <a:ea typeface="Cambria" pitchFamily="34" charset="-122"/>
                <a:cs typeface="Cambria" pitchFamily="34" charset="-120"/>
              </a:rPr>
              <a:t>Plataformas sin política de privacidad localizable</a:t>
            </a:r>
            <a:endParaRPr lang="en-US" sz="2000" dirty="0"/>
          </a:p>
        </p:txBody>
      </p:sp>
      <p:sp>
        <p:nvSpPr>
          <p:cNvPr id="8" name="Text 6"/>
          <p:cNvSpPr txBox="1"/>
          <p:nvPr/>
        </p:nvSpPr>
        <p:spPr>
          <a:xfrm>
            <a:off x="1591056" y="2194560"/>
            <a:ext cx="9784080" cy="603504"/>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Si no puede determinar qué hacen con los datos, la decisión pedagógica prudente ya está tomada.</a:t>
            </a:r>
            <a:endParaRPr lang="en-US" sz="1800" dirty="0"/>
          </a:p>
        </p:txBody>
      </p:sp>
      <p:sp>
        <p:nvSpPr>
          <p:cNvPr id="9" name="Shape 7"/>
          <p:cNvSpPr/>
          <p:nvPr/>
        </p:nvSpPr>
        <p:spPr>
          <a:xfrm>
            <a:off x="566928" y="3657600"/>
            <a:ext cx="11057839" cy="1371600"/>
          </a:xfrm>
          <a:prstGeom prst="roundRect">
            <a:avLst>
              <a:gd name="adj" fmla="val 6000"/>
            </a:avLst>
          </a:prstGeom>
          <a:solidFill>
            <a:srgbClr val="1B2A4A"/>
          </a:solidFill>
          <a:ln w="12700">
            <a:solidFill>
              <a:srgbClr val="1B2A4A"/>
            </a:solidFill>
            <a:prstDash val="solid"/>
          </a:ln>
          <a:effectLst>
            <a:outerShdw blurRad="127000" dist="25400" dir="5400000" algn="bl" rotWithShape="0">
              <a:srgbClr val="1B2A4A">
                <a:alpha val="14000"/>
              </a:srgbClr>
            </a:outerShdw>
          </a:effectLst>
        </p:spPr>
        <p:txBody>
          <a:bodyPr/>
          <a:lstStyle/>
          <a:p>
            <a:endParaRPr lang="en-PR"/>
          </a:p>
        </p:txBody>
      </p:sp>
      <p:sp>
        <p:nvSpPr>
          <p:cNvPr id="10" name="Text 8"/>
          <p:cNvSpPr txBox="1"/>
          <p:nvPr/>
        </p:nvSpPr>
        <p:spPr>
          <a:xfrm>
            <a:off x="932688" y="3657600"/>
            <a:ext cx="10326319" cy="1371600"/>
          </a:xfrm>
          <a:prstGeom prst="rect">
            <a:avLst/>
          </a:prstGeom>
          <a:noFill/>
          <a:ln/>
        </p:spPr>
        <p:txBody>
          <a:bodyPr wrap="square" lIns="0" tIns="0" rIns="0" bIns="0" rtlCol="0" anchor="ctr"/>
          <a:lstStyle/>
          <a:p>
            <a:pPr marL="0" indent="0">
              <a:lnSpc>
                <a:spcPts val="2600"/>
              </a:lnSpc>
              <a:buNone/>
            </a:pPr>
            <a:r>
              <a:rPr lang="en-US" sz="1800" i="1" dirty="0">
                <a:solidFill>
                  <a:srgbClr val="FFFFFF"/>
                </a:solidFill>
                <a:latin typeface="Calibri" pitchFamily="34" charset="0"/>
                <a:ea typeface="Calibri" pitchFamily="34" charset="-122"/>
                <a:cs typeface="Calibri" pitchFamily="34" charset="-120"/>
              </a:rPr>
              <a:t>No se trata de prohibir tecnología, sino de no poner el sello de un taller institucional sobre herramientas cuyo uso principal es evadir el aprendizaje.</a:t>
            </a:r>
            <a:endParaRPr lang="en-US" sz="1800" dirty="0"/>
          </a:p>
        </p:txBody>
      </p:sp>
      <p:sp>
        <p:nvSpPr>
          <p:cNvPr id="12" name="Text 9"/>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3" name="Text 10"/>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55</a:t>
            </a:r>
            <a:endParaRPr lang="en-US" sz="16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6">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2103120"/>
            <a:ext cx="1463040" cy="1463040"/>
          </a:xfrm>
          <a:prstGeom prst="ellipse">
            <a:avLst/>
          </a:prstGeom>
          <a:solidFill>
            <a:srgbClr val="C9A227"/>
          </a:solidFill>
          <a:ln w="12700">
            <a:solidFill>
              <a:srgbClr val="C9A227"/>
            </a:solidFill>
            <a:prstDash val="solid"/>
          </a:ln>
        </p:spPr>
        <p:txBody>
          <a:bodyPr/>
          <a:lstStyle/>
          <a:p>
            <a:endParaRPr lang="en-PR"/>
          </a:p>
        </p:txBody>
      </p:sp>
      <p:sp>
        <p:nvSpPr>
          <p:cNvPr id="3" name="Text 1"/>
          <p:cNvSpPr txBox="1"/>
          <p:nvPr/>
        </p:nvSpPr>
        <p:spPr>
          <a:xfrm>
            <a:off x="566928" y="2103120"/>
            <a:ext cx="1463040" cy="1463040"/>
          </a:xfrm>
          <a:prstGeom prst="rect">
            <a:avLst/>
          </a:prstGeom>
          <a:noFill/>
          <a:ln/>
        </p:spPr>
        <p:txBody>
          <a:bodyPr wrap="square" lIns="0" tIns="0" rIns="0" bIns="0" rtlCol="0" anchor="ctr"/>
          <a:lstStyle/>
          <a:p>
            <a:pPr marL="0" indent="0" algn="ctr">
              <a:buNone/>
            </a:pPr>
            <a:r>
              <a:rPr lang="en-US" sz="5600" b="1" dirty="0">
                <a:solidFill>
                  <a:srgbClr val="1B2A4A"/>
                </a:solidFill>
                <a:latin typeface="Cambria" pitchFamily="34" charset="0"/>
                <a:ea typeface="Cambria" pitchFamily="34" charset="-122"/>
                <a:cs typeface="Cambria" pitchFamily="34" charset="-120"/>
              </a:rPr>
              <a:t>5</a:t>
            </a:r>
            <a:endParaRPr lang="en-US" sz="5600" dirty="0"/>
          </a:p>
        </p:txBody>
      </p:sp>
      <p:sp>
        <p:nvSpPr>
          <p:cNvPr id="4" name="Text 2"/>
          <p:cNvSpPr txBox="1"/>
          <p:nvPr/>
        </p:nvSpPr>
        <p:spPr>
          <a:xfrm>
            <a:off x="2377440" y="2029968"/>
            <a:ext cx="9052560" cy="96012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Uso responsable</a:t>
            </a:r>
            <a:endParaRPr lang="en-US" sz="4200" dirty="0"/>
          </a:p>
        </p:txBody>
      </p:sp>
      <p:sp>
        <p:nvSpPr>
          <p:cNvPr id="5" name="Text 3"/>
          <p:cNvSpPr txBox="1"/>
          <p:nvPr/>
        </p:nvSpPr>
        <p:spPr>
          <a:xfrm>
            <a:off x="2377440" y="3035808"/>
            <a:ext cx="9052560" cy="822960"/>
          </a:xfrm>
          <a:prstGeom prst="rect">
            <a:avLst/>
          </a:prstGeom>
          <a:noFill/>
          <a:ln/>
        </p:spPr>
        <p:txBody>
          <a:bodyPr wrap="square" lIns="0" tIns="0" rIns="0" bIns="0" rtlCol="0" anchor="t"/>
          <a:lstStyle/>
          <a:p>
            <a:pPr marL="0" indent="0">
              <a:lnSpc>
                <a:spcPts val="2700"/>
              </a:lnSpc>
              <a:buNone/>
            </a:pPr>
            <a:r>
              <a:rPr lang="en-US" sz="2000" dirty="0">
                <a:solidFill>
                  <a:srgbClr val="DDE3EC"/>
                </a:solidFill>
                <a:latin typeface="Calibri" pitchFamily="34" charset="0"/>
                <a:ea typeface="Calibri" pitchFamily="34" charset="-122"/>
                <a:cs typeface="Calibri" pitchFamily="34" charset="-120"/>
              </a:rPr>
              <a:t>Política del DEPR, privacidad de datos estudiantiles, sesgo algorítmico e integridad académica</a:t>
            </a:r>
            <a:endParaRPr lang="en-US" sz="2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TRES NIVELES DE NORMATIVA</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El marco que le aplica a usted</a:t>
            </a:r>
            <a:endParaRPr lang="en-US" sz="3000" dirty="0"/>
          </a:p>
        </p:txBody>
      </p:sp>
      <p:sp>
        <p:nvSpPr>
          <p:cNvPr id="4" name="Shape 2"/>
          <p:cNvSpPr/>
          <p:nvPr/>
        </p:nvSpPr>
        <p:spPr>
          <a:xfrm>
            <a:off x="566928" y="1554480"/>
            <a:ext cx="11057839" cy="1408176"/>
          </a:xfrm>
          <a:prstGeom prst="roundRect">
            <a:avLst>
              <a:gd name="adj" fmla="val 5844"/>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41248" y="1737360"/>
            <a:ext cx="1920240" cy="329184"/>
          </a:xfrm>
          <a:prstGeom prst="roundRect">
            <a:avLst>
              <a:gd name="adj" fmla="val 50000"/>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41248" y="1737360"/>
            <a:ext cx="1920240" cy="329184"/>
          </a:xfrm>
          <a:prstGeom prst="rect">
            <a:avLst/>
          </a:prstGeom>
          <a:noFill/>
          <a:ln/>
        </p:spPr>
        <p:txBody>
          <a:bodyPr wrap="square" lIns="0" tIns="0" rIns="0" bIns="0" rtlCol="0" anchor="ctr"/>
          <a:lstStyle/>
          <a:p>
            <a:pPr marL="0" indent="0" algn="ctr">
              <a:buNone/>
            </a:pPr>
            <a:r>
              <a:rPr lang="en-US" sz="1600" b="1" kern="0" spc="80" dirty="0">
                <a:solidFill>
                  <a:srgbClr val="FFFFFF"/>
                </a:solidFill>
                <a:latin typeface="Calibri" pitchFamily="34" charset="0"/>
                <a:ea typeface="Calibri" pitchFamily="34" charset="-122"/>
                <a:cs typeface="Calibri" pitchFamily="34" charset="-120"/>
              </a:rPr>
              <a:t>FEDERAL</a:t>
            </a:r>
            <a:endParaRPr lang="en-US" sz="1600" dirty="0"/>
          </a:p>
        </p:txBody>
      </p:sp>
      <p:sp>
        <p:nvSpPr>
          <p:cNvPr id="7" name="Text 5"/>
          <p:cNvSpPr txBox="1"/>
          <p:nvPr/>
        </p:nvSpPr>
        <p:spPr>
          <a:xfrm>
            <a:off x="2962656" y="1719072"/>
            <a:ext cx="832104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FERPA y COPPA</a:t>
            </a:r>
            <a:endParaRPr lang="en-US" sz="2000" dirty="0"/>
          </a:p>
        </p:txBody>
      </p:sp>
      <p:sp>
        <p:nvSpPr>
          <p:cNvPr id="8" name="Text 6"/>
          <p:cNvSpPr txBox="1"/>
          <p:nvPr/>
        </p:nvSpPr>
        <p:spPr>
          <a:xfrm>
            <a:off x="841248" y="2157984"/>
            <a:ext cx="10469880" cy="658368"/>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FERPA protege el expediente educativo del estudiante. COPPA regula la recopilación de datos de menores de 13 años. Ninguna herramienta de IA lo exime de ambas.</a:t>
            </a:r>
            <a:endParaRPr lang="en-US" sz="1800" dirty="0"/>
          </a:p>
        </p:txBody>
      </p:sp>
      <p:sp>
        <p:nvSpPr>
          <p:cNvPr id="9" name="Shape 7"/>
          <p:cNvSpPr/>
          <p:nvPr/>
        </p:nvSpPr>
        <p:spPr>
          <a:xfrm>
            <a:off x="566928" y="3090672"/>
            <a:ext cx="11057839" cy="1408176"/>
          </a:xfrm>
          <a:prstGeom prst="roundRect">
            <a:avLst>
              <a:gd name="adj" fmla="val 5844"/>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10" name="Shape 8"/>
          <p:cNvSpPr/>
          <p:nvPr/>
        </p:nvSpPr>
        <p:spPr>
          <a:xfrm>
            <a:off x="841248" y="3273552"/>
            <a:ext cx="1920240" cy="329184"/>
          </a:xfrm>
          <a:prstGeom prst="roundRect">
            <a:avLst>
              <a:gd name="adj" fmla="val 50000"/>
            </a:avLst>
          </a:prstGeom>
          <a:solidFill>
            <a:srgbClr val="2A9D8F"/>
          </a:solidFill>
          <a:ln w="12700">
            <a:solidFill>
              <a:srgbClr val="2A9D8F"/>
            </a:solidFill>
            <a:prstDash val="solid"/>
          </a:ln>
        </p:spPr>
        <p:txBody>
          <a:bodyPr/>
          <a:lstStyle/>
          <a:p>
            <a:endParaRPr lang="en-PR"/>
          </a:p>
        </p:txBody>
      </p:sp>
      <p:sp>
        <p:nvSpPr>
          <p:cNvPr id="11" name="Text 9"/>
          <p:cNvSpPr txBox="1"/>
          <p:nvPr/>
        </p:nvSpPr>
        <p:spPr>
          <a:xfrm>
            <a:off x="841248" y="3273552"/>
            <a:ext cx="1920240" cy="329184"/>
          </a:xfrm>
          <a:prstGeom prst="rect">
            <a:avLst/>
          </a:prstGeom>
          <a:noFill/>
          <a:ln/>
        </p:spPr>
        <p:txBody>
          <a:bodyPr wrap="square" lIns="0" tIns="0" rIns="0" bIns="0" rtlCol="0" anchor="ctr"/>
          <a:lstStyle/>
          <a:p>
            <a:pPr marL="0" indent="0" algn="ctr">
              <a:buNone/>
            </a:pPr>
            <a:r>
              <a:rPr lang="en-US" sz="1600" b="1" kern="0" spc="80" dirty="0">
                <a:solidFill>
                  <a:srgbClr val="FFFFFF"/>
                </a:solidFill>
                <a:latin typeface="Calibri" pitchFamily="34" charset="0"/>
                <a:ea typeface="Calibri" pitchFamily="34" charset="-122"/>
                <a:cs typeface="Calibri" pitchFamily="34" charset="-120"/>
              </a:rPr>
              <a:t>PUERTO RICO</a:t>
            </a:r>
            <a:endParaRPr lang="en-US" sz="1600" dirty="0"/>
          </a:p>
        </p:txBody>
      </p:sp>
      <p:sp>
        <p:nvSpPr>
          <p:cNvPr id="12" name="Text 10"/>
          <p:cNvSpPr txBox="1"/>
          <p:nvPr/>
        </p:nvSpPr>
        <p:spPr>
          <a:xfrm>
            <a:off x="2962656" y="3255264"/>
            <a:ext cx="832104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Guía del DEPR (2026)</a:t>
            </a:r>
            <a:endParaRPr lang="en-US" sz="2000" dirty="0"/>
          </a:p>
        </p:txBody>
      </p:sp>
      <p:sp>
        <p:nvSpPr>
          <p:cNvPr id="13" name="Text 11"/>
          <p:cNvSpPr txBox="1"/>
          <p:nvPr/>
        </p:nvSpPr>
        <p:spPr>
          <a:xfrm>
            <a:off x="841248" y="3694176"/>
            <a:ext cx="10469880" cy="658368"/>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Establece el modelo SENSE, autoriza MS Copilot en cuenta institucional para estudiantes de 13 años en adelante y exige supervisión docente y capacitación previa.</a:t>
            </a:r>
            <a:endParaRPr lang="en-US" sz="1800" dirty="0"/>
          </a:p>
        </p:txBody>
      </p:sp>
      <p:sp>
        <p:nvSpPr>
          <p:cNvPr id="14" name="Shape 12"/>
          <p:cNvSpPr/>
          <p:nvPr/>
        </p:nvSpPr>
        <p:spPr>
          <a:xfrm>
            <a:off x="566928" y="4626864"/>
            <a:ext cx="11057839" cy="1408176"/>
          </a:xfrm>
          <a:prstGeom prst="roundRect">
            <a:avLst>
              <a:gd name="adj" fmla="val 5844"/>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5" name="Shape 13"/>
          <p:cNvSpPr/>
          <p:nvPr/>
        </p:nvSpPr>
        <p:spPr>
          <a:xfrm>
            <a:off x="841248" y="4809744"/>
            <a:ext cx="1920240" cy="329184"/>
          </a:xfrm>
          <a:prstGeom prst="roundRect">
            <a:avLst>
              <a:gd name="adj" fmla="val 50000"/>
            </a:avLst>
          </a:prstGeom>
          <a:solidFill>
            <a:srgbClr val="C9A227"/>
          </a:solidFill>
          <a:ln w="12700">
            <a:solidFill>
              <a:srgbClr val="C9A227"/>
            </a:solidFill>
            <a:prstDash val="solid"/>
          </a:ln>
        </p:spPr>
        <p:txBody>
          <a:bodyPr/>
          <a:lstStyle/>
          <a:p>
            <a:endParaRPr lang="en-PR"/>
          </a:p>
        </p:txBody>
      </p:sp>
      <p:sp>
        <p:nvSpPr>
          <p:cNvPr id="16" name="Text 14"/>
          <p:cNvSpPr txBox="1"/>
          <p:nvPr/>
        </p:nvSpPr>
        <p:spPr>
          <a:xfrm>
            <a:off x="841248" y="4809744"/>
            <a:ext cx="1920240" cy="329184"/>
          </a:xfrm>
          <a:prstGeom prst="rect">
            <a:avLst/>
          </a:prstGeom>
          <a:noFill/>
          <a:ln/>
        </p:spPr>
        <p:txBody>
          <a:bodyPr wrap="square" lIns="0" tIns="0" rIns="0" bIns="0" rtlCol="0" anchor="ctr"/>
          <a:lstStyle/>
          <a:p>
            <a:pPr marL="0" indent="0" algn="ctr">
              <a:buNone/>
            </a:pPr>
            <a:r>
              <a:rPr lang="en-US" sz="1600" b="1" kern="0" spc="80" dirty="0">
                <a:solidFill>
                  <a:srgbClr val="1B2A4A"/>
                </a:solidFill>
                <a:latin typeface="Calibri" pitchFamily="34" charset="0"/>
                <a:ea typeface="Calibri" pitchFamily="34" charset="-122"/>
                <a:cs typeface="Calibri" pitchFamily="34" charset="-120"/>
              </a:rPr>
              <a:t>INTERNACIONAL</a:t>
            </a:r>
            <a:endParaRPr lang="en-US" sz="1600" dirty="0"/>
          </a:p>
        </p:txBody>
      </p:sp>
      <p:sp>
        <p:nvSpPr>
          <p:cNvPr id="17" name="Text 15"/>
          <p:cNvSpPr txBox="1"/>
          <p:nvPr/>
        </p:nvSpPr>
        <p:spPr>
          <a:xfrm>
            <a:off x="2962656" y="4791456"/>
            <a:ext cx="8321040"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Marco UNESCO (2024)</a:t>
            </a:r>
            <a:endParaRPr lang="en-US" sz="2000" dirty="0"/>
          </a:p>
        </p:txBody>
      </p:sp>
      <p:sp>
        <p:nvSpPr>
          <p:cNvPr id="18" name="Text 16"/>
          <p:cNvSpPr txBox="1"/>
          <p:nvPr/>
        </p:nvSpPr>
        <p:spPr>
          <a:xfrm>
            <a:off x="841248" y="5230368"/>
            <a:ext cx="10469880" cy="658368"/>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Quince competencias en cinco dimensiones —mentalidad centrada en lo humano, ética de la IA, fundamentos, pedagogía y desarrollo profesional— en tres niveles de progresión.</a:t>
            </a:r>
            <a:endParaRPr lang="en-US" sz="1800" dirty="0"/>
          </a:p>
        </p:txBody>
      </p:sp>
      <p:sp>
        <p:nvSpPr>
          <p:cNvPr id="19" name="Text 17"/>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0" name="Text 18"/>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57</a:t>
            </a:r>
            <a:endParaRPr lang="en-US" sz="1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TRES NIVELES DE NORMATIVA</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El marco que le aplica a usted (cont.)</a:t>
            </a:r>
            <a:endParaRPr lang="en-US" sz="3000" dirty="0"/>
          </a:p>
        </p:txBody>
      </p:sp>
      <p:sp>
        <p:nvSpPr>
          <p:cNvPr id="4" name="Shape 2"/>
          <p:cNvSpPr/>
          <p:nvPr/>
        </p:nvSpPr>
        <p:spPr>
          <a:xfrm>
            <a:off x="566928" y="1920240"/>
            <a:ext cx="11057839" cy="2468880"/>
          </a:xfrm>
          <a:prstGeom prst="roundRect">
            <a:avLst>
              <a:gd name="adj" fmla="val 3333"/>
            </a:avLst>
          </a:prstGeom>
          <a:solidFill>
            <a:srgbClr val="1B2A4A"/>
          </a:solidFill>
          <a:ln w="12700">
            <a:solidFill>
              <a:srgbClr val="1B2A4A"/>
            </a:solidFill>
            <a:prstDash val="solid"/>
          </a:ln>
          <a:effectLst>
            <a:outerShdw blurRad="127000" dist="25400" dir="5400000" algn="bl" rotWithShape="0">
              <a:srgbClr val="1B2A4A">
                <a:alpha val="14000"/>
              </a:srgbClr>
            </a:outerShdw>
          </a:effectLst>
        </p:spPr>
        <p:txBody>
          <a:bodyPr/>
          <a:lstStyle/>
          <a:p>
            <a:endParaRPr lang="en-PR"/>
          </a:p>
        </p:txBody>
      </p:sp>
      <p:sp>
        <p:nvSpPr>
          <p:cNvPr id="5" name="Text 3"/>
          <p:cNvSpPr txBox="1"/>
          <p:nvPr/>
        </p:nvSpPr>
        <p:spPr>
          <a:xfrm>
            <a:off x="978408" y="2212848"/>
            <a:ext cx="10241280" cy="731520"/>
          </a:xfrm>
          <a:prstGeom prst="rect">
            <a:avLst/>
          </a:prstGeom>
          <a:noFill/>
          <a:ln/>
        </p:spPr>
        <p:txBody>
          <a:bodyPr wrap="square" lIns="0" tIns="0" rIns="0" bIns="0" rtlCol="0" anchor="ctr"/>
          <a:lstStyle/>
          <a:p>
            <a:pPr marL="0" indent="0">
              <a:lnSpc>
                <a:spcPts val="3400"/>
              </a:lnSpc>
              <a:buNone/>
            </a:pPr>
            <a:r>
              <a:rPr lang="en-US" sz="2600" b="1" dirty="0">
                <a:solidFill>
                  <a:srgbClr val="C9A227"/>
                </a:solidFill>
                <a:latin typeface="Cambria" pitchFamily="34" charset="0"/>
                <a:ea typeface="Cambria" pitchFamily="34" charset="-122"/>
                <a:cs typeface="Cambria" pitchFamily="34" charset="-120"/>
              </a:rPr>
              <a:t>El principio que unifica los tres niveles: supervisión humana significativa.</a:t>
            </a:r>
            <a:endParaRPr lang="en-US" sz="2600" dirty="0"/>
          </a:p>
        </p:txBody>
      </p:sp>
      <p:sp>
        <p:nvSpPr>
          <p:cNvPr id="6" name="Text 4"/>
          <p:cNvSpPr txBox="1"/>
          <p:nvPr/>
        </p:nvSpPr>
        <p:spPr>
          <a:xfrm>
            <a:off x="978408" y="3035808"/>
            <a:ext cx="10241280" cy="1097280"/>
          </a:xfrm>
          <a:prstGeom prst="rect">
            <a:avLst/>
          </a:prstGeom>
          <a:noFill/>
          <a:ln/>
        </p:spPr>
        <p:txBody>
          <a:bodyPr wrap="square" lIns="0" tIns="0" rIns="0" bIns="0" rtlCol="0" anchor="t"/>
          <a:lstStyle/>
          <a:p>
            <a:pPr marL="0" indent="0">
              <a:lnSpc>
                <a:spcPts val="2800"/>
              </a:lnSpc>
              <a:buNone/>
            </a:pPr>
            <a:r>
              <a:rPr lang="en-US" sz="2000" dirty="0">
                <a:solidFill>
                  <a:srgbClr val="DDE3EC"/>
                </a:solidFill>
                <a:latin typeface="Calibri" pitchFamily="34" charset="0"/>
                <a:ea typeface="Calibri" pitchFamily="34" charset="-122"/>
                <a:cs typeface="Calibri" pitchFamily="34" charset="-120"/>
              </a:rPr>
              <a:t>Ninguna decisión que afecte la trayectoria académica de un estudiante —una nota, una clasificación, una recomendación de ubicación— puede quedar en manos de un sistema automatizado sin revisión de un profesional.</a:t>
            </a:r>
            <a:endParaRPr lang="en-US" sz="2000" dirty="0"/>
          </a:p>
        </p:txBody>
      </p:sp>
      <p:sp>
        <p:nvSpPr>
          <p:cNvPr id="7" name="Text 5"/>
          <p:cNvSpPr txBox="1"/>
          <p:nvPr/>
        </p:nvSpPr>
        <p:spPr>
          <a:xfrm>
            <a:off x="566928" y="5760720"/>
            <a:ext cx="11057839" cy="548640"/>
          </a:xfrm>
          <a:prstGeom prst="rect">
            <a:avLst/>
          </a:prstGeom>
          <a:noFill/>
          <a:ln/>
        </p:spPr>
        <p:txBody>
          <a:bodyPr wrap="square" lIns="0" tIns="0" rIns="0" bIns="0" rtlCol="0" anchor="t"/>
          <a:lstStyle/>
          <a:p>
            <a:pPr marL="0" indent="0">
              <a:lnSpc>
                <a:spcPts val="2100"/>
              </a:lnSpc>
              <a:buNone/>
            </a:pPr>
            <a:r>
              <a:rPr lang="en-US" sz="1600" i="1" dirty="0">
                <a:solidFill>
                  <a:srgbClr val="5A6478"/>
                </a:solidFill>
                <a:latin typeface="Calibri" pitchFamily="34" charset="0"/>
                <a:ea typeface="Calibri" pitchFamily="34" charset="-122"/>
                <a:cs typeface="Calibri" pitchFamily="34" charset="-120"/>
              </a:rPr>
              <a:t>Fuentes: DEPR (2026); DEPR (2024), La inteligencia artificial en el sistema educativo; UNESCO (2024), AI Competency Framework for Teachers.</a:t>
            </a:r>
            <a:endParaRPr lang="en-US" sz="1600" dirty="0"/>
          </a:p>
        </p:txBody>
      </p:sp>
      <p:sp>
        <p:nvSpPr>
          <p:cNvPr id="8" name="Text 6"/>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9" name="Text 7"/>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58</a:t>
            </a:r>
            <a:endParaRPr lang="en-US" sz="16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MARCO RECTOR DE LA POLÍTICA PUERTORRIQUEÑA</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El modelo SENSE del DEPR</a:t>
            </a:r>
            <a:endParaRPr lang="en-US" sz="3000" dirty="0"/>
          </a:p>
        </p:txBody>
      </p:sp>
      <p:sp>
        <p:nvSpPr>
          <p:cNvPr id="4" name="Shape 2"/>
          <p:cNvSpPr/>
          <p:nvPr/>
        </p:nvSpPr>
        <p:spPr>
          <a:xfrm>
            <a:off x="566928" y="1426464"/>
            <a:ext cx="2039112" cy="3145536"/>
          </a:xfrm>
          <a:prstGeom prst="roundRect">
            <a:avLst>
              <a:gd name="adj" fmla="val 4036"/>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Text 3"/>
          <p:cNvSpPr txBox="1"/>
          <p:nvPr/>
        </p:nvSpPr>
        <p:spPr>
          <a:xfrm>
            <a:off x="566928" y="1591056"/>
            <a:ext cx="2039112" cy="749808"/>
          </a:xfrm>
          <a:prstGeom prst="rect">
            <a:avLst/>
          </a:prstGeom>
          <a:noFill/>
          <a:ln/>
        </p:spPr>
        <p:txBody>
          <a:bodyPr wrap="square" lIns="0" tIns="0" rIns="0" bIns="0" rtlCol="0" anchor="ctr"/>
          <a:lstStyle/>
          <a:p>
            <a:pPr marL="0" indent="0" algn="ctr">
              <a:buNone/>
            </a:pPr>
            <a:r>
              <a:rPr lang="en-US" sz="5400" b="1" dirty="0">
                <a:solidFill>
                  <a:srgbClr val="1B2A4A"/>
                </a:solidFill>
                <a:latin typeface="Cambria" pitchFamily="34" charset="0"/>
                <a:ea typeface="Cambria" pitchFamily="34" charset="-122"/>
                <a:cs typeface="Cambria" pitchFamily="34" charset="-120"/>
              </a:rPr>
              <a:t>S</a:t>
            </a:r>
            <a:endParaRPr lang="en-US" sz="5400" dirty="0"/>
          </a:p>
        </p:txBody>
      </p:sp>
      <p:sp>
        <p:nvSpPr>
          <p:cNvPr id="6" name="Text 4"/>
          <p:cNvSpPr txBox="1"/>
          <p:nvPr/>
        </p:nvSpPr>
        <p:spPr>
          <a:xfrm>
            <a:off x="658368" y="2395728"/>
            <a:ext cx="1856232" cy="347472"/>
          </a:xfrm>
          <a:prstGeom prst="rect">
            <a:avLst/>
          </a:prstGeom>
          <a:noFill/>
          <a:ln/>
        </p:spPr>
        <p:txBody>
          <a:bodyPr wrap="square" lIns="0" tIns="0" rIns="0" bIns="0" rtlCol="0" anchor="ctr"/>
          <a:lstStyle/>
          <a:p>
            <a:pPr marL="0" indent="0" algn="ctr">
              <a:buNone/>
            </a:pPr>
            <a:r>
              <a:rPr lang="en-US" sz="2000" b="1" dirty="0">
                <a:solidFill>
                  <a:srgbClr val="1B2A4A"/>
                </a:solidFill>
                <a:latin typeface="Cambria" pitchFamily="34" charset="0"/>
                <a:ea typeface="Cambria" pitchFamily="34" charset="-122"/>
                <a:cs typeface="Cambria" pitchFamily="34" charset="-120"/>
              </a:rPr>
              <a:t>Seguridad</a:t>
            </a:r>
            <a:endParaRPr lang="en-US" sz="2000" dirty="0"/>
          </a:p>
        </p:txBody>
      </p:sp>
      <p:sp>
        <p:nvSpPr>
          <p:cNvPr id="7" name="Text 5"/>
          <p:cNvSpPr txBox="1"/>
          <p:nvPr/>
        </p:nvSpPr>
        <p:spPr>
          <a:xfrm>
            <a:off x="694944" y="2779776"/>
            <a:ext cx="1783080" cy="1737360"/>
          </a:xfrm>
          <a:prstGeom prst="rect">
            <a:avLst/>
          </a:prstGeom>
          <a:noFill/>
          <a:ln/>
        </p:spPr>
        <p:txBody>
          <a:bodyPr wrap="square" lIns="0" tIns="0" rIns="0" bIns="0" rtlCol="0" anchor="t"/>
          <a:lstStyle/>
          <a:p>
            <a:pPr marL="0" indent="0" algn="ctr">
              <a:lnSpc>
                <a:spcPts val="2100"/>
              </a:lnSpc>
              <a:buNone/>
            </a:pPr>
            <a:r>
              <a:rPr lang="en-US" sz="1600" dirty="0">
                <a:solidFill>
                  <a:srgbClr val="2C3548"/>
                </a:solidFill>
                <a:latin typeface="Calibri" pitchFamily="34" charset="0"/>
                <a:ea typeface="Calibri" pitchFamily="34" charset="-122"/>
                <a:cs typeface="Calibri" pitchFamily="34" charset="-120"/>
              </a:rPr>
              <a:t>Dispositivos y cuentas institucionales. Nunca cuentas personales ni datos sensibles.</a:t>
            </a:r>
            <a:endParaRPr lang="en-US" sz="1600" dirty="0"/>
          </a:p>
        </p:txBody>
      </p:sp>
      <p:sp>
        <p:nvSpPr>
          <p:cNvPr id="8" name="Shape 6"/>
          <p:cNvSpPr/>
          <p:nvPr/>
        </p:nvSpPr>
        <p:spPr>
          <a:xfrm>
            <a:off x="2807208" y="1426464"/>
            <a:ext cx="2039112" cy="3145536"/>
          </a:xfrm>
          <a:prstGeom prst="roundRect">
            <a:avLst>
              <a:gd name="adj" fmla="val 4036"/>
            </a:avLst>
          </a:prstGeom>
          <a:solidFill>
            <a:srgbClr val="F1F8F7"/>
          </a:solidFill>
          <a:ln w="12700">
            <a:solidFill>
              <a:srgbClr val="F1F8F7"/>
            </a:solidFill>
            <a:prstDash val="solid"/>
          </a:ln>
          <a:effectLst>
            <a:outerShdw blurRad="127000" dist="25400" dir="5400000" algn="bl" rotWithShape="0">
              <a:srgbClr val="1B2A4A">
                <a:alpha val="14000"/>
              </a:srgbClr>
            </a:outerShdw>
          </a:effectLst>
        </p:spPr>
        <p:txBody>
          <a:bodyPr/>
          <a:lstStyle/>
          <a:p>
            <a:endParaRPr lang="en-PR"/>
          </a:p>
        </p:txBody>
      </p:sp>
      <p:sp>
        <p:nvSpPr>
          <p:cNvPr id="9" name="Text 7"/>
          <p:cNvSpPr txBox="1"/>
          <p:nvPr/>
        </p:nvSpPr>
        <p:spPr>
          <a:xfrm>
            <a:off x="2807208" y="1591056"/>
            <a:ext cx="2039112" cy="749808"/>
          </a:xfrm>
          <a:prstGeom prst="rect">
            <a:avLst/>
          </a:prstGeom>
          <a:noFill/>
          <a:ln/>
        </p:spPr>
        <p:txBody>
          <a:bodyPr wrap="square" lIns="0" tIns="0" rIns="0" bIns="0" rtlCol="0" anchor="ctr"/>
          <a:lstStyle/>
          <a:p>
            <a:pPr marL="0" indent="0" algn="ctr">
              <a:buNone/>
            </a:pPr>
            <a:r>
              <a:rPr lang="en-US" sz="5400" b="1" dirty="0">
                <a:solidFill>
                  <a:srgbClr val="2A9D8F"/>
                </a:solidFill>
                <a:latin typeface="Cambria" pitchFamily="34" charset="0"/>
                <a:ea typeface="Cambria" pitchFamily="34" charset="-122"/>
                <a:cs typeface="Cambria" pitchFamily="34" charset="-120"/>
              </a:rPr>
              <a:t>E</a:t>
            </a:r>
            <a:endParaRPr lang="en-US" sz="5400" dirty="0"/>
          </a:p>
        </p:txBody>
      </p:sp>
      <p:sp>
        <p:nvSpPr>
          <p:cNvPr id="10" name="Text 8"/>
          <p:cNvSpPr txBox="1"/>
          <p:nvPr/>
        </p:nvSpPr>
        <p:spPr>
          <a:xfrm>
            <a:off x="2898648" y="2395728"/>
            <a:ext cx="1856232" cy="347472"/>
          </a:xfrm>
          <a:prstGeom prst="rect">
            <a:avLst/>
          </a:prstGeom>
          <a:noFill/>
          <a:ln/>
        </p:spPr>
        <p:txBody>
          <a:bodyPr wrap="square" lIns="0" tIns="0" rIns="0" bIns="0" rtlCol="0" anchor="ctr"/>
          <a:lstStyle/>
          <a:p>
            <a:pPr marL="0" indent="0" algn="ctr">
              <a:buNone/>
            </a:pPr>
            <a:r>
              <a:rPr lang="en-US" sz="2000" b="1" dirty="0">
                <a:solidFill>
                  <a:srgbClr val="1B2A4A"/>
                </a:solidFill>
                <a:latin typeface="Cambria" pitchFamily="34" charset="0"/>
                <a:ea typeface="Cambria" pitchFamily="34" charset="-122"/>
                <a:cs typeface="Cambria" pitchFamily="34" charset="-120"/>
              </a:rPr>
              <a:t>Ética</a:t>
            </a:r>
            <a:endParaRPr lang="en-US" sz="2000" dirty="0"/>
          </a:p>
        </p:txBody>
      </p:sp>
      <p:sp>
        <p:nvSpPr>
          <p:cNvPr id="11" name="Text 9"/>
          <p:cNvSpPr txBox="1"/>
          <p:nvPr/>
        </p:nvSpPr>
        <p:spPr>
          <a:xfrm>
            <a:off x="2935224" y="2779776"/>
            <a:ext cx="1783080" cy="1737360"/>
          </a:xfrm>
          <a:prstGeom prst="rect">
            <a:avLst/>
          </a:prstGeom>
          <a:noFill/>
          <a:ln/>
        </p:spPr>
        <p:txBody>
          <a:bodyPr wrap="square" lIns="0" tIns="0" rIns="0" bIns="0" rtlCol="0" anchor="t"/>
          <a:lstStyle/>
          <a:p>
            <a:pPr marL="0" indent="0" algn="ctr">
              <a:lnSpc>
                <a:spcPts val="2100"/>
              </a:lnSpc>
              <a:buNone/>
            </a:pPr>
            <a:r>
              <a:rPr lang="en-US" sz="1600" dirty="0">
                <a:solidFill>
                  <a:srgbClr val="2C3548"/>
                </a:solidFill>
                <a:latin typeface="Calibri" pitchFamily="34" charset="0"/>
                <a:ea typeface="Calibri" pitchFamily="34" charset="-122"/>
                <a:cs typeface="Calibri" pitchFamily="34" charset="-120"/>
              </a:rPr>
              <a:t>Respeto a los derechos de autor. Prohibido el plagio y todo uso para acoso o discriminación.</a:t>
            </a:r>
            <a:endParaRPr lang="en-US" sz="1600" dirty="0"/>
          </a:p>
        </p:txBody>
      </p:sp>
      <p:sp>
        <p:nvSpPr>
          <p:cNvPr id="12" name="Shape 10"/>
          <p:cNvSpPr/>
          <p:nvPr/>
        </p:nvSpPr>
        <p:spPr>
          <a:xfrm>
            <a:off x="5047488" y="1426464"/>
            <a:ext cx="2039112" cy="3145536"/>
          </a:xfrm>
          <a:prstGeom prst="roundRect">
            <a:avLst>
              <a:gd name="adj" fmla="val 4036"/>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3" name="Text 11"/>
          <p:cNvSpPr txBox="1"/>
          <p:nvPr/>
        </p:nvSpPr>
        <p:spPr>
          <a:xfrm>
            <a:off x="5047488" y="1591056"/>
            <a:ext cx="2039112" cy="749808"/>
          </a:xfrm>
          <a:prstGeom prst="rect">
            <a:avLst/>
          </a:prstGeom>
          <a:noFill/>
          <a:ln/>
        </p:spPr>
        <p:txBody>
          <a:bodyPr wrap="square" lIns="0" tIns="0" rIns="0" bIns="0" rtlCol="0" anchor="ctr"/>
          <a:lstStyle/>
          <a:p>
            <a:pPr marL="0" indent="0" algn="ctr">
              <a:buNone/>
            </a:pPr>
            <a:r>
              <a:rPr lang="en-US" sz="5400" b="1" dirty="0">
                <a:solidFill>
                  <a:srgbClr val="1B2A4A"/>
                </a:solidFill>
                <a:latin typeface="Cambria" pitchFamily="34" charset="0"/>
                <a:ea typeface="Cambria" pitchFamily="34" charset="-122"/>
                <a:cs typeface="Cambria" pitchFamily="34" charset="-120"/>
              </a:rPr>
              <a:t>N</a:t>
            </a:r>
            <a:endParaRPr lang="en-US" sz="5400" dirty="0"/>
          </a:p>
        </p:txBody>
      </p:sp>
      <p:sp>
        <p:nvSpPr>
          <p:cNvPr id="14" name="Text 12"/>
          <p:cNvSpPr txBox="1"/>
          <p:nvPr/>
        </p:nvSpPr>
        <p:spPr>
          <a:xfrm>
            <a:off x="5138928" y="2395728"/>
            <a:ext cx="1856232" cy="347472"/>
          </a:xfrm>
          <a:prstGeom prst="rect">
            <a:avLst/>
          </a:prstGeom>
          <a:noFill/>
          <a:ln/>
        </p:spPr>
        <p:txBody>
          <a:bodyPr wrap="square" lIns="0" tIns="0" rIns="0" bIns="0" rtlCol="0" anchor="ctr"/>
          <a:lstStyle/>
          <a:p>
            <a:pPr marL="0" indent="0" algn="ctr">
              <a:buNone/>
            </a:pPr>
            <a:r>
              <a:rPr lang="en-US" sz="2000" b="1" dirty="0">
                <a:solidFill>
                  <a:srgbClr val="1B2A4A"/>
                </a:solidFill>
                <a:latin typeface="Cambria" pitchFamily="34" charset="0"/>
                <a:ea typeface="Cambria" pitchFamily="34" charset="-122"/>
                <a:cs typeface="Cambria" pitchFamily="34" charset="-120"/>
              </a:rPr>
              <a:t>Narrativa</a:t>
            </a:r>
            <a:endParaRPr lang="en-US" sz="2000" dirty="0"/>
          </a:p>
        </p:txBody>
      </p:sp>
      <p:sp>
        <p:nvSpPr>
          <p:cNvPr id="15" name="Text 13"/>
          <p:cNvSpPr txBox="1"/>
          <p:nvPr/>
        </p:nvSpPr>
        <p:spPr>
          <a:xfrm>
            <a:off x="5175504" y="2779776"/>
            <a:ext cx="1783080" cy="1737360"/>
          </a:xfrm>
          <a:prstGeom prst="rect">
            <a:avLst/>
          </a:prstGeom>
          <a:noFill/>
          <a:ln/>
        </p:spPr>
        <p:txBody>
          <a:bodyPr wrap="square" lIns="0" tIns="0" rIns="0" bIns="0" rtlCol="0" anchor="t"/>
          <a:lstStyle/>
          <a:p>
            <a:pPr marL="0" indent="0" algn="ctr">
              <a:lnSpc>
                <a:spcPts val="2100"/>
              </a:lnSpc>
              <a:buNone/>
            </a:pPr>
            <a:r>
              <a:rPr lang="en-US" sz="1600" dirty="0">
                <a:solidFill>
                  <a:srgbClr val="2C3548"/>
                </a:solidFill>
                <a:latin typeface="Calibri" pitchFamily="34" charset="0"/>
                <a:ea typeface="Calibri" pitchFamily="34" charset="-122"/>
                <a:cs typeface="Calibri" pitchFamily="34" charset="-120"/>
              </a:rPr>
              <a:t>El estudiante explica y defiende su proceso; la IA no puede sustituir su voz.</a:t>
            </a:r>
            <a:endParaRPr lang="en-US" sz="1600" dirty="0"/>
          </a:p>
        </p:txBody>
      </p:sp>
      <p:sp>
        <p:nvSpPr>
          <p:cNvPr id="16" name="Shape 14"/>
          <p:cNvSpPr/>
          <p:nvPr/>
        </p:nvSpPr>
        <p:spPr>
          <a:xfrm>
            <a:off x="7287768" y="1426464"/>
            <a:ext cx="2039112" cy="3145536"/>
          </a:xfrm>
          <a:prstGeom prst="roundRect">
            <a:avLst>
              <a:gd name="adj" fmla="val 4036"/>
            </a:avLst>
          </a:prstGeom>
          <a:solidFill>
            <a:srgbClr val="F1F8F7"/>
          </a:solidFill>
          <a:ln w="12700">
            <a:solidFill>
              <a:srgbClr val="F1F8F7"/>
            </a:solidFill>
            <a:prstDash val="solid"/>
          </a:ln>
          <a:effectLst>
            <a:outerShdw blurRad="127000" dist="25400" dir="5400000" algn="bl" rotWithShape="0">
              <a:srgbClr val="1B2A4A">
                <a:alpha val="14000"/>
              </a:srgbClr>
            </a:outerShdw>
          </a:effectLst>
        </p:spPr>
        <p:txBody>
          <a:bodyPr/>
          <a:lstStyle/>
          <a:p>
            <a:endParaRPr lang="en-PR"/>
          </a:p>
        </p:txBody>
      </p:sp>
      <p:sp>
        <p:nvSpPr>
          <p:cNvPr id="17" name="Text 15"/>
          <p:cNvSpPr txBox="1"/>
          <p:nvPr/>
        </p:nvSpPr>
        <p:spPr>
          <a:xfrm>
            <a:off x="7287768" y="1591056"/>
            <a:ext cx="2039112" cy="749808"/>
          </a:xfrm>
          <a:prstGeom prst="rect">
            <a:avLst/>
          </a:prstGeom>
          <a:noFill/>
          <a:ln/>
        </p:spPr>
        <p:txBody>
          <a:bodyPr wrap="square" lIns="0" tIns="0" rIns="0" bIns="0" rtlCol="0" anchor="ctr"/>
          <a:lstStyle/>
          <a:p>
            <a:pPr marL="0" indent="0" algn="ctr">
              <a:buNone/>
            </a:pPr>
            <a:r>
              <a:rPr lang="en-US" sz="5400" b="1" dirty="0">
                <a:solidFill>
                  <a:srgbClr val="2A9D8F"/>
                </a:solidFill>
                <a:latin typeface="Cambria" pitchFamily="34" charset="0"/>
                <a:ea typeface="Cambria" pitchFamily="34" charset="-122"/>
                <a:cs typeface="Cambria" pitchFamily="34" charset="-120"/>
              </a:rPr>
              <a:t>S</a:t>
            </a:r>
            <a:endParaRPr lang="en-US" sz="5400" dirty="0"/>
          </a:p>
        </p:txBody>
      </p:sp>
      <p:sp>
        <p:nvSpPr>
          <p:cNvPr id="18" name="Text 16"/>
          <p:cNvSpPr txBox="1"/>
          <p:nvPr/>
        </p:nvSpPr>
        <p:spPr>
          <a:xfrm>
            <a:off x="7379208" y="2395728"/>
            <a:ext cx="1856232" cy="347472"/>
          </a:xfrm>
          <a:prstGeom prst="rect">
            <a:avLst/>
          </a:prstGeom>
          <a:noFill/>
          <a:ln/>
        </p:spPr>
        <p:txBody>
          <a:bodyPr wrap="square" lIns="0" tIns="0" rIns="0" bIns="0" rtlCol="0" anchor="ctr"/>
          <a:lstStyle/>
          <a:p>
            <a:pPr marL="0" indent="0" algn="ctr">
              <a:buNone/>
            </a:pPr>
            <a:r>
              <a:rPr lang="en-US" sz="2000" b="1" dirty="0">
                <a:solidFill>
                  <a:srgbClr val="1B2A4A"/>
                </a:solidFill>
                <a:latin typeface="Cambria" pitchFamily="34" charset="0"/>
                <a:ea typeface="Cambria" pitchFamily="34" charset="-122"/>
                <a:cs typeface="Cambria" pitchFamily="34" charset="-120"/>
              </a:rPr>
              <a:t>Sinergia</a:t>
            </a:r>
            <a:endParaRPr lang="en-US" sz="2000" dirty="0"/>
          </a:p>
        </p:txBody>
      </p:sp>
      <p:sp>
        <p:nvSpPr>
          <p:cNvPr id="19" name="Text 17"/>
          <p:cNvSpPr txBox="1"/>
          <p:nvPr/>
        </p:nvSpPr>
        <p:spPr>
          <a:xfrm>
            <a:off x="7415784" y="2779776"/>
            <a:ext cx="1783080" cy="1737360"/>
          </a:xfrm>
          <a:prstGeom prst="rect">
            <a:avLst/>
          </a:prstGeom>
          <a:noFill/>
          <a:ln/>
        </p:spPr>
        <p:txBody>
          <a:bodyPr wrap="square" lIns="0" tIns="0" rIns="0" bIns="0" rtlCol="0" anchor="t"/>
          <a:lstStyle/>
          <a:p>
            <a:pPr marL="0" indent="0" algn="ctr">
              <a:lnSpc>
                <a:spcPts val="2100"/>
              </a:lnSpc>
              <a:buNone/>
            </a:pPr>
            <a:r>
              <a:rPr lang="en-US" sz="1600" dirty="0">
                <a:solidFill>
                  <a:srgbClr val="2C3548"/>
                </a:solidFill>
                <a:latin typeface="Calibri" pitchFamily="34" charset="0"/>
                <a:ea typeface="Calibri" pitchFamily="34" charset="-122"/>
                <a:cs typeface="Calibri" pitchFamily="34" charset="-120"/>
              </a:rPr>
              <a:t>La IA amplía capacidades humanas. Complementa el razonamiento; no lo reemplaza.</a:t>
            </a:r>
            <a:endParaRPr lang="en-US" sz="1600" dirty="0"/>
          </a:p>
        </p:txBody>
      </p:sp>
      <p:sp>
        <p:nvSpPr>
          <p:cNvPr id="20" name="Shape 18"/>
          <p:cNvSpPr/>
          <p:nvPr/>
        </p:nvSpPr>
        <p:spPr>
          <a:xfrm>
            <a:off x="9528048" y="1426464"/>
            <a:ext cx="2039112" cy="3145536"/>
          </a:xfrm>
          <a:prstGeom prst="roundRect">
            <a:avLst>
              <a:gd name="adj" fmla="val 4036"/>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21" name="Text 19"/>
          <p:cNvSpPr txBox="1"/>
          <p:nvPr/>
        </p:nvSpPr>
        <p:spPr>
          <a:xfrm>
            <a:off x="9528048" y="1591056"/>
            <a:ext cx="2039112" cy="749808"/>
          </a:xfrm>
          <a:prstGeom prst="rect">
            <a:avLst/>
          </a:prstGeom>
          <a:noFill/>
          <a:ln/>
        </p:spPr>
        <p:txBody>
          <a:bodyPr wrap="square" lIns="0" tIns="0" rIns="0" bIns="0" rtlCol="0" anchor="ctr"/>
          <a:lstStyle/>
          <a:p>
            <a:pPr marL="0" indent="0" algn="ctr">
              <a:buNone/>
            </a:pPr>
            <a:r>
              <a:rPr lang="en-US" sz="5400" b="1" dirty="0">
                <a:solidFill>
                  <a:srgbClr val="1B2A4A"/>
                </a:solidFill>
                <a:latin typeface="Cambria" pitchFamily="34" charset="0"/>
                <a:ea typeface="Cambria" pitchFamily="34" charset="-122"/>
                <a:cs typeface="Cambria" pitchFamily="34" charset="-120"/>
              </a:rPr>
              <a:t>E</a:t>
            </a:r>
            <a:endParaRPr lang="en-US" sz="5400" dirty="0"/>
          </a:p>
        </p:txBody>
      </p:sp>
      <p:sp>
        <p:nvSpPr>
          <p:cNvPr id="22" name="Text 20"/>
          <p:cNvSpPr txBox="1"/>
          <p:nvPr/>
        </p:nvSpPr>
        <p:spPr>
          <a:xfrm>
            <a:off x="9619488" y="2395728"/>
            <a:ext cx="1856232" cy="347472"/>
          </a:xfrm>
          <a:prstGeom prst="rect">
            <a:avLst/>
          </a:prstGeom>
          <a:noFill/>
          <a:ln/>
        </p:spPr>
        <p:txBody>
          <a:bodyPr wrap="square" lIns="0" tIns="0" rIns="0" bIns="0" rtlCol="0" anchor="ctr"/>
          <a:lstStyle/>
          <a:p>
            <a:pPr marL="0" indent="0" algn="ctr">
              <a:buNone/>
            </a:pPr>
            <a:r>
              <a:rPr lang="en-US" sz="2000" b="1" dirty="0">
                <a:solidFill>
                  <a:srgbClr val="1B2A4A"/>
                </a:solidFill>
                <a:latin typeface="Cambria" pitchFamily="34" charset="0"/>
                <a:ea typeface="Cambria" pitchFamily="34" charset="-122"/>
                <a:cs typeface="Cambria" pitchFamily="34" charset="-120"/>
              </a:rPr>
              <a:t>Evaluación</a:t>
            </a:r>
            <a:endParaRPr lang="en-US" sz="2000" dirty="0"/>
          </a:p>
        </p:txBody>
      </p:sp>
      <p:sp>
        <p:nvSpPr>
          <p:cNvPr id="23" name="Text 21"/>
          <p:cNvSpPr txBox="1"/>
          <p:nvPr/>
        </p:nvSpPr>
        <p:spPr>
          <a:xfrm>
            <a:off x="9656064" y="2779776"/>
            <a:ext cx="1783080" cy="1737360"/>
          </a:xfrm>
          <a:prstGeom prst="rect">
            <a:avLst/>
          </a:prstGeom>
          <a:noFill/>
          <a:ln/>
        </p:spPr>
        <p:txBody>
          <a:bodyPr wrap="square" lIns="0" tIns="0" rIns="0" bIns="0" rtlCol="0" anchor="t"/>
          <a:lstStyle/>
          <a:p>
            <a:pPr marL="0" indent="0" algn="ctr">
              <a:lnSpc>
                <a:spcPts val="2100"/>
              </a:lnSpc>
              <a:buNone/>
            </a:pPr>
            <a:r>
              <a:rPr lang="en-US" sz="1600" dirty="0">
                <a:solidFill>
                  <a:srgbClr val="2C3548"/>
                </a:solidFill>
                <a:latin typeface="Calibri" pitchFamily="34" charset="0"/>
                <a:ea typeface="Calibri" pitchFamily="34" charset="-122"/>
                <a:cs typeface="Calibri" pitchFamily="34" charset="-120"/>
              </a:rPr>
              <a:t>Se verifica el aprendizaje real mediante explicación oral, defensa del trabajo o cuestionario.</a:t>
            </a:r>
            <a:endParaRPr lang="en-US" sz="1600" dirty="0"/>
          </a:p>
        </p:txBody>
      </p:sp>
      <p:sp>
        <p:nvSpPr>
          <p:cNvPr id="24" name="Shape 22"/>
          <p:cNvSpPr/>
          <p:nvPr/>
        </p:nvSpPr>
        <p:spPr>
          <a:xfrm>
            <a:off x="566928" y="4700016"/>
            <a:ext cx="11057839" cy="950976"/>
          </a:xfrm>
          <a:prstGeom prst="roundRect">
            <a:avLst>
              <a:gd name="adj" fmla="val 8654"/>
            </a:avLst>
          </a:prstGeom>
          <a:solidFill>
            <a:srgbClr val="1B2A4A"/>
          </a:solidFill>
          <a:ln w="12700">
            <a:solidFill>
              <a:srgbClr val="1B2A4A"/>
            </a:solidFill>
            <a:prstDash val="solid"/>
          </a:ln>
          <a:effectLst>
            <a:outerShdw blurRad="127000" dist="25400" dir="5400000" algn="bl" rotWithShape="0">
              <a:srgbClr val="1B2A4A">
                <a:alpha val="14000"/>
              </a:srgbClr>
            </a:outerShdw>
          </a:effectLst>
        </p:spPr>
        <p:txBody>
          <a:bodyPr/>
          <a:lstStyle/>
          <a:p>
            <a:endParaRPr lang="en-PR"/>
          </a:p>
        </p:txBody>
      </p:sp>
      <p:sp>
        <p:nvSpPr>
          <p:cNvPr id="25" name="Text 23"/>
          <p:cNvSpPr txBox="1"/>
          <p:nvPr/>
        </p:nvSpPr>
        <p:spPr>
          <a:xfrm>
            <a:off x="978408" y="4700016"/>
            <a:ext cx="10234879" cy="950976"/>
          </a:xfrm>
          <a:prstGeom prst="rect">
            <a:avLst/>
          </a:prstGeom>
          <a:noFill/>
          <a:ln/>
        </p:spPr>
        <p:txBody>
          <a:bodyPr wrap="square" lIns="0" tIns="0" rIns="0" bIns="0" rtlCol="0" anchor="ctr"/>
          <a:lstStyle/>
          <a:p>
            <a:pPr marL="0" indent="0">
              <a:lnSpc>
                <a:spcPts val="2800"/>
              </a:lnSpc>
              <a:buNone/>
            </a:pPr>
            <a:r>
              <a:rPr lang="en-US" sz="2000" i="1" dirty="0">
                <a:solidFill>
                  <a:srgbClr val="FFFFFF"/>
                </a:solidFill>
                <a:latin typeface="Cambria" pitchFamily="34" charset="0"/>
                <a:ea typeface="Cambria" pitchFamily="34" charset="-122"/>
                <a:cs typeface="Cambria" pitchFamily="34" charset="-120"/>
              </a:rPr>
              <a:t>“La tecnología, por sí sola, no transforma la educación; lo hace el maestro mediante decisiones pedagógicas fundamentadas.”</a:t>
            </a:r>
            <a:endParaRPr lang="en-US" sz="2000" dirty="0"/>
          </a:p>
        </p:txBody>
      </p:sp>
      <p:sp>
        <p:nvSpPr>
          <p:cNvPr id="26" name="Text 24"/>
          <p:cNvSpPr txBox="1"/>
          <p:nvPr/>
        </p:nvSpPr>
        <p:spPr>
          <a:xfrm>
            <a:off x="566928" y="5760720"/>
            <a:ext cx="11057839" cy="548640"/>
          </a:xfrm>
          <a:prstGeom prst="rect">
            <a:avLst/>
          </a:prstGeom>
          <a:noFill/>
          <a:ln/>
        </p:spPr>
        <p:txBody>
          <a:bodyPr wrap="square" lIns="0" tIns="0" rIns="0" bIns="0" rtlCol="0" anchor="t"/>
          <a:lstStyle/>
          <a:p>
            <a:pPr marL="0" indent="0">
              <a:lnSpc>
                <a:spcPts val="2100"/>
              </a:lnSpc>
              <a:buNone/>
            </a:pPr>
            <a:r>
              <a:rPr lang="en-US" sz="1600" i="1" dirty="0">
                <a:solidFill>
                  <a:srgbClr val="5A6478"/>
                </a:solidFill>
                <a:latin typeface="Calibri" pitchFamily="34" charset="0"/>
                <a:ea typeface="Calibri" pitchFamily="34" charset="-122"/>
                <a:cs typeface="Calibri" pitchFamily="34" charset="-120"/>
              </a:rPr>
              <a:t>Fuente: Departamento de Educación de Puerto Rico (2026). Guía para el uso de la inteligencia artificial en el aprendizaje estudiantil.</a:t>
            </a:r>
            <a:endParaRPr lang="en-US" sz="1600" dirty="0"/>
          </a:p>
        </p:txBody>
      </p:sp>
      <p:sp>
        <p:nvSpPr>
          <p:cNvPr id="27" name="Text 25"/>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8" name="Text 26"/>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59</a:t>
            </a:r>
            <a:endParaRPr lang="en-US" sz="1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ALUCINACIONES Y CONTROL DE CALIDAD</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Verificar no es opcional</a:t>
            </a:r>
            <a:endParaRPr lang="en-US" sz="3000" dirty="0"/>
          </a:p>
        </p:txBody>
      </p:sp>
      <p:sp>
        <p:nvSpPr>
          <p:cNvPr id="4" name="Shape 2"/>
          <p:cNvSpPr/>
          <p:nvPr/>
        </p:nvSpPr>
        <p:spPr>
          <a:xfrm>
            <a:off x="566928" y="1426464"/>
            <a:ext cx="5422392" cy="2834640"/>
          </a:xfrm>
          <a:prstGeom prst="roundRect">
            <a:avLst>
              <a:gd name="adj" fmla="val 2903"/>
            </a:avLst>
          </a:prstGeom>
          <a:solidFill>
            <a:srgbClr val="FBF0EF"/>
          </a:solidFill>
          <a:ln w="12700">
            <a:solidFill>
              <a:srgbClr val="FBF0EF"/>
            </a:solidFill>
            <a:prstDash val="solid"/>
          </a:ln>
          <a:effectLst>
            <a:outerShdw blurRad="127000" dist="25400" dir="5400000" algn="bl" rotWithShape="0">
              <a:srgbClr val="1B2A4A">
                <a:alpha val="14000"/>
              </a:srgbClr>
            </a:outerShdw>
          </a:effectLst>
        </p:spPr>
        <p:txBody>
          <a:bodyPr/>
          <a:lstStyle/>
          <a:p>
            <a:endParaRPr lang="en-PR"/>
          </a:p>
        </p:txBody>
      </p:sp>
      <p:sp>
        <p:nvSpPr>
          <p:cNvPr id="5" name="Text 3"/>
          <p:cNvSpPr txBox="1"/>
          <p:nvPr/>
        </p:nvSpPr>
        <p:spPr>
          <a:xfrm>
            <a:off x="841248" y="1609344"/>
            <a:ext cx="4892040" cy="365760"/>
          </a:xfrm>
          <a:prstGeom prst="rect">
            <a:avLst/>
          </a:prstGeom>
          <a:noFill/>
          <a:ln/>
        </p:spPr>
        <p:txBody>
          <a:bodyPr wrap="square" lIns="0" tIns="0" rIns="0" bIns="0" rtlCol="0" anchor="ctr"/>
          <a:lstStyle/>
          <a:p>
            <a:pPr marL="0" indent="0">
              <a:buNone/>
            </a:pPr>
            <a:r>
              <a:rPr lang="en-US" sz="1900" b="1" dirty="0">
                <a:solidFill>
                  <a:srgbClr val="C0392B"/>
                </a:solidFill>
                <a:latin typeface="Cambria" pitchFamily="34" charset="0"/>
                <a:ea typeface="Cambria" pitchFamily="34" charset="-122"/>
                <a:cs typeface="Cambria" pitchFamily="34" charset="-120"/>
              </a:rPr>
              <a:t>Lo que el modelo inventa con más frecuencia</a:t>
            </a:r>
            <a:endParaRPr lang="en-US" sz="1900" dirty="0"/>
          </a:p>
        </p:txBody>
      </p:sp>
      <p:sp>
        <p:nvSpPr>
          <p:cNvPr id="6" name="Text 4"/>
          <p:cNvSpPr txBox="1"/>
          <p:nvPr/>
        </p:nvSpPr>
        <p:spPr>
          <a:xfrm>
            <a:off x="841248" y="2029968"/>
            <a:ext cx="4892040" cy="2103120"/>
          </a:xfrm>
          <a:prstGeom prst="rect">
            <a:avLst/>
          </a:prstGeom>
          <a:noFill/>
          <a:ln/>
        </p:spPr>
        <p:txBody>
          <a:bodyPr wrap="square" lIns="0" tIns="0" rIns="0" bIns="0" rtlCol="0" anchor="t"/>
          <a:lstStyle/>
          <a:p>
            <a:pPr marL="342900" indent="-342900">
              <a:lnSpc>
                <a:spcPts val="2200"/>
              </a:lnSpc>
              <a:spcAft>
                <a:spcPts val="600"/>
              </a:spcAft>
              <a:buSzPct val="100000"/>
              <a:buChar char="•"/>
            </a:pPr>
            <a:r>
              <a:rPr lang="en-US" sz="1700" dirty="0">
                <a:solidFill>
                  <a:srgbClr val="2C3548"/>
                </a:solidFill>
                <a:latin typeface="Calibri" pitchFamily="34" charset="0"/>
                <a:ea typeface="Calibri" pitchFamily="34" charset="-122"/>
                <a:cs typeface="Calibri" pitchFamily="34" charset="-120"/>
              </a:rPr>
              <a:t>Referencias bibliográficas, DOI y números de página</a:t>
            </a:r>
            <a:endParaRPr lang="en-US" sz="1700" dirty="0"/>
          </a:p>
          <a:p>
            <a:pPr marL="342900" indent="-342900">
              <a:lnSpc>
                <a:spcPts val="2200"/>
              </a:lnSpc>
              <a:spcAft>
                <a:spcPts val="600"/>
              </a:spcAft>
              <a:buSzPct val="100000"/>
              <a:buChar char="•"/>
            </a:pPr>
            <a:r>
              <a:rPr lang="en-US" sz="1700" dirty="0">
                <a:solidFill>
                  <a:srgbClr val="2C3548"/>
                </a:solidFill>
                <a:latin typeface="Calibri" pitchFamily="34" charset="0"/>
                <a:ea typeface="Calibri" pitchFamily="34" charset="-122"/>
                <a:cs typeface="Calibri" pitchFamily="34" charset="-120"/>
              </a:rPr>
              <a:t>Citas textuales atribuidas a autores reales</a:t>
            </a:r>
            <a:endParaRPr lang="en-US" sz="1700" dirty="0"/>
          </a:p>
          <a:p>
            <a:pPr marL="342900" indent="-342900">
              <a:lnSpc>
                <a:spcPts val="2200"/>
              </a:lnSpc>
              <a:spcAft>
                <a:spcPts val="600"/>
              </a:spcAft>
              <a:buSzPct val="100000"/>
              <a:buChar char="•"/>
            </a:pPr>
            <a:r>
              <a:rPr lang="en-US" sz="1700" dirty="0">
                <a:solidFill>
                  <a:srgbClr val="2C3548"/>
                </a:solidFill>
                <a:latin typeface="Calibri" pitchFamily="34" charset="0"/>
                <a:ea typeface="Calibri" pitchFamily="34" charset="-122"/>
                <a:cs typeface="Calibri" pitchFamily="34" charset="-120"/>
              </a:rPr>
              <a:t>Datos estadísticos con apariencia de precisión</a:t>
            </a:r>
            <a:endParaRPr lang="en-US" sz="1700" dirty="0"/>
          </a:p>
          <a:p>
            <a:pPr marL="342900" indent="-342900">
              <a:lnSpc>
                <a:spcPts val="2200"/>
              </a:lnSpc>
              <a:spcAft>
                <a:spcPts val="600"/>
              </a:spcAft>
              <a:buSzPct val="100000"/>
              <a:buChar char="•"/>
            </a:pPr>
            <a:r>
              <a:rPr lang="en-US" sz="1700" dirty="0">
                <a:solidFill>
                  <a:srgbClr val="2C3548"/>
                </a:solidFill>
                <a:latin typeface="Calibri" pitchFamily="34" charset="0"/>
                <a:ea typeface="Calibri" pitchFamily="34" charset="-122"/>
                <a:cs typeface="Calibri" pitchFamily="34" charset="-120"/>
              </a:rPr>
              <a:t>Fechas, leyes y números de carta circular</a:t>
            </a:r>
            <a:endParaRPr lang="en-US" sz="1700" dirty="0"/>
          </a:p>
          <a:p>
            <a:pPr marL="342900" indent="-342900">
              <a:lnSpc>
                <a:spcPts val="2200"/>
              </a:lnSpc>
              <a:spcAft>
                <a:spcPts val="600"/>
              </a:spcAft>
              <a:buSzPct val="100000"/>
              <a:buChar char="•"/>
            </a:pPr>
            <a:r>
              <a:rPr lang="en-US" sz="1700" dirty="0">
                <a:solidFill>
                  <a:srgbClr val="2C3548"/>
                </a:solidFill>
                <a:latin typeface="Calibri" pitchFamily="34" charset="0"/>
                <a:ea typeface="Calibri" pitchFamily="34" charset="-122"/>
                <a:cs typeface="Calibri" pitchFamily="34" charset="-120"/>
              </a:rPr>
              <a:t>Resultados de operaciones aritméticas largas</a:t>
            </a:r>
            <a:endParaRPr lang="en-US" sz="1700" dirty="0"/>
          </a:p>
        </p:txBody>
      </p:sp>
      <p:sp>
        <p:nvSpPr>
          <p:cNvPr id="7" name="Shape 5"/>
          <p:cNvSpPr/>
          <p:nvPr/>
        </p:nvSpPr>
        <p:spPr>
          <a:xfrm>
            <a:off x="6199632" y="1426464"/>
            <a:ext cx="5422392" cy="2834640"/>
          </a:xfrm>
          <a:prstGeom prst="roundRect">
            <a:avLst>
              <a:gd name="adj" fmla="val 2903"/>
            </a:avLst>
          </a:prstGeom>
          <a:solidFill>
            <a:srgbClr val="F1F8F7"/>
          </a:solidFill>
          <a:ln w="12700">
            <a:solidFill>
              <a:srgbClr val="F1F8F7"/>
            </a:solidFill>
            <a:prstDash val="solid"/>
          </a:ln>
          <a:effectLst>
            <a:outerShdw blurRad="127000" dist="25400" dir="5400000" algn="bl" rotWithShape="0">
              <a:srgbClr val="1B2A4A">
                <a:alpha val="14000"/>
              </a:srgbClr>
            </a:outerShdw>
          </a:effectLst>
        </p:spPr>
        <p:txBody>
          <a:bodyPr/>
          <a:lstStyle/>
          <a:p>
            <a:endParaRPr lang="en-PR"/>
          </a:p>
        </p:txBody>
      </p:sp>
      <p:sp>
        <p:nvSpPr>
          <p:cNvPr id="8" name="Text 6"/>
          <p:cNvSpPr txBox="1"/>
          <p:nvPr/>
        </p:nvSpPr>
        <p:spPr>
          <a:xfrm>
            <a:off x="6473952" y="1609344"/>
            <a:ext cx="4892040" cy="365760"/>
          </a:xfrm>
          <a:prstGeom prst="rect">
            <a:avLst/>
          </a:prstGeom>
          <a:noFill/>
          <a:ln/>
        </p:spPr>
        <p:txBody>
          <a:bodyPr wrap="square" lIns="0" tIns="0" rIns="0" bIns="0" rtlCol="0" anchor="ctr"/>
          <a:lstStyle/>
          <a:p>
            <a:pPr marL="0" indent="0">
              <a:buNone/>
            </a:pPr>
            <a:r>
              <a:rPr lang="en-US" sz="1900" b="1" dirty="0">
                <a:solidFill>
                  <a:srgbClr val="2A9D8F"/>
                </a:solidFill>
                <a:latin typeface="Cambria" pitchFamily="34" charset="0"/>
                <a:ea typeface="Cambria" pitchFamily="34" charset="-122"/>
                <a:cs typeface="Cambria" pitchFamily="34" charset="-120"/>
              </a:rPr>
              <a:t>Protocolo de verificación en tres pasos</a:t>
            </a:r>
            <a:endParaRPr lang="en-US" sz="1900" dirty="0"/>
          </a:p>
        </p:txBody>
      </p:sp>
      <p:sp>
        <p:nvSpPr>
          <p:cNvPr id="9" name="Shape 7"/>
          <p:cNvSpPr/>
          <p:nvPr/>
        </p:nvSpPr>
        <p:spPr>
          <a:xfrm>
            <a:off x="6473952" y="2121408"/>
            <a:ext cx="475488" cy="475488"/>
          </a:xfrm>
          <a:prstGeom prst="ellipse">
            <a:avLst/>
          </a:prstGeom>
          <a:solidFill>
            <a:srgbClr val="2A9D8F"/>
          </a:solidFill>
          <a:ln w="12700">
            <a:solidFill>
              <a:srgbClr val="2A9D8F"/>
            </a:solidFill>
            <a:prstDash val="solid"/>
          </a:ln>
        </p:spPr>
        <p:txBody>
          <a:bodyPr/>
          <a:lstStyle/>
          <a:p>
            <a:endParaRPr lang="en-PR"/>
          </a:p>
        </p:txBody>
      </p:sp>
      <p:sp>
        <p:nvSpPr>
          <p:cNvPr id="10" name="Text 8"/>
          <p:cNvSpPr txBox="1"/>
          <p:nvPr/>
        </p:nvSpPr>
        <p:spPr>
          <a:xfrm>
            <a:off x="6473952" y="2121408"/>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9"/>
          <p:cNvSpPr txBox="1"/>
          <p:nvPr/>
        </p:nvSpPr>
        <p:spPr>
          <a:xfrm>
            <a:off x="7077456" y="2103120"/>
            <a:ext cx="4315968" cy="548640"/>
          </a:xfrm>
          <a:prstGeom prst="rect">
            <a:avLst/>
          </a:prstGeom>
          <a:noFill/>
          <a:ln/>
        </p:spPr>
        <p:txBody>
          <a:bodyPr wrap="square" lIns="0" tIns="0" rIns="0" bIns="0" rtlCol="0" anchor="ctr"/>
          <a:lstStyle/>
          <a:p>
            <a:pPr marL="0" indent="0">
              <a:lnSpc>
                <a:spcPts val="2200"/>
              </a:lnSpc>
              <a:buNone/>
            </a:pPr>
            <a:r>
              <a:rPr lang="en-US" sz="1700" dirty="0">
                <a:solidFill>
                  <a:srgbClr val="2C3548"/>
                </a:solidFill>
                <a:latin typeface="Calibri" pitchFamily="34" charset="0"/>
                <a:ea typeface="Calibri" pitchFamily="34" charset="-122"/>
                <a:cs typeface="Calibri" pitchFamily="34" charset="-120"/>
              </a:rPr>
              <a:t>Contraste todo dato con una fuente primaria localizable</a:t>
            </a:r>
            <a:endParaRPr lang="en-US" sz="1700" dirty="0"/>
          </a:p>
        </p:txBody>
      </p:sp>
      <p:sp>
        <p:nvSpPr>
          <p:cNvPr id="12" name="Shape 10"/>
          <p:cNvSpPr/>
          <p:nvPr/>
        </p:nvSpPr>
        <p:spPr>
          <a:xfrm>
            <a:off x="6473952" y="2816352"/>
            <a:ext cx="475488" cy="475488"/>
          </a:xfrm>
          <a:prstGeom prst="ellipse">
            <a:avLst/>
          </a:prstGeom>
          <a:solidFill>
            <a:srgbClr val="2A9D8F"/>
          </a:solidFill>
          <a:ln w="12700">
            <a:solidFill>
              <a:srgbClr val="2A9D8F"/>
            </a:solidFill>
            <a:prstDash val="solid"/>
          </a:ln>
        </p:spPr>
        <p:txBody>
          <a:bodyPr/>
          <a:lstStyle/>
          <a:p>
            <a:endParaRPr lang="en-PR"/>
          </a:p>
        </p:txBody>
      </p:sp>
      <p:sp>
        <p:nvSpPr>
          <p:cNvPr id="13" name="Text 11"/>
          <p:cNvSpPr txBox="1"/>
          <p:nvPr/>
        </p:nvSpPr>
        <p:spPr>
          <a:xfrm>
            <a:off x="6473952" y="2816352"/>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txBox="1"/>
          <p:nvPr/>
        </p:nvSpPr>
        <p:spPr>
          <a:xfrm>
            <a:off x="7077456" y="2798064"/>
            <a:ext cx="4315968" cy="548640"/>
          </a:xfrm>
          <a:prstGeom prst="rect">
            <a:avLst/>
          </a:prstGeom>
          <a:noFill/>
          <a:ln/>
        </p:spPr>
        <p:txBody>
          <a:bodyPr wrap="square" lIns="0" tIns="0" rIns="0" bIns="0" rtlCol="0" anchor="ctr"/>
          <a:lstStyle/>
          <a:p>
            <a:pPr marL="0" indent="0">
              <a:lnSpc>
                <a:spcPts val="2200"/>
              </a:lnSpc>
              <a:buNone/>
            </a:pPr>
            <a:r>
              <a:rPr lang="en-US" sz="1700" dirty="0">
                <a:solidFill>
                  <a:srgbClr val="2C3548"/>
                </a:solidFill>
                <a:latin typeface="Calibri" pitchFamily="34" charset="0"/>
                <a:ea typeface="Calibri" pitchFamily="34" charset="-122"/>
                <a:cs typeface="Calibri" pitchFamily="34" charset="-120"/>
              </a:rPr>
              <a:t>Busque cada referencia por su título exacto antes de usarla</a:t>
            </a:r>
            <a:endParaRPr lang="en-US" sz="1700" dirty="0"/>
          </a:p>
        </p:txBody>
      </p:sp>
      <p:sp>
        <p:nvSpPr>
          <p:cNvPr id="15" name="Shape 13"/>
          <p:cNvSpPr/>
          <p:nvPr/>
        </p:nvSpPr>
        <p:spPr>
          <a:xfrm>
            <a:off x="6473952" y="3511296"/>
            <a:ext cx="475488" cy="475488"/>
          </a:xfrm>
          <a:prstGeom prst="ellipse">
            <a:avLst/>
          </a:prstGeom>
          <a:solidFill>
            <a:srgbClr val="2A9D8F"/>
          </a:solidFill>
          <a:ln w="12700">
            <a:solidFill>
              <a:srgbClr val="2A9D8F"/>
            </a:solidFill>
            <a:prstDash val="solid"/>
          </a:ln>
        </p:spPr>
        <p:txBody>
          <a:bodyPr/>
          <a:lstStyle/>
          <a:p>
            <a:endParaRPr lang="en-PR"/>
          </a:p>
        </p:txBody>
      </p:sp>
      <p:sp>
        <p:nvSpPr>
          <p:cNvPr id="16" name="Text 14"/>
          <p:cNvSpPr txBox="1"/>
          <p:nvPr/>
        </p:nvSpPr>
        <p:spPr>
          <a:xfrm>
            <a:off x="6473952" y="3511296"/>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7077456" y="3493008"/>
            <a:ext cx="4315968" cy="548640"/>
          </a:xfrm>
          <a:prstGeom prst="rect">
            <a:avLst/>
          </a:prstGeom>
          <a:noFill/>
          <a:ln/>
        </p:spPr>
        <p:txBody>
          <a:bodyPr wrap="square" lIns="0" tIns="0" rIns="0" bIns="0" rtlCol="0" anchor="ctr"/>
          <a:lstStyle/>
          <a:p>
            <a:pPr marL="0" indent="0">
              <a:lnSpc>
                <a:spcPts val="2200"/>
              </a:lnSpc>
              <a:buNone/>
            </a:pPr>
            <a:r>
              <a:rPr lang="en-US" sz="1700" dirty="0">
                <a:solidFill>
                  <a:srgbClr val="2C3548"/>
                </a:solidFill>
                <a:latin typeface="Calibri" pitchFamily="34" charset="0"/>
                <a:ea typeface="Calibri" pitchFamily="34" charset="-122"/>
                <a:cs typeface="Calibri" pitchFamily="34" charset="-120"/>
              </a:rPr>
              <a:t>Si no domina el tema, no publique el resultado: consúltelo</a:t>
            </a:r>
            <a:endParaRPr lang="en-US" sz="1700" dirty="0"/>
          </a:p>
        </p:txBody>
      </p:sp>
      <p:sp>
        <p:nvSpPr>
          <p:cNvPr id="18" name="Shape 16"/>
          <p:cNvSpPr/>
          <p:nvPr/>
        </p:nvSpPr>
        <p:spPr>
          <a:xfrm>
            <a:off x="566928" y="4425696"/>
            <a:ext cx="11057839" cy="1517904"/>
          </a:xfrm>
          <a:prstGeom prst="roundRect">
            <a:avLst>
              <a:gd name="adj" fmla="val 5422"/>
            </a:avLst>
          </a:prstGeom>
          <a:solidFill>
            <a:srgbClr val="1B2A4A"/>
          </a:solidFill>
          <a:ln w="12700">
            <a:solidFill>
              <a:srgbClr val="1B2A4A"/>
            </a:solidFill>
            <a:prstDash val="solid"/>
          </a:ln>
          <a:effectLst>
            <a:outerShdw blurRad="127000" dist="25400" dir="5400000" algn="bl" rotWithShape="0">
              <a:srgbClr val="1B2A4A">
                <a:alpha val="14000"/>
              </a:srgbClr>
            </a:outerShdw>
          </a:effectLst>
        </p:spPr>
        <p:txBody>
          <a:bodyPr/>
          <a:lstStyle/>
          <a:p>
            <a:endParaRPr lang="en-PR"/>
          </a:p>
        </p:txBody>
      </p:sp>
      <p:sp>
        <p:nvSpPr>
          <p:cNvPr id="19" name="Text 17"/>
          <p:cNvSpPr txBox="1"/>
          <p:nvPr/>
        </p:nvSpPr>
        <p:spPr>
          <a:xfrm>
            <a:off x="950976" y="4553712"/>
            <a:ext cx="10287000" cy="384048"/>
          </a:xfrm>
          <a:prstGeom prst="rect">
            <a:avLst/>
          </a:prstGeom>
          <a:noFill/>
          <a:ln/>
        </p:spPr>
        <p:txBody>
          <a:bodyPr wrap="square" lIns="0" tIns="0" rIns="0" bIns="0" rtlCol="0" anchor="ctr"/>
          <a:lstStyle/>
          <a:p>
            <a:pPr marL="0" indent="0">
              <a:buNone/>
            </a:pPr>
            <a:r>
              <a:rPr lang="en-US" sz="2200" b="1" dirty="0">
                <a:solidFill>
                  <a:srgbClr val="C9A227"/>
                </a:solidFill>
                <a:latin typeface="Cambria" pitchFamily="34" charset="0"/>
                <a:ea typeface="Cambria" pitchFamily="34" charset="-122"/>
                <a:cs typeface="Cambria" pitchFamily="34" charset="-120"/>
              </a:rPr>
              <a:t>La regla de las dos preguntas</a:t>
            </a:r>
            <a:endParaRPr lang="en-US" sz="2200" dirty="0"/>
          </a:p>
        </p:txBody>
      </p:sp>
      <p:sp>
        <p:nvSpPr>
          <p:cNvPr id="20" name="Text 18"/>
          <p:cNvSpPr txBox="1"/>
          <p:nvPr/>
        </p:nvSpPr>
        <p:spPr>
          <a:xfrm>
            <a:off x="950976" y="4956048"/>
            <a:ext cx="10287000" cy="914400"/>
          </a:xfrm>
          <a:prstGeom prst="rect">
            <a:avLst/>
          </a:prstGeom>
          <a:noFill/>
          <a:ln/>
        </p:spPr>
        <p:txBody>
          <a:bodyPr wrap="square" lIns="0" tIns="0" rIns="0" bIns="0" rtlCol="0" anchor="t"/>
          <a:lstStyle/>
          <a:p>
            <a:pPr marL="0" indent="0">
              <a:lnSpc>
                <a:spcPts val="2300"/>
              </a:lnSpc>
              <a:buNone/>
            </a:pPr>
            <a:r>
              <a:rPr lang="en-US" sz="1700" dirty="0">
                <a:solidFill>
                  <a:srgbClr val="FFFFFF"/>
                </a:solidFill>
                <a:latin typeface="Calibri" pitchFamily="34" charset="0"/>
                <a:ea typeface="Calibri" pitchFamily="34" charset="-122"/>
                <a:cs typeface="Calibri" pitchFamily="34" charset="-120"/>
              </a:rPr>
              <a:t>Antes de usar cualquier producto de IA con estudiantes o colegas, respóndase: ¿tengo el conocimiento necesario para detectar un error en esto? y ¿verifiqué al menos los datos que un estudiante podría citar después?  Si alguna respuesta es no, todavía no está listo para usarlo.</a:t>
            </a:r>
            <a:endParaRPr lang="en-US" sz="1700" dirty="0"/>
          </a:p>
        </p:txBody>
      </p:sp>
      <p:sp>
        <p:nvSpPr>
          <p:cNvPr id="21" name="Text 19"/>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2" name="Text 20"/>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60</a:t>
            </a:r>
            <a:endParaRPr lang="en-US" sz="1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INTEGRIDAD ACADÉMICA · HALLAZGO CON RESPALDO EMPÍRICO</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Los detectores de IA no son evidencia</a:t>
            </a:r>
            <a:endParaRPr lang="en-US" sz="3000" dirty="0"/>
          </a:p>
        </p:txBody>
      </p:sp>
      <p:graphicFrame>
        <p:nvGraphicFramePr>
          <p:cNvPr id="4" name="Chart 0"/>
          <p:cNvGraphicFramePr/>
          <p:nvPr/>
        </p:nvGraphicFramePr>
        <p:xfrm>
          <a:off x="566928" y="1463040"/>
          <a:ext cx="640080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187184" y="1463040"/>
            <a:ext cx="4453128" cy="4160520"/>
          </a:xfrm>
          <a:prstGeom prst="roundRect">
            <a:avLst>
              <a:gd name="adj" fmla="val 1978"/>
            </a:avLst>
          </a:prstGeom>
          <a:solidFill>
            <a:srgbClr val="1B2A4A"/>
          </a:solidFill>
          <a:ln w="12700">
            <a:solidFill>
              <a:srgbClr val="1B2A4A"/>
            </a:solidFill>
            <a:prstDash val="solid"/>
          </a:ln>
          <a:effectLst>
            <a:outerShdw blurRad="127000" dist="25400" dir="5400000" algn="bl" rotWithShape="0">
              <a:srgbClr val="1B2A4A">
                <a:alpha val="14000"/>
              </a:srgbClr>
            </a:outerShdw>
          </a:effectLst>
        </p:spPr>
        <p:txBody>
          <a:bodyPr/>
          <a:lstStyle/>
          <a:p>
            <a:endParaRPr lang="en-PR"/>
          </a:p>
        </p:txBody>
      </p:sp>
      <p:sp>
        <p:nvSpPr>
          <p:cNvPr id="6" name="Text 3"/>
          <p:cNvSpPr txBox="1"/>
          <p:nvPr/>
        </p:nvSpPr>
        <p:spPr>
          <a:xfrm>
            <a:off x="7406640" y="1627632"/>
            <a:ext cx="4069080" cy="347472"/>
          </a:xfrm>
          <a:prstGeom prst="rect">
            <a:avLst/>
          </a:prstGeom>
          <a:noFill/>
          <a:ln/>
        </p:spPr>
        <p:txBody>
          <a:bodyPr wrap="square" lIns="0" tIns="0" rIns="0" bIns="0" rtlCol="0" anchor="ctr"/>
          <a:lstStyle/>
          <a:p>
            <a:pPr marL="0" indent="0">
              <a:buNone/>
            </a:pPr>
            <a:r>
              <a:rPr lang="en-US" sz="1900" b="1" dirty="0">
                <a:solidFill>
                  <a:srgbClr val="C9A227"/>
                </a:solidFill>
                <a:latin typeface="Cambria" pitchFamily="34" charset="0"/>
                <a:ea typeface="Cambria" pitchFamily="34" charset="-122"/>
                <a:cs typeface="Cambria" pitchFamily="34" charset="-120"/>
              </a:rPr>
              <a:t>Lo que concluyó el estudio</a:t>
            </a:r>
            <a:endParaRPr lang="en-US" sz="1900" dirty="0"/>
          </a:p>
        </p:txBody>
      </p:sp>
      <p:sp>
        <p:nvSpPr>
          <p:cNvPr id="7" name="Text 4"/>
          <p:cNvSpPr txBox="1"/>
          <p:nvPr/>
        </p:nvSpPr>
        <p:spPr>
          <a:xfrm>
            <a:off x="7406640" y="2011680"/>
            <a:ext cx="4096512" cy="1481328"/>
          </a:xfrm>
          <a:prstGeom prst="rect">
            <a:avLst/>
          </a:prstGeom>
          <a:noFill/>
          <a:ln/>
        </p:spPr>
        <p:txBody>
          <a:bodyPr wrap="square" lIns="0" tIns="0" rIns="0" bIns="0" rtlCol="0" anchor="t"/>
          <a:lstStyle/>
          <a:p>
            <a:pPr marL="0" indent="0">
              <a:lnSpc>
                <a:spcPts val="2100"/>
              </a:lnSpc>
              <a:buNone/>
            </a:pPr>
            <a:r>
              <a:rPr lang="en-US" sz="1600" dirty="0">
                <a:solidFill>
                  <a:srgbClr val="FFFFFF"/>
                </a:solidFill>
                <a:latin typeface="Calibri" pitchFamily="34" charset="0"/>
                <a:ea typeface="Calibri" pitchFamily="34" charset="-122"/>
                <a:cs typeface="Calibri" pitchFamily="34" charset="-120"/>
              </a:rPr>
              <a:t>Ninguna de las catorce herramientas evaluadas alcanzó 80% de exactitud. Los autores concluyen que “no son ni exactas ni confiables” y recomiendan no usarlas como prueba de falta académica.</a:t>
            </a:r>
            <a:endParaRPr lang="en-US" sz="1600" dirty="0"/>
          </a:p>
        </p:txBody>
      </p:sp>
      <p:sp>
        <p:nvSpPr>
          <p:cNvPr id="8" name="Shape 5"/>
          <p:cNvSpPr/>
          <p:nvPr/>
        </p:nvSpPr>
        <p:spPr>
          <a:xfrm>
            <a:off x="7406640" y="3584448"/>
            <a:ext cx="1188720" cy="36576"/>
          </a:xfrm>
          <a:prstGeom prst="rect">
            <a:avLst/>
          </a:prstGeom>
          <a:solidFill>
            <a:srgbClr val="C9A227"/>
          </a:solidFill>
          <a:ln w="12700">
            <a:solidFill>
              <a:srgbClr val="C9A227"/>
            </a:solidFill>
            <a:prstDash val="solid"/>
          </a:ln>
        </p:spPr>
        <p:txBody>
          <a:bodyPr/>
          <a:lstStyle/>
          <a:p>
            <a:endParaRPr lang="en-PR"/>
          </a:p>
        </p:txBody>
      </p:sp>
      <p:sp>
        <p:nvSpPr>
          <p:cNvPr id="9" name="Text 6"/>
          <p:cNvSpPr txBox="1"/>
          <p:nvPr/>
        </p:nvSpPr>
        <p:spPr>
          <a:xfrm>
            <a:off x="7406640" y="3730752"/>
            <a:ext cx="4069080" cy="347472"/>
          </a:xfrm>
          <a:prstGeom prst="rect">
            <a:avLst/>
          </a:prstGeom>
          <a:noFill/>
          <a:ln/>
        </p:spPr>
        <p:txBody>
          <a:bodyPr wrap="square" lIns="0" tIns="0" rIns="0" bIns="0" rtlCol="0" anchor="ctr"/>
          <a:lstStyle/>
          <a:p>
            <a:pPr marL="0" indent="0">
              <a:buNone/>
            </a:pPr>
            <a:r>
              <a:rPr lang="en-US" sz="1900" b="1" dirty="0">
                <a:solidFill>
                  <a:srgbClr val="C9A227"/>
                </a:solidFill>
                <a:latin typeface="Cambria" pitchFamily="34" charset="0"/>
                <a:ea typeface="Cambria" pitchFamily="34" charset="-122"/>
                <a:cs typeface="Cambria" pitchFamily="34" charset="-120"/>
              </a:rPr>
              <a:t>Qué hacer en su lugar</a:t>
            </a:r>
            <a:endParaRPr lang="en-US" sz="1900" dirty="0"/>
          </a:p>
        </p:txBody>
      </p:sp>
      <p:sp>
        <p:nvSpPr>
          <p:cNvPr id="10" name="Text 7"/>
          <p:cNvSpPr txBox="1"/>
          <p:nvPr/>
        </p:nvSpPr>
        <p:spPr>
          <a:xfrm>
            <a:off x="7406640" y="4114800"/>
            <a:ext cx="4096512" cy="1389888"/>
          </a:xfrm>
          <a:prstGeom prst="rect">
            <a:avLst/>
          </a:prstGeom>
          <a:noFill/>
          <a:ln/>
        </p:spPr>
        <p:txBody>
          <a:bodyPr wrap="square" lIns="0" tIns="0" rIns="0" bIns="0" rtlCol="0" anchor="t"/>
          <a:lstStyle/>
          <a:p>
            <a:pPr marL="342900" indent="-342900">
              <a:lnSpc>
                <a:spcPts val="2000"/>
              </a:lnSpc>
              <a:spcAft>
                <a:spcPts val="500"/>
              </a:spcAft>
              <a:buSzPct val="100000"/>
              <a:buChar char="•"/>
            </a:pPr>
            <a:r>
              <a:rPr lang="en-US" sz="1600" dirty="0">
                <a:solidFill>
                  <a:srgbClr val="DDE3EC"/>
                </a:solidFill>
                <a:latin typeface="Calibri" pitchFamily="34" charset="0"/>
                <a:ea typeface="Calibri" pitchFamily="34" charset="-122"/>
                <a:cs typeface="Calibri" pitchFamily="34" charset="-120"/>
              </a:rPr>
              <a:t>Pida el proceso, no solo el producto</a:t>
            </a:r>
            <a:endParaRPr lang="en-US" sz="1600" dirty="0"/>
          </a:p>
          <a:p>
            <a:pPr marL="342900" indent="-342900">
              <a:lnSpc>
                <a:spcPts val="2000"/>
              </a:lnSpc>
              <a:spcAft>
                <a:spcPts val="500"/>
              </a:spcAft>
              <a:buSzPct val="100000"/>
              <a:buChar char="•"/>
            </a:pPr>
            <a:r>
              <a:rPr lang="en-US" sz="1600" dirty="0">
                <a:solidFill>
                  <a:srgbClr val="DDE3EC"/>
                </a:solidFill>
                <a:latin typeface="Calibri" pitchFamily="34" charset="0"/>
                <a:ea typeface="Calibri" pitchFamily="34" charset="-122"/>
                <a:cs typeface="Calibri" pitchFamily="34" charset="-120"/>
              </a:rPr>
              <a:t>Incorpore defensa oral del trabajo</a:t>
            </a:r>
            <a:endParaRPr lang="en-US" sz="1600" dirty="0"/>
          </a:p>
          <a:p>
            <a:pPr marL="342900" indent="-342900">
              <a:lnSpc>
                <a:spcPts val="2000"/>
              </a:lnSpc>
              <a:spcAft>
                <a:spcPts val="500"/>
              </a:spcAft>
              <a:buSzPct val="100000"/>
              <a:buChar char="•"/>
            </a:pPr>
            <a:r>
              <a:rPr lang="en-US" sz="1600" dirty="0">
                <a:solidFill>
                  <a:srgbClr val="DDE3EC"/>
                </a:solidFill>
                <a:latin typeface="Calibri" pitchFamily="34" charset="0"/>
                <a:ea typeface="Calibri" pitchFamily="34" charset="-122"/>
                <a:cs typeface="Calibri" pitchFamily="34" charset="-120"/>
              </a:rPr>
              <a:t>Evalúe borradores y revisiones</a:t>
            </a:r>
            <a:endParaRPr lang="en-US" sz="1600" dirty="0"/>
          </a:p>
          <a:p>
            <a:pPr marL="342900" indent="-342900">
              <a:lnSpc>
                <a:spcPts val="2000"/>
              </a:lnSpc>
              <a:spcAft>
                <a:spcPts val="500"/>
              </a:spcAft>
              <a:buSzPct val="100000"/>
              <a:buChar char="•"/>
            </a:pPr>
            <a:r>
              <a:rPr lang="en-US" sz="1600" dirty="0">
                <a:solidFill>
                  <a:srgbClr val="DDE3EC"/>
                </a:solidFill>
                <a:latin typeface="Calibri" pitchFamily="34" charset="0"/>
                <a:ea typeface="Calibri" pitchFamily="34" charset="-122"/>
                <a:cs typeface="Calibri" pitchFamily="34" charset="-120"/>
              </a:rPr>
              <a:t>Acuerde reglas explícitas desde el día uno</a:t>
            </a:r>
            <a:endParaRPr lang="en-US" sz="1600" dirty="0"/>
          </a:p>
        </p:txBody>
      </p:sp>
      <p:sp>
        <p:nvSpPr>
          <p:cNvPr id="11" name="Text 8"/>
          <p:cNvSpPr txBox="1"/>
          <p:nvPr/>
        </p:nvSpPr>
        <p:spPr>
          <a:xfrm>
            <a:off x="566928" y="5760720"/>
            <a:ext cx="11057839" cy="548640"/>
          </a:xfrm>
          <a:prstGeom prst="rect">
            <a:avLst/>
          </a:prstGeom>
          <a:noFill/>
          <a:ln/>
        </p:spPr>
        <p:txBody>
          <a:bodyPr wrap="square" lIns="0" tIns="0" rIns="0" bIns="0" rtlCol="0" anchor="t"/>
          <a:lstStyle/>
          <a:p>
            <a:pPr marL="0" indent="0">
              <a:lnSpc>
                <a:spcPts val="2100"/>
              </a:lnSpc>
              <a:buNone/>
            </a:pPr>
            <a:r>
              <a:rPr lang="en-US" sz="1600" i="1" dirty="0">
                <a:solidFill>
                  <a:srgbClr val="5A6478"/>
                </a:solidFill>
                <a:latin typeface="Calibri" pitchFamily="34" charset="0"/>
                <a:ea typeface="Calibri" pitchFamily="34" charset="-122"/>
                <a:cs typeface="Calibri" pitchFamily="34" charset="-120"/>
              </a:rPr>
              <a:t>Fuente: Weber-Wulff, D., Anohina-Naumeca, A., Bjelobaba, S., et al. (2023). Testing of detection tools for AI-generated text. International Journal for Educational Integrity, 19(1), 26.</a:t>
            </a:r>
            <a:endParaRPr lang="en-US" sz="1600" dirty="0"/>
          </a:p>
        </p:txBody>
      </p:sp>
      <p:sp>
        <p:nvSpPr>
          <p:cNvPr id="12" name="Text 9"/>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3" name="Text 10"/>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61</a:t>
            </a:r>
            <a:endParaRPr lang="en-US" sz="16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PRIVACIDAD Y PROTECCIÓN</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Datos estudiantiles: lo que nunca se sube</a:t>
            </a:r>
            <a:endParaRPr lang="en-US" sz="3000" dirty="0"/>
          </a:p>
        </p:txBody>
      </p:sp>
      <p:sp>
        <p:nvSpPr>
          <p:cNvPr id="4" name="Shape 2"/>
          <p:cNvSpPr/>
          <p:nvPr/>
        </p:nvSpPr>
        <p:spPr>
          <a:xfrm>
            <a:off x="566928" y="1408176"/>
            <a:ext cx="11057839" cy="4626864"/>
          </a:xfrm>
          <a:prstGeom prst="roundRect">
            <a:avLst>
              <a:gd name="adj" fmla="val 1779"/>
            </a:avLst>
          </a:prstGeom>
          <a:solidFill>
            <a:srgbClr val="FBF0EF"/>
          </a:solidFill>
          <a:ln w="12700">
            <a:solidFill>
              <a:srgbClr val="FBF0EF"/>
            </a:solidFill>
            <a:prstDash val="solid"/>
          </a:ln>
          <a:effectLst>
            <a:outerShdw blurRad="127000" dist="25400" dir="5400000" algn="bl" rotWithShape="0">
              <a:srgbClr val="1B2A4A">
                <a:alpha val="14000"/>
              </a:srgbClr>
            </a:outerShdw>
          </a:effectLst>
        </p:spPr>
        <p:txBody>
          <a:bodyPr/>
          <a:lstStyle/>
          <a:p>
            <a:endParaRPr lang="en-PR"/>
          </a:p>
        </p:txBody>
      </p:sp>
      <p:sp>
        <p:nvSpPr>
          <p:cNvPr id="5" name="Text 3"/>
          <p:cNvSpPr txBox="1"/>
          <p:nvPr/>
        </p:nvSpPr>
        <p:spPr>
          <a:xfrm>
            <a:off x="896112" y="1591056"/>
            <a:ext cx="10424160" cy="438912"/>
          </a:xfrm>
          <a:prstGeom prst="rect">
            <a:avLst/>
          </a:prstGeom>
          <a:noFill/>
          <a:ln/>
        </p:spPr>
        <p:txBody>
          <a:bodyPr wrap="square" lIns="0" tIns="0" rIns="0" bIns="0" rtlCol="0" anchor="ctr"/>
          <a:lstStyle/>
          <a:p>
            <a:pPr marL="0" indent="0">
              <a:buNone/>
            </a:pPr>
            <a:r>
              <a:rPr lang="en-US" sz="2800" b="1" kern="0" spc="300" dirty="0">
                <a:solidFill>
                  <a:srgbClr val="C0392B"/>
                </a:solidFill>
                <a:latin typeface="Cambria" pitchFamily="34" charset="0"/>
                <a:ea typeface="Cambria" pitchFamily="34" charset="-122"/>
                <a:cs typeface="Cambria" pitchFamily="34" charset="-120"/>
              </a:rPr>
              <a:t>NUNCA</a:t>
            </a:r>
            <a:endParaRPr lang="en-US" sz="2800" dirty="0"/>
          </a:p>
        </p:txBody>
      </p:sp>
      <p:sp>
        <p:nvSpPr>
          <p:cNvPr id="6" name="Text 4"/>
          <p:cNvSpPr txBox="1"/>
          <p:nvPr/>
        </p:nvSpPr>
        <p:spPr>
          <a:xfrm>
            <a:off x="896112" y="2157984"/>
            <a:ext cx="365760" cy="457200"/>
          </a:xfrm>
          <a:prstGeom prst="rect">
            <a:avLst/>
          </a:prstGeom>
          <a:noFill/>
          <a:ln/>
        </p:spPr>
        <p:txBody>
          <a:bodyPr wrap="square" lIns="0" tIns="0" rIns="0" bIns="0" rtlCol="0" anchor="ctr"/>
          <a:lstStyle/>
          <a:p>
            <a:pPr marL="0" indent="0">
              <a:buNone/>
            </a:pPr>
            <a:r>
              <a:rPr lang="en-US" sz="2000" b="1" dirty="0">
                <a:solidFill>
                  <a:srgbClr val="C0392B"/>
                </a:solidFill>
                <a:latin typeface="Calibri" pitchFamily="34" charset="0"/>
                <a:ea typeface="Calibri" pitchFamily="34" charset="-122"/>
                <a:cs typeface="Calibri" pitchFamily="34" charset="-120"/>
              </a:rPr>
              <a:t>✗</a:t>
            </a:r>
            <a:endParaRPr lang="en-US" sz="2000" dirty="0"/>
          </a:p>
        </p:txBody>
      </p:sp>
      <p:sp>
        <p:nvSpPr>
          <p:cNvPr id="7" name="Text 5"/>
          <p:cNvSpPr txBox="1"/>
          <p:nvPr/>
        </p:nvSpPr>
        <p:spPr>
          <a:xfrm>
            <a:off x="1389888" y="2157984"/>
            <a:ext cx="9875520" cy="457200"/>
          </a:xfrm>
          <a:prstGeom prst="rect">
            <a:avLst/>
          </a:prstGeom>
          <a:noFill/>
          <a:ln/>
        </p:spPr>
        <p:txBody>
          <a:bodyPr wrap="square" lIns="0" tIns="0" rIns="0" bIns="0" rtlCol="0" anchor="ctr"/>
          <a:lstStyle/>
          <a:p>
            <a:pPr marL="0" indent="0">
              <a:buNone/>
            </a:pPr>
            <a:r>
              <a:rPr lang="en-US" sz="1800" dirty="0">
                <a:solidFill>
                  <a:srgbClr val="2C3548"/>
                </a:solidFill>
                <a:latin typeface="Calibri" pitchFamily="34" charset="0"/>
                <a:ea typeface="Calibri" pitchFamily="34" charset="-122"/>
                <a:cs typeface="Calibri" pitchFamily="34" charset="-120"/>
              </a:rPr>
              <a:t>Nombres completos de estudiantes</a:t>
            </a:r>
            <a:endParaRPr lang="en-US" sz="1800" dirty="0"/>
          </a:p>
        </p:txBody>
      </p:sp>
      <p:sp>
        <p:nvSpPr>
          <p:cNvPr id="8" name="Text 6"/>
          <p:cNvSpPr txBox="1"/>
          <p:nvPr/>
        </p:nvSpPr>
        <p:spPr>
          <a:xfrm>
            <a:off x="896112" y="2706624"/>
            <a:ext cx="365760" cy="457200"/>
          </a:xfrm>
          <a:prstGeom prst="rect">
            <a:avLst/>
          </a:prstGeom>
          <a:noFill/>
          <a:ln/>
        </p:spPr>
        <p:txBody>
          <a:bodyPr wrap="square" lIns="0" tIns="0" rIns="0" bIns="0" rtlCol="0" anchor="ctr"/>
          <a:lstStyle/>
          <a:p>
            <a:pPr marL="0" indent="0">
              <a:buNone/>
            </a:pPr>
            <a:r>
              <a:rPr lang="en-US" sz="2000" b="1" dirty="0">
                <a:solidFill>
                  <a:srgbClr val="C0392B"/>
                </a:solidFill>
                <a:latin typeface="Calibri" pitchFamily="34" charset="0"/>
                <a:ea typeface="Calibri" pitchFamily="34" charset="-122"/>
                <a:cs typeface="Calibri" pitchFamily="34" charset="-120"/>
              </a:rPr>
              <a:t>✗</a:t>
            </a:r>
            <a:endParaRPr lang="en-US" sz="2000" dirty="0"/>
          </a:p>
        </p:txBody>
      </p:sp>
      <p:sp>
        <p:nvSpPr>
          <p:cNvPr id="9" name="Text 7"/>
          <p:cNvSpPr txBox="1"/>
          <p:nvPr/>
        </p:nvSpPr>
        <p:spPr>
          <a:xfrm>
            <a:off x="1389888" y="2706624"/>
            <a:ext cx="9875520" cy="457200"/>
          </a:xfrm>
          <a:prstGeom prst="rect">
            <a:avLst/>
          </a:prstGeom>
          <a:noFill/>
          <a:ln/>
        </p:spPr>
        <p:txBody>
          <a:bodyPr wrap="square" lIns="0" tIns="0" rIns="0" bIns="0" rtlCol="0" anchor="ctr"/>
          <a:lstStyle/>
          <a:p>
            <a:pPr marL="0" indent="0">
              <a:buNone/>
            </a:pPr>
            <a:r>
              <a:rPr lang="en-US" sz="1800" dirty="0">
                <a:solidFill>
                  <a:srgbClr val="2C3548"/>
                </a:solidFill>
                <a:latin typeface="Calibri" pitchFamily="34" charset="0"/>
                <a:ea typeface="Calibri" pitchFamily="34" charset="-122"/>
                <a:cs typeface="Calibri" pitchFamily="34" charset="-120"/>
              </a:rPr>
              <a:t>Números de expediente o de seguro social</a:t>
            </a:r>
            <a:endParaRPr lang="en-US" sz="1800" dirty="0"/>
          </a:p>
        </p:txBody>
      </p:sp>
      <p:sp>
        <p:nvSpPr>
          <p:cNvPr id="10" name="Text 8"/>
          <p:cNvSpPr txBox="1"/>
          <p:nvPr/>
        </p:nvSpPr>
        <p:spPr>
          <a:xfrm>
            <a:off x="896112" y="3255264"/>
            <a:ext cx="365760" cy="457200"/>
          </a:xfrm>
          <a:prstGeom prst="rect">
            <a:avLst/>
          </a:prstGeom>
          <a:noFill/>
          <a:ln/>
        </p:spPr>
        <p:txBody>
          <a:bodyPr wrap="square" lIns="0" tIns="0" rIns="0" bIns="0" rtlCol="0" anchor="ctr"/>
          <a:lstStyle/>
          <a:p>
            <a:pPr marL="0" indent="0">
              <a:buNone/>
            </a:pPr>
            <a:r>
              <a:rPr lang="en-US" sz="2000" b="1" dirty="0">
                <a:solidFill>
                  <a:srgbClr val="C0392B"/>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1389888" y="3255264"/>
            <a:ext cx="9875520" cy="457200"/>
          </a:xfrm>
          <a:prstGeom prst="rect">
            <a:avLst/>
          </a:prstGeom>
          <a:noFill/>
          <a:ln/>
        </p:spPr>
        <p:txBody>
          <a:bodyPr wrap="square" lIns="0" tIns="0" rIns="0" bIns="0" rtlCol="0" anchor="ctr"/>
          <a:lstStyle/>
          <a:p>
            <a:pPr marL="0" indent="0">
              <a:buNone/>
            </a:pPr>
            <a:r>
              <a:rPr lang="en-US" sz="1800" dirty="0">
                <a:solidFill>
                  <a:srgbClr val="2C3548"/>
                </a:solidFill>
                <a:latin typeface="Calibri" pitchFamily="34" charset="0"/>
                <a:ea typeface="Calibri" pitchFamily="34" charset="-122"/>
                <a:cs typeface="Calibri" pitchFamily="34" charset="-120"/>
              </a:rPr>
              <a:t>Diagnósticos, PEI o información de educación especial</a:t>
            </a:r>
            <a:endParaRPr lang="en-US" sz="1800" dirty="0"/>
          </a:p>
        </p:txBody>
      </p:sp>
      <p:sp>
        <p:nvSpPr>
          <p:cNvPr id="12" name="Text 10"/>
          <p:cNvSpPr txBox="1"/>
          <p:nvPr/>
        </p:nvSpPr>
        <p:spPr>
          <a:xfrm>
            <a:off x="896112" y="3803904"/>
            <a:ext cx="365760" cy="457200"/>
          </a:xfrm>
          <a:prstGeom prst="rect">
            <a:avLst/>
          </a:prstGeom>
          <a:noFill/>
          <a:ln/>
        </p:spPr>
        <p:txBody>
          <a:bodyPr wrap="square" lIns="0" tIns="0" rIns="0" bIns="0" rtlCol="0" anchor="ctr"/>
          <a:lstStyle/>
          <a:p>
            <a:pPr marL="0" indent="0">
              <a:buNone/>
            </a:pPr>
            <a:r>
              <a:rPr lang="en-US" sz="2000" b="1" dirty="0">
                <a:solidFill>
                  <a:srgbClr val="C0392B"/>
                </a:solidFill>
                <a:latin typeface="Calibri" pitchFamily="34" charset="0"/>
                <a:ea typeface="Calibri" pitchFamily="34" charset="-122"/>
                <a:cs typeface="Calibri" pitchFamily="34" charset="-120"/>
              </a:rPr>
              <a:t>✗</a:t>
            </a:r>
            <a:endParaRPr lang="en-US" sz="2000" dirty="0"/>
          </a:p>
        </p:txBody>
      </p:sp>
      <p:sp>
        <p:nvSpPr>
          <p:cNvPr id="13" name="Text 11"/>
          <p:cNvSpPr txBox="1"/>
          <p:nvPr/>
        </p:nvSpPr>
        <p:spPr>
          <a:xfrm>
            <a:off x="1389888" y="3803904"/>
            <a:ext cx="9875520" cy="457200"/>
          </a:xfrm>
          <a:prstGeom prst="rect">
            <a:avLst/>
          </a:prstGeom>
          <a:noFill/>
          <a:ln/>
        </p:spPr>
        <p:txBody>
          <a:bodyPr wrap="square" lIns="0" tIns="0" rIns="0" bIns="0" rtlCol="0" anchor="ctr"/>
          <a:lstStyle/>
          <a:p>
            <a:pPr marL="0" indent="0">
              <a:buNone/>
            </a:pPr>
            <a:r>
              <a:rPr lang="en-US" sz="1800" dirty="0">
                <a:solidFill>
                  <a:srgbClr val="2C3548"/>
                </a:solidFill>
                <a:latin typeface="Calibri" pitchFamily="34" charset="0"/>
                <a:ea typeface="Calibri" pitchFamily="34" charset="-122"/>
                <a:cs typeface="Calibri" pitchFamily="34" charset="-120"/>
              </a:rPr>
              <a:t>Notas, calificaciones o resultados de pruebas identificables</a:t>
            </a:r>
            <a:endParaRPr lang="en-US" sz="1800" dirty="0"/>
          </a:p>
        </p:txBody>
      </p:sp>
      <p:sp>
        <p:nvSpPr>
          <p:cNvPr id="14" name="Text 12"/>
          <p:cNvSpPr txBox="1"/>
          <p:nvPr/>
        </p:nvSpPr>
        <p:spPr>
          <a:xfrm>
            <a:off x="896112" y="4352544"/>
            <a:ext cx="365760" cy="457200"/>
          </a:xfrm>
          <a:prstGeom prst="rect">
            <a:avLst/>
          </a:prstGeom>
          <a:noFill/>
          <a:ln/>
        </p:spPr>
        <p:txBody>
          <a:bodyPr wrap="square" lIns="0" tIns="0" rIns="0" bIns="0" rtlCol="0" anchor="ctr"/>
          <a:lstStyle/>
          <a:p>
            <a:pPr marL="0" indent="0">
              <a:buNone/>
            </a:pPr>
            <a:r>
              <a:rPr lang="en-US" sz="2000" b="1" dirty="0">
                <a:solidFill>
                  <a:srgbClr val="C0392B"/>
                </a:solidFill>
                <a:latin typeface="Calibri" pitchFamily="34" charset="0"/>
                <a:ea typeface="Calibri" pitchFamily="34" charset="-122"/>
                <a:cs typeface="Calibri" pitchFamily="34" charset="-120"/>
              </a:rPr>
              <a:t>✗</a:t>
            </a:r>
            <a:endParaRPr lang="en-US" sz="2000" dirty="0"/>
          </a:p>
        </p:txBody>
      </p:sp>
      <p:sp>
        <p:nvSpPr>
          <p:cNvPr id="15" name="Text 13"/>
          <p:cNvSpPr txBox="1"/>
          <p:nvPr/>
        </p:nvSpPr>
        <p:spPr>
          <a:xfrm>
            <a:off x="1389888" y="4352544"/>
            <a:ext cx="9875520" cy="457200"/>
          </a:xfrm>
          <a:prstGeom prst="rect">
            <a:avLst/>
          </a:prstGeom>
          <a:noFill/>
          <a:ln/>
        </p:spPr>
        <p:txBody>
          <a:bodyPr wrap="square" lIns="0" tIns="0" rIns="0" bIns="0" rtlCol="0" anchor="ctr"/>
          <a:lstStyle/>
          <a:p>
            <a:pPr marL="0" indent="0">
              <a:buNone/>
            </a:pPr>
            <a:r>
              <a:rPr lang="en-US" sz="1800" dirty="0">
                <a:solidFill>
                  <a:srgbClr val="2C3548"/>
                </a:solidFill>
                <a:latin typeface="Calibri" pitchFamily="34" charset="0"/>
                <a:ea typeface="Calibri" pitchFamily="34" charset="-122"/>
                <a:cs typeface="Calibri" pitchFamily="34" charset="-120"/>
              </a:rPr>
              <a:t>Fotografías, videos o grabaciones de menores</a:t>
            </a:r>
            <a:endParaRPr lang="en-US" sz="1800" dirty="0"/>
          </a:p>
        </p:txBody>
      </p:sp>
      <p:sp>
        <p:nvSpPr>
          <p:cNvPr id="16" name="Text 14"/>
          <p:cNvSpPr txBox="1"/>
          <p:nvPr/>
        </p:nvSpPr>
        <p:spPr>
          <a:xfrm>
            <a:off x="896112" y="4901184"/>
            <a:ext cx="365760" cy="457200"/>
          </a:xfrm>
          <a:prstGeom prst="rect">
            <a:avLst/>
          </a:prstGeom>
          <a:noFill/>
          <a:ln/>
        </p:spPr>
        <p:txBody>
          <a:bodyPr wrap="square" lIns="0" tIns="0" rIns="0" bIns="0" rtlCol="0" anchor="ctr"/>
          <a:lstStyle/>
          <a:p>
            <a:pPr marL="0" indent="0">
              <a:buNone/>
            </a:pPr>
            <a:r>
              <a:rPr lang="en-US" sz="2000" b="1" dirty="0">
                <a:solidFill>
                  <a:srgbClr val="C0392B"/>
                </a:solidFill>
                <a:latin typeface="Calibri" pitchFamily="34" charset="0"/>
                <a:ea typeface="Calibri" pitchFamily="34" charset="-122"/>
                <a:cs typeface="Calibri" pitchFamily="34" charset="-120"/>
              </a:rPr>
              <a:t>✗</a:t>
            </a:r>
            <a:endParaRPr lang="en-US" sz="2000" dirty="0"/>
          </a:p>
        </p:txBody>
      </p:sp>
      <p:sp>
        <p:nvSpPr>
          <p:cNvPr id="17" name="Text 15"/>
          <p:cNvSpPr txBox="1"/>
          <p:nvPr/>
        </p:nvSpPr>
        <p:spPr>
          <a:xfrm>
            <a:off x="1389888" y="4901184"/>
            <a:ext cx="9875520" cy="457200"/>
          </a:xfrm>
          <a:prstGeom prst="rect">
            <a:avLst/>
          </a:prstGeom>
          <a:noFill/>
          <a:ln/>
        </p:spPr>
        <p:txBody>
          <a:bodyPr wrap="square" lIns="0" tIns="0" rIns="0" bIns="0" rtlCol="0" anchor="ctr"/>
          <a:lstStyle/>
          <a:p>
            <a:pPr marL="0" indent="0">
              <a:buNone/>
            </a:pPr>
            <a:r>
              <a:rPr lang="en-US" sz="1800" dirty="0">
                <a:solidFill>
                  <a:srgbClr val="2C3548"/>
                </a:solidFill>
                <a:latin typeface="Calibri" pitchFamily="34" charset="0"/>
                <a:ea typeface="Calibri" pitchFamily="34" charset="-122"/>
                <a:cs typeface="Calibri" pitchFamily="34" charset="-120"/>
              </a:rPr>
              <a:t>Direcciones, teléfonos o datos de contacto de familias</a:t>
            </a:r>
            <a:endParaRPr lang="en-US" sz="1800" dirty="0"/>
          </a:p>
        </p:txBody>
      </p:sp>
      <p:sp>
        <p:nvSpPr>
          <p:cNvPr id="18" name="Text 16"/>
          <p:cNvSpPr txBox="1"/>
          <p:nvPr/>
        </p:nvSpPr>
        <p:spPr>
          <a:xfrm>
            <a:off x="896112" y="5449824"/>
            <a:ext cx="365760" cy="457200"/>
          </a:xfrm>
          <a:prstGeom prst="rect">
            <a:avLst/>
          </a:prstGeom>
          <a:noFill/>
          <a:ln/>
        </p:spPr>
        <p:txBody>
          <a:bodyPr wrap="square" lIns="0" tIns="0" rIns="0" bIns="0" rtlCol="0" anchor="ctr"/>
          <a:lstStyle/>
          <a:p>
            <a:pPr marL="0" indent="0">
              <a:buNone/>
            </a:pPr>
            <a:r>
              <a:rPr lang="en-US" sz="2000" b="1" dirty="0">
                <a:solidFill>
                  <a:srgbClr val="C0392B"/>
                </a:solidFill>
                <a:latin typeface="Calibri" pitchFamily="34" charset="0"/>
                <a:ea typeface="Calibri" pitchFamily="34" charset="-122"/>
                <a:cs typeface="Calibri" pitchFamily="34" charset="-120"/>
              </a:rPr>
              <a:t>✗</a:t>
            </a:r>
            <a:endParaRPr lang="en-US" sz="2000" dirty="0"/>
          </a:p>
        </p:txBody>
      </p:sp>
      <p:sp>
        <p:nvSpPr>
          <p:cNvPr id="19" name="Text 17"/>
          <p:cNvSpPr txBox="1"/>
          <p:nvPr/>
        </p:nvSpPr>
        <p:spPr>
          <a:xfrm>
            <a:off x="1389888" y="5449824"/>
            <a:ext cx="9875520" cy="457200"/>
          </a:xfrm>
          <a:prstGeom prst="rect">
            <a:avLst/>
          </a:prstGeom>
          <a:noFill/>
          <a:ln/>
        </p:spPr>
        <p:txBody>
          <a:bodyPr wrap="square" lIns="0" tIns="0" rIns="0" bIns="0" rtlCol="0" anchor="ctr"/>
          <a:lstStyle/>
          <a:p>
            <a:pPr marL="0" indent="0">
              <a:buNone/>
            </a:pPr>
            <a:r>
              <a:rPr lang="en-US" sz="1800" dirty="0">
                <a:solidFill>
                  <a:srgbClr val="2C3548"/>
                </a:solidFill>
                <a:latin typeface="Calibri" pitchFamily="34" charset="0"/>
                <a:ea typeface="Calibri" pitchFamily="34" charset="-122"/>
                <a:cs typeface="Calibri" pitchFamily="34" charset="-120"/>
              </a:rPr>
              <a:t>Documentos disciplinarios o de servicios de apoyo</a:t>
            </a:r>
            <a:endParaRPr lang="en-US" sz="1800" dirty="0"/>
          </a:p>
        </p:txBody>
      </p:sp>
      <p:sp>
        <p:nvSpPr>
          <p:cNvPr id="20" name="Text 18"/>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1" name="Text 19"/>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62</a:t>
            </a:r>
            <a:endParaRPr lang="en-US" sz="16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PRIVACIDAD Y PROTECCIÓN</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Datos estudiantiles: lo que nunca se sube (cont.)</a:t>
            </a:r>
            <a:endParaRPr lang="en-US" sz="3000" dirty="0"/>
          </a:p>
        </p:txBody>
      </p:sp>
      <p:sp>
        <p:nvSpPr>
          <p:cNvPr id="4" name="Shape 2"/>
          <p:cNvSpPr/>
          <p:nvPr/>
        </p:nvSpPr>
        <p:spPr>
          <a:xfrm>
            <a:off x="566928" y="1408176"/>
            <a:ext cx="11057839" cy="4626864"/>
          </a:xfrm>
          <a:prstGeom prst="roundRect">
            <a:avLst>
              <a:gd name="adj" fmla="val 1779"/>
            </a:avLst>
          </a:prstGeom>
          <a:solidFill>
            <a:srgbClr val="F1F8F7"/>
          </a:solidFill>
          <a:ln w="12700">
            <a:solidFill>
              <a:srgbClr val="F1F8F7"/>
            </a:solidFill>
            <a:prstDash val="solid"/>
          </a:ln>
          <a:effectLst>
            <a:outerShdw blurRad="127000" dist="25400" dir="5400000" algn="bl" rotWithShape="0">
              <a:srgbClr val="1B2A4A">
                <a:alpha val="14000"/>
              </a:srgbClr>
            </a:outerShdw>
          </a:effectLst>
        </p:spPr>
        <p:txBody>
          <a:bodyPr/>
          <a:lstStyle/>
          <a:p>
            <a:endParaRPr lang="en-PR"/>
          </a:p>
        </p:txBody>
      </p:sp>
      <p:sp>
        <p:nvSpPr>
          <p:cNvPr id="5" name="Text 3"/>
          <p:cNvSpPr txBox="1"/>
          <p:nvPr/>
        </p:nvSpPr>
        <p:spPr>
          <a:xfrm>
            <a:off x="896112" y="1591056"/>
            <a:ext cx="10424160" cy="438912"/>
          </a:xfrm>
          <a:prstGeom prst="rect">
            <a:avLst/>
          </a:prstGeom>
          <a:noFill/>
          <a:ln/>
        </p:spPr>
        <p:txBody>
          <a:bodyPr wrap="square" lIns="0" tIns="0" rIns="0" bIns="0" rtlCol="0" anchor="ctr"/>
          <a:lstStyle/>
          <a:p>
            <a:pPr marL="0" indent="0">
              <a:buNone/>
            </a:pPr>
            <a:r>
              <a:rPr lang="en-US" sz="2800" b="1" kern="0" spc="300" dirty="0">
                <a:solidFill>
                  <a:srgbClr val="2A9D8F"/>
                </a:solidFill>
                <a:latin typeface="Cambria" pitchFamily="34" charset="0"/>
                <a:ea typeface="Cambria" pitchFamily="34" charset="-122"/>
                <a:cs typeface="Cambria" pitchFamily="34" charset="-120"/>
              </a:rPr>
              <a:t>EN SU LUGAR</a:t>
            </a:r>
            <a:endParaRPr lang="en-US" sz="2800" dirty="0"/>
          </a:p>
        </p:txBody>
      </p:sp>
      <p:sp>
        <p:nvSpPr>
          <p:cNvPr id="6" name="Text 4"/>
          <p:cNvSpPr txBox="1"/>
          <p:nvPr/>
        </p:nvSpPr>
        <p:spPr>
          <a:xfrm>
            <a:off x="896112" y="2157984"/>
            <a:ext cx="365760" cy="457200"/>
          </a:xfrm>
          <a:prstGeom prst="rect">
            <a:avLst/>
          </a:prstGeom>
          <a:noFill/>
          <a:ln/>
        </p:spPr>
        <p:txBody>
          <a:bodyPr wrap="square" lIns="0" tIns="0" rIns="0" bIns="0" rtlCol="0" anchor="ctr"/>
          <a:lstStyle/>
          <a:p>
            <a:pPr marL="0" indent="0">
              <a:buNone/>
            </a:pPr>
            <a:r>
              <a:rPr lang="en-US" sz="2000" b="1" dirty="0">
                <a:solidFill>
                  <a:srgbClr val="2A9D8F"/>
                </a:solidFill>
                <a:latin typeface="Calibri" pitchFamily="34" charset="0"/>
                <a:ea typeface="Calibri" pitchFamily="34" charset="-122"/>
                <a:cs typeface="Calibri" pitchFamily="34" charset="-120"/>
              </a:rPr>
              <a:t>✓</a:t>
            </a:r>
            <a:endParaRPr lang="en-US" sz="2000" dirty="0"/>
          </a:p>
        </p:txBody>
      </p:sp>
      <p:sp>
        <p:nvSpPr>
          <p:cNvPr id="7" name="Text 5"/>
          <p:cNvSpPr txBox="1"/>
          <p:nvPr/>
        </p:nvSpPr>
        <p:spPr>
          <a:xfrm>
            <a:off x="1389888" y="2157984"/>
            <a:ext cx="9875520" cy="457200"/>
          </a:xfrm>
          <a:prstGeom prst="rect">
            <a:avLst/>
          </a:prstGeom>
          <a:noFill/>
          <a:ln/>
        </p:spPr>
        <p:txBody>
          <a:bodyPr wrap="square" lIns="0" tIns="0" rIns="0" bIns="0" rtlCol="0" anchor="ctr"/>
          <a:lstStyle/>
          <a:p>
            <a:pPr marL="0" indent="0">
              <a:buNone/>
            </a:pPr>
            <a:r>
              <a:rPr lang="en-US" sz="1800" dirty="0">
                <a:solidFill>
                  <a:srgbClr val="2C3548"/>
                </a:solidFill>
                <a:latin typeface="Calibri" pitchFamily="34" charset="0"/>
                <a:ea typeface="Calibri" pitchFamily="34" charset="-122"/>
                <a:cs typeface="Calibri" pitchFamily="34" charset="-120"/>
              </a:rPr>
              <a:t>Anonimice: “un estudiante de 9no grado con dificultad en factorización”</a:t>
            </a:r>
            <a:endParaRPr lang="en-US" sz="1800" dirty="0"/>
          </a:p>
        </p:txBody>
      </p:sp>
      <p:sp>
        <p:nvSpPr>
          <p:cNvPr id="8" name="Text 6"/>
          <p:cNvSpPr txBox="1"/>
          <p:nvPr/>
        </p:nvSpPr>
        <p:spPr>
          <a:xfrm>
            <a:off x="896112" y="2706624"/>
            <a:ext cx="365760" cy="457200"/>
          </a:xfrm>
          <a:prstGeom prst="rect">
            <a:avLst/>
          </a:prstGeom>
          <a:noFill/>
          <a:ln/>
        </p:spPr>
        <p:txBody>
          <a:bodyPr wrap="square" lIns="0" tIns="0" rIns="0" bIns="0" rtlCol="0" anchor="ctr"/>
          <a:lstStyle/>
          <a:p>
            <a:pPr marL="0" indent="0">
              <a:buNone/>
            </a:pPr>
            <a:r>
              <a:rPr lang="en-US" sz="2000" b="1" dirty="0">
                <a:solidFill>
                  <a:srgbClr val="2A9D8F"/>
                </a:solidFill>
                <a:latin typeface="Calibri" pitchFamily="34" charset="0"/>
                <a:ea typeface="Calibri" pitchFamily="34" charset="-122"/>
                <a:cs typeface="Calibri" pitchFamily="34" charset="-120"/>
              </a:rPr>
              <a:t>✓</a:t>
            </a:r>
            <a:endParaRPr lang="en-US" sz="2000" dirty="0"/>
          </a:p>
        </p:txBody>
      </p:sp>
      <p:sp>
        <p:nvSpPr>
          <p:cNvPr id="9" name="Text 7"/>
          <p:cNvSpPr txBox="1"/>
          <p:nvPr/>
        </p:nvSpPr>
        <p:spPr>
          <a:xfrm>
            <a:off x="1389888" y="2706624"/>
            <a:ext cx="9875520" cy="457200"/>
          </a:xfrm>
          <a:prstGeom prst="rect">
            <a:avLst/>
          </a:prstGeom>
          <a:noFill/>
          <a:ln/>
        </p:spPr>
        <p:txBody>
          <a:bodyPr wrap="square" lIns="0" tIns="0" rIns="0" bIns="0" rtlCol="0" anchor="ctr"/>
          <a:lstStyle/>
          <a:p>
            <a:pPr marL="0" indent="0">
              <a:buNone/>
            </a:pPr>
            <a:r>
              <a:rPr lang="en-US" sz="1800" dirty="0">
                <a:solidFill>
                  <a:srgbClr val="2C3548"/>
                </a:solidFill>
                <a:latin typeface="Calibri" pitchFamily="34" charset="0"/>
                <a:ea typeface="Calibri" pitchFamily="34" charset="-122"/>
                <a:cs typeface="Calibri" pitchFamily="34" charset="-120"/>
              </a:rPr>
              <a:t>Use datos agregados: “el 40% del grupo falló el ítem 7”</a:t>
            </a:r>
            <a:endParaRPr lang="en-US" sz="1800" dirty="0"/>
          </a:p>
        </p:txBody>
      </p:sp>
      <p:sp>
        <p:nvSpPr>
          <p:cNvPr id="10" name="Text 8"/>
          <p:cNvSpPr txBox="1"/>
          <p:nvPr/>
        </p:nvSpPr>
        <p:spPr>
          <a:xfrm>
            <a:off x="896112" y="3255264"/>
            <a:ext cx="365760" cy="457200"/>
          </a:xfrm>
          <a:prstGeom prst="rect">
            <a:avLst/>
          </a:prstGeom>
          <a:noFill/>
          <a:ln/>
        </p:spPr>
        <p:txBody>
          <a:bodyPr wrap="square" lIns="0" tIns="0" rIns="0" bIns="0" rtlCol="0" anchor="ctr"/>
          <a:lstStyle/>
          <a:p>
            <a:pPr marL="0" indent="0">
              <a:buNone/>
            </a:pPr>
            <a:r>
              <a:rPr lang="en-US" sz="2000" b="1" dirty="0">
                <a:solidFill>
                  <a:srgbClr val="2A9D8F"/>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1389888" y="3255264"/>
            <a:ext cx="9875520" cy="457200"/>
          </a:xfrm>
          <a:prstGeom prst="rect">
            <a:avLst/>
          </a:prstGeom>
          <a:noFill/>
          <a:ln/>
        </p:spPr>
        <p:txBody>
          <a:bodyPr wrap="square" lIns="0" tIns="0" rIns="0" bIns="0" rtlCol="0" anchor="ctr"/>
          <a:lstStyle/>
          <a:p>
            <a:pPr marL="0" indent="0">
              <a:buNone/>
            </a:pPr>
            <a:r>
              <a:rPr lang="en-US" sz="1800" dirty="0">
                <a:solidFill>
                  <a:srgbClr val="2C3548"/>
                </a:solidFill>
                <a:latin typeface="Calibri" pitchFamily="34" charset="0"/>
                <a:ea typeface="Calibri" pitchFamily="34" charset="-122"/>
                <a:cs typeface="Calibri" pitchFamily="34" charset="-120"/>
              </a:rPr>
              <a:t>Describa el patrón, no a la persona</a:t>
            </a:r>
            <a:endParaRPr lang="en-US" sz="1800" dirty="0"/>
          </a:p>
        </p:txBody>
      </p:sp>
      <p:sp>
        <p:nvSpPr>
          <p:cNvPr id="12" name="Text 10"/>
          <p:cNvSpPr txBox="1"/>
          <p:nvPr/>
        </p:nvSpPr>
        <p:spPr>
          <a:xfrm>
            <a:off x="896112" y="3803904"/>
            <a:ext cx="365760" cy="457200"/>
          </a:xfrm>
          <a:prstGeom prst="rect">
            <a:avLst/>
          </a:prstGeom>
          <a:noFill/>
          <a:ln/>
        </p:spPr>
        <p:txBody>
          <a:bodyPr wrap="square" lIns="0" tIns="0" rIns="0" bIns="0" rtlCol="0" anchor="ctr"/>
          <a:lstStyle/>
          <a:p>
            <a:pPr marL="0" indent="0">
              <a:buNone/>
            </a:pPr>
            <a:r>
              <a:rPr lang="en-US" sz="2000" b="1" dirty="0">
                <a:solidFill>
                  <a:srgbClr val="2A9D8F"/>
                </a:solidFill>
                <a:latin typeface="Calibri" pitchFamily="34" charset="0"/>
                <a:ea typeface="Calibri" pitchFamily="34" charset="-122"/>
                <a:cs typeface="Calibri" pitchFamily="34" charset="-120"/>
              </a:rPr>
              <a:t>✓</a:t>
            </a:r>
            <a:endParaRPr lang="en-US" sz="2000" dirty="0"/>
          </a:p>
        </p:txBody>
      </p:sp>
      <p:sp>
        <p:nvSpPr>
          <p:cNvPr id="13" name="Text 11"/>
          <p:cNvSpPr txBox="1"/>
          <p:nvPr/>
        </p:nvSpPr>
        <p:spPr>
          <a:xfrm>
            <a:off x="1389888" y="3803904"/>
            <a:ext cx="9875520" cy="457200"/>
          </a:xfrm>
          <a:prstGeom prst="rect">
            <a:avLst/>
          </a:prstGeom>
          <a:noFill/>
          <a:ln/>
        </p:spPr>
        <p:txBody>
          <a:bodyPr wrap="square" lIns="0" tIns="0" rIns="0" bIns="0" rtlCol="0" anchor="ctr"/>
          <a:lstStyle/>
          <a:p>
            <a:pPr marL="0" indent="0">
              <a:buNone/>
            </a:pPr>
            <a:r>
              <a:rPr lang="en-US" sz="1800" dirty="0">
                <a:solidFill>
                  <a:srgbClr val="2C3548"/>
                </a:solidFill>
                <a:latin typeface="Calibri" pitchFamily="34" charset="0"/>
                <a:ea typeface="Calibri" pitchFamily="34" charset="-122"/>
                <a:cs typeface="Calibri" pitchFamily="34" charset="-120"/>
              </a:rPr>
              <a:t>Trabaje siempre desde la cuenta institucional del DEPR</a:t>
            </a:r>
            <a:endParaRPr lang="en-US" sz="1800" dirty="0"/>
          </a:p>
        </p:txBody>
      </p:sp>
      <p:sp>
        <p:nvSpPr>
          <p:cNvPr id="14" name="Text 12"/>
          <p:cNvSpPr txBox="1"/>
          <p:nvPr/>
        </p:nvSpPr>
        <p:spPr>
          <a:xfrm>
            <a:off x="896112" y="4352544"/>
            <a:ext cx="365760" cy="457200"/>
          </a:xfrm>
          <a:prstGeom prst="rect">
            <a:avLst/>
          </a:prstGeom>
          <a:noFill/>
          <a:ln/>
        </p:spPr>
        <p:txBody>
          <a:bodyPr wrap="square" lIns="0" tIns="0" rIns="0" bIns="0" rtlCol="0" anchor="ctr"/>
          <a:lstStyle/>
          <a:p>
            <a:pPr marL="0" indent="0">
              <a:buNone/>
            </a:pPr>
            <a:r>
              <a:rPr lang="en-US" sz="2000" b="1" dirty="0">
                <a:solidFill>
                  <a:srgbClr val="2A9D8F"/>
                </a:solidFill>
                <a:latin typeface="Calibri" pitchFamily="34" charset="0"/>
                <a:ea typeface="Calibri" pitchFamily="34" charset="-122"/>
                <a:cs typeface="Calibri" pitchFamily="34" charset="-120"/>
              </a:rPr>
              <a:t>✓</a:t>
            </a:r>
            <a:endParaRPr lang="en-US" sz="2000" dirty="0"/>
          </a:p>
        </p:txBody>
      </p:sp>
      <p:sp>
        <p:nvSpPr>
          <p:cNvPr id="15" name="Text 13"/>
          <p:cNvSpPr txBox="1"/>
          <p:nvPr/>
        </p:nvSpPr>
        <p:spPr>
          <a:xfrm>
            <a:off x="1389888" y="4352544"/>
            <a:ext cx="9875520" cy="457200"/>
          </a:xfrm>
          <a:prstGeom prst="rect">
            <a:avLst/>
          </a:prstGeom>
          <a:noFill/>
          <a:ln/>
        </p:spPr>
        <p:txBody>
          <a:bodyPr wrap="square" lIns="0" tIns="0" rIns="0" bIns="0" rtlCol="0" anchor="ctr"/>
          <a:lstStyle/>
          <a:p>
            <a:pPr marL="0" indent="0">
              <a:buNone/>
            </a:pPr>
            <a:r>
              <a:rPr lang="en-US" sz="1800" dirty="0">
                <a:solidFill>
                  <a:srgbClr val="2C3548"/>
                </a:solidFill>
                <a:latin typeface="Calibri" pitchFamily="34" charset="0"/>
                <a:ea typeface="Calibri" pitchFamily="34" charset="-122"/>
                <a:cs typeface="Calibri" pitchFamily="34" charset="-120"/>
              </a:rPr>
              <a:t>Revise qué guarda la herramienta antes del primer uso</a:t>
            </a:r>
            <a:endParaRPr lang="en-US" sz="1800" dirty="0"/>
          </a:p>
        </p:txBody>
      </p:sp>
      <p:sp>
        <p:nvSpPr>
          <p:cNvPr id="16" name="Text 14"/>
          <p:cNvSpPr txBox="1"/>
          <p:nvPr/>
        </p:nvSpPr>
        <p:spPr>
          <a:xfrm>
            <a:off x="896112" y="4901184"/>
            <a:ext cx="365760" cy="457200"/>
          </a:xfrm>
          <a:prstGeom prst="rect">
            <a:avLst/>
          </a:prstGeom>
          <a:noFill/>
          <a:ln/>
        </p:spPr>
        <p:txBody>
          <a:bodyPr wrap="square" lIns="0" tIns="0" rIns="0" bIns="0" rtlCol="0" anchor="ctr"/>
          <a:lstStyle/>
          <a:p>
            <a:pPr marL="0" indent="0">
              <a:buNone/>
            </a:pPr>
            <a:r>
              <a:rPr lang="en-US" sz="2000" b="1" dirty="0">
                <a:solidFill>
                  <a:srgbClr val="2A9D8F"/>
                </a:solidFill>
                <a:latin typeface="Calibri" pitchFamily="34" charset="0"/>
                <a:ea typeface="Calibri" pitchFamily="34" charset="-122"/>
                <a:cs typeface="Calibri" pitchFamily="34" charset="-120"/>
              </a:rPr>
              <a:t>✓</a:t>
            </a:r>
            <a:endParaRPr lang="en-US" sz="2000" dirty="0"/>
          </a:p>
        </p:txBody>
      </p:sp>
      <p:sp>
        <p:nvSpPr>
          <p:cNvPr id="17" name="Text 15"/>
          <p:cNvSpPr txBox="1"/>
          <p:nvPr/>
        </p:nvSpPr>
        <p:spPr>
          <a:xfrm>
            <a:off x="1389888" y="4901184"/>
            <a:ext cx="9875520" cy="457200"/>
          </a:xfrm>
          <a:prstGeom prst="rect">
            <a:avLst/>
          </a:prstGeom>
          <a:noFill/>
          <a:ln/>
        </p:spPr>
        <p:txBody>
          <a:bodyPr wrap="square" lIns="0" tIns="0" rIns="0" bIns="0" rtlCol="0" anchor="ctr"/>
          <a:lstStyle/>
          <a:p>
            <a:pPr marL="0" indent="0">
              <a:buNone/>
            </a:pPr>
            <a:r>
              <a:rPr lang="en-US" sz="1800" dirty="0">
                <a:solidFill>
                  <a:srgbClr val="2C3548"/>
                </a:solidFill>
                <a:latin typeface="Calibri" pitchFamily="34" charset="0"/>
                <a:ea typeface="Calibri" pitchFamily="34" charset="-122"/>
                <a:cs typeface="Calibri" pitchFamily="34" charset="-120"/>
              </a:rPr>
              <a:t>Desactive el entrenamiento con sus datos cuando exista la opción</a:t>
            </a:r>
            <a:endParaRPr lang="en-US" sz="1800" dirty="0"/>
          </a:p>
        </p:txBody>
      </p:sp>
      <p:sp>
        <p:nvSpPr>
          <p:cNvPr id="18" name="Text 16"/>
          <p:cNvSpPr txBox="1"/>
          <p:nvPr/>
        </p:nvSpPr>
        <p:spPr>
          <a:xfrm>
            <a:off x="896112" y="5449824"/>
            <a:ext cx="365760" cy="457200"/>
          </a:xfrm>
          <a:prstGeom prst="rect">
            <a:avLst/>
          </a:prstGeom>
          <a:noFill/>
          <a:ln/>
        </p:spPr>
        <p:txBody>
          <a:bodyPr wrap="square" lIns="0" tIns="0" rIns="0" bIns="0" rtlCol="0" anchor="ctr"/>
          <a:lstStyle/>
          <a:p>
            <a:pPr marL="0" indent="0">
              <a:buNone/>
            </a:pPr>
            <a:r>
              <a:rPr lang="en-US" sz="2000" b="1" dirty="0">
                <a:solidFill>
                  <a:srgbClr val="2A9D8F"/>
                </a:solidFill>
                <a:latin typeface="Calibri" pitchFamily="34" charset="0"/>
                <a:ea typeface="Calibri" pitchFamily="34" charset="-122"/>
                <a:cs typeface="Calibri" pitchFamily="34" charset="-120"/>
              </a:rPr>
              <a:t>✓</a:t>
            </a:r>
            <a:endParaRPr lang="en-US" sz="2000" dirty="0"/>
          </a:p>
        </p:txBody>
      </p:sp>
      <p:sp>
        <p:nvSpPr>
          <p:cNvPr id="19" name="Text 17"/>
          <p:cNvSpPr txBox="1"/>
          <p:nvPr/>
        </p:nvSpPr>
        <p:spPr>
          <a:xfrm>
            <a:off x="1389888" y="5449824"/>
            <a:ext cx="9875520" cy="457200"/>
          </a:xfrm>
          <a:prstGeom prst="rect">
            <a:avLst/>
          </a:prstGeom>
          <a:noFill/>
          <a:ln/>
        </p:spPr>
        <p:txBody>
          <a:bodyPr wrap="square" lIns="0" tIns="0" rIns="0" bIns="0" rtlCol="0" anchor="ctr"/>
          <a:lstStyle/>
          <a:p>
            <a:pPr marL="0" indent="0">
              <a:buNone/>
            </a:pPr>
            <a:r>
              <a:rPr lang="en-US" sz="1800" dirty="0">
                <a:solidFill>
                  <a:srgbClr val="2C3548"/>
                </a:solidFill>
                <a:latin typeface="Calibri" pitchFamily="34" charset="0"/>
                <a:ea typeface="Calibri" pitchFamily="34" charset="-122"/>
                <a:cs typeface="Calibri" pitchFamily="34" charset="-120"/>
              </a:rPr>
              <a:t>Ante la duda, no lo suba: reformule la pregunta</a:t>
            </a:r>
            <a:endParaRPr lang="en-US" sz="1800" dirty="0"/>
          </a:p>
        </p:txBody>
      </p:sp>
      <p:sp>
        <p:nvSpPr>
          <p:cNvPr id="20" name="Text 18"/>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1" name="Text 19"/>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63</a:t>
            </a:r>
            <a:endParaRPr lang="en-US" sz="16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UN ASUNTO DE JUSTICIA EDUCATIVA</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Sesgo algorítmico y equidad</a:t>
            </a:r>
            <a:endParaRPr lang="en-US" sz="3000" dirty="0"/>
          </a:p>
        </p:txBody>
      </p:sp>
      <p:sp>
        <p:nvSpPr>
          <p:cNvPr id="4" name="Shape 2"/>
          <p:cNvSpPr/>
          <p:nvPr/>
        </p:nvSpPr>
        <p:spPr>
          <a:xfrm>
            <a:off x="566928" y="1426464"/>
            <a:ext cx="11057839" cy="1225296"/>
          </a:xfrm>
          <a:prstGeom prst="roundRect">
            <a:avLst>
              <a:gd name="adj" fmla="val 6716"/>
            </a:avLst>
          </a:prstGeom>
          <a:solidFill>
            <a:srgbClr val="1B2A4A"/>
          </a:solidFill>
          <a:ln w="12700">
            <a:solidFill>
              <a:srgbClr val="1B2A4A"/>
            </a:solidFill>
            <a:prstDash val="solid"/>
          </a:ln>
          <a:effectLst>
            <a:outerShdw blurRad="127000" dist="25400" dir="5400000" algn="bl" rotWithShape="0">
              <a:srgbClr val="1B2A4A">
                <a:alpha val="14000"/>
              </a:srgbClr>
            </a:outerShdw>
          </a:effectLst>
        </p:spPr>
        <p:txBody>
          <a:bodyPr/>
          <a:lstStyle/>
          <a:p>
            <a:endParaRPr lang="en-PR"/>
          </a:p>
        </p:txBody>
      </p:sp>
      <p:sp>
        <p:nvSpPr>
          <p:cNvPr id="5" name="Text 3"/>
          <p:cNvSpPr txBox="1"/>
          <p:nvPr/>
        </p:nvSpPr>
        <p:spPr>
          <a:xfrm>
            <a:off x="950976" y="1426464"/>
            <a:ext cx="10289743" cy="1225296"/>
          </a:xfrm>
          <a:prstGeom prst="rect">
            <a:avLst/>
          </a:prstGeom>
          <a:noFill/>
          <a:ln/>
        </p:spPr>
        <p:txBody>
          <a:bodyPr wrap="square" lIns="0" tIns="0" rIns="0" bIns="0" rtlCol="0" anchor="ctr"/>
          <a:lstStyle/>
          <a:p>
            <a:pPr marL="0" indent="0">
              <a:lnSpc>
                <a:spcPts val="2700"/>
              </a:lnSpc>
              <a:buNone/>
            </a:pPr>
            <a:r>
              <a:rPr lang="en-US" sz="1900" dirty="0">
                <a:solidFill>
                  <a:srgbClr val="FFFFFF"/>
                </a:solidFill>
                <a:latin typeface="Calibri" pitchFamily="34" charset="0"/>
                <a:ea typeface="Calibri" pitchFamily="34" charset="-122"/>
                <a:cs typeface="Calibri" pitchFamily="34" charset="-120"/>
              </a:rPr>
              <a:t>Los modelos aprenden de textos producidos por personas. Heredan, condensan y reproducen los sesgos de esos textos —y lo hacen con apariencia de objetividad técnica.</a:t>
            </a:r>
            <a:endParaRPr lang="en-US" sz="1900" dirty="0"/>
          </a:p>
        </p:txBody>
      </p:sp>
      <p:sp>
        <p:nvSpPr>
          <p:cNvPr id="6" name="Shape 4"/>
          <p:cNvSpPr/>
          <p:nvPr/>
        </p:nvSpPr>
        <p:spPr>
          <a:xfrm>
            <a:off x="566928" y="2834640"/>
            <a:ext cx="5422392" cy="2139696"/>
          </a:xfrm>
          <a:prstGeom prst="roundRect">
            <a:avLst>
              <a:gd name="adj" fmla="val 3846"/>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7" name="Shape 5"/>
          <p:cNvSpPr/>
          <p:nvPr/>
        </p:nvSpPr>
        <p:spPr>
          <a:xfrm>
            <a:off x="841248" y="3072384"/>
            <a:ext cx="457200" cy="54864"/>
          </a:xfrm>
          <a:prstGeom prst="rect">
            <a:avLst/>
          </a:prstGeom>
          <a:solidFill>
            <a:srgbClr val="2A9D8F"/>
          </a:solidFill>
          <a:ln w="12700">
            <a:solidFill>
              <a:srgbClr val="2A9D8F"/>
            </a:solidFill>
            <a:prstDash val="solid"/>
          </a:ln>
        </p:spPr>
        <p:txBody>
          <a:bodyPr/>
          <a:lstStyle/>
          <a:p>
            <a:endParaRPr lang="en-PR"/>
          </a:p>
        </p:txBody>
      </p:sp>
      <p:sp>
        <p:nvSpPr>
          <p:cNvPr id="8" name="Text 6"/>
          <p:cNvSpPr txBox="1"/>
          <p:nvPr/>
        </p:nvSpPr>
        <p:spPr>
          <a:xfrm>
            <a:off x="841248" y="3236976"/>
            <a:ext cx="4846320" cy="384048"/>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Sesgo lingüístico</a:t>
            </a:r>
            <a:endParaRPr lang="en-US" sz="2000" dirty="0"/>
          </a:p>
        </p:txBody>
      </p:sp>
      <p:sp>
        <p:nvSpPr>
          <p:cNvPr id="9" name="Text 7"/>
          <p:cNvSpPr txBox="1"/>
          <p:nvPr/>
        </p:nvSpPr>
        <p:spPr>
          <a:xfrm>
            <a:off x="841248" y="3694176"/>
            <a:ext cx="4892040" cy="1133856"/>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El español de Puerto Rico está subrepresentado frente al inglés y al español peninsular. Los ejemplos generados suelen ignorar nuestro contexto.</a:t>
            </a:r>
            <a:endParaRPr lang="en-US" sz="1700" dirty="0"/>
          </a:p>
        </p:txBody>
      </p:sp>
      <p:sp>
        <p:nvSpPr>
          <p:cNvPr id="10" name="Shape 8"/>
          <p:cNvSpPr/>
          <p:nvPr/>
        </p:nvSpPr>
        <p:spPr>
          <a:xfrm>
            <a:off x="6190488" y="2834640"/>
            <a:ext cx="5422392" cy="2139696"/>
          </a:xfrm>
          <a:prstGeom prst="roundRect">
            <a:avLst>
              <a:gd name="adj" fmla="val 3846"/>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1" name="Shape 9"/>
          <p:cNvSpPr/>
          <p:nvPr/>
        </p:nvSpPr>
        <p:spPr>
          <a:xfrm>
            <a:off x="6464808" y="3072384"/>
            <a:ext cx="457200" cy="54864"/>
          </a:xfrm>
          <a:prstGeom prst="rect">
            <a:avLst/>
          </a:prstGeom>
          <a:solidFill>
            <a:srgbClr val="1B2A4A"/>
          </a:solidFill>
          <a:ln w="12700">
            <a:solidFill>
              <a:srgbClr val="1B2A4A"/>
            </a:solidFill>
            <a:prstDash val="solid"/>
          </a:ln>
        </p:spPr>
        <p:txBody>
          <a:bodyPr/>
          <a:lstStyle/>
          <a:p>
            <a:endParaRPr lang="en-PR"/>
          </a:p>
        </p:txBody>
      </p:sp>
      <p:sp>
        <p:nvSpPr>
          <p:cNvPr id="12" name="Text 10"/>
          <p:cNvSpPr txBox="1"/>
          <p:nvPr/>
        </p:nvSpPr>
        <p:spPr>
          <a:xfrm>
            <a:off x="6464808" y="3236976"/>
            <a:ext cx="4846320" cy="384048"/>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Sesgo cultural</a:t>
            </a:r>
            <a:endParaRPr lang="en-US" sz="2000" dirty="0"/>
          </a:p>
        </p:txBody>
      </p:sp>
      <p:sp>
        <p:nvSpPr>
          <p:cNvPr id="13" name="Text 11"/>
          <p:cNvSpPr txBox="1"/>
          <p:nvPr/>
        </p:nvSpPr>
        <p:spPr>
          <a:xfrm>
            <a:off x="6464808" y="3694176"/>
            <a:ext cx="4892040" cy="1133856"/>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Los ejemplos, nombres y referencias por defecto tienden a ser anglosajones y de clase media.</a:t>
            </a:r>
            <a:endParaRPr lang="en-US" sz="1700" dirty="0"/>
          </a:p>
        </p:txBody>
      </p:sp>
      <p:sp>
        <p:nvSpPr>
          <p:cNvPr id="14" name="Text 12"/>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5" name="Text 13"/>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64</a:t>
            </a:r>
            <a:endParaRPr lang="en-US" sz="16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UN ASUNTO DE JUSTICIA EDUCATIVA</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Sesgo algorítmico y equidad (cont.)</a:t>
            </a:r>
            <a:endParaRPr lang="en-US" sz="3000" dirty="0"/>
          </a:p>
        </p:txBody>
      </p:sp>
      <p:sp>
        <p:nvSpPr>
          <p:cNvPr id="4" name="Shape 2"/>
          <p:cNvSpPr/>
          <p:nvPr/>
        </p:nvSpPr>
        <p:spPr>
          <a:xfrm>
            <a:off x="566928" y="1737360"/>
            <a:ext cx="5422392" cy="2139696"/>
          </a:xfrm>
          <a:prstGeom prst="roundRect">
            <a:avLst>
              <a:gd name="adj" fmla="val 3846"/>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41248" y="1975104"/>
            <a:ext cx="457200" cy="54864"/>
          </a:xfrm>
          <a:prstGeom prst="rect">
            <a:avLst/>
          </a:prstGeom>
          <a:solidFill>
            <a:srgbClr val="C9A227"/>
          </a:solidFill>
          <a:ln w="12700">
            <a:solidFill>
              <a:srgbClr val="C9A227"/>
            </a:solidFill>
            <a:prstDash val="solid"/>
          </a:ln>
        </p:spPr>
        <p:txBody>
          <a:bodyPr/>
          <a:lstStyle/>
          <a:p>
            <a:endParaRPr lang="en-PR"/>
          </a:p>
        </p:txBody>
      </p:sp>
      <p:sp>
        <p:nvSpPr>
          <p:cNvPr id="6" name="Text 4"/>
          <p:cNvSpPr txBox="1"/>
          <p:nvPr/>
        </p:nvSpPr>
        <p:spPr>
          <a:xfrm>
            <a:off x="841248" y="2139696"/>
            <a:ext cx="4846320" cy="384048"/>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Sesgo de representación</a:t>
            </a:r>
            <a:endParaRPr lang="en-US" sz="2000" dirty="0"/>
          </a:p>
        </p:txBody>
      </p:sp>
      <p:sp>
        <p:nvSpPr>
          <p:cNvPr id="7" name="Text 5"/>
          <p:cNvSpPr txBox="1"/>
          <p:nvPr/>
        </p:nvSpPr>
        <p:spPr>
          <a:xfrm>
            <a:off x="841248" y="2596896"/>
            <a:ext cx="4892040" cy="1133856"/>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En imágenes generadas, ciertas profesiones aparecen sistemáticamente asociadas a un género o una raza.</a:t>
            </a:r>
            <a:endParaRPr lang="en-US" sz="1700" dirty="0"/>
          </a:p>
        </p:txBody>
      </p:sp>
      <p:sp>
        <p:nvSpPr>
          <p:cNvPr id="8" name="Shape 6"/>
          <p:cNvSpPr/>
          <p:nvPr/>
        </p:nvSpPr>
        <p:spPr>
          <a:xfrm>
            <a:off x="6190488" y="1737360"/>
            <a:ext cx="5422392" cy="2139696"/>
          </a:xfrm>
          <a:prstGeom prst="roundRect">
            <a:avLst>
              <a:gd name="adj" fmla="val 3846"/>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9" name="Shape 7"/>
          <p:cNvSpPr/>
          <p:nvPr/>
        </p:nvSpPr>
        <p:spPr>
          <a:xfrm>
            <a:off x="6464808" y="1975104"/>
            <a:ext cx="457200" cy="54864"/>
          </a:xfrm>
          <a:prstGeom prst="rect">
            <a:avLst/>
          </a:prstGeom>
          <a:solidFill>
            <a:srgbClr val="C0392B"/>
          </a:solidFill>
          <a:ln w="12700">
            <a:solidFill>
              <a:srgbClr val="C0392B"/>
            </a:solidFill>
            <a:prstDash val="solid"/>
          </a:ln>
        </p:spPr>
        <p:txBody>
          <a:bodyPr/>
          <a:lstStyle/>
          <a:p>
            <a:endParaRPr lang="en-PR"/>
          </a:p>
        </p:txBody>
      </p:sp>
      <p:sp>
        <p:nvSpPr>
          <p:cNvPr id="10" name="Text 8"/>
          <p:cNvSpPr txBox="1"/>
          <p:nvPr/>
        </p:nvSpPr>
        <p:spPr>
          <a:xfrm>
            <a:off x="6464808" y="2139696"/>
            <a:ext cx="4846320" cy="384048"/>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Brecha de acceso</a:t>
            </a:r>
            <a:endParaRPr lang="en-US" sz="2000" dirty="0"/>
          </a:p>
        </p:txBody>
      </p:sp>
      <p:sp>
        <p:nvSpPr>
          <p:cNvPr id="11" name="Text 9"/>
          <p:cNvSpPr txBox="1"/>
          <p:nvPr/>
        </p:nvSpPr>
        <p:spPr>
          <a:xfrm>
            <a:off x="6464808" y="2596896"/>
            <a:ext cx="4892040" cy="1133856"/>
          </a:xfrm>
          <a:prstGeom prst="rect">
            <a:avLst/>
          </a:prstGeom>
          <a:noFill/>
          <a:ln/>
        </p:spPr>
        <p:txBody>
          <a:bodyPr wrap="square" lIns="0" tIns="0" rIns="0" bIns="0" rtlCol="0" anchor="t"/>
          <a:lstStyle/>
          <a:p>
            <a:pPr marL="0" indent="0">
              <a:lnSpc>
                <a:spcPts val="2300"/>
              </a:lnSpc>
              <a:buNone/>
            </a:pPr>
            <a:r>
              <a:rPr lang="en-US" sz="1700" dirty="0">
                <a:solidFill>
                  <a:srgbClr val="2C3548"/>
                </a:solidFill>
                <a:latin typeface="Calibri" pitchFamily="34" charset="0"/>
                <a:ea typeface="Calibri" pitchFamily="34" charset="-122"/>
                <a:cs typeface="Calibri" pitchFamily="34" charset="-120"/>
              </a:rPr>
              <a:t>Las versiones más capaces son de pago. Sin política institucional, la IA amplía la desigualdad en vez de reducirla.</a:t>
            </a:r>
            <a:endParaRPr lang="en-US" sz="1700" dirty="0"/>
          </a:p>
        </p:txBody>
      </p:sp>
      <p:sp>
        <p:nvSpPr>
          <p:cNvPr id="12" name="Text 10"/>
          <p:cNvSpPr txBox="1"/>
          <p:nvPr/>
        </p:nvSpPr>
        <p:spPr>
          <a:xfrm>
            <a:off x="566928" y="5760720"/>
            <a:ext cx="11057839" cy="548640"/>
          </a:xfrm>
          <a:prstGeom prst="rect">
            <a:avLst/>
          </a:prstGeom>
          <a:noFill/>
          <a:ln/>
        </p:spPr>
        <p:txBody>
          <a:bodyPr wrap="square" lIns="0" tIns="0" rIns="0" bIns="0" rtlCol="0" anchor="t"/>
          <a:lstStyle/>
          <a:p>
            <a:pPr marL="0" indent="0">
              <a:lnSpc>
                <a:spcPts val="2100"/>
              </a:lnSpc>
              <a:buNone/>
            </a:pPr>
            <a:r>
              <a:rPr lang="en-US" sz="1600" i="1" dirty="0">
                <a:solidFill>
                  <a:srgbClr val="5A6478"/>
                </a:solidFill>
                <a:latin typeface="Calibri" pitchFamily="34" charset="0"/>
                <a:ea typeface="Calibri" pitchFamily="34" charset="-122"/>
                <a:cs typeface="Calibri" pitchFamily="34" charset="-120"/>
              </a:rPr>
              <a:t>Estrategia práctica: al redactar el prompt, especifique siempre el contexto puertorriqueño y revise los ejemplos generados antes de llevarlos al salón.</a:t>
            </a:r>
            <a:endParaRPr lang="en-US" sz="1600" dirty="0"/>
          </a:p>
        </p:txBody>
      </p:sp>
      <p:sp>
        <p:nvSpPr>
          <p:cNvPr id="13" name="Text 11"/>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4" name="Text 12"/>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65</a:t>
            </a:r>
            <a:endParaRPr lang="en-US" sz="16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6">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2103120"/>
            <a:ext cx="1463040" cy="1463040"/>
          </a:xfrm>
          <a:prstGeom prst="ellipse">
            <a:avLst/>
          </a:prstGeom>
          <a:solidFill>
            <a:srgbClr val="C9A227"/>
          </a:solidFill>
          <a:ln w="12700">
            <a:solidFill>
              <a:srgbClr val="C9A227"/>
            </a:solidFill>
            <a:prstDash val="solid"/>
          </a:ln>
        </p:spPr>
        <p:txBody>
          <a:bodyPr/>
          <a:lstStyle/>
          <a:p>
            <a:endParaRPr lang="en-PR"/>
          </a:p>
        </p:txBody>
      </p:sp>
      <p:sp>
        <p:nvSpPr>
          <p:cNvPr id="3" name="Text 1"/>
          <p:cNvSpPr txBox="1"/>
          <p:nvPr/>
        </p:nvSpPr>
        <p:spPr>
          <a:xfrm>
            <a:off x="566928" y="2103120"/>
            <a:ext cx="1463040" cy="1463040"/>
          </a:xfrm>
          <a:prstGeom prst="rect">
            <a:avLst/>
          </a:prstGeom>
          <a:noFill/>
          <a:ln/>
        </p:spPr>
        <p:txBody>
          <a:bodyPr wrap="square" lIns="0" tIns="0" rIns="0" bIns="0" rtlCol="0" anchor="ctr"/>
          <a:lstStyle/>
          <a:p>
            <a:pPr marL="0" indent="0" algn="ctr">
              <a:buNone/>
            </a:pPr>
            <a:r>
              <a:rPr lang="en-US" sz="5600" b="1" dirty="0">
                <a:solidFill>
                  <a:srgbClr val="1B2A4A"/>
                </a:solidFill>
                <a:latin typeface="Cambria" pitchFamily="34" charset="0"/>
                <a:ea typeface="Cambria" pitchFamily="34" charset="-122"/>
                <a:cs typeface="Cambria" pitchFamily="34" charset="-120"/>
              </a:rPr>
              <a:t>6</a:t>
            </a:r>
            <a:endParaRPr lang="en-US" sz="5600" dirty="0"/>
          </a:p>
        </p:txBody>
      </p:sp>
      <p:sp>
        <p:nvSpPr>
          <p:cNvPr id="4" name="Text 2"/>
          <p:cNvSpPr txBox="1"/>
          <p:nvPr/>
        </p:nvSpPr>
        <p:spPr>
          <a:xfrm>
            <a:off x="2377440" y="2029968"/>
            <a:ext cx="9052560" cy="96012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Práctica</a:t>
            </a:r>
            <a:endParaRPr lang="en-US" sz="4200" dirty="0"/>
          </a:p>
        </p:txBody>
      </p:sp>
      <p:sp>
        <p:nvSpPr>
          <p:cNvPr id="5" name="Text 3"/>
          <p:cNvSpPr txBox="1"/>
          <p:nvPr/>
        </p:nvSpPr>
        <p:spPr>
          <a:xfrm>
            <a:off x="2377440" y="3035808"/>
            <a:ext cx="9052560" cy="822960"/>
          </a:xfrm>
          <a:prstGeom prst="rect">
            <a:avLst/>
          </a:prstGeom>
          <a:noFill/>
          <a:ln/>
        </p:spPr>
        <p:txBody>
          <a:bodyPr wrap="square" lIns="0" tIns="0" rIns="0" bIns="0" rtlCol="0" anchor="t"/>
          <a:lstStyle/>
          <a:p>
            <a:pPr marL="0" indent="0">
              <a:lnSpc>
                <a:spcPts val="2700"/>
              </a:lnSpc>
              <a:buNone/>
            </a:pPr>
            <a:r>
              <a:rPr lang="en-US" sz="2000" dirty="0">
                <a:solidFill>
                  <a:srgbClr val="DDE3EC"/>
                </a:solidFill>
                <a:latin typeface="Calibri" pitchFamily="34" charset="0"/>
                <a:ea typeface="Calibri" pitchFamily="34" charset="-122"/>
                <a:cs typeface="Calibri" pitchFamily="34" charset="-120"/>
              </a:rPr>
              <a:t>Rediseño de tareas e integridad académica: reglas claras de uso de la IA en cada asignación</a:t>
            </a:r>
            <a:endParaRPr lang="en-US" sz="2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INTEGRIDAD ACADÉMICA EN LA PRÁCTICA</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Rediseñar la tarea, no perseguir al estudiante</a:t>
            </a:r>
            <a:endParaRPr lang="en-US" sz="3000" dirty="0"/>
          </a:p>
        </p:txBody>
      </p:sp>
      <p:sp>
        <p:nvSpPr>
          <p:cNvPr id="4" name="Text 2"/>
          <p:cNvSpPr txBox="1"/>
          <p:nvPr/>
        </p:nvSpPr>
        <p:spPr>
          <a:xfrm>
            <a:off x="841248" y="1463040"/>
            <a:ext cx="4846320" cy="365760"/>
          </a:xfrm>
          <a:prstGeom prst="rect">
            <a:avLst/>
          </a:prstGeom>
          <a:noFill/>
          <a:ln/>
        </p:spPr>
        <p:txBody>
          <a:bodyPr wrap="square" lIns="0" tIns="0" rIns="0" bIns="0" rtlCol="0" anchor="ctr"/>
          <a:lstStyle/>
          <a:p>
            <a:pPr marL="0" indent="0">
              <a:buNone/>
            </a:pPr>
            <a:r>
              <a:rPr lang="en-US" sz="1900" b="1" dirty="0">
                <a:solidFill>
                  <a:srgbClr val="C0392B"/>
                </a:solidFill>
                <a:latin typeface="Cambria" pitchFamily="34" charset="0"/>
                <a:ea typeface="Cambria" pitchFamily="34" charset="-122"/>
                <a:cs typeface="Cambria" pitchFamily="34" charset="-120"/>
              </a:rPr>
              <a:t>Tarea vulnerable a la IA</a:t>
            </a:r>
            <a:endParaRPr lang="en-US" sz="1900" dirty="0"/>
          </a:p>
        </p:txBody>
      </p:sp>
      <p:sp>
        <p:nvSpPr>
          <p:cNvPr id="5" name="Text 3"/>
          <p:cNvSpPr txBox="1"/>
          <p:nvPr/>
        </p:nvSpPr>
        <p:spPr>
          <a:xfrm>
            <a:off x="6464808" y="1463040"/>
            <a:ext cx="4846320" cy="365760"/>
          </a:xfrm>
          <a:prstGeom prst="rect">
            <a:avLst/>
          </a:prstGeom>
          <a:noFill/>
          <a:ln/>
        </p:spPr>
        <p:txBody>
          <a:bodyPr wrap="square" lIns="0" tIns="0" rIns="0" bIns="0" rtlCol="0" anchor="ctr"/>
          <a:lstStyle/>
          <a:p>
            <a:pPr marL="0" indent="0">
              <a:buNone/>
            </a:pPr>
            <a:r>
              <a:rPr lang="en-US" sz="1900" b="1" dirty="0">
                <a:solidFill>
                  <a:srgbClr val="2A9D8F"/>
                </a:solidFill>
                <a:latin typeface="Cambria" pitchFamily="34" charset="0"/>
                <a:ea typeface="Cambria" pitchFamily="34" charset="-122"/>
                <a:cs typeface="Cambria" pitchFamily="34" charset="-120"/>
              </a:rPr>
              <a:t>Tarea rediseñada</a:t>
            </a:r>
            <a:endParaRPr lang="en-US" sz="1900" dirty="0"/>
          </a:p>
        </p:txBody>
      </p:sp>
      <p:sp>
        <p:nvSpPr>
          <p:cNvPr id="6" name="Shape 4"/>
          <p:cNvSpPr/>
          <p:nvPr/>
        </p:nvSpPr>
        <p:spPr>
          <a:xfrm>
            <a:off x="566928" y="1975104"/>
            <a:ext cx="5422392" cy="1444752"/>
          </a:xfrm>
          <a:prstGeom prst="roundRect">
            <a:avLst>
              <a:gd name="adj" fmla="val 5696"/>
            </a:avLst>
          </a:prstGeom>
          <a:solidFill>
            <a:srgbClr val="FBF0EF"/>
          </a:solidFill>
          <a:ln w="12700">
            <a:solidFill>
              <a:srgbClr val="FBF0EF"/>
            </a:solidFill>
            <a:prstDash val="solid"/>
          </a:ln>
          <a:effectLst>
            <a:outerShdw blurRad="127000" dist="25400" dir="5400000" algn="bl" rotWithShape="0">
              <a:srgbClr val="1B2A4A">
                <a:alpha val="14000"/>
              </a:srgbClr>
            </a:outerShdw>
          </a:effectLst>
        </p:spPr>
        <p:txBody>
          <a:bodyPr/>
          <a:lstStyle/>
          <a:p>
            <a:endParaRPr lang="en-PR"/>
          </a:p>
        </p:txBody>
      </p:sp>
      <p:sp>
        <p:nvSpPr>
          <p:cNvPr id="7" name="Text 5"/>
          <p:cNvSpPr txBox="1"/>
          <p:nvPr/>
        </p:nvSpPr>
        <p:spPr>
          <a:xfrm>
            <a:off x="841248" y="1975104"/>
            <a:ext cx="4892040" cy="1444752"/>
          </a:xfrm>
          <a:prstGeom prst="rect">
            <a:avLst/>
          </a:prstGeom>
          <a:noFill/>
          <a:ln/>
        </p:spPr>
        <p:txBody>
          <a:bodyPr wrap="square" lIns="0" tIns="0" rIns="0" bIns="0" rtlCol="0" anchor="ctr"/>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Redacte un ensayo sobre la Segunda Guerra Mundial.</a:t>
            </a:r>
            <a:endParaRPr lang="en-US" sz="1800" dirty="0"/>
          </a:p>
        </p:txBody>
      </p:sp>
      <p:sp>
        <p:nvSpPr>
          <p:cNvPr id="8" name="Text 6"/>
          <p:cNvSpPr txBox="1"/>
          <p:nvPr/>
        </p:nvSpPr>
        <p:spPr>
          <a:xfrm>
            <a:off x="5742432" y="1975104"/>
            <a:ext cx="457200" cy="1444752"/>
          </a:xfrm>
          <a:prstGeom prst="rect">
            <a:avLst/>
          </a:prstGeom>
          <a:noFill/>
          <a:ln/>
        </p:spPr>
        <p:txBody>
          <a:bodyPr wrap="square" lIns="0" tIns="0" rIns="0" bIns="0" rtlCol="0" anchor="ctr"/>
          <a:lstStyle/>
          <a:p>
            <a:pPr marL="0" indent="0" algn="ctr">
              <a:buNone/>
            </a:pPr>
            <a:r>
              <a:rPr lang="en-US" sz="2400" b="1" dirty="0">
                <a:solidFill>
                  <a:srgbClr val="C9A227"/>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6199632" y="1975104"/>
            <a:ext cx="5422392" cy="1444752"/>
          </a:xfrm>
          <a:prstGeom prst="roundRect">
            <a:avLst>
              <a:gd name="adj" fmla="val 5696"/>
            </a:avLst>
          </a:prstGeom>
          <a:solidFill>
            <a:srgbClr val="F1F8F7"/>
          </a:solidFill>
          <a:ln w="12700">
            <a:solidFill>
              <a:srgbClr val="F1F8F7"/>
            </a:solidFill>
            <a:prstDash val="solid"/>
          </a:ln>
          <a:effectLst>
            <a:outerShdw blurRad="127000" dist="25400" dir="5400000" algn="bl" rotWithShape="0">
              <a:srgbClr val="1B2A4A">
                <a:alpha val="14000"/>
              </a:srgbClr>
            </a:outerShdw>
          </a:effectLst>
        </p:spPr>
        <p:txBody>
          <a:bodyPr/>
          <a:lstStyle/>
          <a:p>
            <a:endParaRPr lang="en-PR"/>
          </a:p>
        </p:txBody>
      </p:sp>
      <p:sp>
        <p:nvSpPr>
          <p:cNvPr id="10" name="Text 8"/>
          <p:cNvSpPr txBox="1"/>
          <p:nvPr/>
        </p:nvSpPr>
        <p:spPr>
          <a:xfrm>
            <a:off x="6473952" y="1975104"/>
            <a:ext cx="4892040" cy="1444752"/>
          </a:xfrm>
          <a:prstGeom prst="rect">
            <a:avLst/>
          </a:prstGeom>
          <a:noFill/>
          <a:ln/>
        </p:spPr>
        <p:txBody>
          <a:bodyPr wrap="square" lIns="0" tIns="0" rIns="0" bIns="0" rtlCol="0" anchor="ctr"/>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Compare dos fuentes contradictorias sobre un mismo hecho y justifique cuál es más confiable.</a:t>
            </a:r>
            <a:endParaRPr lang="en-US" sz="1800" dirty="0"/>
          </a:p>
        </p:txBody>
      </p:sp>
      <p:sp>
        <p:nvSpPr>
          <p:cNvPr id="11" name="Shape 9"/>
          <p:cNvSpPr/>
          <p:nvPr/>
        </p:nvSpPr>
        <p:spPr>
          <a:xfrm>
            <a:off x="566928" y="3621024"/>
            <a:ext cx="5422392" cy="1444752"/>
          </a:xfrm>
          <a:prstGeom prst="roundRect">
            <a:avLst>
              <a:gd name="adj" fmla="val 5696"/>
            </a:avLst>
          </a:prstGeom>
          <a:solidFill>
            <a:srgbClr val="FBF0EF"/>
          </a:solidFill>
          <a:ln w="12700">
            <a:solidFill>
              <a:srgbClr val="FBF0EF"/>
            </a:solidFill>
            <a:prstDash val="solid"/>
          </a:ln>
          <a:effectLst>
            <a:outerShdw blurRad="127000" dist="25400" dir="5400000" algn="bl" rotWithShape="0">
              <a:srgbClr val="1B2A4A">
                <a:alpha val="14000"/>
              </a:srgbClr>
            </a:outerShdw>
          </a:effectLst>
        </p:spPr>
        <p:txBody>
          <a:bodyPr/>
          <a:lstStyle/>
          <a:p>
            <a:endParaRPr lang="en-PR"/>
          </a:p>
        </p:txBody>
      </p:sp>
      <p:sp>
        <p:nvSpPr>
          <p:cNvPr id="12" name="Text 10"/>
          <p:cNvSpPr txBox="1"/>
          <p:nvPr/>
        </p:nvSpPr>
        <p:spPr>
          <a:xfrm>
            <a:off x="841248" y="3621024"/>
            <a:ext cx="4892040" cy="1444752"/>
          </a:xfrm>
          <a:prstGeom prst="rect">
            <a:avLst/>
          </a:prstGeom>
          <a:noFill/>
          <a:ln/>
        </p:spPr>
        <p:txBody>
          <a:bodyPr wrap="square" lIns="0" tIns="0" rIns="0" bIns="0" rtlCol="0" anchor="ctr"/>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Resuelva estos veinte ejercicios de factorización.</a:t>
            </a:r>
            <a:endParaRPr lang="en-US" sz="1800" dirty="0"/>
          </a:p>
        </p:txBody>
      </p:sp>
      <p:sp>
        <p:nvSpPr>
          <p:cNvPr id="13" name="Text 11"/>
          <p:cNvSpPr txBox="1"/>
          <p:nvPr/>
        </p:nvSpPr>
        <p:spPr>
          <a:xfrm>
            <a:off x="5742432" y="3621024"/>
            <a:ext cx="457200" cy="1444752"/>
          </a:xfrm>
          <a:prstGeom prst="rect">
            <a:avLst/>
          </a:prstGeom>
          <a:noFill/>
          <a:ln/>
        </p:spPr>
        <p:txBody>
          <a:bodyPr wrap="square" lIns="0" tIns="0" rIns="0" bIns="0" rtlCol="0" anchor="ctr"/>
          <a:lstStyle/>
          <a:p>
            <a:pPr marL="0" indent="0" algn="ctr">
              <a:buNone/>
            </a:pPr>
            <a:r>
              <a:rPr lang="en-US" sz="2400" b="1" dirty="0">
                <a:solidFill>
                  <a:srgbClr val="C9A227"/>
                </a:solidFill>
                <a:latin typeface="Calibri" pitchFamily="34" charset="0"/>
                <a:ea typeface="Calibri" pitchFamily="34" charset="-122"/>
                <a:cs typeface="Calibri" pitchFamily="34" charset="-120"/>
              </a:rPr>
              <a:t>→</a:t>
            </a:r>
            <a:endParaRPr lang="en-US" sz="2400" dirty="0"/>
          </a:p>
        </p:txBody>
      </p:sp>
      <p:sp>
        <p:nvSpPr>
          <p:cNvPr id="14" name="Shape 12"/>
          <p:cNvSpPr/>
          <p:nvPr/>
        </p:nvSpPr>
        <p:spPr>
          <a:xfrm>
            <a:off x="6199632" y="3621024"/>
            <a:ext cx="5422392" cy="1444752"/>
          </a:xfrm>
          <a:prstGeom prst="roundRect">
            <a:avLst>
              <a:gd name="adj" fmla="val 5696"/>
            </a:avLst>
          </a:prstGeom>
          <a:solidFill>
            <a:srgbClr val="F1F8F7"/>
          </a:solidFill>
          <a:ln w="12700">
            <a:solidFill>
              <a:srgbClr val="F1F8F7"/>
            </a:solidFill>
            <a:prstDash val="solid"/>
          </a:ln>
          <a:effectLst>
            <a:outerShdw blurRad="127000" dist="25400" dir="5400000" algn="bl" rotWithShape="0">
              <a:srgbClr val="1B2A4A">
                <a:alpha val="14000"/>
              </a:srgbClr>
            </a:outerShdw>
          </a:effectLst>
        </p:spPr>
        <p:txBody>
          <a:bodyPr/>
          <a:lstStyle/>
          <a:p>
            <a:endParaRPr lang="en-PR"/>
          </a:p>
        </p:txBody>
      </p:sp>
      <p:sp>
        <p:nvSpPr>
          <p:cNvPr id="15" name="Text 13"/>
          <p:cNvSpPr txBox="1"/>
          <p:nvPr/>
        </p:nvSpPr>
        <p:spPr>
          <a:xfrm>
            <a:off x="6473952" y="3621024"/>
            <a:ext cx="4892040" cy="1444752"/>
          </a:xfrm>
          <a:prstGeom prst="rect">
            <a:avLst/>
          </a:prstGeom>
          <a:noFill/>
          <a:ln/>
        </p:spPr>
        <p:txBody>
          <a:bodyPr wrap="square" lIns="0" tIns="0" rIns="0" bIns="0" rtlCol="0" anchor="ctr"/>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Aquí hay cinco soluciones con errores. Identifique cada error y explique qué concepto se malentendió.</a:t>
            </a:r>
            <a:endParaRPr lang="en-US" sz="1800" dirty="0"/>
          </a:p>
        </p:txBody>
      </p:sp>
      <p:sp>
        <p:nvSpPr>
          <p:cNvPr id="16" name="Text 14"/>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7" name="Text 15"/>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67</a:t>
            </a:r>
            <a:endParaRPr lang="en-US"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INTEGRIDAD ACADÉMICA EN LA PRÁCTICA</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Rediseñar la tarea, no perseguir al estudiante (cont.)</a:t>
            </a:r>
            <a:endParaRPr lang="en-US" sz="3000" dirty="0"/>
          </a:p>
        </p:txBody>
      </p:sp>
      <p:sp>
        <p:nvSpPr>
          <p:cNvPr id="4" name="Text 2"/>
          <p:cNvSpPr txBox="1"/>
          <p:nvPr/>
        </p:nvSpPr>
        <p:spPr>
          <a:xfrm>
            <a:off x="841248" y="1463040"/>
            <a:ext cx="4846320" cy="365760"/>
          </a:xfrm>
          <a:prstGeom prst="rect">
            <a:avLst/>
          </a:prstGeom>
          <a:noFill/>
          <a:ln/>
        </p:spPr>
        <p:txBody>
          <a:bodyPr wrap="square" lIns="0" tIns="0" rIns="0" bIns="0" rtlCol="0" anchor="ctr"/>
          <a:lstStyle/>
          <a:p>
            <a:pPr marL="0" indent="0">
              <a:buNone/>
            </a:pPr>
            <a:r>
              <a:rPr lang="en-US" sz="1900" b="1" dirty="0">
                <a:solidFill>
                  <a:srgbClr val="C0392B"/>
                </a:solidFill>
                <a:latin typeface="Cambria" pitchFamily="34" charset="0"/>
                <a:ea typeface="Cambria" pitchFamily="34" charset="-122"/>
                <a:cs typeface="Cambria" pitchFamily="34" charset="-120"/>
              </a:rPr>
              <a:t>Tarea vulnerable a la IA</a:t>
            </a:r>
            <a:endParaRPr lang="en-US" sz="1900" dirty="0"/>
          </a:p>
        </p:txBody>
      </p:sp>
      <p:sp>
        <p:nvSpPr>
          <p:cNvPr id="5" name="Text 3"/>
          <p:cNvSpPr txBox="1"/>
          <p:nvPr/>
        </p:nvSpPr>
        <p:spPr>
          <a:xfrm>
            <a:off x="6464808" y="1463040"/>
            <a:ext cx="4846320" cy="365760"/>
          </a:xfrm>
          <a:prstGeom prst="rect">
            <a:avLst/>
          </a:prstGeom>
          <a:noFill/>
          <a:ln/>
        </p:spPr>
        <p:txBody>
          <a:bodyPr wrap="square" lIns="0" tIns="0" rIns="0" bIns="0" rtlCol="0" anchor="ctr"/>
          <a:lstStyle/>
          <a:p>
            <a:pPr marL="0" indent="0">
              <a:buNone/>
            </a:pPr>
            <a:r>
              <a:rPr lang="en-US" sz="1900" b="1" dirty="0">
                <a:solidFill>
                  <a:srgbClr val="2A9D8F"/>
                </a:solidFill>
                <a:latin typeface="Cambria" pitchFamily="34" charset="0"/>
                <a:ea typeface="Cambria" pitchFamily="34" charset="-122"/>
                <a:cs typeface="Cambria" pitchFamily="34" charset="-120"/>
              </a:rPr>
              <a:t>Tarea rediseñada</a:t>
            </a:r>
            <a:endParaRPr lang="en-US" sz="1900" dirty="0"/>
          </a:p>
        </p:txBody>
      </p:sp>
      <p:sp>
        <p:nvSpPr>
          <p:cNvPr id="6" name="Shape 4"/>
          <p:cNvSpPr/>
          <p:nvPr/>
        </p:nvSpPr>
        <p:spPr>
          <a:xfrm>
            <a:off x="566928" y="1975104"/>
            <a:ext cx="5422392" cy="1444752"/>
          </a:xfrm>
          <a:prstGeom prst="roundRect">
            <a:avLst>
              <a:gd name="adj" fmla="val 5696"/>
            </a:avLst>
          </a:prstGeom>
          <a:solidFill>
            <a:srgbClr val="FBF0EF"/>
          </a:solidFill>
          <a:ln w="12700">
            <a:solidFill>
              <a:srgbClr val="FBF0EF"/>
            </a:solidFill>
            <a:prstDash val="solid"/>
          </a:ln>
          <a:effectLst>
            <a:outerShdw blurRad="127000" dist="25400" dir="5400000" algn="bl" rotWithShape="0">
              <a:srgbClr val="1B2A4A">
                <a:alpha val="14000"/>
              </a:srgbClr>
            </a:outerShdw>
          </a:effectLst>
        </p:spPr>
        <p:txBody>
          <a:bodyPr/>
          <a:lstStyle/>
          <a:p>
            <a:endParaRPr lang="en-PR"/>
          </a:p>
        </p:txBody>
      </p:sp>
      <p:sp>
        <p:nvSpPr>
          <p:cNvPr id="7" name="Text 5"/>
          <p:cNvSpPr txBox="1"/>
          <p:nvPr/>
        </p:nvSpPr>
        <p:spPr>
          <a:xfrm>
            <a:off x="841248" y="1975104"/>
            <a:ext cx="4892040" cy="1444752"/>
          </a:xfrm>
          <a:prstGeom prst="rect">
            <a:avLst/>
          </a:prstGeom>
          <a:noFill/>
          <a:ln/>
        </p:spPr>
        <p:txBody>
          <a:bodyPr wrap="square" lIns="0" tIns="0" rIns="0" bIns="0" rtlCol="0" anchor="ctr"/>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Resuma el capítulo 4 del libro de texto.</a:t>
            </a:r>
            <a:endParaRPr lang="en-US" sz="1800" dirty="0"/>
          </a:p>
        </p:txBody>
      </p:sp>
      <p:sp>
        <p:nvSpPr>
          <p:cNvPr id="8" name="Text 6"/>
          <p:cNvSpPr txBox="1"/>
          <p:nvPr/>
        </p:nvSpPr>
        <p:spPr>
          <a:xfrm>
            <a:off x="5742432" y="1975104"/>
            <a:ext cx="457200" cy="1444752"/>
          </a:xfrm>
          <a:prstGeom prst="rect">
            <a:avLst/>
          </a:prstGeom>
          <a:noFill/>
          <a:ln/>
        </p:spPr>
        <p:txBody>
          <a:bodyPr wrap="square" lIns="0" tIns="0" rIns="0" bIns="0" rtlCol="0" anchor="ctr"/>
          <a:lstStyle/>
          <a:p>
            <a:pPr marL="0" indent="0" algn="ctr">
              <a:buNone/>
            </a:pPr>
            <a:r>
              <a:rPr lang="en-US" sz="2400" b="1" dirty="0">
                <a:solidFill>
                  <a:srgbClr val="C9A227"/>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6199632" y="1975104"/>
            <a:ext cx="5422392" cy="1444752"/>
          </a:xfrm>
          <a:prstGeom prst="roundRect">
            <a:avLst>
              <a:gd name="adj" fmla="val 5696"/>
            </a:avLst>
          </a:prstGeom>
          <a:solidFill>
            <a:srgbClr val="F1F8F7"/>
          </a:solidFill>
          <a:ln w="12700">
            <a:solidFill>
              <a:srgbClr val="F1F8F7"/>
            </a:solidFill>
            <a:prstDash val="solid"/>
          </a:ln>
          <a:effectLst>
            <a:outerShdw blurRad="127000" dist="25400" dir="5400000" algn="bl" rotWithShape="0">
              <a:srgbClr val="1B2A4A">
                <a:alpha val="14000"/>
              </a:srgbClr>
            </a:outerShdw>
          </a:effectLst>
        </p:spPr>
        <p:txBody>
          <a:bodyPr/>
          <a:lstStyle/>
          <a:p>
            <a:endParaRPr lang="en-PR"/>
          </a:p>
        </p:txBody>
      </p:sp>
      <p:sp>
        <p:nvSpPr>
          <p:cNvPr id="10" name="Text 8"/>
          <p:cNvSpPr txBox="1"/>
          <p:nvPr/>
        </p:nvSpPr>
        <p:spPr>
          <a:xfrm>
            <a:off x="6473952" y="1975104"/>
            <a:ext cx="4892040" cy="1444752"/>
          </a:xfrm>
          <a:prstGeom prst="rect">
            <a:avLst/>
          </a:prstGeom>
          <a:noFill/>
          <a:ln/>
        </p:spPr>
        <p:txBody>
          <a:bodyPr wrap="square" lIns="0" tIns="0" rIns="0" bIns="0" rtlCol="0" anchor="ctr"/>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Conecte el capítulo 4 con un problema real de su comunidad y presente su análisis en tres minutos.</a:t>
            </a:r>
            <a:endParaRPr lang="en-US" sz="1800" dirty="0"/>
          </a:p>
        </p:txBody>
      </p:sp>
      <p:sp>
        <p:nvSpPr>
          <p:cNvPr id="11" name="Shape 9"/>
          <p:cNvSpPr/>
          <p:nvPr/>
        </p:nvSpPr>
        <p:spPr>
          <a:xfrm>
            <a:off x="566928" y="3621024"/>
            <a:ext cx="5422392" cy="1444752"/>
          </a:xfrm>
          <a:prstGeom prst="roundRect">
            <a:avLst>
              <a:gd name="adj" fmla="val 5696"/>
            </a:avLst>
          </a:prstGeom>
          <a:solidFill>
            <a:srgbClr val="FBF0EF"/>
          </a:solidFill>
          <a:ln w="12700">
            <a:solidFill>
              <a:srgbClr val="FBF0EF"/>
            </a:solidFill>
            <a:prstDash val="solid"/>
          </a:ln>
          <a:effectLst>
            <a:outerShdw blurRad="127000" dist="25400" dir="5400000" algn="bl" rotWithShape="0">
              <a:srgbClr val="1B2A4A">
                <a:alpha val="14000"/>
              </a:srgbClr>
            </a:outerShdw>
          </a:effectLst>
        </p:spPr>
        <p:txBody>
          <a:bodyPr/>
          <a:lstStyle/>
          <a:p>
            <a:endParaRPr lang="en-PR"/>
          </a:p>
        </p:txBody>
      </p:sp>
      <p:sp>
        <p:nvSpPr>
          <p:cNvPr id="12" name="Text 10"/>
          <p:cNvSpPr txBox="1"/>
          <p:nvPr/>
        </p:nvSpPr>
        <p:spPr>
          <a:xfrm>
            <a:off x="841248" y="3621024"/>
            <a:ext cx="4892040" cy="1444752"/>
          </a:xfrm>
          <a:prstGeom prst="rect">
            <a:avLst/>
          </a:prstGeom>
          <a:noFill/>
          <a:ln/>
        </p:spPr>
        <p:txBody>
          <a:bodyPr wrap="square" lIns="0" tIns="0" rIns="0" bIns="0" rtlCol="0" anchor="ctr"/>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Investigue sobre el cambio climático.</a:t>
            </a:r>
            <a:endParaRPr lang="en-US" sz="1800" dirty="0"/>
          </a:p>
        </p:txBody>
      </p:sp>
      <p:sp>
        <p:nvSpPr>
          <p:cNvPr id="13" name="Text 11"/>
          <p:cNvSpPr txBox="1"/>
          <p:nvPr/>
        </p:nvSpPr>
        <p:spPr>
          <a:xfrm>
            <a:off x="5742432" y="3621024"/>
            <a:ext cx="457200" cy="1444752"/>
          </a:xfrm>
          <a:prstGeom prst="rect">
            <a:avLst/>
          </a:prstGeom>
          <a:noFill/>
          <a:ln/>
        </p:spPr>
        <p:txBody>
          <a:bodyPr wrap="square" lIns="0" tIns="0" rIns="0" bIns="0" rtlCol="0" anchor="ctr"/>
          <a:lstStyle/>
          <a:p>
            <a:pPr marL="0" indent="0" algn="ctr">
              <a:buNone/>
            </a:pPr>
            <a:r>
              <a:rPr lang="en-US" sz="2400" b="1" dirty="0">
                <a:solidFill>
                  <a:srgbClr val="C9A227"/>
                </a:solidFill>
                <a:latin typeface="Calibri" pitchFamily="34" charset="0"/>
                <a:ea typeface="Calibri" pitchFamily="34" charset="-122"/>
                <a:cs typeface="Calibri" pitchFamily="34" charset="-120"/>
              </a:rPr>
              <a:t>→</a:t>
            </a:r>
            <a:endParaRPr lang="en-US" sz="2400" dirty="0"/>
          </a:p>
        </p:txBody>
      </p:sp>
      <p:sp>
        <p:nvSpPr>
          <p:cNvPr id="14" name="Shape 12"/>
          <p:cNvSpPr/>
          <p:nvPr/>
        </p:nvSpPr>
        <p:spPr>
          <a:xfrm>
            <a:off x="6199632" y="3621024"/>
            <a:ext cx="5422392" cy="1444752"/>
          </a:xfrm>
          <a:prstGeom prst="roundRect">
            <a:avLst>
              <a:gd name="adj" fmla="val 5696"/>
            </a:avLst>
          </a:prstGeom>
          <a:solidFill>
            <a:srgbClr val="F1F8F7"/>
          </a:solidFill>
          <a:ln w="12700">
            <a:solidFill>
              <a:srgbClr val="F1F8F7"/>
            </a:solidFill>
            <a:prstDash val="solid"/>
          </a:ln>
          <a:effectLst>
            <a:outerShdw blurRad="127000" dist="25400" dir="5400000" algn="bl" rotWithShape="0">
              <a:srgbClr val="1B2A4A">
                <a:alpha val="14000"/>
              </a:srgbClr>
            </a:outerShdw>
          </a:effectLst>
        </p:spPr>
        <p:txBody>
          <a:bodyPr/>
          <a:lstStyle/>
          <a:p>
            <a:endParaRPr lang="en-PR"/>
          </a:p>
        </p:txBody>
      </p:sp>
      <p:sp>
        <p:nvSpPr>
          <p:cNvPr id="15" name="Text 13"/>
          <p:cNvSpPr txBox="1"/>
          <p:nvPr/>
        </p:nvSpPr>
        <p:spPr>
          <a:xfrm>
            <a:off x="6473952" y="3621024"/>
            <a:ext cx="4892040" cy="1444752"/>
          </a:xfrm>
          <a:prstGeom prst="rect">
            <a:avLst/>
          </a:prstGeom>
          <a:noFill/>
          <a:ln/>
        </p:spPr>
        <p:txBody>
          <a:bodyPr wrap="square" lIns="0" tIns="0" rIns="0" bIns="0" rtlCol="0" anchor="ctr"/>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Use IA para generar un primer borrador, márquelo, corríjalo y documente qué cambió y por qué.</a:t>
            </a:r>
            <a:endParaRPr lang="en-US" sz="1800" dirty="0"/>
          </a:p>
        </p:txBody>
      </p:sp>
      <p:sp>
        <p:nvSpPr>
          <p:cNvPr id="16" name="Text 14"/>
          <p:cNvSpPr txBox="1"/>
          <p:nvPr/>
        </p:nvSpPr>
        <p:spPr>
          <a:xfrm>
            <a:off x="566928" y="5760720"/>
            <a:ext cx="11057839" cy="548640"/>
          </a:xfrm>
          <a:prstGeom prst="rect">
            <a:avLst/>
          </a:prstGeom>
          <a:noFill/>
          <a:ln/>
        </p:spPr>
        <p:txBody>
          <a:bodyPr wrap="square" lIns="0" tIns="0" rIns="0" bIns="0" rtlCol="0" anchor="t"/>
          <a:lstStyle/>
          <a:p>
            <a:pPr marL="0" indent="0">
              <a:lnSpc>
                <a:spcPts val="2100"/>
              </a:lnSpc>
              <a:buNone/>
            </a:pPr>
            <a:r>
              <a:rPr lang="en-US" sz="1600" i="1" dirty="0">
                <a:solidFill>
                  <a:srgbClr val="5A6478"/>
                </a:solidFill>
                <a:latin typeface="Calibri" pitchFamily="34" charset="0"/>
                <a:ea typeface="Calibri" pitchFamily="34" charset="-122"/>
                <a:cs typeface="Calibri" pitchFamily="34" charset="-120"/>
              </a:rPr>
              <a:t>Principio común: las tareas resistentes a la IA piden juicio, contexto local, proceso visible o defensa oral —no más vigilancia.</a:t>
            </a:r>
            <a:endParaRPr lang="en-US" sz="1600" dirty="0"/>
          </a:p>
        </p:txBody>
      </p:sp>
      <p:sp>
        <p:nvSpPr>
          <p:cNvPr id="17" name="Text 15"/>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8" name="Text 16"/>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68</a:t>
            </a:r>
            <a:endParaRPr lang="en-US" sz="16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ESCALA DE USO PARA CADA ASIGNACIÓN</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Diga con claridad cuánta IA se permite</a:t>
            </a:r>
            <a:endParaRPr lang="en-US" sz="3000" dirty="0"/>
          </a:p>
        </p:txBody>
      </p:sp>
      <p:sp>
        <p:nvSpPr>
          <p:cNvPr id="4" name="Shape 2"/>
          <p:cNvSpPr/>
          <p:nvPr/>
        </p:nvSpPr>
        <p:spPr>
          <a:xfrm>
            <a:off x="566928" y="1609344"/>
            <a:ext cx="11057839" cy="1225296"/>
          </a:xfrm>
          <a:prstGeom prst="roundRect">
            <a:avLst>
              <a:gd name="adj" fmla="val 6716"/>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786384" y="1920240"/>
            <a:ext cx="603504" cy="603504"/>
          </a:xfrm>
          <a:prstGeom prst="roundRect">
            <a:avLst>
              <a:gd name="adj" fmla="val 19697"/>
            </a:avLst>
          </a:prstGeom>
          <a:solidFill>
            <a:srgbClr val="C0392B"/>
          </a:solidFill>
          <a:ln w="12700">
            <a:solidFill>
              <a:srgbClr val="C0392B"/>
            </a:solidFill>
            <a:prstDash val="solid"/>
          </a:ln>
        </p:spPr>
        <p:txBody>
          <a:bodyPr/>
          <a:lstStyle/>
          <a:p>
            <a:endParaRPr lang="en-PR"/>
          </a:p>
        </p:txBody>
      </p:sp>
      <p:sp>
        <p:nvSpPr>
          <p:cNvPr id="6" name="Text 4"/>
          <p:cNvSpPr txBox="1"/>
          <p:nvPr/>
        </p:nvSpPr>
        <p:spPr>
          <a:xfrm>
            <a:off x="786384" y="1920240"/>
            <a:ext cx="603504" cy="603504"/>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0</a:t>
            </a:r>
            <a:endParaRPr lang="en-US" sz="2600" dirty="0"/>
          </a:p>
        </p:txBody>
      </p:sp>
      <p:sp>
        <p:nvSpPr>
          <p:cNvPr id="7" name="Text 5"/>
          <p:cNvSpPr txBox="1"/>
          <p:nvPr/>
        </p:nvSpPr>
        <p:spPr>
          <a:xfrm>
            <a:off x="1536192" y="1773936"/>
            <a:ext cx="9784080" cy="384048"/>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Sin IA</a:t>
            </a:r>
            <a:endParaRPr lang="en-US" sz="2000" dirty="0"/>
          </a:p>
        </p:txBody>
      </p:sp>
      <p:sp>
        <p:nvSpPr>
          <p:cNvPr id="8" name="Text 6"/>
          <p:cNvSpPr txBox="1"/>
          <p:nvPr/>
        </p:nvSpPr>
        <p:spPr>
          <a:xfrm>
            <a:off x="1536192" y="2176272"/>
            <a:ext cx="9784080" cy="548640"/>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El trabajo se realiza sin asistencia de IA en ninguna etapa.</a:t>
            </a:r>
            <a:endParaRPr lang="en-US" sz="1800" dirty="0"/>
          </a:p>
        </p:txBody>
      </p:sp>
      <p:sp>
        <p:nvSpPr>
          <p:cNvPr id="9" name="Shape 7"/>
          <p:cNvSpPr/>
          <p:nvPr/>
        </p:nvSpPr>
        <p:spPr>
          <a:xfrm>
            <a:off x="566928" y="2980944"/>
            <a:ext cx="11057839" cy="1225296"/>
          </a:xfrm>
          <a:prstGeom prst="roundRect">
            <a:avLst>
              <a:gd name="adj" fmla="val 6716"/>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10" name="Shape 8"/>
          <p:cNvSpPr/>
          <p:nvPr/>
        </p:nvSpPr>
        <p:spPr>
          <a:xfrm>
            <a:off x="786384" y="3291840"/>
            <a:ext cx="603504" cy="603504"/>
          </a:xfrm>
          <a:prstGeom prst="roundRect">
            <a:avLst>
              <a:gd name="adj" fmla="val 19697"/>
            </a:avLst>
          </a:prstGeom>
          <a:solidFill>
            <a:srgbClr val="D68910"/>
          </a:solidFill>
          <a:ln w="12700">
            <a:solidFill>
              <a:srgbClr val="D68910"/>
            </a:solidFill>
            <a:prstDash val="solid"/>
          </a:ln>
        </p:spPr>
        <p:txBody>
          <a:bodyPr/>
          <a:lstStyle/>
          <a:p>
            <a:endParaRPr lang="en-PR"/>
          </a:p>
        </p:txBody>
      </p:sp>
      <p:sp>
        <p:nvSpPr>
          <p:cNvPr id="11" name="Text 9"/>
          <p:cNvSpPr txBox="1"/>
          <p:nvPr/>
        </p:nvSpPr>
        <p:spPr>
          <a:xfrm>
            <a:off x="786384" y="3291840"/>
            <a:ext cx="603504" cy="603504"/>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12" name="Text 10"/>
          <p:cNvSpPr txBox="1"/>
          <p:nvPr/>
        </p:nvSpPr>
        <p:spPr>
          <a:xfrm>
            <a:off x="1536192" y="3145536"/>
            <a:ext cx="9784080" cy="384048"/>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IA para explorar</a:t>
            </a:r>
            <a:endParaRPr lang="en-US" sz="2000" dirty="0"/>
          </a:p>
        </p:txBody>
      </p:sp>
      <p:sp>
        <p:nvSpPr>
          <p:cNvPr id="13" name="Text 11"/>
          <p:cNvSpPr txBox="1"/>
          <p:nvPr/>
        </p:nvSpPr>
        <p:spPr>
          <a:xfrm>
            <a:off x="1536192" y="3547872"/>
            <a:ext cx="9784080" cy="548640"/>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Se permite para generar ideas o aclarar conceptos, no para producir el texto entregado.</a:t>
            </a:r>
            <a:endParaRPr lang="en-US" sz="1800" dirty="0"/>
          </a:p>
        </p:txBody>
      </p:sp>
      <p:sp>
        <p:nvSpPr>
          <p:cNvPr id="14" name="Shape 12"/>
          <p:cNvSpPr/>
          <p:nvPr/>
        </p:nvSpPr>
        <p:spPr>
          <a:xfrm>
            <a:off x="566928" y="4352544"/>
            <a:ext cx="11057839" cy="1225296"/>
          </a:xfrm>
          <a:prstGeom prst="roundRect">
            <a:avLst>
              <a:gd name="adj" fmla="val 6716"/>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5" name="Shape 13"/>
          <p:cNvSpPr/>
          <p:nvPr/>
        </p:nvSpPr>
        <p:spPr>
          <a:xfrm>
            <a:off x="786384" y="4663440"/>
            <a:ext cx="603504" cy="603504"/>
          </a:xfrm>
          <a:prstGeom prst="roundRect">
            <a:avLst>
              <a:gd name="adj" fmla="val 19697"/>
            </a:avLst>
          </a:prstGeom>
          <a:solidFill>
            <a:srgbClr val="C9A227"/>
          </a:solidFill>
          <a:ln w="12700">
            <a:solidFill>
              <a:srgbClr val="C9A227"/>
            </a:solidFill>
            <a:prstDash val="solid"/>
          </a:ln>
        </p:spPr>
        <p:txBody>
          <a:bodyPr/>
          <a:lstStyle/>
          <a:p>
            <a:endParaRPr lang="en-PR"/>
          </a:p>
        </p:txBody>
      </p:sp>
      <p:sp>
        <p:nvSpPr>
          <p:cNvPr id="16" name="Text 14"/>
          <p:cNvSpPr txBox="1"/>
          <p:nvPr/>
        </p:nvSpPr>
        <p:spPr>
          <a:xfrm>
            <a:off x="786384" y="4663440"/>
            <a:ext cx="603504" cy="603504"/>
          </a:xfrm>
          <a:prstGeom prst="rect">
            <a:avLst/>
          </a:prstGeom>
          <a:noFill/>
          <a:ln/>
        </p:spPr>
        <p:txBody>
          <a:bodyPr wrap="square" lIns="0" tIns="0" rIns="0" bIns="0" rtlCol="0" anchor="ctr"/>
          <a:lstStyle/>
          <a:p>
            <a:pPr marL="0" indent="0" algn="ctr">
              <a:buNone/>
            </a:pPr>
            <a:r>
              <a:rPr lang="en-US" sz="2600" b="1" dirty="0">
                <a:solidFill>
                  <a:srgbClr val="1B2A4A"/>
                </a:solidFill>
                <a:latin typeface="Cambria" pitchFamily="34" charset="0"/>
                <a:ea typeface="Cambria" pitchFamily="34" charset="-122"/>
                <a:cs typeface="Cambria" pitchFamily="34" charset="-120"/>
              </a:rPr>
              <a:t>2</a:t>
            </a:r>
            <a:endParaRPr lang="en-US" sz="2600" dirty="0"/>
          </a:p>
        </p:txBody>
      </p:sp>
      <p:sp>
        <p:nvSpPr>
          <p:cNvPr id="17" name="Text 15"/>
          <p:cNvSpPr txBox="1"/>
          <p:nvPr/>
        </p:nvSpPr>
        <p:spPr>
          <a:xfrm>
            <a:off x="1536192" y="4517136"/>
            <a:ext cx="9784080" cy="384048"/>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IA para asistir</a:t>
            </a:r>
            <a:endParaRPr lang="en-US" sz="2000" dirty="0"/>
          </a:p>
        </p:txBody>
      </p:sp>
      <p:sp>
        <p:nvSpPr>
          <p:cNvPr id="18" name="Text 16"/>
          <p:cNvSpPr txBox="1"/>
          <p:nvPr/>
        </p:nvSpPr>
        <p:spPr>
          <a:xfrm>
            <a:off x="1536192" y="4919472"/>
            <a:ext cx="9784080" cy="548640"/>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Se permite para revisar redacción, organizar o traducir, con declaración de uso.</a:t>
            </a:r>
            <a:endParaRPr lang="en-US" sz="1800" dirty="0"/>
          </a:p>
        </p:txBody>
      </p:sp>
      <p:sp>
        <p:nvSpPr>
          <p:cNvPr id="19" name="Text 17"/>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0" name="Text 18"/>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69</a:t>
            </a:r>
            <a:endParaRPr lang="en-US" sz="16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ESCALA DE USO PARA CADA ASIGNACIÓN</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Diga con claridad cuánta IA se permite (cont.)</a:t>
            </a:r>
            <a:endParaRPr lang="en-US" sz="3000" dirty="0"/>
          </a:p>
        </p:txBody>
      </p:sp>
      <p:sp>
        <p:nvSpPr>
          <p:cNvPr id="4" name="Shape 2"/>
          <p:cNvSpPr/>
          <p:nvPr/>
        </p:nvSpPr>
        <p:spPr>
          <a:xfrm>
            <a:off x="566928" y="1609344"/>
            <a:ext cx="11057839" cy="1225296"/>
          </a:xfrm>
          <a:prstGeom prst="roundRect">
            <a:avLst>
              <a:gd name="adj" fmla="val 6716"/>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786384" y="1920240"/>
            <a:ext cx="603504" cy="603504"/>
          </a:xfrm>
          <a:prstGeom prst="roundRect">
            <a:avLst>
              <a:gd name="adj" fmla="val 19697"/>
            </a:avLst>
          </a:prstGeom>
          <a:solidFill>
            <a:srgbClr val="2A9D8F"/>
          </a:solidFill>
          <a:ln w="12700">
            <a:solidFill>
              <a:srgbClr val="2A9D8F"/>
            </a:solidFill>
            <a:prstDash val="solid"/>
          </a:ln>
        </p:spPr>
        <p:txBody>
          <a:bodyPr/>
          <a:lstStyle/>
          <a:p>
            <a:endParaRPr lang="en-PR"/>
          </a:p>
        </p:txBody>
      </p:sp>
      <p:sp>
        <p:nvSpPr>
          <p:cNvPr id="6" name="Text 4"/>
          <p:cNvSpPr txBox="1"/>
          <p:nvPr/>
        </p:nvSpPr>
        <p:spPr>
          <a:xfrm>
            <a:off x="786384" y="1920240"/>
            <a:ext cx="603504" cy="603504"/>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7" name="Text 5"/>
          <p:cNvSpPr txBox="1"/>
          <p:nvPr/>
        </p:nvSpPr>
        <p:spPr>
          <a:xfrm>
            <a:off x="1536192" y="1773936"/>
            <a:ext cx="9784080" cy="384048"/>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IA para producir con revisión</a:t>
            </a:r>
            <a:endParaRPr lang="en-US" sz="2000" dirty="0"/>
          </a:p>
        </p:txBody>
      </p:sp>
      <p:sp>
        <p:nvSpPr>
          <p:cNvPr id="8" name="Text 6"/>
          <p:cNvSpPr txBox="1"/>
          <p:nvPr/>
        </p:nvSpPr>
        <p:spPr>
          <a:xfrm>
            <a:off x="1536192" y="2176272"/>
            <a:ext cx="9784080" cy="548640"/>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Se permite generar un borrador, siempre que el estudiante lo corrija, lo documente y lo defienda.</a:t>
            </a:r>
            <a:endParaRPr lang="en-US" sz="1800" dirty="0"/>
          </a:p>
        </p:txBody>
      </p:sp>
      <p:sp>
        <p:nvSpPr>
          <p:cNvPr id="9" name="Shape 7"/>
          <p:cNvSpPr/>
          <p:nvPr/>
        </p:nvSpPr>
        <p:spPr>
          <a:xfrm>
            <a:off x="566928" y="2980944"/>
            <a:ext cx="11057839" cy="1225296"/>
          </a:xfrm>
          <a:prstGeom prst="roundRect">
            <a:avLst>
              <a:gd name="adj" fmla="val 6716"/>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0" name="Shape 8"/>
          <p:cNvSpPr/>
          <p:nvPr/>
        </p:nvSpPr>
        <p:spPr>
          <a:xfrm>
            <a:off x="786384" y="3291840"/>
            <a:ext cx="603504" cy="603504"/>
          </a:xfrm>
          <a:prstGeom prst="roundRect">
            <a:avLst>
              <a:gd name="adj" fmla="val 19697"/>
            </a:avLst>
          </a:prstGeom>
          <a:solidFill>
            <a:srgbClr val="1B2A4A"/>
          </a:solidFill>
          <a:ln w="12700">
            <a:solidFill>
              <a:srgbClr val="1B2A4A"/>
            </a:solidFill>
            <a:prstDash val="solid"/>
          </a:ln>
        </p:spPr>
        <p:txBody>
          <a:bodyPr/>
          <a:lstStyle/>
          <a:p>
            <a:endParaRPr lang="en-PR"/>
          </a:p>
        </p:txBody>
      </p:sp>
      <p:sp>
        <p:nvSpPr>
          <p:cNvPr id="11" name="Text 9"/>
          <p:cNvSpPr txBox="1"/>
          <p:nvPr/>
        </p:nvSpPr>
        <p:spPr>
          <a:xfrm>
            <a:off x="786384" y="3291840"/>
            <a:ext cx="603504" cy="603504"/>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12" name="Text 10"/>
          <p:cNvSpPr txBox="1"/>
          <p:nvPr/>
        </p:nvSpPr>
        <p:spPr>
          <a:xfrm>
            <a:off x="1536192" y="3145536"/>
            <a:ext cx="9784080" cy="384048"/>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IA como objeto de estudio</a:t>
            </a:r>
            <a:endParaRPr lang="en-US" sz="2000" dirty="0"/>
          </a:p>
        </p:txBody>
      </p:sp>
      <p:sp>
        <p:nvSpPr>
          <p:cNvPr id="13" name="Text 11"/>
          <p:cNvSpPr txBox="1"/>
          <p:nvPr/>
        </p:nvSpPr>
        <p:spPr>
          <a:xfrm>
            <a:off x="1536192" y="3547872"/>
            <a:ext cx="9784080" cy="548640"/>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El propósito de la tarea es analizar críticamente la salida de la IA.</a:t>
            </a:r>
            <a:endParaRPr lang="en-US" sz="1800" dirty="0"/>
          </a:p>
        </p:txBody>
      </p:sp>
      <p:sp>
        <p:nvSpPr>
          <p:cNvPr id="14" name="Text 12"/>
          <p:cNvSpPr txBox="1"/>
          <p:nvPr/>
        </p:nvSpPr>
        <p:spPr>
          <a:xfrm>
            <a:off x="566928" y="5760720"/>
            <a:ext cx="11057839" cy="548640"/>
          </a:xfrm>
          <a:prstGeom prst="rect">
            <a:avLst/>
          </a:prstGeom>
          <a:noFill/>
          <a:ln/>
        </p:spPr>
        <p:txBody>
          <a:bodyPr wrap="square" lIns="0" tIns="0" rIns="0" bIns="0" rtlCol="0" anchor="t"/>
          <a:lstStyle/>
          <a:p>
            <a:pPr marL="0" indent="0">
              <a:lnSpc>
                <a:spcPts val="2100"/>
              </a:lnSpc>
              <a:buNone/>
            </a:pPr>
            <a:r>
              <a:rPr lang="en-US" sz="1600" i="1" dirty="0">
                <a:solidFill>
                  <a:srgbClr val="5A6478"/>
                </a:solidFill>
                <a:latin typeface="Calibri" pitchFamily="34" charset="0"/>
                <a:ea typeface="Calibri" pitchFamily="34" charset="-122"/>
                <a:cs typeface="Calibri" pitchFamily="34" charset="-120"/>
              </a:rPr>
              <a:t>Escriba el nivel en el encabezado de cada asignación. La ambigüedad, no la tecnología, es lo que genera los conflictos de integridad académica.</a:t>
            </a:r>
            <a:endParaRPr lang="en-US" sz="1600" dirty="0"/>
          </a:p>
        </p:txBody>
      </p:sp>
      <p:sp>
        <p:nvSpPr>
          <p:cNvPr id="15" name="Text 13"/>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6" name="Text 14"/>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70</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2103120"/>
            <a:ext cx="1463040" cy="1463040"/>
          </a:xfrm>
          <a:prstGeom prst="ellipse">
            <a:avLst/>
          </a:prstGeom>
          <a:solidFill>
            <a:srgbClr val="C9A227"/>
          </a:solidFill>
          <a:ln w="12700">
            <a:solidFill>
              <a:srgbClr val="C9A227"/>
            </a:solidFill>
            <a:prstDash val="solid"/>
          </a:ln>
        </p:spPr>
        <p:txBody>
          <a:bodyPr/>
          <a:lstStyle/>
          <a:p>
            <a:endParaRPr lang="en-PR"/>
          </a:p>
        </p:txBody>
      </p:sp>
      <p:sp>
        <p:nvSpPr>
          <p:cNvPr id="3" name="Text 1"/>
          <p:cNvSpPr txBox="1"/>
          <p:nvPr/>
        </p:nvSpPr>
        <p:spPr>
          <a:xfrm>
            <a:off x="566928" y="2103120"/>
            <a:ext cx="1463040" cy="1463040"/>
          </a:xfrm>
          <a:prstGeom prst="rect">
            <a:avLst/>
          </a:prstGeom>
          <a:noFill/>
          <a:ln/>
        </p:spPr>
        <p:txBody>
          <a:bodyPr wrap="square" lIns="0" tIns="0" rIns="0" bIns="0" rtlCol="0" anchor="ctr"/>
          <a:lstStyle/>
          <a:p>
            <a:pPr marL="0" indent="0" algn="ctr">
              <a:buNone/>
            </a:pPr>
            <a:r>
              <a:rPr lang="en-US" sz="5600" b="1" dirty="0">
                <a:solidFill>
                  <a:srgbClr val="1B2A4A"/>
                </a:solidFill>
                <a:latin typeface="Cambria" pitchFamily="34" charset="0"/>
                <a:ea typeface="Cambria" pitchFamily="34" charset="-122"/>
                <a:cs typeface="Cambria" pitchFamily="34" charset="-120"/>
              </a:rPr>
              <a:t>7</a:t>
            </a:r>
            <a:endParaRPr lang="en-US" sz="5600" dirty="0"/>
          </a:p>
        </p:txBody>
      </p:sp>
      <p:sp>
        <p:nvSpPr>
          <p:cNvPr id="4" name="Text 2"/>
          <p:cNvSpPr txBox="1"/>
          <p:nvPr/>
        </p:nvSpPr>
        <p:spPr>
          <a:xfrm>
            <a:off x="2377440" y="2029968"/>
            <a:ext cx="9052560" cy="96012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Plan de acción</a:t>
            </a:r>
            <a:endParaRPr lang="en-US" sz="4200" dirty="0"/>
          </a:p>
        </p:txBody>
      </p:sp>
      <p:sp>
        <p:nvSpPr>
          <p:cNvPr id="5" name="Text 3"/>
          <p:cNvSpPr txBox="1"/>
          <p:nvPr/>
        </p:nvSpPr>
        <p:spPr>
          <a:xfrm>
            <a:off x="2377440" y="3035808"/>
            <a:ext cx="9052560" cy="822960"/>
          </a:xfrm>
          <a:prstGeom prst="rect">
            <a:avLst/>
          </a:prstGeom>
          <a:noFill/>
          <a:ln/>
        </p:spPr>
        <p:txBody>
          <a:bodyPr wrap="square" lIns="0" tIns="0" rIns="0" bIns="0" rtlCol="0" anchor="t"/>
          <a:lstStyle/>
          <a:p>
            <a:pPr marL="0" indent="0">
              <a:lnSpc>
                <a:spcPts val="2700"/>
              </a:lnSpc>
              <a:buNone/>
            </a:pPr>
            <a:r>
              <a:rPr lang="en-US" sz="2000" dirty="0">
                <a:solidFill>
                  <a:srgbClr val="DDE3EC"/>
                </a:solidFill>
                <a:latin typeface="Calibri" pitchFamily="34" charset="0"/>
                <a:ea typeface="Calibri" pitchFamily="34" charset="-122"/>
                <a:cs typeface="Calibri" pitchFamily="34" charset="-120"/>
              </a:rPr>
              <a:t>Qué hacer al salir de este salón: sus próximos 30, 60 y 90 días</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PLAN DE IMPLEMENTACIÓN GRADUAL</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Sus próximos 90 días</a:t>
            </a:r>
            <a:endParaRPr lang="en-US" sz="3000" dirty="0"/>
          </a:p>
        </p:txBody>
      </p:sp>
      <p:sp>
        <p:nvSpPr>
          <p:cNvPr id="4" name="Shape 2"/>
          <p:cNvSpPr/>
          <p:nvPr/>
        </p:nvSpPr>
        <p:spPr>
          <a:xfrm>
            <a:off x="566928" y="1463040"/>
            <a:ext cx="3538728" cy="4553712"/>
          </a:xfrm>
          <a:prstGeom prst="roundRect">
            <a:avLst>
              <a:gd name="adj" fmla="val 2326"/>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841248" y="1700784"/>
            <a:ext cx="914400" cy="914400"/>
          </a:xfrm>
          <a:prstGeom prst="ellipse">
            <a:avLst/>
          </a:prstGeom>
          <a:solidFill>
            <a:srgbClr val="2A9D8F"/>
          </a:solidFill>
          <a:ln w="12700">
            <a:solidFill>
              <a:srgbClr val="2A9D8F"/>
            </a:solidFill>
            <a:prstDash val="solid"/>
          </a:ln>
        </p:spPr>
        <p:txBody>
          <a:bodyPr/>
          <a:lstStyle/>
          <a:p>
            <a:endParaRPr lang="en-PR"/>
          </a:p>
        </p:txBody>
      </p:sp>
      <p:sp>
        <p:nvSpPr>
          <p:cNvPr id="6" name="Text 4"/>
          <p:cNvSpPr txBox="1"/>
          <p:nvPr/>
        </p:nvSpPr>
        <p:spPr>
          <a:xfrm>
            <a:off x="841248" y="1700784"/>
            <a:ext cx="914400" cy="91440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30</a:t>
            </a:r>
            <a:endParaRPr lang="en-US" sz="2800" dirty="0"/>
          </a:p>
        </p:txBody>
      </p:sp>
      <p:sp>
        <p:nvSpPr>
          <p:cNvPr id="7" name="Text 5"/>
          <p:cNvSpPr txBox="1"/>
          <p:nvPr/>
        </p:nvSpPr>
        <p:spPr>
          <a:xfrm>
            <a:off x="841248" y="2761488"/>
            <a:ext cx="3035808" cy="310896"/>
          </a:xfrm>
          <a:prstGeom prst="rect">
            <a:avLst/>
          </a:prstGeom>
          <a:noFill/>
          <a:ln/>
        </p:spPr>
        <p:txBody>
          <a:bodyPr wrap="square" lIns="0" tIns="0" rIns="0" bIns="0" rtlCol="0" anchor="ctr"/>
          <a:lstStyle/>
          <a:p>
            <a:pPr marL="0" indent="0">
              <a:buNone/>
            </a:pPr>
            <a:r>
              <a:rPr lang="en-US" sz="1600" b="1" kern="0" spc="80" dirty="0">
                <a:solidFill>
                  <a:srgbClr val="2A9D8F"/>
                </a:solidFill>
                <a:latin typeface="Calibri" pitchFamily="34" charset="0"/>
                <a:ea typeface="Calibri" pitchFamily="34" charset="-122"/>
                <a:cs typeface="Calibri" pitchFamily="34" charset="-120"/>
              </a:rPr>
              <a:t>PRIMEROS 30 DÍAS</a:t>
            </a:r>
            <a:endParaRPr lang="en-US" sz="1600" dirty="0"/>
          </a:p>
        </p:txBody>
      </p:sp>
      <p:sp>
        <p:nvSpPr>
          <p:cNvPr id="8" name="Text 6"/>
          <p:cNvSpPr txBox="1"/>
          <p:nvPr/>
        </p:nvSpPr>
        <p:spPr>
          <a:xfrm>
            <a:off x="841248" y="3127248"/>
            <a:ext cx="3054096" cy="2743200"/>
          </a:xfrm>
          <a:prstGeom prst="rect">
            <a:avLst/>
          </a:prstGeom>
          <a:noFill/>
          <a:ln/>
        </p:spPr>
        <p:txBody>
          <a:bodyPr wrap="square" lIns="0" tIns="0" rIns="0" bIns="0" rtlCol="0" anchor="t"/>
          <a:lstStyle/>
          <a:p>
            <a:pPr marL="342900" indent="-342900">
              <a:lnSpc>
                <a:spcPts val="2100"/>
              </a:lnSpc>
              <a:spcAft>
                <a:spcPts val="600"/>
              </a:spcAft>
              <a:buSzPct val="100000"/>
              <a:buChar char="•"/>
            </a:pPr>
            <a:r>
              <a:rPr lang="en-US" sz="1600" dirty="0">
                <a:solidFill>
                  <a:srgbClr val="2C3548"/>
                </a:solidFill>
                <a:latin typeface="Calibri" pitchFamily="34" charset="0"/>
                <a:ea typeface="Calibri" pitchFamily="34" charset="-122"/>
                <a:cs typeface="Calibri" pitchFamily="34" charset="-120"/>
              </a:rPr>
              <a:t>Active su cuenta institucional de Copilot</a:t>
            </a:r>
            <a:endParaRPr lang="en-US" sz="1600" dirty="0"/>
          </a:p>
          <a:p>
            <a:pPr marL="342900" indent="-342900">
              <a:lnSpc>
                <a:spcPts val="2100"/>
              </a:lnSpc>
              <a:spcAft>
                <a:spcPts val="600"/>
              </a:spcAft>
              <a:buSzPct val="100000"/>
              <a:buChar char="•"/>
            </a:pPr>
            <a:r>
              <a:rPr lang="en-US" sz="1600" dirty="0">
                <a:solidFill>
                  <a:srgbClr val="2C3548"/>
                </a:solidFill>
                <a:latin typeface="Calibri" pitchFamily="34" charset="0"/>
                <a:ea typeface="Calibri" pitchFamily="34" charset="-122"/>
                <a:cs typeface="Calibri" pitchFamily="34" charset="-120"/>
              </a:rPr>
              <a:t>Escoja UNA tarea semanal que le consuma tiempo</a:t>
            </a:r>
            <a:endParaRPr lang="en-US" sz="1600" dirty="0"/>
          </a:p>
          <a:p>
            <a:pPr marL="342900" indent="-342900">
              <a:lnSpc>
                <a:spcPts val="2100"/>
              </a:lnSpc>
              <a:spcAft>
                <a:spcPts val="600"/>
              </a:spcAft>
              <a:buSzPct val="100000"/>
              <a:buChar char="•"/>
            </a:pPr>
            <a:r>
              <a:rPr lang="en-US" sz="1600" dirty="0">
                <a:solidFill>
                  <a:srgbClr val="2C3548"/>
                </a:solidFill>
                <a:latin typeface="Calibri" pitchFamily="34" charset="0"/>
                <a:ea typeface="Calibri" pitchFamily="34" charset="-122"/>
                <a:cs typeface="Calibri" pitchFamily="34" charset="-120"/>
              </a:rPr>
              <a:t>Practique el modelo RC-TTF con esa tarea</a:t>
            </a:r>
            <a:endParaRPr lang="en-US" sz="1600" dirty="0"/>
          </a:p>
          <a:p>
            <a:pPr marL="342900" indent="-342900">
              <a:lnSpc>
                <a:spcPts val="2100"/>
              </a:lnSpc>
              <a:spcAft>
                <a:spcPts val="600"/>
              </a:spcAft>
              <a:buSzPct val="100000"/>
              <a:buChar char="•"/>
            </a:pPr>
            <a:r>
              <a:rPr lang="en-US" sz="1600" dirty="0">
                <a:solidFill>
                  <a:srgbClr val="2C3548"/>
                </a:solidFill>
                <a:latin typeface="Calibri" pitchFamily="34" charset="0"/>
                <a:ea typeface="Calibri" pitchFamily="34" charset="-122"/>
                <a:cs typeface="Calibri" pitchFamily="34" charset="-120"/>
              </a:rPr>
              <a:t>Verifique cada resultado antes de usarlo</a:t>
            </a:r>
            <a:endParaRPr lang="en-US" sz="1600" dirty="0"/>
          </a:p>
        </p:txBody>
      </p:sp>
      <p:sp>
        <p:nvSpPr>
          <p:cNvPr id="9" name="Shape 7"/>
          <p:cNvSpPr/>
          <p:nvPr/>
        </p:nvSpPr>
        <p:spPr>
          <a:xfrm>
            <a:off x="4315968" y="1463040"/>
            <a:ext cx="3538728" cy="4553712"/>
          </a:xfrm>
          <a:prstGeom prst="roundRect">
            <a:avLst>
              <a:gd name="adj" fmla="val 2326"/>
            </a:avLst>
          </a:prstGeom>
          <a:solidFill>
            <a:srgbClr val="1B2A4A"/>
          </a:solidFill>
          <a:ln w="12700">
            <a:solidFill>
              <a:srgbClr val="1B2A4A"/>
            </a:solidFill>
            <a:prstDash val="solid"/>
          </a:ln>
          <a:effectLst>
            <a:outerShdw blurRad="127000" dist="25400" dir="5400000" algn="bl" rotWithShape="0">
              <a:srgbClr val="1B2A4A">
                <a:alpha val="14000"/>
              </a:srgbClr>
            </a:outerShdw>
          </a:effectLst>
        </p:spPr>
        <p:txBody>
          <a:bodyPr/>
          <a:lstStyle/>
          <a:p>
            <a:endParaRPr lang="en-PR"/>
          </a:p>
        </p:txBody>
      </p:sp>
      <p:sp>
        <p:nvSpPr>
          <p:cNvPr id="10" name="Shape 8"/>
          <p:cNvSpPr/>
          <p:nvPr/>
        </p:nvSpPr>
        <p:spPr>
          <a:xfrm>
            <a:off x="4590288" y="1700784"/>
            <a:ext cx="914400" cy="914400"/>
          </a:xfrm>
          <a:prstGeom prst="ellipse">
            <a:avLst/>
          </a:prstGeom>
          <a:solidFill>
            <a:srgbClr val="1B2A4A"/>
          </a:solidFill>
          <a:ln w="12700">
            <a:solidFill>
              <a:srgbClr val="1B2A4A"/>
            </a:solidFill>
            <a:prstDash val="solid"/>
          </a:ln>
        </p:spPr>
        <p:txBody>
          <a:bodyPr/>
          <a:lstStyle/>
          <a:p>
            <a:endParaRPr lang="en-PR"/>
          </a:p>
        </p:txBody>
      </p:sp>
      <p:sp>
        <p:nvSpPr>
          <p:cNvPr id="11" name="Text 9"/>
          <p:cNvSpPr txBox="1"/>
          <p:nvPr/>
        </p:nvSpPr>
        <p:spPr>
          <a:xfrm>
            <a:off x="4590288" y="1700784"/>
            <a:ext cx="914400" cy="91440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60</a:t>
            </a:r>
            <a:endParaRPr lang="en-US" sz="2800" dirty="0"/>
          </a:p>
        </p:txBody>
      </p:sp>
      <p:sp>
        <p:nvSpPr>
          <p:cNvPr id="12" name="Text 10"/>
          <p:cNvSpPr txBox="1"/>
          <p:nvPr/>
        </p:nvSpPr>
        <p:spPr>
          <a:xfrm>
            <a:off x="4590288" y="2761488"/>
            <a:ext cx="3035808" cy="310896"/>
          </a:xfrm>
          <a:prstGeom prst="rect">
            <a:avLst/>
          </a:prstGeom>
          <a:noFill/>
          <a:ln/>
        </p:spPr>
        <p:txBody>
          <a:bodyPr wrap="square" lIns="0" tIns="0" rIns="0" bIns="0" rtlCol="0" anchor="ctr"/>
          <a:lstStyle/>
          <a:p>
            <a:pPr marL="0" indent="0">
              <a:buNone/>
            </a:pPr>
            <a:r>
              <a:rPr lang="en-US" sz="1600" b="1" kern="0" spc="80" dirty="0">
                <a:solidFill>
                  <a:srgbClr val="C9A227"/>
                </a:solidFill>
                <a:latin typeface="Calibri" pitchFamily="34" charset="0"/>
                <a:ea typeface="Calibri" pitchFamily="34" charset="-122"/>
                <a:cs typeface="Calibri" pitchFamily="34" charset="-120"/>
              </a:rPr>
              <a:t>DÍAS 31 A 60</a:t>
            </a:r>
            <a:endParaRPr lang="en-US" sz="1600" dirty="0"/>
          </a:p>
        </p:txBody>
      </p:sp>
      <p:sp>
        <p:nvSpPr>
          <p:cNvPr id="13" name="Text 11"/>
          <p:cNvSpPr txBox="1"/>
          <p:nvPr/>
        </p:nvSpPr>
        <p:spPr>
          <a:xfrm>
            <a:off x="4590288" y="3127248"/>
            <a:ext cx="3054096" cy="2743200"/>
          </a:xfrm>
          <a:prstGeom prst="rect">
            <a:avLst/>
          </a:prstGeom>
          <a:noFill/>
          <a:ln/>
        </p:spPr>
        <p:txBody>
          <a:bodyPr wrap="square" lIns="0" tIns="0" rIns="0" bIns="0" rtlCol="0" anchor="t"/>
          <a:lstStyle/>
          <a:p>
            <a:pPr marL="342900" indent="-342900">
              <a:lnSpc>
                <a:spcPts val="2100"/>
              </a:lnSpc>
              <a:spcAft>
                <a:spcPts val="600"/>
              </a:spcAft>
              <a:buSzPct val="100000"/>
              <a:buChar char="•"/>
            </a:pPr>
            <a:r>
              <a:rPr lang="en-US" sz="1600" dirty="0">
                <a:solidFill>
                  <a:srgbClr val="DDE3EC"/>
                </a:solidFill>
                <a:latin typeface="Calibri" pitchFamily="34" charset="0"/>
                <a:ea typeface="Calibri" pitchFamily="34" charset="-122"/>
                <a:cs typeface="Calibri" pitchFamily="34" charset="-120"/>
              </a:rPr>
              <a:t>Añada una segunda herramienta especializada</a:t>
            </a:r>
            <a:endParaRPr lang="en-US" sz="1600" dirty="0"/>
          </a:p>
          <a:p>
            <a:pPr marL="342900" indent="-342900">
              <a:lnSpc>
                <a:spcPts val="2100"/>
              </a:lnSpc>
              <a:spcAft>
                <a:spcPts val="600"/>
              </a:spcAft>
              <a:buSzPct val="100000"/>
              <a:buChar char="•"/>
            </a:pPr>
            <a:r>
              <a:rPr lang="en-US" sz="1600" dirty="0">
                <a:solidFill>
                  <a:srgbClr val="DDE3EC"/>
                </a:solidFill>
                <a:latin typeface="Calibri" pitchFamily="34" charset="0"/>
                <a:ea typeface="Calibri" pitchFamily="34" charset="-122"/>
                <a:cs typeface="Calibri" pitchFamily="34" charset="-120"/>
              </a:rPr>
              <a:t>Rediseñe una asignación con la escala de permisos</a:t>
            </a:r>
            <a:endParaRPr lang="en-US" sz="1600" dirty="0"/>
          </a:p>
          <a:p>
            <a:pPr marL="342900" indent="-342900">
              <a:lnSpc>
                <a:spcPts val="2100"/>
              </a:lnSpc>
              <a:spcAft>
                <a:spcPts val="600"/>
              </a:spcAft>
              <a:buSzPct val="100000"/>
              <a:buChar char="•"/>
            </a:pPr>
            <a:r>
              <a:rPr lang="en-US" sz="1600" dirty="0">
                <a:solidFill>
                  <a:srgbClr val="DDE3EC"/>
                </a:solidFill>
                <a:latin typeface="Calibri" pitchFamily="34" charset="0"/>
                <a:ea typeface="Calibri" pitchFamily="34" charset="-122"/>
                <a:cs typeface="Calibri" pitchFamily="34" charset="-120"/>
              </a:rPr>
              <a:t>Converse con sus estudiantes sobre las reglas</a:t>
            </a:r>
            <a:endParaRPr lang="en-US" sz="1600" dirty="0"/>
          </a:p>
          <a:p>
            <a:pPr marL="342900" indent="-342900">
              <a:lnSpc>
                <a:spcPts val="2100"/>
              </a:lnSpc>
              <a:spcAft>
                <a:spcPts val="600"/>
              </a:spcAft>
              <a:buSzPct val="100000"/>
              <a:buChar char="•"/>
            </a:pPr>
            <a:r>
              <a:rPr lang="en-US" sz="1600" dirty="0">
                <a:solidFill>
                  <a:srgbClr val="DDE3EC"/>
                </a:solidFill>
                <a:latin typeface="Calibri" pitchFamily="34" charset="0"/>
                <a:ea typeface="Calibri" pitchFamily="34" charset="-122"/>
                <a:cs typeface="Calibri" pitchFamily="34" charset="-120"/>
              </a:rPr>
              <a:t>Documente qué funcionó y qué no</a:t>
            </a:r>
            <a:endParaRPr lang="en-US" sz="1600" dirty="0"/>
          </a:p>
        </p:txBody>
      </p:sp>
      <p:sp>
        <p:nvSpPr>
          <p:cNvPr id="14" name="Shape 12"/>
          <p:cNvSpPr/>
          <p:nvPr/>
        </p:nvSpPr>
        <p:spPr>
          <a:xfrm>
            <a:off x="8065008" y="1463040"/>
            <a:ext cx="3538728" cy="4553712"/>
          </a:xfrm>
          <a:prstGeom prst="roundRect">
            <a:avLst>
              <a:gd name="adj" fmla="val 2326"/>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5" name="Shape 13"/>
          <p:cNvSpPr/>
          <p:nvPr/>
        </p:nvSpPr>
        <p:spPr>
          <a:xfrm>
            <a:off x="8339328" y="1700784"/>
            <a:ext cx="914400" cy="914400"/>
          </a:xfrm>
          <a:prstGeom prst="ellipse">
            <a:avLst/>
          </a:prstGeom>
          <a:solidFill>
            <a:srgbClr val="C9A227"/>
          </a:solidFill>
          <a:ln w="12700">
            <a:solidFill>
              <a:srgbClr val="C9A227"/>
            </a:solidFill>
            <a:prstDash val="solid"/>
          </a:ln>
        </p:spPr>
        <p:txBody>
          <a:bodyPr/>
          <a:lstStyle/>
          <a:p>
            <a:endParaRPr lang="en-PR"/>
          </a:p>
        </p:txBody>
      </p:sp>
      <p:sp>
        <p:nvSpPr>
          <p:cNvPr id="16" name="Text 14"/>
          <p:cNvSpPr txBox="1"/>
          <p:nvPr/>
        </p:nvSpPr>
        <p:spPr>
          <a:xfrm>
            <a:off x="8339328" y="1700784"/>
            <a:ext cx="914400" cy="914400"/>
          </a:xfrm>
          <a:prstGeom prst="rect">
            <a:avLst/>
          </a:prstGeom>
          <a:noFill/>
          <a:ln/>
        </p:spPr>
        <p:txBody>
          <a:bodyPr wrap="square" lIns="0" tIns="0" rIns="0" bIns="0" rtlCol="0" anchor="ctr"/>
          <a:lstStyle/>
          <a:p>
            <a:pPr marL="0" indent="0" algn="ctr">
              <a:buNone/>
            </a:pPr>
            <a:r>
              <a:rPr lang="en-US" sz="2800" b="1" dirty="0">
                <a:solidFill>
                  <a:srgbClr val="1B2A4A"/>
                </a:solidFill>
                <a:latin typeface="Cambria" pitchFamily="34" charset="0"/>
                <a:ea typeface="Cambria" pitchFamily="34" charset="-122"/>
                <a:cs typeface="Cambria" pitchFamily="34" charset="-120"/>
              </a:rPr>
              <a:t>90</a:t>
            </a:r>
            <a:endParaRPr lang="en-US" sz="2800" dirty="0"/>
          </a:p>
        </p:txBody>
      </p:sp>
      <p:sp>
        <p:nvSpPr>
          <p:cNvPr id="17" name="Text 15"/>
          <p:cNvSpPr txBox="1"/>
          <p:nvPr/>
        </p:nvSpPr>
        <p:spPr>
          <a:xfrm>
            <a:off x="8339328" y="2761488"/>
            <a:ext cx="3035808" cy="310896"/>
          </a:xfrm>
          <a:prstGeom prst="rect">
            <a:avLst/>
          </a:prstGeom>
          <a:noFill/>
          <a:ln/>
        </p:spPr>
        <p:txBody>
          <a:bodyPr wrap="square" lIns="0" tIns="0" rIns="0" bIns="0" rtlCol="0" anchor="ctr"/>
          <a:lstStyle/>
          <a:p>
            <a:pPr marL="0" indent="0">
              <a:buNone/>
            </a:pPr>
            <a:r>
              <a:rPr lang="en-US" sz="1600" b="1" kern="0" spc="80" dirty="0">
                <a:solidFill>
                  <a:srgbClr val="C9A227"/>
                </a:solidFill>
                <a:latin typeface="Calibri" pitchFamily="34" charset="0"/>
                <a:ea typeface="Calibri" pitchFamily="34" charset="-122"/>
                <a:cs typeface="Calibri" pitchFamily="34" charset="-120"/>
              </a:rPr>
              <a:t>DÍAS 61 A 90</a:t>
            </a:r>
            <a:endParaRPr lang="en-US" sz="1600" dirty="0"/>
          </a:p>
        </p:txBody>
      </p:sp>
      <p:sp>
        <p:nvSpPr>
          <p:cNvPr id="18" name="Text 16"/>
          <p:cNvSpPr txBox="1"/>
          <p:nvPr/>
        </p:nvSpPr>
        <p:spPr>
          <a:xfrm>
            <a:off x="8339328" y="3127248"/>
            <a:ext cx="3054096" cy="2743200"/>
          </a:xfrm>
          <a:prstGeom prst="rect">
            <a:avLst/>
          </a:prstGeom>
          <a:noFill/>
          <a:ln/>
        </p:spPr>
        <p:txBody>
          <a:bodyPr wrap="square" lIns="0" tIns="0" rIns="0" bIns="0" rtlCol="0" anchor="t"/>
          <a:lstStyle/>
          <a:p>
            <a:pPr marL="342900" indent="-342900">
              <a:lnSpc>
                <a:spcPts val="2100"/>
              </a:lnSpc>
              <a:spcAft>
                <a:spcPts val="600"/>
              </a:spcAft>
              <a:buSzPct val="100000"/>
              <a:buChar char="•"/>
            </a:pPr>
            <a:r>
              <a:rPr lang="en-US" sz="1600" dirty="0">
                <a:solidFill>
                  <a:srgbClr val="2C3548"/>
                </a:solidFill>
                <a:latin typeface="Calibri" pitchFamily="34" charset="0"/>
                <a:ea typeface="Calibri" pitchFamily="34" charset="-122"/>
                <a:cs typeface="Calibri" pitchFamily="34" charset="-120"/>
              </a:rPr>
              <a:t>Comparta lo aprendido con su departamento</a:t>
            </a:r>
            <a:endParaRPr lang="en-US" sz="1600" dirty="0"/>
          </a:p>
          <a:p>
            <a:pPr marL="342900" indent="-342900">
              <a:lnSpc>
                <a:spcPts val="2100"/>
              </a:lnSpc>
              <a:spcAft>
                <a:spcPts val="600"/>
              </a:spcAft>
              <a:buSzPct val="100000"/>
              <a:buChar char="•"/>
            </a:pPr>
            <a:r>
              <a:rPr lang="en-US" sz="1600" dirty="0">
                <a:solidFill>
                  <a:srgbClr val="2C3548"/>
                </a:solidFill>
                <a:latin typeface="Calibri" pitchFamily="34" charset="0"/>
                <a:ea typeface="Calibri" pitchFamily="34" charset="-122"/>
                <a:cs typeface="Calibri" pitchFamily="34" charset="-120"/>
              </a:rPr>
              <a:t>Proponga normas comunes de uso de IA</a:t>
            </a:r>
            <a:endParaRPr lang="en-US" sz="1600" dirty="0"/>
          </a:p>
          <a:p>
            <a:pPr marL="342900" indent="-342900">
              <a:lnSpc>
                <a:spcPts val="2100"/>
              </a:lnSpc>
              <a:spcAft>
                <a:spcPts val="600"/>
              </a:spcAft>
              <a:buSzPct val="100000"/>
              <a:buChar char="•"/>
            </a:pPr>
            <a:r>
              <a:rPr lang="en-US" sz="1600" dirty="0">
                <a:solidFill>
                  <a:srgbClr val="2C3548"/>
                </a:solidFill>
                <a:latin typeface="Calibri" pitchFamily="34" charset="0"/>
                <a:ea typeface="Calibri" pitchFamily="34" charset="-122"/>
                <a:cs typeface="Calibri" pitchFamily="34" charset="-120"/>
              </a:rPr>
              <a:t>Evalúe el impacto en su carga y en el aprendizaje</a:t>
            </a:r>
            <a:endParaRPr lang="en-US" sz="1600" dirty="0"/>
          </a:p>
          <a:p>
            <a:pPr marL="342900" indent="-342900">
              <a:lnSpc>
                <a:spcPts val="2100"/>
              </a:lnSpc>
              <a:spcAft>
                <a:spcPts val="600"/>
              </a:spcAft>
              <a:buSzPct val="100000"/>
              <a:buChar char="•"/>
            </a:pPr>
            <a:r>
              <a:rPr lang="en-US" sz="1600" dirty="0">
                <a:solidFill>
                  <a:srgbClr val="2C3548"/>
                </a:solidFill>
                <a:latin typeface="Calibri" pitchFamily="34" charset="0"/>
                <a:ea typeface="Calibri" pitchFamily="34" charset="-122"/>
                <a:cs typeface="Calibri" pitchFamily="34" charset="-120"/>
              </a:rPr>
              <a:t>Ajuste y decida qué mantiene</a:t>
            </a:r>
            <a:endParaRPr lang="en-US" sz="1600" dirty="0"/>
          </a:p>
        </p:txBody>
      </p:sp>
      <p:sp>
        <p:nvSpPr>
          <p:cNvPr id="19" name="Text 17"/>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0" name="Text 18"/>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72</a:t>
            </a:r>
            <a:endParaRPr lang="en-US" sz="16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Y CÓMO EVITARLOS</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Cinco errores que verá en colegas</a:t>
            </a:r>
            <a:endParaRPr lang="en-US" sz="3000" dirty="0"/>
          </a:p>
        </p:txBody>
      </p:sp>
      <p:sp>
        <p:nvSpPr>
          <p:cNvPr id="4" name="Shape 2"/>
          <p:cNvSpPr/>
          <p:nvPr/>
        </p:nvSpPr>
        <p:spPr>
          <a:xfrm>
            <a:off x="566928" y="1591056"/>
            <a:ext cx="11057839" cy="1298448"/>
          </a:xfrm>
          <a:prstGeom prst="roundRect">
            <a:avLst>
              <a:gd name="adj" fmla="val 6338"/>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786384" y="1792224"/>
            <a:ext cx="566928" cy="566928"/>
          </a:xfrm>
          <a:prstGeom prst="ellipse">
            <a:avLst/>
          </a:prstGeom>
          <a:solidFill>
            <a:srgbClr val="D68910"/>
          </a:solidFill>
          <a:ln w="12700">
            <a:solidFill>
              <a:srgbClr val="D68910"/>
            </a:solidFill>
            <a:prstDash val="solid"/>
          </a:ln>
        </p:spPr>
        <p:txBody>
          <a:bodyPr/>
          <a:lstStyle/>
          <a:p>
            <a:endParaRPr lang="en-PR"/>
          </a:p>
        </p:txBody>
      </p:sp>
      <p:sp>
        <p:nvSpPr>
          <p:cNvPr id="6" name="Text 4"/>
          <p:cNvSpPr txBox="1"/>
          <p:nvPr/>
        </p:nvSpPr>
        <p:spPr>
          <a:xfrm>
            <a:off x="786384" y="179222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1536192" y="1737360"/>
            <a:ext cx="9869119"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Coleccionar herramientas</a:t>
            </a:r>
            <a:endParaRPr lang="en-US" sz="2000" dirty="0"/>
          </a:p>
        </p:txBody>
      </p:sp>
      <p:sp>
        <p:nvSpPr>
          <p:cNvPr id="8" name="Text 6"/>
          <p:cNvSpPr txBox="1"/>
          <p:nvPr/>
        </p:nvSpPr>
        <p:spPr>
          <a:xfrm>
            <a:off x="1536192" y="2139696"/>
            <a:ext cx="9869119" cy="621792"/>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Probar veinte apps y no dominar ninguna. Domine tres antes de añadir la cuarta.</a:t>
            </a:r>
            <a:endParaRPr lang="en-US" sz="1800" dirty="0"/>
          </a:p>
        </p:txBody>
      </p:sp>
      <p:sp>
        <p:nvSpPr>
          <p:cNvPr id="9" name="Shape 7"/>
          <p:cNvSpPr/>
          <p:nvPr/>
        </p:nvSpPr>
        <p:spPr>
          <a:xfrm>
            <a:off x="566928" y="3035808"/>
            <a:ext cx="11057839" cy="1298448"/>
          </a:xfrm>
          <a:prstGeom prst="roundRect">
            <a:avLst>
              <a:gd name="adj" fmla="val 6338"/>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10" name="Shape 8"/>
          <p:cNvSpPr/>
          <p:nvPr/>
        </p:nvSpPr>
        <p:spPr>
          <a:xfrm>
            <a:off x="786384" y="3236976"/>
            <a:ext cx="566928" cy="566928"/>
          </a:xfrm>
          <a:prstGeom prst="ellipse">
            <a:avLst/>
          </a:prstGeom>
          <a:solidFill>
            <a:srgbClr val="D68910"/>
          </a:solidFill>
          <a:ln w="12700">
            <a:solidFill>
              <a:srgbClr val="D68910"/>
            </a:solidFill>
            <a:prstDash val="solid"/>
          </a:ln>
        </p:spPr>
        <p:txBody>
          <a:bodyPr/>
          <a:lstStyle/>
          <a:p>
            <a:endParaRPr lang="en-PR"/>
          </a:p>
        </p:txBody>
      </p:sp>
      <p:sp>
        <p:nvSpPr>
          <p:cNvPr id="11" name="Text 9"/>
          <p:cNvSpPr txBox="1"/>
          <p:nvPr/>
        </p:nvSpPr>
        <p:spPr>
          <a:xfrm>
            <a:off x="786384" y="323697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txBox="1"/>
          <p:nvPr/>
        </p:nvSpPr>
        <p:spPr>
          <a:xfrm>
            <a:off x="1536192" y="3182112"/>
            <a:ext cx="9869119"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Aceptar la primera respuesta</a:t>
            </a:r>
            <a:endParaRPr lang="en-US" sz="2000" dirty="0"/>
          </a:p>
        </p:txBody>
      </p:sp>
      <p:sp>
        <p:nvSpPr>
          <p:cNvPr id="13" name="Text 11"/>
          <p:cNvSpPr txBox="1"/>
          <p:nvPr/>
        </p:nvSpPr>
        <p:spPr>
          <a:xfrm>
            <a:off x="1536192" y="3584448"/>
            <a:ext cx="9869119" cy="621792"/>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El primer resultado casi nunca es el mejor. Refine, corrija, vuelva a pedir.</a:t>
            </a:r>
            <a:endParaRPr lang="en-US" sz="1800" dirty="0"/>
          </a:p>
        </p:txBody>
      </p:sp>
      <p:sp>
        <p:nvSpPr>
          <p:cNvPr id="14" name="Shape 12"/>
          <p:cNvSpPr/>
          <p:nvPr/>
        </p:nvSpPr>
        <p:spPr>
          <a:xfrm>
            <a:off x="566928" y="4480560"/>
            <a:ext cx="11057839" cy="1298448"/>
          </a:xfrm>
          <a:prstGeom prst="roundRect">
            <a:avLst>
              <a:gd name="adj" fmla="val 6338"/>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5" name="Shape 13"/>
          <p:cNvSpPr/>
          <p:nvPr/>
        </p:nvSpPr>
        <p:spPr>
          <a:xfrm>
            <a:off x="786384" y="4681728"/>
            <a:ext cx="566928" cy="566928"/>
          </a:xfrm>
          <a:prstGeom prst="ellipse">
            <a:avLst/>
          </a:prstGeom>
          <a:solidFill>
            <a:srgbClr val="D68910"/>
          </a:solidFill>
          <a:ln w="12700">
            <a:solidFill>
              <a:srgbClr val="D68910"/>
            </a:solidFill>
            <a:prstDash val="solid"/>
          </a:ln>
        </p:spPr>
        <p:txBody>
          <a:bodyPr/>
          <a:lstStyle/>
          <a:p>
            <a:endParaRPr lang="en-PR"/>
          </a:p>
        </p:txBody>
      </p:sp>
      <p:sp>
        <p:nvSpPr>
          <p:cNvPr id="16" name="Text 14"/>
          <p:cNvSpPr txBox="1"/>
          <p:nvPr/>
        </p:nvSpPr>
        <p:spPr>
          <a:xfrm>
            <a:off x="786384" y="468172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txBox="1"/>
          <p:nvPr/>
        </p:nvSpPr>
        <p:spPr>
          <a:xfrm>
            <a:off x="1536192" y="4626864"/>
            <a:ext cx="9869119"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Delegar el juicio profesional</a:t>
            </a:r>
            <a:endParaRPr lang="en-US" sz="2000" dirty="0"/>
          </a:p>
        </p:txBody>
      </p:sp>
      <p:sp>
        <p:nvSpPr>
          <p:cNvPr id="18" name="Text 16"/>
          <p:cNvSpPr txBox="1"/>
          <p:nvPr/>
        </p:nvSpPr>
        <p:spPr>
          <a:xfrm>
            <a:off x="1536192" y="5029200"/>
            <a:ext cx="9869119" cy="621792"/>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La IA propone; usted decide. Toda decisión sobre un estudiante es suya.</a:t>
            </a:r>
            <a:endParaRPr lang="en-US" sz="1800" dirty="0"/>
          </a:p>
        </p:txBody>
      </p:sp>
      <p:sp>
        <p:nvSpPr>
          <p:cNvPr id="19" name="Text 17"/>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20" name="Text 18"/>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73</a:t>
            </a:r>
            <a:endParaRPr lang="en-US" sz="16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Y CÓMO EVITARLOS</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Cinco errores que verá en colegas (cont.)</a:t>
            </a:r>
            <a:endParaRPr lang="en-US" sz="3000" dirty="0"/>
          </a:p>
        </p:txBody>
      </p:sp>
      <p:sp>
        <p:nvSpPr>
          <p:cNvPr id="4" name="Shape 2"/>
          <p:cNvSpPr/>
          <p:nvPr/>
        </p:nvSpPr>
        <p:spPr>
          <a:xfrm>
            <a:off x="566928" y="1591056"/>
            <a:ext cx="11057839" cy="1298448"/>
          </a:xfrm>
          <a:prstGeom prst="roundRect">
            <a:avLst>
              <a:gd name="adj" fmla="val 6338"/>
            </a:avLst>
          </a:prstGeom>
          <a:solidFill>
            <a:srgbClr val="FAFBFC"/>
          </a:solidFill>
          <a:ln w="12700">
            <a:solidFill>
              <a:srgbClr val="FAFBFC"/>
            </a:solidFill>
            <a:prstDash val="solid"/>
          </a:ln>
          <a:effectLst>
            <a:outerShdw blurRad="127000" dist="25400" dir="5400000" algn="bl" rotWithShape="0">
              <a:srgbClr val="1B2A4A">
                <a:alpha val="14000"/>
              </a:srgbClr>
            </a:outerShdw>
          </a:effectLst>
        </p:spPr>
        <p:txBody>
          <a:bodyPr/>
          <a:lstStyle/>
          <a:p>
            <a:endParaRPr lang="en-PR"/>
          </a:p>
        </p:txBody>
      </p:sp>
      <p:sp>
        <p:nvSpPr>
          <p:cNvPr id="5" name="Shape 3"/>
          <p:cNvSpPr/>
          <p:nvPr/>
        </p:nvSpPr>
        <p:spPr>
          <a:xfrm>
            <a:off x="786384" y="1792224"/>
            <a:ext cx="566928" cy="566928"/>
          </a:xfrm>
          <a:prstGeom prst="ellipse">
            <a:avLst/>
          </a:prstGeom>
          <a:solidFill>
            <a:srgbClr val="D68910"/>
          </a:solidFill>
          <a:ln w="12700">
            <a:solidFill>
              <a:srgbClr val="D68910"/>
            </a:solidFill>
            <a:prstDash val="solid"/>
          </a:ln>
        </p:spPr>
        <p:txBody>
          <a:bodyPr/>
          <a:lstStyle/>
          <a:p>
            <a:endParaRPr lang="en-PR"/>
          </a:p>
        </p:txBody>
      </p:sp>
      <p:sp>
        <p:nvSpPr>
          <p:cNvPr id="6" name="Text 4"/>
          <p:cNvSpPr txBox="1"/>
          <p:nvPr/>
        </p:nvSpPr>
        <p:spPr>
          <a:xfrm>
            <a:off x="786384" y="179222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7" name="Text 5"/>
          <p:cNvSpPr txBox="1"/>
          <p:nvPr/>
        </p:nvSpPr>
        <p:spPr>
          <a:xfrm>
            <a:off x="1536192" y="1737360"/>
            <a:ext cx="9869119"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Usarla en silencio</a:t>
            </a:r>
            <a:endParaRPr lang="en-US" sz="2000" dirty="0"/>
          </a:p>
        </p:txBody>
      </p:sp>
      <p:sp>
        <p:nvSpPr>
          <p:cNvPr id="8" name="Text 6"/>
          <p:cNvSpPr txBox="1"/>
          <p:nvPr/>
        </p:nvSpPr>
        <p:spPr>
          <a:xfrm>
            <a:off x="1536192" y="2139696"/>
            <a:ext cx="9869119" cy="621792"/>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Si no le dice a sus estudiantes cómo la usa usted, no puede exigirles transparencia a ellos.</a:t>
            </a:r>
            <a:endParaRPr lang="en-US" sz="1800" dirty="0"/>
          </a:p>
        </p:txBody>
      </p:sp>
      <p:sp>
        <p:nvSpPr>
          <p:cNvPr id="9" name="Shape 7"/>
          <p:cNvSpPr/>
          <p:nvPr/>
        </p:nvSpPr>
        <p:spPr>
          <a:xfrm>
            <a:off x="566928" y="3035808"/>
            <a:ext cx="11057839" cy="1298448"/>
          </a:xfrm>
          <a:prstGeom prst="roundRect">
            <a:avLst>
              <a:gd name="adj" fmla="val 6338"/>
            </a:avLst>
          </a:prstGeom>
          <a:solidFill>
            <a:srgbClr val="F4F5F7"/>
          </a:solidFill>
          <a:ln w="12700">
            <a:solidFill>
              <a:srgbClr val="F4F5F7"/>
            </a:solidFill>
            <a:prstDash val="solid"/>
          </a:ln>
          <a:effectLst>
            <a:outerShdw blurRad="127000" dist="25400" dir="5400000" algn="bl" rotWithShape="0">
              <a:srgbClr val="1B2A4A">
                <a:alpha val="14000"/>
              </a:srgbClr>
            </a:outerShdw>
          </a:effectLst>
        </p:spPr>
        <p:txBody>
          <a:bodyPr/>
          <a:lstStyle/>
          <a:p>
            <a:endParaRPr lang="en-PR"/>
          </a:p>
        </p:txBody>
      </p:sp>
      <p:sp>
        <p:nvSpPr>
          <p:cNvPr id="10" name="Shape 8"/>
          <p:cNvSpPr/>
          <p:nvPr/>
        </p:nvSpPr>
        <p:spPr>
          <a:xfrm>
            <a:off x="786384" y="3236976"/>
            <a:ext cx="566928" cy="566928"/>
          </a:xfrm>
          <a:prstGeom prst="ellipse">
            <a:avLst/>
          </a:prstGeom>
          <a:solidFill>
            <a:srgbClr val="D68910"/>
          </a:solidFill>
          <a:ln w="12700">
            <a:solidFill>
              <a:srgbClr val="D68910"/>
            </a:solidFill>
            <a:prstDash val="solid"/>
          </a:ln>
        </p:spPr>
        <p:txBody>
          <a:bodyPr/>
          <a:lstStyle/>
          <a:p>
            <a:endParaRPr lang="en-PR"/>
          </a:p>
        </p:txBody>
      </p:sp>
      <p:sp>
        <p:nvSpPr>
          <p:cNvPr id="11" name="Text 9"/>
          <p:cNvSpPr txBox="1"/>
          <p:nvPr/>
        </p:nvSpPr>
        <p:spPr>
          <a:xfrm>
            <a:off x="786384" y="323697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12" name="Text 10"/>
          <p:cNvSpPr txBox="1"/>
          <p:nvPr/>
        </p:nvSpPr>
        <p:spPr>
          <a:xfrm>
            <a:off x="1536192" y="3182112"/>
            <a:ext cx="9869119" cy="36576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Subestimar el tiempo de verificación</a:t>
            </a:r>
            <a:endParaRPr lang="en-US" sz="2000" dirty="0"/>
          </a:p>
        </p:txBody>
      </p:sp>
      <p:sp>
        <p:nvSpPr>
          <p:cNvPr id="13" name="Text 11"/>
          <p:cNvSpPr txBox="1"/>
          <p:nvPr/>
        </p:nvSpPr>
        <p:spPr>
          <a:xfrm>
            <a:off x="1536192" y="3584448"/>
            <a:ext cx="9869119" cy="621792"/>
          </a:xfrm>
          <a:prstGeom prst="rect">
            <a:avLst/>
          </a:prstGeom>
          <a:noFill/>
          <a:ln/>
        </p:spPr>
        <p:txBody>
          <a:bodyPr wrap="square" lIns="0" tIns="0" rIns="0" bIns="0" rtlCol="0" anchor="t"/>
          <a:lstStyle/>
          <a:p>
            <a:pPr marL="0" indent="0">
              <a:lnSpc>
                <a:spcPts val="2500"/>
              </a:lnSpc>
              <a:buNone/>
            </a:pPr>
            <a:r>
              <a:rPr lang="en-US" sz="1800" dirty="0">
                <a:solidFill>
                  <a:srgbClr val="2C3548"/>
                </a:solidFill>
                <a:latin typeface="Calibri" pitchFamily="34" charset="0"/>
                <a:ea typeface="Calibri" pitchFamily="34" charset="-122"/>
                <a:cs typeface="Calibri" pitchFamily="34" charset="-120"/>
              </a:rPr>
              <a:t>Ahorra en producción y gasta en verificación. Aun así conviene, pero planifíquelo.</a:t>
            </a:r>
            <a:endParaRPr lang="en-US" sz="1800" dirty="0"/>
          </a:p>
        </p:txBody>
      </p:sp>
      <p:sp>
        <p:nvSpPr>
          <p:cNvPr id="14" name="Text 12"/>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5" name="Text 13"/>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74</a:t>
            </a:r>
            <a:endParaRPr lang="en-US" sz="16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A4A"/>
          </a:solidFill>
          <a:ln w="12700">
            <a:solidFill>
              <a:srgbClr val="1B2A4A"/>
            </a:solidFill>
            <a:prstDash val="solid"/>
          </a:ln>
        </p:spPr>
        <p:txBody>
          <a:bodyPr/>
          <a:lstStyle/>
          <a:p>
            <a:endParaRPr lang="en-PR"/>
          </a:p>
        </p:txBody>
      </p:sp>
      <p:sp>
        <p:nvSpPr>
          <p:cNvPr id="3" name="Shape 1"/>
          <p:cNvSpPr/>
          <p:nvPr/>
        </p:nvSpPr>
        <p:spPr>
          <a:xfrm>
            <a:off x="320040" y="457200"/>
            <a:ext cx="182880" cy="182880"/>
          </a:xfrm>
          <a:prstGeom prst="ellipse">
            <a:avLst/>
          </a:prstGeom>
          <a:solidFill>
            <a:srgbClr val="C9A227"/>
          </a:solidFill>
          <a:ln w="12700">
            <a:solidFill>
              <a:srgbClr val="C9A227"/>
            </a:solidFill>
            <a:prstDash val="solid"/>
          </a:ln>
        </p:spPr>
        <p:txBody>
          <a:bodyPr/>
          <a:lstStyle/>
          <a:p>
            <a:endParaRPr lang="en-PR"/>
          </a:p>
        </p:txBody>
      </p:sp>
      <p:sp>
        <p:nvSpPr>
          <p:cNvPr id="4" name="Shape 2"/>
          <p:cNvSpPr/>
          <p:nvPr/>
        </p:nvSpPr>
        <p:spPr>
          <a:xfrm>
            <a:off x="868680" y="457200"/>
            <a:ext cx="182880" cy="182880"/>
          </a:xfrm>
          <a:prstGeom prst="ellipse">
            <a:avLst/>
          </a:prstGeom>
          <a:solidFill>
            <a:srgbClr val="2A9D8F"/>
          </a:solidFill>
          <a:ln w="12700">
            <a:solidFill>
              <a:srgbClr val="2A9D8F"/>
            </a:solidFill>
            <a:prstDash val="solid"/>
          </a:ln>
        </p:spPr>
        <p:txBody>
          <a:bodyPr/>
          <a:lstStyle/>
          <a:p>
            <a:endParaRPr lang="en-PR"/>
          </a:p>
        </p:txBody>
      </p:sp>
      <p:sp>
        <p:nvSpPr>
          <p:cNvPr id="5" name="Shape 3"/>
          <p:cNvSpPr/>
          <p:nvPr/>
        </p:nvSpPr>
        <p:spPr>
          <a:xfrm>
            <a:off x="1417320" y="457200"/>
            <a:ext cx="182880" cy="182880"/>
          </a:xfrm>
          <a:prstGeom prst="ellipse">
            <a:avLst/>
          </a:prstGeom>
          <a:solidFill>
            <a:srgbClr val="1F3864"/>
          </a:solidFill>
          <a:ln w="12700">
            <a:solidFill>
              <a:srgbClr val="1F3864"/>
            </a:solidFill>
            <a:prstDash val="solid"/>
          </a:ln>
        </p:spPr>
        <p:txBody>
          <a:bodyPr/>
          <a:lstStyle/>
          <a:p>
            <a:endParaRPr lang="en-PR"/>
          </a:p>
        </p:txBody>
      </p:sp>
      <p:sp>
        <p:nvSpPr>
          <p:cNvPr id="6" name="Shape 4"/>
          <p:cNvSpPr/>
          <p:nvPr/>
        </p:nvSpPr>
        <p:spPr>
          <a:xfrm>
            <a:off x="1965960" y="457200"/>
            <a:ext cx="182880" cy="182880"/>
          </a:xfrm>
          <a:prstGeom prst="ellipse">
            <a:avLst/>
          </a:prstGeom>
          <a:solidFill>
            <a:srgbClr val="C9A227"/>
          </a:solidFill>
          <a:ln w="12700">
            <a:solidFill>
              <a:srgbClr val="C9A227"/>
            </a:solidFill>
            <a:prstDash val="solid"/>
          </a:ln>
        </p:spPr>
        <p:txBody>
          <a:bodyPr/>
          <a:lstStyle/>
          <a:p>
            <a:endParaRPr lang="en-PR"/>
          </a:p>
        </p:txBody>
      </p:sp>
      <p:sp>
        <p:nvSpPr>
          <p:cNvPr id="7" name="Shape 5"/>
          <p:cNvSpPr/>
          <p:nvPr/>
        </p:nvSpPr>
        <p:spPr>
          <a:xfrm>
            <a:off x="2514600" y="457200"/>
            <a:ext cx="182880" cy="182880"/>
          </a:xfrm>
          <a:prstGeom prst="ellipse">
            <a:avLst/>
          </a:prstGeom>
          <a:solidFill>
            <a:srgbClr val="2A9D8F"/>
          </a:solidFill>
          <a:ln w="12700">
            <a:solidFill>
              <a:srgbClr val="2A9D8F"/>
            </a:solidFill>
            <a:prstDash val="solid"/>
          </a:ln>
        </p:spPr>
        <p:txBody>
          <a:bodyPr/>
          <a:lstStyle/>
          <a:p>
            <a:endParaRPr lang="en-PR"/>
          </a:p>
        </p:txBody>
      </p:sp>
      <p:sp>
        <p:nvSpPr>
          <p:cNvPr id="8" name="Shape 6"/>
          <p:cNvSpPr/>
          <p:nvPr/>
        </p:nvSpPr>
        <p:spPr>
          <a:xfrm>
            <a:off x="3063240" y="457200"/>
            <a:ext cx="182880" cy="182880"/>
          </a:xfrm>
          <a:prstGeom prst="ellipse">
            <a:avLst/>
          </a:prstGeom>
          <a:solidFill>
            <a:srgbClr val="1F3864"/>
          </a:solidFill>
          <a:ln w="12700">
            <a:solidFill>
              <a:srgbClr val="1F3864"/>
            </a:solidFill>
            <a:prstDash val="solid"/>
          </a:ln>
        </p:spPr>
        <p:txBody>
          <a:bodyPr/>
          <a:lstStyle/>
          <a:p>
            <a:endParaRPr lang="en-PR"/>
          </a:p>
        </p:txBody>
      </p:sp>
      <p:sp>
        <p:nvSpPr>
          <p:cNvPr id="9" name="Shape 7"/>
          <p:cNvSpPr/>
          <p:nvPr/>
        </p:nvSpPr>
        <p:spPr>
          <a:xfrm>
            <a:off x="3611880" y="457200"/>
            <a:ext cx="182880" cy="182880"/>
          </a:xfrm>
          <a:prstGeom prst="ellipse">
            <a:avLst/>
          </a:prstGeom>
          <a:solidFill>
            <a:srgbClr val="C9A227"/>
          </a:solidFill>
          <a:ln w="12700">
            <a:solidFill>
              <a:srgbClr val="C9A227"/>
            </a:solidFill>
            <a:prstDash val="solid"/>
          </a:ln>
        </p:spPr>
        <p:txBody>
          <a:bodyPr/>
          <a:lstStyle/>
          <a:p>
            <a:endParaRPr lang="en-PR"/>
          </a:p>
        </p:txBody>
      </p:sp>
      <p:sp>
        <p:nvSpPr>
          <p:cNvPr id="10" name="Shape 8"/>
          <p:cNvSpPr/>
          <p:nvPr/>
        </p:nvSpPr>
        <p:spPr>
          <a:xfrm>
            <a:off x="4160520" y="457200"/>
            <a:ext cx="182880" cy="182880"/>
          </a:xfrm>
          <a:prstGeom prst="ellipse">
            <a:avLst/>
          </a:prstGeom>
          <a:solidFill>
            <a:srgbClr val="2A9D8F"/>
          </a:solidFill>
          <a:ln w="12700">
            <a:solidFill>
              <a:srgbClr val="2A9D8F"/>
            </a:solidFill>
            <a:prstDash val="solid"/>
          </a:ln>
        </p:spPr>
        <p:txBody>
          <a:bodyPr/>
          <a:lstStyle/>
          <a:p>
            <a:endParaRPr lang="en-PR"/>
          </a:p>
        </p:txBody>
      </p:sp>
      <p:sp>
        <p:nvSpPr>
          <p:cNvPr id="11" name="Shape 9"/>
          <p:cNvSpPr/>
          <p:nvPr/>
        </p:nvSpPr>
        <p:spPr>
          <a:xfrm>
            <a:off x="4709160" y="457200"/>
            <a:ext cx="182880" cy="182880"/>
          </a:xfrm>
          <a:prstGeom prst="ellipse">
            <a:avLst/>
          </a:prstGeom>
          <a:solidFill>
            <a:srgbClr val="1F3864"/>
          </a:solidFill>
          <a:ln w="12700">
            <a:solidFill>
              <a:srgbClr val="1F3864"/>
            </a:solidFill>
            <a:prstDash val="solid"/>
          </a:ln>
        </p:spPr>
        <p:txBody>
          <a:bodyPr/>
          <a:lstStyle/>
          <a:p>
            <a:endParaRPr lang="en-PR"/>
          </a:p>
        </p:txBody>
      </p:sp>
      <p:sp>
        <p:nvSpPr>
          <p:cNvPr id="12" name="Shape 10"/>
          <p:cNvSpPr/>
          <p:nvPr/>
        </p:nvSpPr>
        <p:spPr>
          <a:xfrm>
            <a:off x="5257800" y="457200"/>
            <a:ext cx="182880" cy="182880"/>
          </a:xfrm>
          <a:prstGeom prst="ellipse">
            <a:avLst/>
          </a:prstGeom>
          <a:solidFill>
            <a:srgbClr val="C9A227"/>
          </a:solidFill>
          <a:ln w="12700">
            <a:solidFill>
              <a:srgbClr val="C9A227"/>
            </a:solidFill>
            <a:prstDash val="solid"/>
          </a:ln>
        </p:spPr>
        <p:txBody>
          <a:bodyPr/>
          <a:lstStyle/>
          <a:p>
            <a:endParaRPr lang="en-PR"/>
          </a:p>
        </p:txBody>
      </p:sp>
      <p:sp>
        <p:nvSpPr>
          <p:cNvPr id="13" name="Shape 11"/>
          <p:cNvSpPr/>
          <p:nvPr/>
        </p:nvSpPr>
        <p:spPr>
          <a:xfrm>
            <a:off x="5806440" y="457200"/>
            <a:ext cx="182880" cy="182880"/>
          </a:xfrm>
          <a:prstGeom prst="ellipse">
            <a:avLst/>
          </a:prstGeom>
          <a:solidFill>
            <a:srgbClr val="2A9D8F"/>
          </a:solidFill>
          <a:ln w="12700">
            <a:solidFill>
              <a:srgbClr val="2A9D8F"/>
            </a:solidFill>
            <a:prstDash val="solid"/>
          </a:ln>
        </p:spPr>
        <p:txBody>
          <a:bodyPr/>
          <a:lstStyle/>
          <a:p>
            <a:endParaRPr lang="en-PR"/>
          </a:p>
        </p:txBody>
      </p:sp>
      <p:sp>
        <p:nvSpPr>
          <p:cNvPr id="14" name="Shape 12"/>
          <p:cNvSpPr/>
          <p:nvPr/>
        </p:nvSpPr>
        <p:spPr>
          <a:xfrm>
            <a:off x="6355080" y="457200"/>
            <a:ext cx="182880" cy="182880"/>
          </a:xfrm>
          <a:prstGeom prst="ellipse">
            <a:avLst/>
          </a:prstGeom>
          <a:solidFill>
            <a:srgbClr val="1F3864"/>
          </a:solidFill>
          <a:ln w="12700">
            <a:solidFill>
              <a:srgbClr val="1F3864"/>
            </a:solidFill>
            <a:prstDash val="solid"/>
          </a:ln>
        </p:spPr>
        <p:txBody>
          <a:bodyPr/>
          <a:lstStyle/>
          <a:p>
            <a:endParaRPr lang="en-PR"/>
          </a:p>
        </p:txBody>
      </p:sp>
      <p:sp>
        <p:nvSpPr>
          <p:cNvPr id="15" name="Shape 13"/>
          <p:cNvSpPr/>
          <p:nvPr/>
        </p:nvSpPr>
        <p:spPr>
          <a:xfrm>
            <a:off x="6903720" y="457200"/>
            <a:ext cx="182880" cy="182880"/>
          </a:xfrm>
          <a:prstGeom prst="ellipse">
            <a:avLst/>
          </a:prstGeom>
          <a:solidFill>
            <a:srgbClr val="C9A227"/>
          </a:solidFill>
          <a:ln w="12700">
            <a:solidFill>
              <a:srgbClr val="C9A227"/>
            </a:solidFill>
            <a:prstDash val="solid"/>
          </a:ln>
        </p:spPr>
        <p:txBody>
          <a:bodyPr/>
          <a:lstStyle/>
          <a:p>
            <a:endParaRPr lang="en-PR"/>
          </a:p>
        </p:txBody>
      </p:sp>
      <p:sp>
        <p:nvSpPr>
          <p:cNvPr id="16" name="Shape 14"/>
          <p:cNvSpPr/>
          <p:nvPr/>
        </p:nvSpPr>
        <p:spPr>
          <a:xfrm>
            <a:off x="7452360" y="457200"/>
            <a:ext cx="182880" cy="182880"/>
          </a:xfrm>
          <a:prstGeom prst="ellipse">
            <a:avLst/>
          </a:prstGeom>
          <a:solidFill>
            <a:srgbClr val="2A9D8F"/>
          </a:solidFill>
          <a:ln w="12700">
            <a:solidFill>
              <a:srgbClr val="2A9D8F"/>
            </a:solidFill>
            <a:prstDash val="solid"/>
          </a:ln>
        </p:spPr>
        <p:txBody>
          <a:bodyPr/>
          <a:lstStyle/>
          <a:p>
            <a:endParaRPr lang="en-PR"/>
          </a:p>
        </p:txBody>
      </p:sp>
      <p:sp>
        <p:nvSpPr>
          <p:cNvPr id="17" name="Shape 15"/>
          <p:cNvSpPr/>
          <p:nvPr/>
        </p:nvSpPr>
        <p:spPr>
          <a:xfrm>
            <a:off x="8001000" y="457200"/>
            <a:ext cx="182880" cy="182880"/>
          </a:xfrm>
          <a:prstGeom prst="ellipse">
            <a:avLst/>
          </a:prstGeom>
          <a:solidFill>
            <a:srgbClr val="1F3864"/>
          </a:solidFill>
          <a:ln w="12700">
            <a:solidFill>
              <a:srgbClr val="1F3864"/>
            </a:solidFill>
            <a:prstDash val="solid"/>
          </a:ln>
        </p:spPr>
        <p:txBody>
          <a:bodyPr/>
          <a:lstStyle/>
          <a:p>
            <a:endParaRPr lang="en-PR"/>
          </a:p>
        </p:txBody>
      </p:sp>
      <p:sp>
        <p:nvSpPr>
          <p:cNvPr id="18" name="Shape 16"/>
          <p:cNvSpPr/>
          <p:nvPr/>
        </p:nvSpPr>
        <p:spPr>
          <a:xfrm>
            <a:off x="8549640" y="457200"/>
            <a:ext cx="182880" cy="182880"/>
          </a:xfrm>
          <a:prstGeom prst="ellipse">
            <a:avLst/>
          </a:prstGeom>
          <a:solidFill>
            <a:srgbClr val="C9A227"/>
          </a:solidFill>
          <a:ln w="12700">
            <a:solidFill>
              <a:srgbClr val="C9A227"/>
            </a:solidFill>
            <a:prstDash val="solid"/>
          </a:ln>
        </p:spPr>
        <p:txBody>
          <a:bodyPr/>
          <a:lstStyle/>
          <a:p>
            <a:endParaRPr lang="en-PR"/>
          </a:p>
        </p:txBody>
      </p:sp>
      <p:sp>
        <p:nvSpPr>
          <p:cNvPr id="19" name="Shape 17"/>
          <p:cNvSpPr/>
          <p:nvPr/>
        </p:nvSpPr>
        <p:spPr>
          <a:xfrm>
            <a:off x="9098280" y="457200"/>
            <a:ext cx="182880" cy="182880"/>
          </a:xfrm>
          <a:prstGeom prst="ellipse">
            <a:avLst/>
          </a:prstGeom>
          <a:solidFill>
            <a:srgbClr val="2A9D8F"/>
          </a:solidFill>
          <a:ln w="12700">
            <a:solidFill>
              <a:srgbClr val="2A9D8F"/>
            </a:solidFill>
            <a:prstDash val="solid"/>
          </a:ln>
        </p:spPr>
        <p:txBody>
          <a:bodyPr/>
          <a:lstStyle/>
          <a:p>
            <a:endParaRPr lang="en-PR"/>
          </a:p>
        </p:txBody>
      </p:sp>
      <p:sp>
        <p:nvSpPr>
          <p:cNvPr id="20" name="Shape 18"/>
          <p:cNvSpPr/>
          <p:nvPr/>
        </p:nvSpPr>
        <p:spPr>
          <a:xfrm>
            <a:off x="9646920" y="457200"/>
            <a:ext cx="182880" cy="182880"/>
          </a:xfrm>
          <a:prstGeom prst="ellipse">
            <a:avLst/>
          </a:prstGeom>
          <a:solidFill>
            <a:srgbClr val="1F3864"/>
          </a:solidFill>
          <a:ln w="12700">
            <a:solidFill>
              <a:srgbClr val="1F3864"/>
            </a:solidFill>
            <a:prstDash val="solid"/>
          </a:ln>
        </p:spPr>
        <p:txBody>
          <a:bodyPr/>
          <a:lstStyle/>
          <a:p>
            <a:endParaRPr lang="en-PR"/>
          </a:p>
        </p:txBody>
      </p:sp>
      <p:sp>
        <p:nvSpPr>
          <p:cNvPr id="21" name="Shape 19"/>
          <p:cNvSpPr/>
          <p:nvPr/>
        </p:nvSpPr>
        <p:spPr>
          <a:xfrm>
            <a:off x="10195560" y="457200"/>
            <a:ext cx="182880" cy="182880"/>
          </a:xfrm>
          <a:prstGeom prst="ellipse">
            <a:avLst/>
          </a:prstGeom>
          <a:solidFill>
            <a:srgbClr val="C9A227"/>
          </a:solidFill>
          <a:ln w="12700">
            <a:solidFill>
              <a:srgbClr val="C9A227"/>
            </a:solidFill>
            <a:prstDash val="solid"/>
          </a:ln>
        </p:spPr>
        <p:txBody>
          <a:bodyPr/>
          <a:lstStyle/>
          <a:p>
            <a:endParaRPr lang="en-PR"/>
          </a:p>
        </p:txBody>
      </p:sp>
      <p:sp>
        <p:nvSpPr>
          <p:cNvPr id="22" name="Shape 20"/>
          <p:cNvSpPr/>
          <p:nvPr/>
        </p:nvSpPr>
        <p:spPr>
          <a:xfrm>
            <a:off x="10744200" y="457200"/>
            <a:ext cx="182880" cy="182880"/>
          </a:xfrm>
          <a:prstGeom prst="ellipse">
            <a:avLst/>
          </a:prstGeom>
          <a:solidFill>
            <a:srgbClr val="2A9D8F"/>
          </a:solidFill>
          <a:ln w="12700">
            <a:solidFill>
              <a:srgbClr val="2A9D8F"/>
            </a:solidFill>
            <a:prstDash val="solid"/>
          </a:ln>
        </p:spPr>
        <p:txBody>
          <a:bodyPr/>
          <a:lstStyle/>
          <a:p>
            <a:endParaRPr lang="en-PR"/>
          </a:p>
        </p:txBody>
      </p:sp>
      <p:sp>
        <p:nvSpPr>
          <p:cNvPr id="23" name="Shape 21"/>
          <p:cNvSpPr/>
          <p:nvPr/>
        </p:nvSpPr>
        <p:spPr>
          <a:xfrm>
            <a:off x="11292840" y="457200"/>
            <a:ext cx="182880" cy="182880"/>
          </a:xfrm>
          <a:prstGeom prst="ellipse">
            <a:avLst/>
          </a:prstGeom>
          <a:solidFill>
            <a:srgbClr val="1F3864"/>
          </a:solidFill>
          <a:ln w="12700">
            <a:solidFill>
              <a:srgbClr val="1F3864"/>
            </a:solidFill>
            <a:prstDash val="solid"/>
          </a:ln>
        </p:spPr>
        <p:txBody>
          <a:bodyPr/>
          <a:lstStyle/>
          <a:p>
            <a:endParaRPr lang="en-PR"/>
          </a:p>
        </p:txBody>
      </p:sp>
      <p:sp>
        <p:nvSpPr>
          <p:cNvPr id="24" name="Shape 22"/>
          <p:cNvSpPr/>
          <p:nvPr/>
        </p:nvSpPr>
        <p:spPr>
          <a:xfrm>
            <a:off x="11841480" y="457200"/>
            <a:ext cx="182880" cy="182880"/>
          </a:xfrm>
          <a:prstGeom prst="ellipse">
            <a:avLst/>
          </a:prstGeom>
          <a:solidFill>
            <a:srgbClr val="C9A227"/>
          </a:solidFill>
          <a:ln w="12700">
            <a:solidFill>
              <a:srgbClr val="C9A227"/>
            </a:solidFill>
            <a:prstDash val="solid"/>
          </a:ln>
        </p:spPr>
        <p:txBody>
          <a:bodyPr/>
          <a:lstStyle/>
          <a:p>
            <a:endParaRPr lang="en-PR"/>
          </a:p>
        </p:txBody>
      </p:sp>
      <p:sp>
        <p:nvSpPr>
          <p:cNvPr id="25" name="Text 23"/>
          <p:cNvSpPr txBox="1"/>
          <p:nvPr/>
        </p:nvSpPr>
        <p:spPr>
          <a:xfrm>
            <a:off x="914400" y="1737360"/>
            <a:ext cx="10332720" cy="1463040"/>
          </a:xfrm>
          <a:prstGeom prst="rect">
            <a:avLst/>
          </a:prstGeom>
          <a:noFill/>
          <a:ln/>
        </p:spPr>
        <p:txBody>
          <a:bodyPr wrap="square" lIns="0" tIns="0" rIns="0" bIns="0" rtlCol="0" anchor="ctr"/>
          <a:lstStyle/>
          <a:p>
            <a:pPr marL="0" indent="0" algn="ctr">
              <a:lnSpc>
                <a:spcPts val="4400"/>
              </a:lnSpc>
              <a:buNone/>
            </a:pPr>
            <a:r>
              <a:rPr lang="en-US" sz="3200" dirty="0">
                <a:solidFill>
                  <a:srgbClr val="DDE3EC"/>
                </a:solidFill>
                <a:latin typeface="Cambria" pitchFamily="34" charset="0"/>
                <a:ea typeface="Cambria" pitchFamily="34" charset="-122"/>
                <a:cs typeface="Cambria" pitchFamily="34" charset="-120"/>
              </a:rPr>
              <a:t>La pregunta no es si la inteligencia artificial</a:t>
            </a:r>
            <a:endParaRPr lang="en-US" sz="3200" dirty="0"/>
          </a:p>
          <a:p>
            <a:pPr marL="0" indent="0" algn="ctr">
              <a:lnSpc>
                <a:spcPts val="4400"/>
              </a:lnSpc>
              <a:buNone/>
            </a:pPr>
            <a:r>
              <a:rPr lang="en-US" sz="3200" dirty="0">
                <a:solidFill>
                  <a:srgbClr val="DDE3EC"/>
                </a:solidFill>
                <a:latin typeface="Cambria" pitchFamily="34" charset="0"/>
                <a:ea typeface="Cambria" pitchFamily="34" charset="-122"/>
                <a:cs typeface="Cambria" pitchFamily="34" charset="-120"/>
              </a:rPr>
              <a:t>va a sustituir a los maestros.</a:t>
            </a:r>
            <a:endParaRPr lang="en-US" sz="3200" dirty="0"/>
          </a:p>
        </p:txBody>
      </p:sp>
      <p:sp>
        <p:nvSpPr>
          <p:cNvPr id="26" name="Text 24"/>
          <p:cNvSpPr txBox="1"/>
          <p:nvPr/>
        </p:nvSpPr>
        <p:spPr>
          <a:xfrm>
            <a:off x="914400" y="3291840"/>
            <a:ext cx="10332720" cy="1463040"/>
          </a:xfrm>
          <a:prstGeom prst="rect">
            <a:avLst/>
          </a:prstGeom>
          <a:noFill/>
          <a:ln/>
        </p:spPr>
        <p:txBody>
          <a:bodyPr wrap="square" lIns="0" tIns="0" rIns="0" bIns="0" rtlCol="0" anchor="ctr"/>
          <a:lstStyle/>
          <a:p>
            <a:pPr marL="0" indent="0" algn="ctr">
              <a:lnSpc>
                <a:spcPts val="4400"/>
              </a:lnSpc>
              <a:buNone/>
            </a:pPr>
            <a:r>
              <a:rPr lang="en-US" sz="3200" b="1" dirty="0">
                <a:solidFill>
                  <a:srgbClr val="C9A227"/>
                </a:solidFill>
                <a:latin typeface="Cambria" pitchFamily="34" charset="0"/>
                <a:ea typeface="Cambria" pitchFamily="34" charset="-122"/>
                <a:cs typeface="Cambria" pitchFamily="34" charset="-120"/>
              </a:rPr>
              <a:t>Es si los maestros que la usan con criterio</a:t>
            </a:r>
            <a:endParaRPr lang="en-US" sz="3200" dirty="0"/>
          </a:p>
          <a:p>
            <a:pPr marL="0" indent="0" algn="ctr">
              <a:lnSpc>
                <a:spcPts val="4400"/>
              </a:lnSpc>
              <a:buNone/>
            </a:pPr>
            <a:r>
              <a:rPr lang="en-US" sz="3200" b="1" dirty="0">
                <a:solidFill>
                  <a:srgbClr val="C9A227"/>
                </a:solidFill>
                <a:latin typeface="Cambria" pitchFamily="34" charset="0"/>
                <a:ea typeface="Cambria" pitchFamily="34" charset="-122"/>
                <a:cs typeface="Cambria" pitchFamily="34" charset="-120"/>
              </a:rPr>
              <a:t>van a enseñar mejor que los que la ignoran.</a:t>
            </a:r>
            <a:endParaRPr lang="en-US" sz="3200" dirty="0"/>
          </a:p>
        </p:txBody>
      </p:sp>
      <p:sp>
        <p:nvSpPr>
          <p:cNvPr id="27" name="Shape 25"/>
          <p:cNvSpPr/>
          <p:nvPr/>
        </p:nvSpPr>
        <p:spPr>
          <a:xfrm>
            <a:off x="5367528" y="5010912"/>
            <a:ext cx="1463040" cy="36576"/>
          </a:xfrm>
          <a:prstGeom prst="rect">
            <a:avLst/>
          </a:prstGeom>
          <a:solidFill>
            <a:srgbClr val="2A9D8F"/>
          </a:solidFill>
          <a:ln w="12700">
            <a:solidFill>
              <a:srgbClr val="2A9D8F"/>
            </a:solidFill>
            <a:prstDash val="solid"/>
          </a:ln>
        </p:spPr>
        <p:txBody>
          <a:bodyPr/>
          <a:lstStyle/>
          <a:p>
            <a:endParaRPr lang="en-PR"/>
          </a:p>
        </p:txBody>
      </p:sp>
      <p:sp>
        <p:nvSpPr>
          <p:cNvPr id="28" name="Text 26"/>
          <p:cNvSpPr txBox="1"/>
          <p:nvPr/>
        </p:nvSpPr>
        <p:spPr>
          <a:xfrm>
            <a:off x="914400" y="5230368"/>
            <a:ext cx="10332720" cy="402336"/>
          </a:xfrm>
          <a:prstGeom prst="rect">
            <a:avLst/>
          </a:prstGeom>
          <a:noFill/>
          <a:ln/>
        </p:spPr>
        <p:txBody>
          <a:bodyPr wrap="square" lIns="0" tIns="0" rIns="0" bIns="0" rtlCol="0" anchor="ctr"/>
          <a:lstStyle/>
          <a:p>
            <a:pPr marL="0" indent="0" algn="ctr">
              <a:buNone/>
            </a:pPr>
            <a:r>
              <a:rPr lang="en-US" sz="2000" i="1" dirty="0">
                <a:solidFill>
                  <a:srgbClr val="DDE3EC"/>
                </a:solidFill>
                <a:latin typeface="Calibri" pitchFamily="34" charset="0"/>
                <a:ea typeface="Calibri" pitchFamily="34" charset="-122"/>
                <a:cs typeface="Calibri" pitchFamily="34" charset="-120"/>
              </a:rPr>
              <a:t>Y esa decisión, hoy, sigue siendo suya.</a:t>
            </a:r>
            <a:endParaRPr lang="en-US" sz="2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APA 7MA EDICIÓN · 1 DE 3</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Referencias</a:t>
            </a:r>
            <a:endParaRPr lang="en-US" sz="3000" dirty="0"/>
          </a:p>
        </p:txBody>
      </p:sp>
      <p:sp>
        <p:nvSpPr>
          <p:cNvPr id="4" name="Shape 2"/>
          <p:cNvSpPr/>
          <p:nvPr/>
        </p:nvSpPr>
        <p:spPr>
          <a:xfrm>
            <a:off x="566928" y="1627632"/>
            <a:ext cx="54864" cy="859536"/>
          </a:xfrm>
          <a:prstGeom prst="rect">
            <a:avLst/>
          </a:prstGeom>
          <a:solidFill>
            <a:srgbClr val="2A9D8F"/>
          </a:solidFill>
          <a:ln w="12700">
            <a:solidFill>
              <a:srgbClr val="2A9D8F"/>
            </a:solidFill>
            <a:prstDash val="solid"/>
          </a:ln>
        </p:spPr>
        <p:txBody>
          <a:bodyPr/>
          <a:lstStyle/>
          <a:p>
            <a:endParaRPr lang="en-PR"/>
          </a:p>
        </p:txBody>
      </p:sp>
      <p:sp>
        <p:nvSpPr>
          <p:cNvPr id="5" name="Text 3"/>
          <p:cNvSpPr txBox="1"/>
          <p:nvPr/>
        </p:nvSpPr>
        <p:spPr>
          <a:xfrm>
            <a:off x="877824" y="1572768"/>
            <a:ext cx="10607040" cy="969264"/>
          </a:xfrm>
          <a:prstGeom prst="rect">
            <a:avLst/>
          </a:prstGeom>
          <a:noFill/>
          <a:ln/>
        </p:spPr>
        <p:txBody>
          <a:bodyPr wrap="square" lIns="0" tIns="0" rIns="0" bIns="0" rtlCol="0" anchor="ctr"/>
          <a:lstStyle/>
          <a:p>
            <a:pPr marL="0" indent="0">
              <a:lnSpc>
                <a:spcPts val="2200"/>
              </a:lnSpc>
              <a:buNone/>
            </a:pPr>
            <a:r>
              <a:rPr lang="en-US" sz="1600" dirty="0">
                <a:solidFill>
                  <a:srgbClr val="2C3548"/>
                </a:solidFill>
                <a:latin typeface="Calibri" pitchFamily="34" charset="0"/>
                <a:ea typeface="Calibri" pitchFamily="34" charset="-122"/>
                <a:cs typeface="Calibri" pitchFamily="34" charset="-120"/>
              </a:rPr>
              <a:t>Corraliza Montero, H. J. (2024). Modelo RC-TTF para la formulación de instrucciones en inteligencia artificial generativa [Marco de trabajo institucional]. Oficina Regional Educativa de Ponce, DEPR.</a:t>
            </a:r>
            <a:endParaRPr lang="en-US" sz="1600" dirty="0"/>
          </a:p>
        </p:txBody>
      </p:sp>
      <p:sp>
        <p:nvSpPr>
          <p:cNvPr id="6" name="Shape 4"/>
          <p:cNvSpPr/>
          <p:nvPr/>
        </p:nvSpPr>
        <p:spPr>
          <a:xfrm>
            <a:off x="566928" y="2743200"/>
            <a:ext cx="54864" cy="859536"/>
          </a:xfrm>
          <a:prstGeom prst="rect">
            <a:avLst/>
          </a:prstGeom>
          <a:solidFill>
            <a:srgbClr val="C9A227"/>
          </a:solidFill>
          <a:ln w="12700">
            <a:solidFill>
              <a:srgbClr val="C9A227"/>
            </a:solidFill>
            <a:prstDash val="solid"/>
          </a:ln>
        </p:spPr>
        <p:txBody>
          <a:bodyPr/>
          <a:lstStyle/>
          <a:p>
            <a:endParaRPr lang="en-PR"/>
          </a:p>
        </p:txBody>
      </p:sp>
      <p:sp>
        <p:nvSpPr>
          <p:cNvPr id="7" name="Text 5"/>
          <p:cNvSpPr txBox="1"/>
          <p:nvPr/>
        </p:nvSpPr>
        <p:spPr>
          <a:xfrm>
            <a:off x="877824" y="2688336"/>
            <a:ext cx="10607040" cy="969264"/>
          </a:xfrm>
          <a:prstGeom prst="rect">
            <a:avLst/>
          </a:prstGeom>
          <a:noFill/>
          <a:ln/>
        </p:spPr>
        <p:txBody>
          <a:bodyPr wrap="square" lIns="0" tIns="0" rIns="0" bIns="0" rtlCol="0" anchor="ctr"/>
          <a:lstStyle/>
          <a:p>
            <a:pPr marL="0" indent="0">
              <a:lnSpc>
                <a:spcPts val="2200"/>
              </a:lnSpc>
              <a:buNone/>
            </a:pPr>
            <a:r>
              <a:rPr lang="en-US" sz="1600" dirty="0">
                <a:solidFill>
                  <a:srgbClr val="2C3548"/>
                </a:solidFill>
                <a:latin typeface="Calibri" pitchFamily="34" charset="0"/>
                <a:ea typeface="Calibri" pitchFamily="34" charset="-122"/>
                <a:cs typeface="Calibri" pitchFamily="34" charset="-120"/>
              </a:rPr>
              <a:t>Departamento de Educación de Puerto Rico. (2024). La inteligencia artificial en el sistema educativo. Secretaría Auxiliar de Servicios Académicos.</a:t>
            </a:r>
            <a:endParaRPr lang="en-US" sz="1600" dirty="0"/>
          </a:p>
        </p:txBody>
      </p:sp>
      <p:sp>
        <p:nvSpPr>
          <p:cNvPr id="8" name="Shape 6"/>
          <p:cNvSpPr/>
          <p:nvPr/>
        </p:nvSpPr>
        <p:spPr>
          <a:xfrm>
            <a:off x="566928" y="3858768"/>
            <a:ext cx="54864" cy="859536"/>
          </a:xfrm>
          <a:prstGeom prst="rect">
            <a:avLst/>
          </a:prstGeom>
          <a:solidFill>
            <a:srgbClr val="2A9D8F"/>
          </a:solidFill>
          <a:ln w="12700">
            <a:solidFill>
              <a:srgbClr val="2A9D8F"/>
            </a:solidFill>
            <a:prstDash val="solid"/>
          </a:ln>
        </p:spPr>
        <p:txBody>
          <a:bodyPr/>
          <a:lstStyle/>
          <a:p>
            <a:endParaRPr lang="en-PR"/>
          </a:p>
        </p:txBody>
      </p:sp>
      <p:sp>
        <p:nvSpPr>
          <p:cNvPr id="9" name="Text 7"/>
          <p:cNvSpPr txBox="1"/>
          <p:nvPr/>
        </p:nvSpPr>
        <p:spPr>
          <a:xfrm>
            <a:off x="877824" y="3803904"/>
            <a:ext cx="10607040" cy="969264"/>
          </a:xfrm>
          <a:prstGeom prst="rect">
            <a:avLst/>
          </a:prstGeom>
          <a:noFill/>
          <a:ln/>
        </p:spPr>
        <p:txBody>
          <a:bodyPr wrap="square" lIns="0" tIns="0" rIns="0" bIns="0" rtlCol="0" anchor="ctr"/>
          <a:lstStyle/>
          <a:p>
            <a:pPr marL="0" indent="0">
              <a:lnSpc>
                <a:spcPts val="2200"/>
              </a:lnSpc>
              <a:buNone/>
            </a:pPr>
            <a:r>
              <a:rPr lang="en-US" sz="1600" dirty="0">
                <a:solidFill>
                  <a:srgbClr val="2C3548"/>
                </a:solidFill>
                <a:latin typeface="Calibri" pitchFamily="34" charset="0"/>
                <a:ea typeface="Calibri" pitchFamily="34" charset="-122"/>
                <a:cs typeface="Calibri" pitchFamily="34" charset="-120"/>
              </a:rPr>
              <a:t>Departamento de Educación de Puerto Rico. (2026). Guía para el uso de la inteligencia artificial en el aprendizaje estudiantil. https://de.pr.gov</a:t>
            </a:r>
            <a:endParaRPr lang="en-US" sz="1600" dirty="0"/>
          </a:p>
        </p:txBody>
      </p:sp>
      <p:sp>
        <p:nvSpPr>
          <p:cNvPr id="10" name="Shape 8"/>
          <p:cNvSpPr/>
          <p:nvPr/>
        </p:nvSpPr>
        <p:spPr>
          <a:xfrm>
            <a:off x="566928" y="4974336"/>
            <a:ext cx="54864" cy="859536"/>
          </a:xfrm>
          <a:prstGeom prst="rect">
            <a:avLst/>
          </a:prstGeom>
          <a:solidFill>
            <a:srgbClr val="C9A227"/>
          </a:solidFill>
          <a:ln w="12700">
            <a:solidFill>
              <a:srgbClr val="C9A227"/>
            </a:solidFill>
            <a:prstDash val="solid"/>
          </a:ln>
        </p:spPr>
        <p:txBody>
          <a:bodyPr/>
          <a:lstStyle/>
          <a:p>
            <a:endParaRPr lang="en-PR"/>
          </a:p>
        </p:txBody>
      </p:sp>
      <p:sp>
        <p:nvSpPr>
          <p:cNvPr id="11" name="Text 9"/>
          <p:cNvSpPr txBox="1"/>
          <p:nvPr/>
        </p:nvSpPr>
        <p:spPr>
          <a:xfrm>
            <a:off x="877824" y="4919472"/>
            <a:ext cx="10607040" cy="969264"/>
          </a:xfrm>
          <a:prstGeom prst="rect">
            <a:avLst/>
          </a:prstGeom>
          <a:noFill/>
          <a:ln/>
        </p:spPr>
        <p:txBody>
          <a:bodyPr wrap="square" lIns="0" tIns="0" rIns="0" bIns="0" rtlCol="0" anchor="ctr"/>
          <a:lstStyle/>
          <a:p>
            <a:pPr marL="0" indent="0">
              <a:lnSpc>
                <a:spcPts val="2200"/>
              </a:lnSpc>
              <a:buNone/>
            </a:pPr>
            <a:r>
              <a:rPr lang="en-US" sz="1600" dirty="0">
                <a:solidFill>
                  <a:srgbClr val="2C3548"/>
                </a:solidFill>
                <a:latin typeface="Calibri" pitchFamily="34" charset="0"/>
                <a:ea typeface="Calibri" pitchFamily="34" charset="-122"/>
                <a:cs typeface="Calibri" pitchFamily="34" charset="-120"/>
              </a:rPr>
              <a:t>Gallup. (2026). Most teachers receive no formal guidance on AI use. Gallup News. https://news.gallup.com/poll/710534</a:t>
            </a:r>
            <a:endParaRPr lang="en-US" sz="1600" dirty="0"/>
          </a:p>
        </p:txBody>
      </p:sp>
      <p:sp>
        <p:nvSpPr>
          <p:cNvPr id="12" name="Text 10"/>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3" name="Text 11"/>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76</a:t>
            </a:r>
            <a:endParaRPr lang="en-US" sz="16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CC9C00F-EE39-BFD2-5146-81525FFEF7F9}"/>
              </a:ext>
            </a:extLst>
          </p:cNvPr>
          <p:cNvPicPr>
            <a:picLocks noChangeAspect="1"/>
          </p:cNvPicPr>
          <p:nvPr/>
        </p:nvPicPr>
        <p:blipFill>
          <a:blip r:embed="rId2"/>
          <a:stretch>
            <a:fillRect/>
          </a:stretch>
        </p:blipFill>
        <p:spPr>
          <a:xfrm>
            <a:off x="1998920" y="643467"/>
            <a:ext cx="7495953" cy="5571066"/>
          </a:xfrm>
          <a:prstGeom prst="rect">
            <a:avLst/>
          </a:prstGeom>
        </p:spPr>
      </p:pic>
    </p:spTree>
    <p:extLst>
      <p:ext uri="{BB962C8B-B14F-4D97-AF65-F5344CB8AC3E}">
        <p14:creationId xmlns:p14="http://schemas.microsoft.com/office/powerpoint/2010/main" val="173473902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APA 7MA EDICIÓN · 2 DE 3</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Referencias</a:t>
            </a:r>
            <a:endParaRPr lang="en-US" sz="3000" dirty="0"/>
          </a:p>
        </p:txBody>
      </p:sp>
      <p:sp>
        <p:nvSpPr>
          <p:cNvPr id="4" name="Shape 2"/>
          <p:cNvSpPr/>
          <p:nvPr/>
        </p:nvSpPr>
        <p:spPr>
          <a:xfrm>
            <a:off x="566928" y="1627632"/>
            <a:ext cx="54864" cy="859536"/>
          </a:xfrm>
          <a:prstGeom prst="rect">
            <a:avLst/>
          </a:prstGeom>
          <a:solidFill>
            <a:srgbClr val="2A9D8F"/>
          </a:solidFill>
          <a:ln w="12700">
            <a:solidFill>
              <a:srgbClr val="2A9D8F"/>
            </a:solidFill>
            <a:prstDash val="solid"/>
          </a:ln>
        </p:spPr>
        <p:txBody>
          <a:bodyPr/>
          <a:lstStyle/>
          <a:p>
            <a:endParaRPr lang="en-PR"/>
          </a:p>
        </p:txBody>
      </p:sp>
      <p:sp>
        <p:nvSpPr>
          <p:cNvPr id="5" name="Text 3"/>
          <p:cNvSpPr txBox="1"/>
          <p:nvPr/>
        </p:nvSpPr>
        <p:spPr>
          <a:xfrm>
            <a:off x="877824" y="1572768"/>
            <a:ext cx="10607040" cy="969264"/>
          </a:xfrm>
          <a:prstGeom prst="rect">
            <a:avLst/>
          </a:prstGeom>
          <a:noFill/>
          <a:ln/>
        </p:spPr>
        <p:txBody>
          <a:bodyPr wrap="square" lIns="0" tIns="0" rIns="0" bIns="0" rtlCol="0" anchor="ctr"/>
          <a:lstStyle/>
          <a:p>
            <a:pPr marL="0" indent="0">
              <a:lnSpc>
                <a:spcPts val="2200"/>
              </a:lnSpc>
              <a:buNone/>
            </a:pPr>
            <a:r>
              <a:rPr lang="en-US" sz="1600" dirty="0">
                <a:solidFill>
                  <a:srgbClr val="2C3548"/>
                </a:solidFill>
                <a:latin typeface="Calibri" pitchFamily="34" charset="0"/>
                <a:ea typeface="Calibri" pitchFamily="34" charset="-122"/>
                <a:cs typeface="Calibri" pitchFamily="34" charset="-120"/>
              </a:rPr>
              <a:t>Gallup &amp; Walton Family Foundation. (2025). Three in 10 teachers use AI weekly, saving six weeks a year. https://news.gallup.com/poll/691967</a:t>
            </a:r>
            <a:endParaRPr lang="en-US" sz="1600" dirty="0"/>
          </a:p>
        </p:txBody>
      </p:sp>
      <p:sp>
        <p:nvSpPr>
          <p:cNvPr id="6" name="Shape 4"/>
          <p:cNvSpPr/>
          <p:nvPr/>
        </p:nvSpPr>
        <p:spPr>
          <a:xfrm>
            <a:off x="566928" y="2743200"/>
            <a:ext cx="54864" cy="859536"/>
          </a:xfrm>
          <a:prstGeom prst="rect">
            <a:avLst/>
          </a:prstGeom>
          <a:solidFill>
            <a:srgbClr val="C9A227"/>
          </a:solidFill>
          <a:ln w="12700">
            <a:solidFill>
              <a:srgbClr val="C9A227"/>
            </a:solidFill>
            <a:prstDash val="solid"/>
          </a:ln>
        </p:spPr>
        <p:txBody>
          <a:bodyPr/>
          <a:lstStyle/>
          <a:p>
            <a:endParaRPr lang="en-PR"/>
          </a:p>
        </p:txBody>
      </p:sp>
      <p:sp>
        <p:nvSpPr>
          <p:cNvPr id="7" name="Text 5"/>
          <p:cNvSpPr txBox="1"/>
          <p:nvPr/>
        </p:nvSpPr>
        <p:spPr>
          <a:xfrm>
            <a:off x="877824" y="2688336"/>
            <a:ext cx="10607040" cy="969264"/>
          </a:xfrm>
          <a:prstGeom prst="rect">
            <a:avLst/>
          </a:prstGeom>
          <a:noFill/>
          <a:ln/>
        </p:spPr>
        <p:txBody>
          <a:bodyPr wrap="square" lIns="0" tIns="0" rIns="0" bIns="0" rtlCol="0" anchor="ctr"/>
          <a:lstStyle/>
          <a:p>
            <a:pPr marL="0" indent="0">
              <a:lnSpc>
                <a:spcPts val="2200"/>
              </a:lnSpc>
              <a:buNone/>
            </a:pPr>
            <a:r>
              <a:rPr lang="en-US" sz="1600" dirty="0">
                <a:solidFill>
                  <a:srgbClr val="2C3548"/>
                </a:solidFill>
                <a:latin typeface="Calibri" pitchFamily="34" charset="0"/>
                <a:ea typeface="Calibri" pitchFamily="34" charset="-122"/>
                <a:cs typeface="Calibri" pitchFamily="34" charset="-120"/>
              </a:rPr>
              <a:t>RAND Corporation. (2025). AI use in schools is quickly increasing but guidance lags behind: Findings from the RAND survey panels (RR-A4180-1). https://www.rand.org/pubs/research_reports/RRA4180-1.html</a:t>
            </a:r>
            <a:endParaRPr lang="en-US" sz="1600" dirty="0"/>
          </a:p>
        </p:txBody>
      </p:sp>
      <p:sp>
        <p:nvSpPr>
          <p:cNvPr id="8" name="Shape 6"/>
          <p:cNvSpPr/>
          <p:nvPr/>
        </p:nvSpPr>
        <p:spPr>
          <a:xfrm>
            <a:off x="566928" y="3858768"/>
            <a:ext cx="54864" cy="859536"/>
          </a:xfrm>
          <a:prstGeom prst="rect">
            <a:avLst/>
          </a:prstGeom>
          <a:solidFill>
            <a:srgbClr val="2A9D8F"/>
          </a:solidFill>
          <a:ln w="12700">
            <a:solidFill>
              <a:srgbClr val="2A9D8F"/>
            </a:solidFill>
            <a:prstDash val="solid"/>
          </a:ln>
        </p:spPr>
        <p:txBody>
          <a:bodyPr/>
          <a:lstStyle/>
          <a:p>
            <a:endParaRPr lang="en-PR"/>
          </a:p>
        </p:txBody>
      </p:sp>
      <p:sp>
        <p:nvSpPr>
          <p:cNvPr id="9" name="Text 7"/>
          <p:cNvSpPr txBox="1"/>
          <p:nvPr/>
        </p:nvSpPr>
        <p:spPr>
          <a:xfrm>
            <a:off x="877824" y="3803904"/>
            <a:ext cx="10607040" cy="969264"/>
          </a:xfrm>
          <a:prstGeom prst="rect">
            <a:avLst/>
          </a:prstGeom>
          <a:noFill/>
          <a:ln/>
        </p:spPr>
        <p:txBody>
          <a:bodyPr wrap="square" lIns="0" tIns="0" rIns="0" bIns="0" rtlCol="0" anchor="ctr"/>
          <a:lstStyle/>
          <a:p>
            <a:pPr marL="0" indent="0">
              <a:lnSpc>
                <a:spcPts val="2200"/>
              </a:lnSpc>
              <a:buNone/>
            </a:pPr>
            <a:r>
              <a:rPr lang="en-US" sz="1600" dirty="0">
                <a:solidFill>
                  <a:srgbClr val="2C3548"/>
                </a:solidFill>
                <a:latin typeface="Calibri" pitchFamily="34" charset="0"/>
                <a:ea typeface="Calibri" pitchFamily="34" charset="-122"/>
                <a:cs typeface="Calibri" pitchFamily="34" charset="-120"/>
              </a:rPr>
              <a:t>Research and Markets. (2026). Artificial intelligence in education market report 2026. https://www.researchandmarkets.com</a:t>
            </a:r>
            <a:endParaRPr lang="en-US" sz="1600" dirty="0"/>
          </a:p>
        </p:txBody>
      </p:sp>
      <p:sp>
        <p:nvSpPr>
          <p:cNvPr id="10" name="Shape 8"/>
          <p:cNvSpPr/>
          <p:nvPr/>
        </p:nvSpPr>
        <p:spPr>
          <a:xfrm>
            <a:off x="566928" y="4974336"/>
            <a:ext cx="54864" cy="859536"/>
          </a:xfrm>
          <a:prstGeom prst="rect">
            <a:avLst/>
          </a:prstGeom>
          <a:solidFill>
            <a:srgbClr val="C9A227"/>
          </a:solidFill>
          <a:ln w="12700">
            <a:solidFill>
              <a:srgbClr val="C9A227"/>
            </a:solidFill>
            <a:prstDash val="solid"/>
          </a:ln>
        </p:spPr>
        <p:txBody>
          <a:bodyPr/>
          <a:lstStyle/>
          <a:p>
            <a:endParaRPr lang="en-PR"/>
          </a:p>
        </p:txBody>
      </p:sp>
      <p:sp>
        <p:nvSpPr>
          <p:cNvPr id="11" name="Text 9"/>
          <p:cNvSpPr txBox="1"/>
          <p:nvPr/>
        </p:nvSpPr>
        <p:spPr>
          <a:xfrm>
            <a:off x="877824" y="4919472"/>
            <a:ext cx="10607040" cy="969264"/>
          </a:xfrm>
          <a:prstGeom prst="rect">
            <a:avLst/>
          </a:prstGeom>
          <a:noFill/>
          <a:ln/>
        </p:spPr>
        <p:txBody>
          <a:bodyPr wrap="square" lIns="0" tIns="0" rIns="0" bIns="0" rtlCol="0" anchor="ctr"/>
          <a:lstStyle/>
          <a:p>
            <a:pPr marL="0" indent="0">
              <a:lnSpc>
                <a:spcPts val="2200"/>
              </a:lnSpc>
              <a:buNone/>
            </a:pPr>
            <a:r>
              <a:rPr lang="en-US" sz="1600" dirty="0">
                <a:solidFill>
                  <a:srgbClr val="2C3548"/>
                </a:solidFill>
                <a:latin typeface="Calibri" pitchFamily="34" charset="0"/>
                <a:ea typeface="Calibri" pitchFamily="34" charset="-122"/>
                <a:cs typeface="Calibri" pitchFamily="34" charset="-120"/>
              </a:rPr>
              <a:t>Turing, A. M. (1950). Computing machinery and intelligence. Mind, 59(236), 433–460. https://doi.org/10.1093/mind/LIX.236.433</a:t>
            </a:r>
            <a:endParaRPr lang="en-US" sz="1600" dirty="0"/>
          </a:p>
        </p:txBody>
      </p:sp>
      <p:sp>
        <p:nvSpPr>
          <p:cNvPr id="12" name="Text 10"/>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3" name="Text 11"/>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77</a:t>
            </a:r>
            <a:endParaRPr lang="en-US" sz="16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92608"/>
          </a:xfrm>
          <a:prstGeom prst="rect">
            <a:avLst/>
          </a:prstGeom>
          <a:noFill/>
          <a:ln/>
        </p:spPr>
        <p:txBody>
          <a:bodyPr wrap="square" lIns="0" tIns="0" rIns="0" bIns="0" rtlCol="0" anchor="ctr"/>
          <a:lstStyle/>
          <a:p>
            <a:pPr marL="0" indent="0">
              <a:buNone/>
            </a:pPr>
            <a:r>
              <a:rPr lang="en-US" sz="1600" b="1" kern="0" spc="160" dirty="0">
                <a:solidFill>
                  <a:srgbClr val="2A9D8F"/>
                </a:solidFill>
                <a:latin typeface="Calibri" pitchFamily="34" charset="0"/>
                <a:ea typeface="Calibri" pitchFamily="34" charset="-122"/>
                <a:cs typeface="Calibri" pitchFamily="34" charset="-120"/>
              </a:rPr>
              <a:t>APA 7MA EDICIÓN · 3 DE 3</a:t>
            </a:r>
            <a:endParaRPr lang="en-US" sz="1600" dirty="0"/>
          </a:p>
        </p:txBody>
      </p:sp>
      <p:sp>
        <p:nvSpPr>
          <p:cNvPr id="3" name="Text 1"/>
          <p:cNvSpPr txBox="1"/>
          <p:nvPr/>
        </p:nvSpPr>
        <p:spPr>
          <a:xfrm>
            <a:off x="566928" y="676656"/>
            <a:ext cx="11057839" cy="676656"/>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Referencias</a:t>
            </a:r>
            <a:endParaRPr lang="en-US" sz="3000" dirty="0"/>
          </a:p>
        </p:txBody>
      </p:sp>
      <p:sp>
        <p:nvSpPr>
          <p:cNvPr id="4" name="Shape 2"/>
          <p:cNvSpPr/>
          <p:nvPr/>
        </p:nvSpPr>
        <p:spPr>
          <a:xfrm>
            <a:off x="566928" y="1627632"/>
            <a:ext cx="54864" cy="859536"/>
          </a:xfrm>
          <a:prstGeom prst="rect">
            <a:avLst/>
          </a:prstGeom>
          <a:solidFill>
            <a:srgbClr val="2A9D8F"/>
          </a:solidFill>
          <a:ln w="12700">
            <a:solidFill>
              <a:srgbClr val="2A9D8F"/>
            </a:solidFill>
            <a:prstDash val="solid"/>
          </a:ln>
        </p:spPr>
        <p:txBody>
          <a:bodyPr/>
          <a:lstStyle/>
          <a:p>
            <a:endParaRPr lang="en-PR"/>
          </a:p>
        </p:txBody>
      </p:sp>
      <p:sp>
        <p:nvSpPr>
          <p:cNvPr id="5" name="Text 3"/>
          <p:cNvSpPr txBox="1"/>
          <p:nvPr/>
        </p:nvSpPr>
        <p:spPr>
          <a:xfrm>
            <a:off x="877824" y="1572768"/>
            <a:ext cx="10607040" cy="969264"/>
          </a:xfrm>
          <a:prstGeom prst="rect">
            <a:avLst/>
          </a:prstGeom>
          <a:noFill/>
          <a:ln/>
        </p:spPr>
        <p:txBody>
          <a:bodyPr wrap="square" lIns="0" tIns="0" rIns="0" bIns="0" rtlCol="0" anchor="ctr"/>
          <a:lstStyle/>
          <a:p>
            <a:pPr marL="0" indent="0">
              <a:lnSpc>
                <a:spcPts val="2200"/>
              </a:lnSpc>
              <a:buNone/>
            </a:pPr>
            <a:r>
              <a:rPr lang="en-US" sz="1600" dirty="0">
                <a:solidFill>
                  <a:srgbClr val="2C3548"/>
                </a:solidFill>
                <a:latin typeface="Calibri" pitchFamily="34" charset="0"/>
                <a:ea typeface="Calibri" pitchFamily="34" charset="-122"/>
                <a:cs typeface="Calibri" pitchFamily="34" charset="-120"/>
              </a:rPr>
              <a:t>UNESCO. (2024). AI competency framework for teachers. United Nations Educational, Scientific and Cultural Organization. https://www.unesco.org/en/articles/ai-competency-framework-teachers</a:t>
            </a:r>
            <a:endParaRPr lang="en-US" sz="1600" dirty="0"/>
          </a:p>
        </p:txBody>
      </p:sp>
      <p:sp>
        <p:nvSpPr>
          <p:cNvPr id="6" name="Shape 4"/>
          <p:cNvSpPr/>
          <p:nvPr/>
        </p:nvSpPr>
        <p:spPr>
          <a:xfrm>
            <a:off x="566928" y="2743200"/>
            <a:ext cx="54864" cy="859536"/>
          </a:xfrm>
          <a:prstGeom prst="rect">
            <a:avLst/>
          </a:prstGeom>
          <a:solidFill>
            <a:srgbClr val="C9A227"/>
          </a:solidFill>
          <a:ln w="12700">
            <a:solidFill>
              <a:srgbClr val="C9A227"/>
            </a:solidFill>
            <a:prstDash val="solid"/>
          </a:ln>
        </p:spPr>
        <p:txBody>
          <a:bodyPr/>
          <a:lstStyle/>
          <a:p>
            <a:endParaRPr lang="en-PR"/>
          </a:p>
        </p:txBody>
      </p:sp>
      <p:sp>
        <p:nvSpPr>
          <p:cNvPr id="7" name="Text 5"/>
          <p:cNvSpPr txBox="1"/>
          <p:nvPr/>
        </p:nvSpPr>
        <p:spPr>
          <a:xfrm>
            <a:off x="877824" y="2688336"/>
            <a:ext cx="10607040" cy="969264"/>
          </a:xfrm>
          <a:prstGeom prst="rect">
            <a:avLst/>
          </a:prstGeom>
          <a:noFill/>
          <a:ln/>
        </p:spPr>
        <p:txBody>
          <a:bodyPr wrap="square" lIns="0" tIns="0" rIns="0" bIns="0" rtlCol="0" anchor="ctr"/>
          <a:lstStyle/>
          <a:p>
            <a:pPr marL="0" indent="0">
              <a:lnSpc>
                <a:spcPts val="2200"/>
              </a:lnSpc>
              <a:buNone/>
            </a:pPr>
            <a:r>
              <a:rPr lang="en-US" sz="1600" dirty="0">
                <a:solidFill>
                  <a:srgbClr val="2C3548"/>
                </a:solidFill>
                <a:latin typeface="Calibri" pitchFamily="34" charset="0"/>
                <a:ea typeface="Calibri" pitchFamily="34" charset="-122"/>
                <a:cs typeface="Calibri" pitchFamily="34" charset="-120"/>
              </a:rPr>
              <a:t>Vaswani, A., Shazeer, N., Parmar, N., Uszkoreit, J., Jones, L., Gomez, A. N., Kaiser, Ł., &amp; Polosukhin, I. (2017). Attention is all you need. Advances in Neural Information Processing Systems, 30.</a:t>
            </a:r>
            <a:endParaRPr lang="en-US" sz="1600" dirty="0"/>
          </a:p>
        </p:txBody>
      </p:sp>
      <p:sp>
        <p:nvSpPr>
          <p:cNvPr id="8" name="Shape 6"/>
          <p:cNvSpPr/>
          <p:nvPr/>
        </p:nvSpPr>
        <p:spPr>
          <a:xfrm>
            <a:off x="566928" y="3858768"/>
            <a:ext cx="54864" cy="859536"/>
          </a:xfrm>
          <a:prstGeom prst="rect">
            <a:avLst/>
          </a:prstGeom>
          <a:solidFill>
            <a:srgbClr val="2A9D8F"/>
          </a:solidFill>
          <a:ln w="12700">
            <a:solidFill>
              <a:srgbClr val="2A9D8F"/>
            </a:solidFill>
            <a:prstDash val="solid"/>
          </a:ln>
        </p:spPr>
        <p:txBody>
          <a:bodyPr/>
          <a:lstStyle/>
          <a:p>
            <a:endParaRPr lang="en-PR"/>
          </a:p>
        </p:txBody>
      </p:sp>
      <p:sp>
        <p:nvSpPr>
          <p:cNvPr id="9" name="Text 7"/>
          <p:cNvSpPr txBox="1"/>
          <p:nvPr/>
        </p:nvSpPr>
        <p:spPr>
          <a:xfrm>
            <a:off x="877824" y="3803904"/>
            <a:ext cx="10607040" cy="969264"/>
          </a:xfrm>
          <a:prstGeom prst="rect">
            <a:avLst/>
          </a:prstGeom>
          <a:noFill/>
          <a:ln/>
        </p:spPr>
        <p:txBody>
          <a:bodyPr wrap="square" lIns="0" tIns="0" rIns="0" bIns="0" rtlCol="0" anchor="ctr"/>
          <a:lstStyle/>
          <a:p>
            <a:pPr marL="0" indent="0">
              <a:lnSpc>
                <a:spcPts val="2200"/>
              </a:lnSpc>
              <a:buNone/>
            </a:pPr>
            <a:r>
              <a:rPr lang="en-US" sz="1600" dirty="0">
                <a:solidFill>
                  <a:srgbClr val="2C3548"/>
                </a:solidFill>
                <a:latin typeface="Calibri" pitchFamily="34" charset="0"/>
                <a:ea typeface="Calibri" pitchFamily="34" charset="-122"/>
                <a:cs typeface="Calibri" pitchFamily="34" charset="-120"/>
              </a:rPr>
              <a:t>Weber-Wulff, D., Anohina-Naumeca, A., Bjelobaba, S., Foltýnek, T., Guerrero-Dib, J., Popoola, O., Šigut, P., &amp; Waddington, L. (2023). Testing of detection tools for AI-generated text. International Journal for Educational Integrity, 19(1), 26. https://doi.org/10.1007/s40979-023-00146-z</a:t>
            </a:r>
            <a:endParaRPr lang="en-US" sz="1600" dirty="0"/>
          </a:p>
        </p:txBody>
      </p:sp>
      <p:sp>
        <p:nvSpPr>
          <p:cNvPr id="10" name="Text 8"/>
          <p:cNvSpPr txBox="1"/>
          <p:nvPr/>
        </p:nvSpPr>
        <p:spPr>
          <a:xfrm>
            <a:off x="566928" y="6400800"/>
            <a:ext cx="9418320" cy="274320"/>
          </a:xfrm>
          <a:prstGeom prst="rect">
            <a:avLst/>
          </a:prstGeom>
          <a:noFill/>
          <a:ln/>
        </p:spPr>
        <p:txBody>
          <a:bodyPr wrap="square" lIns="0" tIns="0" rIns="0" bIns="0" rtlCol="0" anchor="ctr"/>
          <a:lstStyle/>
          <a:p>
            <a:pPr marL="0" indent="0" algn="l">
              <a:buNone/>
            </a:pPr>
            <a:r>
              <a:rPr lang="en-US" sz="1600" dirty="0">
                <a:solidFill>
                  <a:srgbClr val="5A6478"/>
                </a:solidFill>
                <a:latin typeface="Calibri" pitchFamily="34" charset="0"/>
                <a:ea typeface="Calibri" pitchFamily="34" charset="-122"/>
                <a:cs typeface="Calibri" pitchFamily="34" charset="-120"/>
              </a:rPr>
              <a:t>IA para Docentes · Dr. Héctor J. Corraliza Montero · ORE-Ponce, DEPR</a:t>
            </a:r>
            <a:endParaRPr lang="en-US" sz="1600" dirty="0"/>
          </a:p>
        </p:txBody>
      </p:sp>
      <p:sp>
        <p:nvSpPr>
          <p:cNvPr id="11" name="Text 9"/>
          <p:cNvSpPr txBox="1"/>
          <p:nvPr/>
        </p:nvSpPr>
        <p:spPr>
          <a:xfrm>
            <a:off x="10893247" y="6400800"/>
            <a:ext cx="731520" cy="274320"/>
          </a:xfrm>
          <a:prstGeom prst="rect">
            <a:avLst/>
          </a:prstGeom>
          <a:noFill/>
          <a:ln/>
        </p:spPr>
        <p:txBody>
          <a:bodyPr wrap="square" lIns="0" tIns="0" rIns="0" bIns="0" rtlCol="0" anchor="ctr"/>
          <a:lstStyle/>
          <a:p>
            <a:pPr marL="0" indent="0" algn="r">
              <a:buNone/>
            </a:pPr>
            <a:r>
              <a:rPr lang="en-US" sz="1600" b="1" dirty="0">
                <a:solidFill>
                  <a:srgbClr val="C9A227"/>
                </a:solidFill>
                <a:latin typeface="Calibri" pitchFamily="34" charset="0"/>
                <a:ea typeface="Calibri" pitchFamily="34" charset="-122"/>
                <a:cs typeface="Calibri" pitchFamily="34" charset="-120"/>
              </a:rPr>
              <a:t>78</a:t>
            </a:r>
            <a:endParaRPr lang="en-US" sz="16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79">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8138160" y="0"/>
            <a:ext cx="4053535" cy="6858000"/>
          </a:xfrm>
          <a:prstGeom prst="rect">
            <a:avLst/>
          </a:prstGeom>
          <a:solidFill>
            <a:srgbClr val="1F3864"/>
          </a:solidFill>
          <a:ln w="12700">
            <a:solidFill>
              <a:srgbClr val="1F3864"/>
            </a:solidFill>
            <a:prstDash val="solid"/>
          </a:ln>
        </p:spPr>
        <p:txBody>
          <a:bodyPr/>
          <a:lstStyle/>
          <a:p>
            <a:endParaRPr lang="en-PR"/>
          </a:p>
        </p:txBody>
      </p:sp>
      <p:sp>
        <p:nvSpPr>
          <p:cNvPr id="3" name="Shape 1"/>
          <p:cNvSpPr/>
          <p:nvPr/>
        </p:nvSpPr>
        <p:spPr>
          <a:xfrm>
            <a:off x="8458200" y="685800"/>
            <a:ext cx="219456" cy="219456"/>
          </a:xfrm>
          <a:prstGeom prst="ellipse">
            <a:avLst/>
          </a:prstGeom>
          <a:solidFill>
            <a:srgbClr val="C9A227"/>
          </a:solidFill>
          <a:ln w="12700">
            <a:solidFill>
              <a:srgbClr val="C9A227"/>
            </a:solidFill>
            <a:prstDash val="solid"/>
          </a:ln>
        </p:spPr>
        <p:txBody>
          <a:bodyPr/>
          <a:lstStyle/>
          <a:p>
            <a:endParaRPr lang="en-PR"/>
          </a:p>
        </p:txBody>
      </p:sp>
      <p:sp>
        <p:nvSpPr>
          <p:cNvPr id="4" name="Shape 2"/>
          <p:cNvSpPr/>
          <p:nvPr/>
        </p:nvSpPr>
        <p:spPr>
          <a:xfrm>
            <a:off x="8897112" y="685800"/>
            <a:ext cx="219456" cy="219456"/>
          </a:xfrm>
          <a:prstGeom prst="ellipse">
            <a:avLst/>
          </a:prstGeom>
          <a:solidFill>
            <a:srgbClr val="1B2A4A"/>
          </a:solidFill>
          <a:ln w="12700">
            <a:solidFill>
              <a:srgbClr val="1B2A4A"/>
            </a:solidFill>
            <a:prstDash val="solid"/>
          </a:ln>
        </p:spPr>
        <p:txBody>
          <a:bodyPr/>
          <a:lstStyle/>
          <a:p>
            <a:endParaRPr lang="en-PR"/>
          </a:p>
        </p:txBody>
      </p:sp>
      <p:sp>
        <p:nvSpPr>
          <p:cNvPr id="5" name="Shape 3"/>
          <p:cNvSpPr/>
          <p:nvPr/>
        </p:nvSpPr>
        <p:spPr>
          <a:xfrm>
            <a:off x="9336024" y="685800"/>
            <a:ext cx="219456" cy="219456"/>
          </a:xfrm>
          <a:prstGeom prst="ellipse">
            <a:avLst/>
          </a:prstGeom>
          <a:solidFill>
            <a:srgbClr val="DDE3EC"/>
          </a:solidFill>
          <a:ln w="12700">
            <a:solidFill>
              <a:srgbClr val="DDE3EC"/>
            </a:solidFill>
            <a:prstDash val="solid"/>
          </a:ln>
        </p:spPr>
        <p:txBody>
          <a:bodyPr/>
          <a:lstStyle/>
          <a:p>
            <a:endParaRPr lang="en-PR"/>
          </a:p>
        </p:txBody>
      </p:sp>
      <p:sp>
        <p:nvSpPr>
          <p:cNvPr id="6" name="Shape 4"/>
          <p:cNvSpPr/>
          <p:nvPr/>
        </p:nvSpPr>
        <p:spPr>
          <a:xfrm>
            <a:off x="9774936" y="685800"/>
            <a:ext cx="219456" cy="219456"/>
          </a:xfrm>
          <a:prstGeom prst="ellipse">
            <a:avLst/>
          </a:prstGeom>
          <a:solidFill>
            <a:srgbClr val="2A9D8F"/>
          </a:solidFill>
          <a:ln w="12700">
            <a:solidFill>
              <a:srgbClr val="2A9D8F"/>
            </a:solidFill>
            <a:prstDash val="solid"/>
          </a:ln>
        </p:spPr>
        <p:txBody>
          <a:bodyPr/>
          <a:lstStyle/>
          <a:p>
            <a:endParaRPr lang="en-PR"/>
          </a:p>
        </p:txBody>
      </p:sp>
      <p:sp>
        <p:nvSpPr>
          <p:cNvPr id="7" name="Shape 5"/>
          <p:cNvSpPr/>
          <p:nvPr/>
        </p:nvSpPr>
        <p:spPr>
          <a:xfrm>
            <a:off x="10213848" y="685800"/>
            <a:ext cx="219456" cy="219456"/>
          </a:xfrm>
          <a:prstGeom prst="ellipse">
            <a:avLst/>
          </a:prstGeom>
          <a:solidFill>
            <a:srgbClr val="C9A227"/>
          </a:solidFill>
          <a:ln w="12700">
            <a:solidFill>
              <a:srgbClr val="C9A227"/>
            </a:solidFill>
            <a:prstDash val="solid"/>
          </a:ln>
        </p:spPr>
        <p:txBody>
          <a:bodyPr/>
          <a:lstStyle/>
          <a:p>
            <a:endParaRPr lang="en-PR"/>
          </a:p>
        </p:txBody>
      </p:sp>
      <p:sp>
        <p:nvSpPr>
          <p:cNvPr id="8" name="Shape 6"/>
          <p:cNvSpPr/>
          <p:nvPr/>
        </p:nvSpPr>
        <p:spPr>
          <a:xfrm>
            <a:off x="10652760" y="685800"/>
            <a:ext cx="219456" cy="219456"/>
          </a:xfrm>
          <a:prstGeom prst="ellipse">
            <a:avLst/>
          </a:prstGeom>
          <a:solidFill>
            <a:srgbClr val="1B2A4A"/>
          </a:solidFill>
          <a:ln w="12700">
            <a:solidFill>
              <a:srgbClr val="1B2A4A"/>
            </a:solidFill>
            <a:prstDash val="solid"/>
          </a:ln>
        </p:spPr>
        <p:txBody>
          <a:bodyPr/>
          <a:lstStyle/>
          <a:p>
            <a:endParaRPr lang="en-PR"/>
          </a:p>
        </p:txBody>
      </p:sp>
      <p:sp>
        <p:nvSpPr>
          <p:cNvPr id="9" name="Shape 7"/>
          <p:cNvSpPr/>
          <p:nvPr/>
        </p:nvSpPr>
        <p:spPr>
          <a:xfrm>
            <a:off x="11091672" y="685800"/>
            <a:ext cx="219456" cy="219456"/>
          </a:xfrm>
          <a:prstGeom prst="ellipse">
            <a:avLst/>
          </a:prstGeom>
          <a:solidFill>
            <a:srgbClr val="DDE3EC"/>
          </a:solidFill>
          <a:ln w="12700">
            <a:solidFill>
              <a:srgbClr val="DDE3EC"/>
            </a:solidFill>
            <a:prstDash val="solid"/>
          </a:ln>
        </p:spPr>
        <p:txBody>
          <a:bodyPr/>
          <a:lstStyle/>
          <a:p>
            <a:endParaRPr lang="en-PR"/>
          </a:p>
        </p:txBody>
      </p:sp>
      <p:sp>
        <p:nvSpPr>
          <p:cNvPr id="10" name="Shape 8"/>
          <p:cNvSpPr/>
          <p:nvPr/>
        </p:nvSpPr>
        <p:spPr>
          <a:xfrm>
            <a:off x="11530584" y="685800"/>
            <a:ext cx="219456" cy="219456"/>
          </a:xfrm>
          <a:prstGeom prst="ellipse">
            <a:avLst/>
          </a:prstGeom>
          <a:solidFill>
            <a:srgbClr val="2A9D8F"/>
          </a:solidFill>
          <a:ln w="12700">
            <a:solidFill>
              <a:srgbClr val="2A9D8F"/>
            </a:solidFill>
            <a:prstDash val="solid"/>
          </a:ln>
        </p:spPr>
        <p:txBody>
          <a:bodyPr/>
          <a:lstStyle/>
          <a:p>
            <a:endParaRPr lang="en-PR"/>
          </a:p>
        </p:txBody>
      </p:sp>
      <p:sp>
        <p:nvSpPr>
          <p:cNvPr id="11" name="Shape 9"/>
          <p:cNvSpPr/>
          <p:nvPr/>
        </p:nvSpPr>
        <p:spPr>
          <a:xfrm>
            <a:off x="8458200" y="1252728"/>
            <a:ext cx="219456" cy="219456"/>
          </a:xfrm>
          <a:prstGeom prst="ellipse">
            <a:avLst/>
          </a:prstGeom>
          <a:solidFill>
            <a:srgbClr val="2A9D8F"/>
          </a:solidFill>
          <a:ln w="12700">
            <a:solidFill>
              <a:srgbClr val="2A9D8F"/>
            </a:solidFill>
            <a:prstDash val="solid"/>
          </a:ln>
        </p:spPr>
        <p:txBody>
          <a:bodyPr/>
          <a:lstStyle/>
          <a:p>
            <a:endParaRPr lang="en-PR"/>
          </a:p>
        </p:txBody>
      </p:sp>
      <p:sp>
        <p:nvSpPr>
          <p:cNvPr id="12" name="Shape 10"/>
          <p:cNvSpPr/>
          <p:nvPr/>
        </p:nvSpPr>
        <p:spPr>
          <a:xfrm>
            <a:off x="8897112" y="1252728"/>
            <a:ext cx="219456" cy="219456"/>
          </a:xfrm>
          <a:prstGeom prst="ellipse">
            <a:avLst/>
          </a:prstGeom>
          <a:solidFill>
            <a:srgbClr val="C9A227"/>
          </a:solidFill>
          <a:ln w="12700">
            <a:solidFill>
              <a:srgbClr val="C9A227"/>
            </a:solidFill>
            <a:prstDash val="solid"/>
          </a:ln>
        </p:spPr>
        <p:txBody>
          <a:bodyPr/>
          <a:lstStyle/>
          <a:p>
            <a:endParaRPr lang="en-PR"/>
          </a:p>
        </p:txBody>
      </p:sp>
      <p:sp>
        <p:nvSpPr>
          <p:cNvPr id="13" name="Shape 11"/>
          <p:cNvSpPr/>
          <p:nvPr/>
        </p:nvSpPr>
        <p:spPr>
          <a:xfrm>
            <a:off x="9336024" y="1252728"/>
            <a:ext cx="219456" cy="219456"/>
          </a:xfrm>
          <a:prstGeom prst="ellipse">
            <a:avLst/>
          </a:prstGeom>
          <a:solidFill>
            <a:srgbClr val="1B2A4A"/>
          </a:solidFill>
          <a:ln w="12700">
            <a:solidFill>
              <a:srgbClr val="1B2A4A"/>
            </a:solidFill>
            <a:prstDash val="solid"/>
          </a:ln>
        </p:spPr>
        <p:txBody>
          <a:bodyPr/>
          <a:lstStyle/>
          <a:p>
            <a:endParaRPr lang="en-PR"/>
          </a:p>
        </p:txBody>
      </p:sp>
      <p:sp>
        <p:nvSpPr>
          <p:cNvPr id="14" name="Shape 12"/>
          <p:cNvSpPr/>
          <p:nvPr/>
        </p:nvSpPr>
        <p:spPr>
          <a:xfrm>
            <a:off x="9774936" y="1252728"/>
            <a:ext cx="219456" cy="219456"/>
          </a:xfrm>
          <a:prstGeom prst="ellipse">
            <a:avLst/>
          </a:prstGeom>
          <a:solidFill>
            <a:srgbClr val="DDE3EC"/>
          </a:solidFill>
          <a:ln w="12700">
            <a:solidFill>
              <a:srgbClr val="DDE3EC"/>
            </a:solidFill>
            <a:prstDash val="solid"/>
          </a:ln>
        </p:spPr>
        <p:txBody>
          <a:bodyPr/>
          <a:lstStyle/>
          <a:p>
            <a:endParaRPr lang="en-PR"/>
          </a:p>
        </p:txBody>
      </p:sp>
      <p:sp>
        <p:nvSpPr>
          <p:cNvPr id="15" name="Shape 13"/>
          <p:cNvSpPr/>
          <p:nvPr/>
        </p:nvSpPr>
        <p:spPr>
          <a:xfrm>
            <a:off x="10213848" y="1252728"/>
            <a:ext cx="219456" cy="219456"/>
          </a:xfrm>
          <a:prstGeom prst="ellipse">
            <a:avLst/>
          </a:prstGeom>
          <a:solidFill>
            <a:srgbClr val="2A9D8F"/>
          </a:solidFill>
          <a:ln w="12700">
            <a:solidFill>
              <a:srgbClr val="2A9D8F"/>
            </a:solidFill>
            <a:prstDash val="solid"/>
          </a:ln>
        </p:spPr>
        <p:txBody>
          <a:bodyPr/>
          <a:lstStyle/>
          <a:p>
            <a:endParaRPr lang="en-PR"/>
          </a:p>
        </p:txBody>
      </p:sp>
      <p:sp>
        <p:nvSpPr>
          <p:cNvPr id="16" name="Shape 14"/>
          <p:cNvSpPr/>
          <p:nvPr/>
        </p:nvSpPr>
        <p:spPr>
          <a:xfrm>
            <a:off x="10652760" y="1252728"/>
            <a:ext cx="219456" cy="219456"/>
          </a:xfrm>
          <a:prstGeom prst="ellipse">
            <a:avLst/>
          </a:prstGeom>
          <a:solidFill>
            <a:srgbClr val="C9A227"/>
          </a:solidFill>
          <a:ln w="12700">
            <a:solidFill>
              <a:srgbClr val="C9A227"/>
            </a:solidFill>
            <a:prstDash val="solid"/>
          </a:ln>
        </p:spPr>
        <p:txBody>
          <a:bodyPr/>
          <a:lstStyle/>
          <a:p>
            <a:endParaRPr lang="en-PR"/>
          </a:p>
        </p:txBody>
      </p:sp>
      <p:sp>
        <p:nvSpPr>
          <p:cNvPr id="17" name="Shape 15"/>
          <p:cNvSpPr/>
          <p:nvPr/>
        </p:nvSpPr>
        <p:spPr>
          <a:xfrm>
            <a:off x="11091672" y="1252728"/>
            <a:ext cx="219456" cy="219456"/>
          </a:xfrm>
          <a:prstGeom prst="ellipse">
            <a:avLst/>
          </a:prstGeom>
          <a:solidFill>
            <a:srgbClr val="1B2A4A"/>
          </a:solidFill>
          <a:ln w="12700">
            <a:solidFill>
              <a:srgbClr val="1B2A4A"/>
            </a:solidFill>
            <a:prstDash val="solid"/>
          </a:ln>
        </p:spPr>
        <p:txBody>
          <a:bodyPr/>
          <a:lstStyle/>
          <a:p>
            <a:endParaRPr lang="en-PR"/>
          </a:p>
        </p:txBody>
      </p:sp>
      <p:sp>
        <p:nvSpPr>
          <p:cNvPr id="18" name="Shape 16"/>
          <p:cNvSpPr/>
          <p:nvPr/>
        </p:nvSpPr>
        <p:spPr>
          <a:xfrm>
            <a:off x="11530584" y="1252728"/>
            <a:ext cx="219456" cy="219456"/>
          </a:xfrm>
          <a:prstGeom prst="ellipse">
            <a:avLst/>
          </a:prstGeom>
          <a:solidFill>
            <a:srgbClr val="DDE3EC"/>
          </a:solidFill>
          <a:ln w="12700">
            <a:solidFill>
              <a:srgbClr val="DDE3EC"/>
            </a:solidFill>
            <a:prstDash val="solid"/>
          </a:ln>
        </p:spPr>
        <p:txBody>
          <a:bodyPr/>
          <a:lstStyle/>
          <a:p>
            <a:endParaRPr lang="en-PR"/>
          </a:p>
        </p:txBody>
      </p:sp>
      <p:sp>
        <p:nvSpPr>
          <p:cNvPr id="19" name="Shape 17"/>
          <p:cNvSpPr/>
          <p:nvPr/>
        </p:nvSpPr>
        <p:spPr>
          <a:xfrm>
            <a:off x="8458200" y="1819656"/>
            <a:ext cx="219456" cy="219456"/>
          </a:xfrm>
          <a:prstGeom prst="ellipse">
            <a:avLst/>
          </a:prstGeom>
          <a:solidFill>
            <a:srgbClr val="DDE3EC"/>
          </a:solidFill>
          <a:ln w="12700">
            <a:solidFill>
              <a:srgbClr val="DDE3EC"/>
            </a:solidFill>
            <a:prstDash val="solid"/>
          </a:ln>
        </p:spPr>
        <p:txBody>
          <a:bodyPr/>
          <a:lstStyle/>
          <a:p>
            <a:endParaRPr lang="en-PR"/>
          </a:p>
        </p:txBody>
      </p:sp>
      <p:sp>
        <p:nvSpPr>
          <p:cNvPr id="20" name="Shape 18"/>
          <p:cNvSpPr/>
          <p:nvPr/>
        </p:nvSpPr>
        <p:spPr>
          <a:xfrm>
            <a:off x="8897112" y="1819656"/>
            <a:ext cx="219456" cy="219456"/>
          </a:xfrm>
          <a:prstGeom prst="ellipse">
            <a:avLst/>
          </a:prstGeom>
          <a:solidFill>
            <a:srgbClr val="2A9D8F"/>
          </a:solidFill>
          <a:ln w="12700">
            <a:solidFill>
              <a:srgbClr val="2A9D8F"/>
            </a:solidFill>
            <a:prstDash val="solid"/>
          </a:ln>
        </p:spPr>
        <p:txBody>
          <a:bodyPr/>
          <a:lstStyle/>
          <a:p>
            <a:endParaRPr lang="en-PR"/>
          </a:p>
        </p:txBody>
      </p:sp>
      <p:sp>
        <p:nvSpPr>
          <p:cNvPr id="21" name="Shape 19"/>
          <p:cNvSpPr/>
          <p:nvPr/>
        </p:nvSpPr>
        <p:spPr>
          <a:xfrm>
            <a:off x="9336024" y="1819656"/>
            <a:ext cx="219456" cy="219456"/>
          </a:xfrm>
          <a:prstGeom prst="ellipse">
            <a:avLst/>
          </a:prstGeom>
          <a:solidFill>
            <a:srgbClr val="C9A227"/>
          </a:solidFill>
          <a:ln w="12700">
            <a:solidFill>
              <a:srgbClr val="C9A227"/>
            </a:solidFill>
            <a:prstDash val="solid"/>
          </a:ln>
        </p:spPr>
        <p:txBody>
          <a:bodyPr/>
          <a:lstStyle/>
          <a:p>
            <a:endParaRPr lang="en-PR"/>
          </a:p>
        </p:txBody>
      </p:sp>
      <p:sp>
        <p:nvSpPr>
          <p:cNvPr id="22" name="Shape 20"/>
          <p:cNvSpPr/>
          <p:nvPr/>
        </p:nvSpPr>
        <p:spPr>
          <a:xfrm>
            <a:off x="9774936" y="1819656"/>
            <a:ext cx="219456" cy="219456"/>
          </a:xfrm>
          <a:prstGeom prst="ellipse">
            <a:avLst/>
          </a:prstGeom>
          <a:solidFill>
            <a:srgbClr val="1B2A4A"/>
          </a:solidFill>
          <a:ln w="12700">
            <a:solidFill>
              <a:srgbClr val="1B2A4A"/>
            </a:solidFill>
            <a:prstDash val="solid"/>
          </a:ln>
        </p:spPr>
        <p:txBody>
          <a:bodyPr/>
          <a:lstStyle/>
          <a:p>
            <a:endParaRPr lang="en-PR"/>
          </a:p>
        </p:txBody>
      </p:sp>
      <p:sp>
        <p:nvSpPr>
          <p:cNvPr id="23" name="Shape 21"/>
          <p:cNvSpPr/>
          <p:nvPr/>
        </p:nvSpPr>
        <p:spPr>
          <a:xfrm>
            <a:off x="10213848" y="1819656"/>
            <a:ext cx="219456" cy="219456"/>
          </a:xfrm>
          <a:prstGeom prst="ellipse">
            <a:avLst/>
          </a:prstGeom>
          <a:solidFill>
            <a:srgbClr val="DDE3EC"/>
          </a:solidFill>
          <a:ln w="12700">
            <a:solidFill>
              <a:srgbClr val="DDE3EC"/>
            </a:solidFill>
            <a:prstDash val="solid"/>
          </a:ln>
        </p:spPr>
        <p:txBody>
          <a:bodyPr/>
          <a:lstStyle/>
          <a:p>
            <a:endParaRPr lang="en-PR"/>
          </a:p>
        </p:txBody>
      </p:sp>
      <p:sp>
        <p:nvSpPr>
          <p:cNvPr id="24" name="Shape 22"/>
          <p:cNvSpPr/>
          <p:nvPr/>
        </p:nvSpPr>
        <p:spPr>
          <a:xfrm>
            <a:off x="10652760" y="1819656"/>
            <a:ext cx="219456" cy="219456"/>
          </a:xfrm>
          <a:prstGeom prst="ellipse">
            <a:avLst/>
          </a:prstGeom>
          <a:solidFill>
            <a:srgbClr val="2A9D8F"/>
          </a:solidFill>
          <a:ln w="12700">
            <a:solidFill>
              <a:srgbClr val="2A9D8F"/>
            </a:solidFill>
            <a:prstDash val="solid"/>
          </a:ln>
        </p:spPr>
        <p:txBody>
          <a:bodyPr/>
          <a:lstStyle/>
          <a:p>
            <a:endParaRPr lang="en-PR"/>
          </a:p>
        </p:txBody>
      </p:sp>
      <p:sp>
        <p:nvSpPr>
          <p:cNvPr id="25" name="Shape 23"/>
          <p:cNvSpPr/>
          <p:nvPr/>
        </p:nvSpPr>
        <p:spPr>
          <a:xfrm>
            <a:off x="11091672" y="1819656"/>
            <a:ext cx="219456" cy="219456"/>
          </a:xfrm>
          <a:prstGeom prst="ellipse">
            <a:avLst/>
          </a:prstGeom>
          <a:solidFill>
            <a:srgbClr val="C9A227"/>
          </a:solidFill>
          <a:ln w="12700">
            <a:solidFill>
              <a:srgbClr val="C9A227"/>
            </a:solidFill>
            <a:prstDash val="solid"/>
          </a:ln>
        </p:spPr>
        <p:txBody>
          <a:bodyPr/>
          <a:lstStyle/>
          <a:p>
            <a:endParaRPr lang="en-PR"/>
          </a:p>
        </p:txBody>
      </p:sp>
      <p:sp>
        <p:nvSpPr>
          <p:cNvPr id="26" name="Shape 24"/>
          <p:cNvSpPr/>
          <p:nvPr/>
        </p:nvSpPr>
        <p:spPr>
          <a:xfrm>
            <a:off x="11530584" y="1819656"/>
            <a:ext cx="219456" cy="219456"/>
          </a:xfrm>
          <a:prstGeom prst="ellipse">
            <a:avLst/>
          </a:prstGeom>
          <a:solidFill>
            <a:srgbClr val="1B2A4A"/>
          </a:solidFill>
          <a:ln w="12700">
            <a:solidFill>
              <a:srgbClr val="1B2A4A"/>
            </a:solidFill>
            <a:prstDash val="solid"/>
          </a:ln>
        </p:spPr>
        <p:txBody>
          <a:bodyPr/>
          <a:lstStyle/>
          <a:p>
            <a:endParaRPr lang="en-PR"/>
          </a:p>
        </p:txBody>
      </p:sp>
      <p:sp>
        <p:nvSpPr>
          <p:cNvPr id="27" name="Shape 25"/>
          <p:cNvSpPr/>
          <p:nvPr/>
        </p:nvSpPr>
        <p:spPr>
          <a:xfrm>
            <a:off x="8458200" y="2386584"/>
            <a:ext cx="219456" cy="219456"/>
          </a:xfrm>
          <a:prstGeom prst="ellipse">
            <a:avLst/>
          </a:prstGeom>
          <a:solidFill>
            <a:srgbClr val="1B2A4A"/>
          </a:solidFill>
          <a:ln w="12700">
            <a:solidFill>
              <a:srgbClr val="1B2A4A"/>
            </a:solidFill>
            <a:prstDash val="solid"/>
          </a:ln>
        </p:spPr>
        <p:txBody>
          <a:bodyPr/>
          <a:lstStyle/>
          <a:p>
            <a:endParaRPr lang="en-PR"/>
          </a:p>
        </p:txBody>
      </p:sp>
      <p:sp>
        <p:nvSpPr>
          <p:cNvPr id="28" name="Shape 26"/>
          <p:cNvSpPr/>
          <p:nvPr/>
        </p:nvSpPr>
        <p:spPr>
          <a:xfrm>
            <a:off x="8897112" y="2386584"/>
            <a:ext cx="219456" cy="219456"/>
          </a:xfrm>
          <a:prstGeom prst="ellipse">
            <a:avLst/>
          </a:prstGeom>
          <a:solidFill>
            <a:srgbClr val="DDE3EC"/>
          </a:solidFill>
          <a:ln w="12700">
            <a:solidFill>
              <a:srgbClr val="DDE3EC"/>
            </a:solidFill>
            <a:prstDash val="solid"/>
          </a:ln>
        </p:spPr>
        <p:txBody>
          <a:bodyPr/>
          <a:lstStyle/>
          <a:p>
            <a:endParaRPr lang="en-PR"/>
          </a:p>
        </p:txBody>
      </p:sp>
      <p:sp>
        <p:nvSpPr>
          <p:cNvPr id="29" name="Shape 27"/>
          <p:cNvSpPr/>
          <p:nvPr/>
        </p:nvSpPr>
        <p:spPr>
          <a:xfrm>
            <a:off x="9336024" y="2386584"/>
            <a:ext cx="219456" cy="219456"/>
          </a:xfrm>
          <a:prstGeom prst="ellipse">
            <a:avLst/>
          </a:prstGeom>
          <a:solidFill>
            <a:srgbClr val="2A9D8F"/>
          </a:solidFill>
          <a:ln w="12700">
            <a:solidFill>
              <a:srgbClr val="2A9D8F"/>
            </a:solidFill>
            <a:prstDash val="solid"/>
          </a:ln>
        </p:spPr>
        <p:txBody>
          <a:bodyPr/>
          <a:lstStyle/>
          <a:p>
            <a:endParaRPr lang="en-PR"/>
          </a:p>
        </p:txBody>
      </p:sp>
      <p:sp>
        <p:nvSpPr>
          <p:cNvPr id="30" name="Shape 28"/>
          <p:cNvSpPr/>
          <p:nvPr/>
        </p:nvSpPr>
        <p:spPr>
          <a:xfrm>
            <a:off x="9774936" y="2386584"/>
            <a:ext cx="219456" cy="219456"/>
          </a:xfrm>
          <a:prstGeom prst="ellipse">
            <a:avLst/>
          </a:prstGeom>
          <a:solidFill>
            <a:srgbClr val="C9A227"/>
          </a:solidFill>
          <a:ln w="12700">
            <a:solidFill>
              <a:srgbClr val="C9A227"/>
            </a:solidFill>
            <a:prstDash val="solid"/>
          </a:ln>
        </p:spPr>
        <p:txBody>
          <a:bodyPr/>
          <a:lstStyle/>
          <a:p>
            <a:endParaRPr lang="en-PR"/>
          </a:p>
        </p:txBody>
      </p:sp>
      <p:sp>
        <p:nvSpPr>
          <p:cNvPr id="31" name="Shape 29"/>
          <p:cNvSpPr/>
          <p:nvPr/>
        </p:nvSpPr>
        <p:spPr>
          <a:xfrm>
            <a:off x="10213848" y="2386584"/>
            <a:ext cx="219456" cy="219456"/>
          </a:xfrm>
          <a:prstGeom prst="ellipse">
            <a:avLst/>
          </a:prstGeom>
          <a:solidFill>
            <a:srgbClr val="1B2A4A"/>
          </a:solidFill>
          <a:ln w="12700">
            <a:solidFill>
              <a:srgbClr val="1B2A4A"/>
            </a:solidFill>
            <a:prstDash val="solid"/>
          </a:ln>
        </p:spPr>
        <p:txBody>
          <a:bodyPr/>
          <a:lstStyle/>
          <a:p>
            <a:endParaRPr lang="en-PR"/>
          </a:p>
        </p:txBody>
      </p:sp>
      <p:sp>
        <p:nvSpPr>
          <p:cNvPr id="32" name="Shape 30"/>
          <p:cNvSpPr/>
          <p:nvPr/>
        </p:nvSpPr>
        <p:spPr>
          <a:xfrm>
            <a:off x="10652760" y="2386584"/>
            <a:ext cx="219456" cy="219456"/>
          </a:xfrm>
          <a:prstGeom prst="ellipse">
            <a:avLst/>
          </a:prstGeom>
          <a:solidFill>
            <a:srgbClr val="DDE3EC"/>
          </a:solidFill>
          <a:ln w="12700">
            <a:solidFill>
              <a:srgbClr val="DDE3EC"/>
            </a:solidFill>
            <a:prstDash val="solid"/>
          </a:ln>
        </p:spPr>
        <p:txBody>
          <a:bodyPr/>
          <a:lstStyle/>
          <a:p>
            <a:endParaRPr lang="en-PR"/>
          </a:p>
        </p:txBody>
      </p:sp>
      <p:sp>
        <p:nvSpPr>
          <p:cNvPr id="33" name="Shape 31"/>
          <p:cNvSpPr/>
          <p:nvPr/>
        </p:nvSpPr>
        <p:spPr>
          <a:xfrm>
            <a:off x="11091672" y="2386584"/>
            <a:ext cx="219456" cy="219456"/>
          </a:xfrm>
          <a:prstGeom prst="ellipse">
            <a:avLst/>
          </a:prstGeom>
          <a:solidFill>
            <a:srgbClr val="2A9D8F"/>
          </a:solidFill>
          <a:ln w="12700">
            <a:solidFill>
              <a:srgbClr val="2A9D8F"/>
            </a:solidFill>
            <a:prstDash val="solid"/>
          </a:ln>
        </p:spPr>
        <p:txBody>
          <a:bodyPr/>
          <a:lstStyle/>
          <a:p>
            <a:endParaRPr lang="en-PR"/>
          </a:p>
        </p:txBody>
      </p:sp>
      <p:sp>
        <p:nvSpPr>
          <p:cNvPr id="34" name="Shape 32"/>
          <p:cNvSpPr/>
          <p:nvPr/>
        </p:nvSpPr>
        <p:spPr>
          <a:xfrm>
            <a:off x="11530584" y="2386584"/>
            <a:ext cx="219456" cy="219456"/>
          </a:xfrm>
          <a:prstGeom prst="ellipse">
            <a:avLst/>
          </a:prstGeom>
          <a:solidFill>
            <a:srgbClr val="C9A227"/>
          </a:solidFill>
          <a:ln w="12700">
            <a:solidFill>
              <a:srgbClr val="C9A227"/>
            </a:solidFill>
            <a:prstDash val="solid"/>
          </a:ln>
        </p:spPr>
        <p:txBody>
          <a:bodyPr/>
          <a:lstStyle/>
          <a:p>
            <a:endParaRPr lang="en-PR"/>
          </a:p>
        </p:txBody>
      </p:sp>
      <p:sp>
        <p:nvSpPr>
          <p:cNvPr id="35" name="Shape 33"/>
          <p:cNvSpPr/>
          <p:nvPr/>
        </p:nvSpPr>
        <p:spPr>
          <a:xfrm>
            <a:off x="8458200" y="2953512"/>
            <a:ext cx="219456" cy="219456"/>
          </a:xfrm>
          <a:prstGeom prst="ellipse">
            <a:avLst/>
          </a:prstGeom>
          <a:solidFill>
            <a:srgbClr val="C9A227"/>
          </a:solidFill>
          <a:ln w="12700">
            <a:solidFill>
              <a:srgbClr val="C9A227"/>
            </a:solidFill>
            <a:prstDash val="solid"/>
          </a:ln>
        </p:spPr>
        <p:txBody>
          <a:bodyPr/>
          <a:lstStyle/>
          <a:p>
            <a:endParaRPr lang="en-PR"/>
          </a:p>
        </p:txBody>
      </p:sp>
      <p:sp>
        <p:nvSpPr>
          <p:cNvPr id="36" name="Shape 34"/>
          <p:cNvSpPr/>
          <p:nvPr/>
        </p:nvSpPr>
        <p:spPr>
          <a:xfrm>
            <a:off x="8897112" y="2953512"/>
            <a:ext cx="219456" cy="219456"/>
          </a:xfrm>
          <a:prstGeom prst="ellipse">
            <a:avLst/>
          </a:prstGeom>
          <a:solidFill>
            <a:srgbClr val="1B2A4A"/>
          </a:solidFill>
          <a:ln w="12700">
            <a:solidFill>
              <a:srgbClr val="1B2A4A"/>
            </a:solidFill>
            <a:prstDash val="solid"/>
          </a:ln>
        </p:spPr>
        <p:txBody>
          <a:bodyPr/>
          <a:lstStyle/>
          <a:p>
            <a:endParaRPr lang="en-PR"/>
          </a:p>
        </p:txBody>
      </p:sp>
      <p:sp>
        <p:nvSpPr>
          <p:cNvPr id="37" name="Shape 35"/>
          <p:cNvSpPr/>
          <p:nvPr/>
        </p:nvSpPr>
        <p:spPr>
          <a:xfrm>
            <a:off x="9336024" y="2953512"/>
            <a:ext cx="219456" cy="219456"/>
          </a:xfrm>
          <a:prstGeom prst="ellipse">
            <a:avLst/>
          </a:prstGeom>
          <a:solidFill>
            <a:srgbClr val="DDE3EC"/>
          </a:solidFill>
          <a:ln w="12700">
            <a:solidFill>
              <a:srgbClr val="DDE3EC"/>
            </a:solidFill>
            <a:prstDash val="solid"/>
          </a:ln>
        </p:spPr>
        <p:txBody>
          <a:bodyPr/>
          <a:lstStyle/>
          <a:p>
            <a:endParaRPr lang="en-PR"/>
          </a:p>
        </p:txBody>
      </p:sp>
      <p:sp>
        <p:nvSpPr>
          <p:cNvPr id="38" name="Shape 36"/>
          <p:cNvSpPr/>
          <p:nvPr/>
        </p:nvSpPr>
        <p:spPr>
          <a:xfrm>
            <a:off x="9774936" y="2953512"/>
            <a:ext cx="219456" cy="219456"/>
          </a:xfrm>
          <a:prstGeom prst="ellipse">
            <a:avLst/>
          </a:prstGeom>
          <a:solidFill>
            <a:srgbClr val="2A9D8F"/>
          </a:solidFill>
          <a:ln w="12700">
            <a:solidFill>
              <a:srgbClr val="2A9D8F"/>
            </a:solidFill>
            <a:prstDash val="solid"/>
          </a:ln>
        </p:spPr>
        <p:txBody>
          <a:bodyPr/>
          <a:lstStyle/>
          <a:p>
            <a:endParaRPr lang="en-PR"/>
          </a:p>
        </p:txBody>
      </p:sp>
      <p:sp>
        <p:nvSpPr>
          <p:cNvPr id="39" name="Shape 37"/>
          <p:cNvSpPr/>
          <p:nvPr/>
        </p:nvSpPr>
        <p:spPr>
          <a:xfrm>
            <a:off x="10213848" y="2953512"/>
            <a:ext cx="219456" cy="219456"/>
          </a:xfrm>
          <a:prstGeom prst="ellipse">
            <a:avLst/>
          </a:prstGeom>
          <a:solidFill>
            <a:srgbClr val="C9A227"/>
          </a:solidFill>
          <a:ln w="12700">
            <a:solidFill>
              <a:srgbClr val="C9A227"/>
            </a:solidFill>
            <a:prstDash val="solid"/>
          </a:ln>
        </p:spPr>
        <p:txBody>
          <a:bodyPr/>
          <a:lstStyle/>
          <a:p>
            <a:endParaRPr lang="en-PR"/>
          </a:p>
        </p:txBody>
      </p:sp>
      <p:sp>
        <p:nvSpPr>
          <p:cNvPr id="40" name="Shape 38"/>
          <p:cNvSpPr/>
          <p:nvPr/>
        </p:nvSpPr>
        <p:spPr>
          <a:xfrm>
            <a:off x="10652760" y="2953512"/>
            <a:ext cx="219456" cy="219456"/>
          </a:xfrm>
          <a:prstGeom prst="ellipse">
            <a:avLst/>
          </a:prstGeom>
          <a:solidFill>
            <a:srgbClr val="1B2A4A"/>
          </a:solidFill>
          <a:ln w="12700">
            <a:solidFill>
              <a:srgbClr val="1B2A4A"/>
            </a:solidFill>
            <a:prstDash val="solid"/>
          </a:ln>
        </p:spPr>
        <p:txBody>
          <a:bodyPr/>
          <a:lstStyle/>
          <a:p>
            <a:endParaRPr lang="en-PR"/>
          </a:p>
        </p:txBody>
      </p:sp>
      <p:sp>
        <p:nvSpPr>
          <p:cNvPr id="41" name="Shape 39"/>
          <p:cNvSpPr/>
          <p:nvPr/>
        </p:nvSpPr>
        <p:spPr>
          <a:xfrm>
            <a:off x="11091672" y="2953512"/>
            <a:ext cx="219456" cy="219456"/>
          </a:xfrm>
          <a:prstGeom prst="ellipse">
            <a:avLst/>
          </a:prstGeom>
          <a:solidFill>
            <a:srgbClr val="DDE3EC"/>
          </a:solidFill>
          <a:ln w="12700">
            <a:solidFill>
              <a:srgbClr val="DDE3EC"/>
            </a:solidFill>
            <a:prstDash val="solid"/>
          </a:ln>
        </p:spPr>
        <p:txBody>
          <a:bodyPr/>
          <a:lstStyle/>
          <a:p>
            <a:endParaRPr lang="en-PR"/>
          </a:p>
        </p:txBody>
      </p:sp>
      <p:sp>
        <p:nvSpPr>
          <p:cNvPr id="42" name="Shape 40"/>
          <p:cNvSpPr/>
          <p:nvPr/>
        </p:nvSpPr>
        <p:spPr>
          <a:xfrm>
            <a:off x="11530584" y="2953512"/>
            <a:ext cx="219456" cy="219456"/>
          </a:xfrm>
          <a:prstGeom prst="ellipse">
            <a:avLst/>
          </a:prstGeom>
          <a:solidFill>
            <a:srgbClr val="2A9D8F"/>
          </a:solidFill>
          <a:ln w="12700">
            <a:solidFill>
              <a:srgbClr val="2A9D8F"/>
            </a:solidFill>
            <a:prstDash val="solid"/>
          </a:ln>
        </p:spPr>
        <p:txBody>
          <a:bodyPr/>
          <a:lstStyle/>
          <a:p>
            <a:endParaRPr lang="en-PR"/>
          </a:p>
        </p:txBody>
      </p:sp>
      <p:sp>
        <p:nvSpPr>
          <p:cNvPr id="43" name="Shape 41"/>
          <p:cNvSpPr/>
          <p:nvPr/>
        </p:nvSpPr>
        <p:spPr>
          <a:xfrm>
            <a:off x="8458200" y="3520440"/>
            <a:ext cx="219456" cy="219456"/>
          </a:xfrm>
          <a:prstGeom prst="ellipse">
            <a:avLst/>
          </a:prstGeom>
          <a:solidFill>
            <a:srgbClr val="2A9D8F"/>
          </a:solidFill>
          <a:ln w="12700">
            <a:solidFill>
              <a:srgbClr val="2A9D8F"/>
            </a:solidFill>
            <a:prstDash val="solid"/>
          </a:ln>
        </p:spPr>
        <p:txBody>
          <a:bodyPr/>
          <a:lstStyle/>
          <a:p>
            <a:endParaRPr lang="en-PR"/>
          </a:p>
        </p:txBody>
      </p:sp>
      <p:sp>
        <p:nvSpPr>
          <p:cNvPr id="44" name="Shape 42"/>
          <p:cNvSpPr/>
          <p:nvPr/>
        </p:nvSpPr>
        <p:spPr>
          <a:xfrm>
            <a:off x="8897112" y="3520440"/>
            <a:ext cx="219456" cy="219456"/>
          </a:xfrm>
          <a:prstGeom prst="ellipse">
            <a:avLst/>
          </a:prstGeom>
          <a:solidFill>
            <a:srgbClr val="C9A227"/>
          </a:solidFill>
          <a:ln w="12700">
            <a:solidFill>
              <a:srgbClr val="C9A227"/>
            </a:solidFill>
            <a:prstDash val="solid"/>
          </a:ln>
        </p:spPr>
        <p:txBody>
          <a:bodyPr/>
          <a:lstStyle/>
          <a:p>
            <a:endParaRPr lang="en-PR"/>
          </a:p>
        </p:txBody>
      </p:sp>
      <p:sp>
        <p:nvSpPr>
          <p:cNvPr id="45" name="Shape 43"/>
          <p:cNvSpPr/>
          <p:nvPr/>
        </p:nvSpPr>
        <p:spPr>
          <a:xfrm>
            <a:off x="9336024" y="3520440"/>
            <a:ext cx="219456" cy="219456"/>
          </a:xfrm>
          <a:prstGeom prst="ellipse">
            <a:avLst/>
          </a:prstGeom>
          <a:solidFill>
            <a:srgbClr val="1B2A4A"/>
          </a:solidFill>
          <a:ln w="12700">
            <a:solidFill>
              <a:srgbClr val="1B2A4A"/>
            </a:solidFill>
            <a:prstDash val="solid"/>
          </a:ln>
        </p:spPr>
        <p:txBody>
          <a:bodyPr/>
          <a:lstStyle/>
          <a:p>
            <a:endParaRPr lang="en-PR"/>
          </a:p>
        </p:txBody>
      </p:sp>
      <p:sp>
        <p:nvSpPr>
          <p:cNvPr id="46" name="Shape 44"/>
          <p:cNvSpPr/>
          <p:nvPr/>
        </p:nvSpPr>
        <p:spPr>
          <a:xfrm>
            <a:off x="9774936" y="3520440"/>
            <a:ext cx="219456" cy="219456"/>
          </a:xfrm>
          <a:prstGeom prst="ellipse">
            <a:avLst/>
          </a:prstGeom>
          <a:solidFill>
            <a:srgbClr val="DDE3EC"/>
          </a:solidFill>
          <a:ln w="12700">
            <a:solidFill>
              <a:srgbClr val="DDE3EC"/>
            </a:solidFill>
            <a:prstDash val="solid"/>
          </a:ln>
        </p:spPr>
        <p:txBody>
          <a:bodyPr/>
          <a:lstStyle/>
          <a:p>
            <a:endParaRPr lang="en-PR"/>
          </a:p>
        </p:txBody>
      </p:sp>
      <p:sp>
        <p:nvSpPr>
          <p:cNvPr id="47" name="Shape 45"/>
          <p:cNvSpPr/>
          <p:nvPr/>
        </p:nvSpPr>
        <p:spPr>
          <a:xfrm>
            <a:off x="10213848" y="3520440"/>
            <a:ext cx="219456" cy="219456"/>
          </a:xfrm>
          <a:prstGeom prst="ellipse">
            <a:avLst/>
          </a:prstGeom>
          <a:solidFill>
            <a:srgbClr val="2A9D8F"/>
          </a:solidFill>
          <a:ln w="12700">
            <a:solidFill>
              <a:srgbClr val="2A9D8F"/>
            </a:solidFill>
            <a:prstDash val="solid"/>
          </a:ln>
        </p:spPr>
        <p:txBody>
          <a:bodyPr/>
          <a:lstStyle/>
          <a:p>
            <a:endParaRPr lang="en-PR"/>
          </a:p>
        </p:txBody>
      </p:sp>
      <p:sp>
        <p:nvSpPr>
          <p:cNvPr id="48" name="Shape 46"/>
          <p:cNvSpPr/>
          <p:nvPr/>
        </p:nvSpPr>
        <p:spPr>
          <a:xfrm>
            <a:off x="10652760" y="3520440"/>
            <a:ext cx="219456" cy="219456"/>
          </a:xfrm>
          <a:prstGeom prst="ellipse">
            <a:avLst/>
          </a:prstGeom>
          <a:solidFill>
            <a:srgbClr val="C9A227"/>
          </a:solidFill>
          <a:ln w="12700">
            <a:solidFill>
              <a:srgbClr val="C9A227"/>
            </a:solidFill>
            <a:prstDash val="solid"/>
          </a:ln>
        </p:spPr>
        <p:txBody>
          <a:bodyPr/>
          <a:lstStyle/>
          <a:p>
            <a:endParaRPr lang="en-PR"/>
          </a:p>
        </p:txBody>
      </p:sp>
      <p:sp>
        <p:nvSpPr>
          <p:cNvPr id="49" name="Shape 47"/>
          <p:cNvSpPr/>
          <p:nvPr/>
        </p:nvSpPr>
        <p:spPr>
          <a:xfrm>
            <a:off x="11091672" y="3520440"/>
            <a:ext cx="219456" cy="219456"/>
          </a:xfrm>
          <a:prstGeom prst="ellipse">
            <a:avLst/>
          </a:prstGeom>
          <a:solidFill>
            <a:srgbClr val="1B2A4A"/>
          </a:solidFill>
          <a:ln w="12700">
            <a:solidFill>
              <a:srgbClr val="1B2A4A"/>
            </a:solidFill>
            <a:prstDash val="solid"/>
          </a:ln>
        </p:spPr>
        <p:txBody>
          <a:bodyPr/>
          <a:lstStyle/>
          <a:p>
            <a:endParaRPr lang="en-PR"/>
          </a:p>
        </p:txBody>
      </p:sp>
      <p:sp>
        <p:nvSpPr>
          <p:cNvPr id="50" name="Shape 48"/>
          <p:cNvSpPr/>
          <p:nvPr/>
        </p:nvSpPr>
        <p:spPr>
          <a:xfrm>
            <a:off x="11530584" y="3520440"/>
            <a:ext cx="219456" cy="219456"/>
          </a:xfrm>
          <a:prstGeom prst="ellipse">
            <a:avLst/>
          </a:prstGeom>
          <a:solidFill>
            <a:srgbClr val="DDE3EC"/>
          </a:solidFill>
          <a:ln w="12700">
            <a:solidFill>
              <a:srgbClr val="DDE3EC"/>
            </a:solidFill>
            <a:prstDash val="solid"/>
          </a:ln>
        </p:spPr>
        <p:txBody>
          <a:bodyPr/>
          <a:lstStyle/>
          <a:p>
            <a:endParaRPr lang="en-PR"/>
          </a:p>
        </p:txBody>
      </p:sp>
      <p:sp>
        <p:nvSpPr>
          <p:cNvPr id="51" name="Shape 49"/>
          <p:cNvSpPr/>
          <p:nvPr/>
        </p:nvSpPr>
        <p:spPr>
          <a:xfrm>
            <a:off x="8458200" y="4087368"/>
            <a:ext cx="219456" cy="219456"/>
          </a:xfrm>
          <a:prstGeom prst="ellipse">
            <a:avLst/>
          </a:prstGeom>
          <a:solidFill>
            <a:srgbClr val="DDE3EC"/>
          </a:solidFill>
          <a:ln w="12700">
            <a:solidFill>
              <a:srgbClr val="DDE3EC"/>
            </a:solidFill>
            <a:prstDash val="solid"/>
          </a:ln>
        </p:spPr>
        <p:txBody>
          <a:bodyPr/>
          <a:lstStyle/>
          <a:p>
            <a:endParaRPr lang="en-PR"/>
          </a:p>
        </p:txBody>
      </p:sp>
      <p:sp>
        <p:nvSpPr>
          <p:cNvPr id="52" name="Shape 50"/>
          <p:cNvSpPr/>
          <p:nvPr/>
        </p:nvSpPr>
        <p:spPr>
          <a:xfrm>
            <a:off x="8897112" y="4087368"/>
            <a:ext cx="219456" cy="219456"/>
          </a:xfrm>
          <a:prstGeom prst="ellipse">
            <a:avLst/>
          </a:prstGeom>
          <a:solidFill>
            <a:srgbClr val="2A9D8F"/>
          </a:solidFill>
          <a:ln w="12700">
            <a:solidFill>
              <a:srgbClr val="2A9D8F"/>
            </a:solidFill>
            <a:prstDash val="solid"/>
          </a:ln>
        </p:spPr>
        <p:txBody>
          <a:bodyPr/>
          <a:lstStyle/>
          <a:p>
            <a:endParaRPr lang="en-PR"/>
          </a:p>
        </p:txBody>
      </p:sp>
      <p:sp>
        <p:nvSpPr>
          <p:cNvPr id="53" name="Shape 51"/>
          <p:cNvSpPr/>
          <p:nvPr/>
        </p:nvSpPr>
        <p:spPr>
          <a:xfrm>
            <a:off x="9336024" y="4087368"/>
            <a:ext cx="219456" cy="219456"/>
          </a:xfrm>
          <a:prstGeom prst="ellipse">
            <a:avLst/>
          </a:prstGeom>
          <a:solidFill>
            <a:srgbClr val="C9A227"/>
          </a:solidFill>
          <a:ln w="12700">
            <a:solidFill>
              <a:srgbClr val="C9A227"/>
            </a:solidFill>
            <a:prstDash val="solid"/>
          </a:ln>
        </p:spPr>
        <p:txBody>
          <a:bodyPr/>
          <a:lstStyle/>
          <a:p>
            <a:endParaRPr lang="en-PR"/>
          </a:p>
        </p:txBody>
      </p:sp>
      <p:sp>
        <p:nvSpPr>
          <p:cNvPr id="54" name="Shape 52"/>
          <p:cNvSpPr/>
          <p:nvPr/>
        </p:nvSpPr>
        <p:spPr>
          <a:xfrm>
            <a:off x="9774936" y="4087368"/>
            <a:ext cx="219456" cy="219456"/>
          </a:xfrm>
          <a:prstGeom prst="ellipse">
            <a:avLst/>
          </a:prstGeom>
          <a:solidFill>
            <a:srgbClr val="1B2A4A"/>
          </a:solidFill>
          <a:ln w="12700">
            <a:solidFill>
              <a:srgbClr val="1B2A4A"/>
            </a:solidFill>
            <a:prstDash val="solid"/>
          </a:ln>
        </p:spPr>
        <p:txBody>
          <a:bodyPr/>
          <a:lstStyle/>
          <a:p>
            <a:endParaRPr lang="en-PR"/>
          </a:p>
        </p:txBody>
      </p:sp>
      <p:sp>
        <p:nvSpPr>
          <p:cNvPr id="55" name="Shape 53"/>
          <p:cNvSpPr/>
          <p:nvPr/>
        </p:nvSpPr>
        <p:spPr>
          <a:xfrm>
            <a:off x="10213848" y="4087368"/>
            <a:ext cx="219456" cy="219456"/>
          </a:xfrm>
          <a:prstGeom prst="ellipse">
            <a:avLst/>
          </a:prstGeom>
          <a:solidFill>
            <a:srgbClr val="DDE3EC"/>
          </a:solidFill>
          <a:ln w="12700">
            <a:solidFill>
              <a:srgbClr val="DDE3EC"/>
            </a:solidFill>
            <a:prstDash val="solid"/>
          </a:ln>
        </p:spPr>
        <p:txBody>
          <a:bodyPr/>
          <a:lstStyle/>
          <a:p>
            <a:endParaRPr lang="en-PR"/>
          </a:p>
        </p:txBody>
      </p:sp>
      <p:sp>
        <p:nvSpPr>
          <p:cNvPr id="56" name="Shape 54"/>
          <p:cNvSpPr/>
          <p:nvPr/>
        </p:nvSpPr>
        <p:spPr>
          <a:xfrm>
            <a:off x="10652760" y="4087368"/>
            <a:ext cx="219456" cy="219456"/>
          </a:xfrm>
          <a:prstGeom prst="ellipse">
            <a:avLst/>
          </a:prstGeom>
          <a:solidFill>
            <a:srgbClr val="2A9D8F"/>
          </a:solidFill>
          <a:ln w="12700">
            <a:solidFill>
              <a:srgbClr val="2A9D8F"/>
            </a:solidFill>
            <a:prstDash val="solid"/>
          </a:ln>
        </p:spPr>
        <p:txBody>
          <a:bodyPr/>
          <a:lstStyle/>
          <a:p>
            <a:endParaRPr lang="en-PR"/>
          </a:p>
        </p:txBody>
      </p:sp>
      <p:sp>
        <p:nvSpPr>
          <p:cNvPr id="57" name="Shape 55"/>
          <p:cNvSpPr/>
          <p:nvPr/>
        </p:nvSpPr>
        <p:spPr>
          <a:xfrm>
            <a:off x="11091672" y="4087368"/>
            <a:ext cx="219456" cy="219456"/>
          </a:xfrm>
          <a:prstGeom prst="ellipse">
            <a:avLst/>
          </a:prstGeom>
          <a:solidFill>
            <a:srgbClr val="C9A227"/>
          </a:solidFill>
          <a:ln w="12700">
            <a:solidFill>
              <a:srgbClr val="C9A227"/>
            </a:solidFill>
            <a:prstDash val="solid"/>
          </a:ln>
        </p:spPr>
        <p:txBody>
          <a:bodyPr/>
          <a:lstStyle/>
          <a:p>
            <a:endParaRPr lang="en-PR"/>
          </a:p>
        </p:txBody>
      </p:sp>
      <p:sp>
        <p:nvSpPr>
          <p:cNvPr id="58" name="Shape 56"/>
          <p:cNvSpPr/>
          <p:nvPr/>
        </p:nvSpPr>
        <p:spPr>
          <a:xfrm>
            <a:off x="11530584" y="4087368"/>
            <a:ext cx="219456" cy="219456"/>
          </a:xfrm>
          <a:prstGeom prst="ellipse">
            <a:avLst/>
          </a:prstGeom>
          <a:solidFill>
            <a:srgbClr val="1B2A4A"/>
          </a:solidFill>
          <a:ln w="12700">
            <a:solidFill>
              <a:srgbClr val="1B2A4A"/>
            </a:solidFill>
            <a:prstDash val="solid"/>
          </a:ln>
        </p:spPr>
        <p:txBody>
          <a:bodyPr/>
          <a:lstStyle/>
          <a:p>
            <a:endParaRPr lang="en-PR"/>
          </a:p>
        </p:txBody>
      </p:sp>
      <p:sp>
        <p:nvSpPr>
          <p:cNvPr id="59" name="Shape 57"/>
          <p:cNvSpPr/>
          <p:nvPr/>
        </p:nvSpPr>
        <p:spPr>
          <a:xfrm>
            <a:off x="8458200" y="4654296"/>
            <a:ext cx="219456" cy="219456"/>
          </a:xfrm>
          <a:prstGeom prst="ellipse">
            <a:avLst/>
          </a:prstGeom>
          <a:solidFill>
            <a:srgbClr val="1B2A4A"/>
          </a:solidFill>
          <a:ln w="12700">
            <a:solidFill>
              <a:srgbClr val="1B2A4A"/>
            </a:solidFill>
            <a:prstDash val="solid"/>
          </a:ln>
        </p:spPr>
        <p:txBody>
          <a:bodyPr/>
          <a:lstStyle/>
          <a:p>
            <a:endParaRPr lang="en-PR"/>
          </a:p>
        </p:txBody>
      </p:sp>
      <p:sp>
        <p:nvSpPr>
          <p:cNvPr id="60" name="Shape 58"/>
          <p:cNvSpPr/>
          <p:nvPr/>
        </p:nvSpPr>
        <p:spPr>
          <a:xfrm>
            <a:off x="8897112" y="4654296"/>
            <a:ext cx="219456" cy="219456"/>
          </a:xfrm>
          <a:prstGeom prst="ellipse">
            <a:avLst/>
          </a:prstGeom>
          <a:solidFill>
            <a:srgbClr val="DDE3EC"/>
          </a:solidFill>
          <a:ln w="12700">
            <a:solidFill>
              <a:srgbClr val="DDE3EC"/>
            </a:solidFill>
            <a:prstDash val="solid"/>
          </a:ln>
        </p:spPr>
        <p:txBody>
          <a:bodyPr/>
          <a:lstStyle/>
          <a:p>
            <a:endParaRPr lang="en-PR"/>
          </a:p>
        </p:txBody>
      </p:sp>
      <p:sp>
        <p:nvSpPr>
          <p:cNvPr id="61" name="Shape 59"/>
          <p:cNvSpPr/>
          <p:nvPr/>
        </p:nvSpPr>
        <p:spPr>
          <a:xfrm>
            <a:off x="9336024" y="4654296"/>
            <a:ext cx="219456" cy="219456"/>
          </a:xfrm>
          <a:prstGeom prst="ellipse">
            <a:avLst/>
          </a:prstGeom>
          <a:solidFill>
            <a:srgbClr val="2A9D8F"/>
          </a:solidFill>
          <a:ln w="12700">
            <a:solidFill>
              <a:srgbClr val="2A9D8F"/>
            </a:solidFill>
            <a:prstDash val="solid"/>
          </a:ln>
        </p:spPr>
        <p:txBody>
          <a:bodyPr/>
          <a:lstStyle/>
          <a:p>
            <a:endParaRPr lang="en-PR"/>
          </a:p>
        </p:txBody>
      </p:sp>
      <p:sp>
        <p:nvSpPr>
          <p:cNvPr id="62" name="Shape 60"/>
          <p:cNvSpPr/>
          <p:nvPr/>
        </p:nvSpPr>
        <p:spPr>
          <a:xfrm>
            <a:off x="9774936" y="4654296"/>
            <a:ext cx="219456" cy="219456"/>
          </a:xfrm>
          <a:prstGeom prst="ellipse">
            <a:avLst/>
          </a:prstGeom>
          <a:solidFill>
            <a:srgbClr val="C9A227"/>
          </a:solidFill>
          <a:ln w="12700">
            <a:solidFill>
              <a:srgbClr val="C9A227"/>
            </a:solidFill>
            <a:prstDash val="solid"/>
          </a:ln>
        </p:spPr>
        <p:txBody>
          <a:bodyPr/>
          <a:lstStyle/>
          <a:p>
            <a:endParaRPr lang="en-PR"/>
          </a:p>
        </p:txBody>
      </p:sp>
      <p:sp>
        <p:nvSpPr>
          <p:cNvPr id="63" name="Shape 61"/>
          <p:cNvSpPr/>
          <p:nvPr/>
        </p:nvSpPr>
        <p:spPr>
          <a:xfrm>
            <a:off x="10213848" y="4654296"/>
            <a:ext cx="219456" cy="219456"/>
          </a:xfrm>
          <a:prstGeom prst="ellipse">
            <a:avLst/>
          </a:prstGeom>
          <a:solidFill>
            <a:srgbClr val="1B2A4A"/>
          </a:solidFill>
          <a:ln w="12700">
            <a:solidFill>
              <a:srgbClr val="1B2A4A"/>
            </a:solidFill>
            <a:prstDash val="solid"/>
          </a:ln>
        </p:spPr>
        <p:txBody>
          <a:bodyPr/>
          <a:lstStyle/>
          <a:p>
            <a:endParaRPr lang="en-PR"/>
          </a:p>
        </p:txBody>
      </p:sp>
      <p:sp>
        <p:nvSpPr>
          <p:cNvPr id="64" name="Shape 62"/>
          <p:cNvSpPr/>
          <p:nvPr/>
        </p:nvSpPr>
        <p:spPr>
          <a:xfrm>
            <a:off x="10652760" y="4654296"/>
            <a:ext cx="219456" cy="219456"/>
          </a:xfrm>
          <a:prstGeom prst="ellipse">
            <a:avLst/>
          </a:prstGeom>
          <a:solidFill>
            <a:srgbClr val="DDE3EC"/>
          </a:solidFill>
          <a:ln w="12700">
            <a:solidFill>
              <a:srgbClr val="DDE3EC"/>
            </a:solidFill>
            <a:prstDash val="solid"/>
          </a:ln>
        </p:spPr>
        <p:txBody>
          <a:bodyPr/>
          <a:lstStyle/>
          <a:p>
            <a:endParaRPr lang="en-PR"/>
          </a:p>
        </p:txBody>
      </p:sp>
      <p:sp>
        <p:nvSpPr>
          <p:cNvPr id="65" name="Shape 63"/>
          <p:cNvSpPr/>
          <p:nvPr/>
        </p:nvSpPr>
        <p:spPr>
          <a:xfrm>
            <a:off x="11091672" y="4654296"/>
            <a:ext cx="219456" cy="219456"/>
          </a:xfrm>
          <a:prstGeom prst="ellipse">
            <a:avLst/>
          </a:prstGeom>
          <a:solidFill>
            <a:srgbClr val="2A9D8F"/>
          </a:solidFill>
          <a:ln w="12700">
            <a:solidFill>
              <a:srgbClr val="2A9D8F"/>
            </a:solidFill>
            <a:prstDash val="solid"/>
          </a:ln>
        </p:spPr>
        <p:txBody>
          <a:bodyPr/>
          <a:lstStyle/>
          <a:p>
            <a:endParaRPr lang="en-PR"/>
          </a:p>
        </p:txBody>
      </p:sp>
      <p:sp>
        <p:nvSpPr>
          <p:cNvPr id="66" name="Shape 64"/>
          <p:cNvSpPr/>
          <p:nvPr/>
        </p:nvSpPr>
        <p:spPr>
          <a:xfrm>
            <a:off x="11530584" y="4654296"/>
            <a:ext cx="219456" cy="219456"/>
          </a:xfrm>
          <a:prstGeom prst="ellipse">
            <a:avLst/>
          </a:prstGeom>
          <a:solidFill>
            <a:srgbClr val="C9A227"/>
          </a:solidFill>
          <a:ln w="12700">
            <a:solidFill>
              <a:srgbClr val="C9A227"/>
            </a:solidFill>
            <a:prstDash val="solid"/>
          </a:ln>
        </p:spPr>
        <p:txBody>
          <a:bodyPr/>
          <a:lstStyle/>
          <a:p>
            <a:endParaRPr lang="en-PR"/>
          </a:p>
        </p:txBody>
      </p:sp>
      <p:sp>
        <p:nvSpPr>
          <p:cNvPr id="67" name="Shape 65"/>
          <p:cNvSpPr/>
          <p:nvPr/>
        </p:nvSpPr>
        <p:spPr>
          <a:xfrm>
            <a:off x="8458200" y="5221224"/>
            <a:ext cx="219456" cy="219456"/>
          </a:xfrm>
          <a:prstGeom prst="ellipse">
            <a:avLst/>
          </a:prstGeom>
          <a:solidFill>
            <a:srgbClr val="C9A227"/>
          </a:solidFill>
          <a:ln w="12700">
            <a:solidFill>
              <a:srgbClr val="C9A227"/>
            </a:solidFill>
            <a:prstDash val="solid"/>
          </a:ln>
        </p:spPr>
        <p:txBody>
          <a:bodyPr/>
          <a:lstStyle/>
          <a:p>
            <a:endParaRPr lang="en-PR"/>
          </a:p>
        </p:txBody>
      </p:sp>
      <p:sp>
        <p:nvSpPr>
          <p:cNvPr id="68" name="Shape 66"/>
          <p:cNvSpPr/>
          <p:nvPr/>
        </p:nvSpPr>
        <p:spPr>
          <a:xfrm>
            <a:off x="8897112" y="5221224"/>
            <a:ext cx="219456" cy="219456"/>
          </a:xfrm>
          <a:prstGeom prst="ellipse">
            <a:avLst/>
          </a:prstGeom>
          <a:solidFill>
            <a:srgbClr val="1B2A4A"/>
          </a:solidFill>
          <a:ln w="12700">
            <a:solidFill>
              <a:srgbClr val="1B2A4A"/>
            </a:solidFill>
            <a:prstDash val="solid"/>
          </a:ln>
        </p:spPr>
        <p:txBody>
          <a:bodyPr/>
          <a:lstStyle/>
          <a:p>
            <a:endParaRPr lang="en-PR"/>
          </a:p>
        </p:txBody>
      </p:sp>
      <p:sp>
        <p:nvSpPr>
          <p:cNvPr id="69" name="Shape 67"/>
          <p:cNvSpPr/>
          <p:nvPr/>
        </p:nvSpPr>
        <p:spPr>
          <a:xfrm>
            <a:off x="9336024" y="5221224"/>
            <a:ext cx="219456" cy="219456"/>
          </a:xfrm>
          <a:prstGeom prst="ellipse">
            <a:avLst/>
          </a:prstGeom>
          <a:solidFill>
            <a:srgbClr val="DDE3EC"/>
          </a:solidFill>
          <a:ln w="12700">
            <a:solidFill>
              <a:srgbClr val="DDE3EC"/>
            </a:solidFill>
            <a:prstDash val="solid"/>
          </a:ln>
        </p:spPr>
        <p:txBody>
          <a:bodyPr/>
          <a:lstStyle/>
          <a:p>
            <a:endParaRPr lang="en-PR"/>
          </a:p>
        </p:txBody>
      </p:sp>
      <p:sp>
        <p:nvSpPr>
          <p:cNvPr id="70" name="Shape 68"/>
          <p:cNvSpPr/>
          <p:nvPr/>
        </p:nvSpPr>
        <p:spPr>
          <a:xfrm>
            <a:off x="9774936" y="5221224"/>
            <a:ext cx="219456" cy="219456"/>
          </a:xfrm>
          <a:prstGeom prst="ellipse">
            <a:avLst/>
          </a:prstGeom>
          <a:solidFill>
            <a:srgbClr val="2A9D8F"/>
          </a:solidFill>
          <a:ln w="12700">
            <a:solidFill>
              <a:srgbClr val="2A9D8F"/>
            </a:solidFill>
            <a:prstDash val="solid"/>
          </a:ln>
        </p:spPr>
        <p:txBody>
          <a:bodyPr/>
          <a:lstStyle/>
          <a:p>
            <a:endParaRPr lang="en-PR"/>
          </a:p>
        </p:txBody>
      </p:sp>
      <p:sp>
        <p:nvSpPr>
          <p:cNvPr id="71" name="Shape 69"/>
          <p:cNvSpPr/>
          <p:nvPr/>
        </p:nvSpPr>
        <p:spPr>
          <a:xfrm>
            <a:off x="10213848" y="5221224"/>
            <a:ext cx="219456" cy="219456"/>
          </a:xfrm>
          <a:prstGeom prst="ellipse">
            <a:avLst/>
          </a:prstGeom>
          <a:solidFill>
            <a:srgbClr val="C9A227"/>
          </a:solidFill>
          <a:ln w="12700">
            <a:solidFill>
              <a:srgbClr val="C9A227"/>
            </a:solidFill>
            <a:prstDash val="solid"/>
          </a:ln>
        </p:spPr>
        <p:txBody>
          <a:bodyPr/>
          <a:lstStyle/>
          <a:p>
            <a:endParaRPr lang="en-PR"/>
          </a:p>
        </p:txBody>
      </p:sp>
      <p:sp>
        <p:nvSpPr>
          <p:cNvPr id="72" name="Shape 70"/>
          <p:cNvSpPr/>
          <p:nvPr/>
        </p:nvSpPr>
        <p:spPr>
          <a:xfrm>
            <a:off x="10652760" y="5221224"/>
            <a:ext cx="219456" cy="219456"/>
          </a:xfrm>
          <a:prstGeom prst="ellipse">
            <a:avLst/>
          </a:prstGeom>
          <a:solidFill>
            <a:srgbClr val="1B2A4A"/>
          </a:solidFill>
          <a:ln w="12700">
            <a:solidFill>
              <a:srgbClr val="1B2A4A"/>
            </a:solidFill>
            <a:prstDash val="solid"/>
          </a:ln>
        </p:spPr>
        <p:txBody>
          <a:bodyPr/>
          <a:lstStyle/>
          <a:p>
            <a:endParaRPr lang="en-PR"/>
          </a:p>
        </p:txBody>
      </p:sp>
      <p:sp>
        <p:nvSpPr>
          <p:cNvPr id="73" name="Shape 71"/>
          <p:cNvSpPr/>
          <p:nvPr/>
        </p:nvSpPr>
        <p:spPr>
          <a:xfrm>
            <a:off x="11091672" y="5221224"/>
            <a:ext cx="219456" cy="219456"/>
          </a:xfrm>
          <a:prstGeom prst="ellipse">
            <a:avLst/>
          </a:prstGeom>
          <a:solidFill>
            <a:srgbClr val="DDE3EC"/>
          </a:solidFill>
          <a:ln w="12700">
            <a:solidFill>
              <a:srgbClr val="DDE3EC"/>
            </a:solidFill>
            <a:prstDash val="solid"/>
          </a:ln>
        </p:spPr>
        <p:txBody>
          <a:bodyPr/>
          <a:lstStyle/>
          <a:p>
            <a:endParaRPr lang="en-PR"/>
          </a:p>
        </p:txBody>
      </p:sp>
      <p:sp>
        <p:nvSpPr>
          <p:cNvPr id="74" name="Shape 72"/>
          <p:cNvSpPr/>
          <p:nvPr/>
        </p:nvSpPr>
        <p:spPr>
          <a:xfrm>
            <a:off x="11530584" y="5221224"/>
            <a:ext cx="219456" cy="219456"/>
          </a:xfrm>
          <a:prstGeom prst="ellipse">
            <a:avLst/>
          </a:prstGeom>
          <a:solidFill>
            <a:srgbClr val="2A9D8F"/>
          </a:solidFill>
          <a:ln w="12700">
            <a:solidFill>
              <a:srgbClr val="2A9D8F"/>
            </a:solidFill>
            <a:prstDash val="solid"/>
          </a:ln>
        </p:spPr>
        <p:txBody>
          <a:bodyPr/>
          <a:lstStyle/>
          <a:p>
            <a:endParaRPr lang="en-PR"/>
          </a:p>
        </p:txBody>
      </p:sp>
      <p:sp>
        <p:nvSpPr>
          <p:cNvPr id="75" name="Text 73"/>
          <p:cNvSpPr txBox="1"/>
          <p:nvPr/>
        </p:nvSpPr>
        <p:spPr>
          <a:xfrm>
            <a:off x="566928" y="2011680"/>
            <a:ext cx="7223760" cy="1143000"/>
          </a:xfrm>
          <a:prstGeom prst="rect">
            <a:avLst/>
          </a:prstGeom>
          <a:noFill/>
          <a:ln/>
        </p:spPr>
        <p:txBody>
          <a:bodyPr wrap="square" lIns="0" tIns="0" rIns="0" bIns="0" rtlCol="0" anchor="ctr"/>
          <a:lstStyle/>
          <a:p>
            <a:pPr marL="0" indent="0">
              <a:buNone/>
            </a:pPr>
            <a:r>
              <a:rPr lang="en-US" sz="5600" b="1" dirty="0">
                <a:solidFill>
                  <a:srgbClr val="FFFFFF"/>
                </a:solidFill>
                <a:latin typeface="Cambria" pitchFamily="34" charset="0"/>
                <a:ea typeface="Cambria" pitchFamily="34" charset="-122"/>
                <a:cs typeface="Cambria" pitchFamily="34" charset="-120"/>
              </a:rPr>
              <a:t>Gracias</a:t>
            </a:r>
            <a:endParaRPr lang="en-US" sz="5600" dirty="0"/>
          </a:p>
        </p:txBody>
      </p:sp>
      <p:sp>
        <p:nvSpPr>
          <p:cNvPr id="76" name="Text 74"/>
          <p:cNvSpPr txBox="1"/>
          <p:nvPr/>
        </p:nvSpPr>
        <p:spPr>
          <a:xfrm>
            <a:off x="566928" y="3200400"/>
            <a:ext cx="7223760" cy="457200"/>
          </a:xfrm>
          <a:prstGeom prst="rect">
            <a:avLst/>
          </a:prstGeom>
          <a:noFill/>
          <a:ln/>
        </p:spPr>
        <p:txBody>
          <a:bodyPr wrap="square" lIns="0" tIns="0" rIns="0" bIns="0" rtlCol="0" anchor="ctr"/>
          <a:lstStyle/>
          <a:p>
            <a:pPr marL="0" indent="0">
              <a:buNone/>
            </a:pPr>
            <a:r>
              <a:rPr lang="en-US" sz="2000" dirty="0">
                <a:solidFill>
                  <a:srgbClr val="DDE3EC"/>
                </a:solidFill>
                <a:latin typeface="Calibri" pitchFamily="34" charset="0"/>
                <a:ea typeface="Calibri" pitchFamily="34" charset="-122"/>
                <a:cs typeface="Calibri" pitchFamily="34" charset="-120"/>
              </a:rPr>
              <a:t>Preguntas, dudas y casos concretos de su salón son bienvenidos.</a:t>
            </a:r>
            <a:endParaRPr lang="en-US" sz="2000" dirty="0"/>
          </a:p>
        </p:txBody>
      </p:sp>
      <p:sp>
        <p:nvSpPr>
          <p:cNvPr id="77" name="Shape 75"/>
          <p:cNvSpPr/>
          <p:nvPr/>
        </p:nvSpPr>
        <p:spPr>
          <a:xfrm>
            <a:off x="566928" y="3913632"/>
            <a:ext cx="2011680" cy="36576"/>
          </a:xfrm>
          <a:prstGeom prst="rect">
            <a:avLst/>
          </a:prstGeom>
          <a:solidFill>
            <a:srgbClr val="C9A227"/>
          </a:solidFill>
          <a:ln w="12700">
            <a:solidFill>
              <a:srgbClr val="C9A227"/>
            </a:solidFill>
            <a:prstDash val="solid"/>
          </a:ln>
        </p:spPr>
        <p:txBody>
          <a:bodyPr/>
          <a:lstStyle/>
          <a:p>
            <a:endParaRPr lang="en-PR"/>
          </a:p>
        </p:txBody>
      </p:sp>
      <p:sp>
        <p:nvSpPr>
          <p:cNvPr id="78" name="Text 76"/>
          <p:cNvSpPr txBox="1"/>
          <p:nvPr/>
        </p:nvSpPr>
        <p:spPr>
          <a:xfrm>
            <a:off x="566928" y="4133088"/>
            <a:ext cx="7223760" cy="402336"/>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Dr. Héctor J. Corraliza Montero, Ed.D.</a:t>
            </a:r>
            <a:endParaRPr lang="en-US" sz="2400" dirty="0"/>
          </a:p>
        </p:txBody>
      </p:sp>
      <p:sp>
        <p:nvSpPr>
          <p:cNvPr id="79" name="Text 77"/>
          <p:cNvSpPr txBox="1"/>
          <p:nvPr/>
        </p:nvSpPr>
        <p:spPr>
          <a:xfrm>
            <a:off x="566928" y="4590288"/>
            <a:ext cx="7223760" cy="731520"/>
          </a:xfrm>
          <a:prstGeom prst="rect">
            <a:avLst/>
          </a:prstGeom>
          <a:noFill/>
          <a:ln/>
        </p:spPr>
        <p:txBody>
          <a:bodyPr wrap="square" lIns="0" tIns="0" rIns="0" bIns="0" rtlCol="0" anchor="t"/>
          <a:lstStyle/>
          <a:p>
            <a:pPr marL="0" indent="0">
              <a:lnSpc>
                <a:spcPts val="2400"/>
              </a:lnSpc>
              <a:buNone/>
            </a:pPr>
            <a:r>
              <a:rPr lang="en-US" sz="1700" dirty="0">
                <a:solidFill>
                  <a:srgbClr val="DDE3EC"/>
                </a:solidFill>
                <a:latin typeface="Calibri" pitchFamily="34" charset="0"/>
                <a:ea typeface="Calibri" pitchFamily="34" charset="-122"/>
                <a:cs typeface="Calibri" pitchFamily="34" charset="-120"/>
              </a:rPr>
              <a:t>Facilitador Docente de Matemáticas · Oficina Regional Educativa de Ponce</a:t>
            </a:r>
            <a:endParaRPr lang="en-US" sz="1700" dirty="0"/>
          </a:p>
          <a:p>
            <a:pPr marL="0" indent="0">
              <a:lnSpc>
                <a:spcPts val="2400"/>
              </a:lnSpc>
              <a:buNone/>
            </a:pPr>
            <a:r>
              <a:rPr lang="en-US" sz="1700" dirty="0">
                <a:solidFill>
                  <a:srgbClr val="DDE3EC"/>
                </a:solidFill>
                <a:latin typeface="Calibri" pitchFamily="34" charset="0"/>
                <a:ea typeface="Calibri" pitchFamily="34" charset="-122"/>
                <a:cs typeface="Calibri" pitchFamily="34" charset="-120"/>
              </a:rPr>
              <a:t>Departamento de Educación de Puerto Rico</a:t>
            </a:r>
            <a:endParaRPr lang="en-US" sz="1700" dirty="0"/>
          </a:p>
        </p:txBody>
      </p:sp>
      <p:sp>
        <p:nvSpPr>
          <p:cNvPr id="80" name="Text 78"/>
          <p:cNvSpPr txBox="1"/>
          <p:nvPr/>
        </p:nvSpPr>
        <p:spPr>
          <a:xfrm>
            <a:off x="566928" y="5449824"/>
            <a:ext cx="7223760" cy="640080"/>
          </a:xfrm>
          <a:prstGeom prst="rect">
            <a:avLst/>
          </a:prstGeom>
          <a:noFill/>
          <a:ln/>
        </p:spPr>
        <p:txBody>
          <a:bodyPr wrap="square" lIns="0" tIns="0" rIns="0" bIns="0" rtlCol="0" anchor="t"/>
          <a:lstStyle/>
          <a:p>
            <a:pPr marL="0" indent="0">
              <a:lnSpc>
                <a:spcPts val="2100"/>
              </a:lnSpc>
              <a:buNone/>
            </a:pPr>
            <a:r>
              <a:rPr lang="en-US" sz="1600" i="1" dirty="0">
                <a:solidFill>
                  <a:srgbClr val="9FB0C7"/>
                </a:solidFill>
                <a:latin typeface="Calibri" pitchFamily="34" charset="0"/>
                <a:ea typeface="Calibri" pitchFamily="34" charset="-122"/>
                <a:cs typeface="Calibri" pitchFamily="34" charset="-120"/>
              </a:rPr>
              <a:t>Contenido verificado a septiembre de 2026. El panorama de herramientas cambia con rapidez: revise las fuentes antes de reutilizar cifras.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44</TotalTime>
  <Words>9726</Words>
  <Application>Microsoft Office PowerPoint</Application>
  <PresentationFormat>Widescreen</PresentationFormat>
  <Paragraphs>1157</Paragraphs>
  <Slides>81</Slides>
  <Notes>79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81</vt:i4>
      </vt:variant>
    </vt:vector>
  </HeadingPairs>
  <TitlesOfParts>
    <vt:vector size="8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Dispositorio de 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Inteligencia Artificial para Docentes</dc:title>
  <dc:subject>PptxGenJS Presentation</dc:subject>
  <dc:creator>Dr. Héctor J. Corraliza Montero</dc:creator>
  <cp:lastModifiedBy>Hector Corraliza</cp:lastModifiedBy>
  <cp:revision>2</cp:revision>
  <dcterms:created xsi:type="dcterms:W3CDTF">2026-09-04T13:41:18Z</dcterms:created>
  <dcterms:modified xsi:type="dcterms:W3CDTF">2026-09-04T15:40:50Z</dcterms:modified>
</cp:coreProperties>
</file>